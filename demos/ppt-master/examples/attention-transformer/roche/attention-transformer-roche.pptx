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Today we are reading what is probably the single most influential machine learning paper of the last decade: Attention Is All You Need, by Vaswani and seven coauthors at Google Brain, Google Research, and the University of Toronto, presented at NeurIPS 2017. The title is the thesis: drop recurrence and convolution, use only attention, and you get a model that is faster to train, easier to parallelize, and stronger on machine translation than anything that came before. Over the next sixteen slides we'll walk through what the Transformer actually is, how the attention mechanism works, why the authors chose this design, and what the experiments showed.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Before we get into the architecture, let's see what the paper is actually claiming. On the WMT 2014 English to German translation task, the Transformer big model scored 28.4 BLEU, beating the previous best ensemble by two full points as a single model. On WMT 2014 English to French, it set a new single-model state of the art at 41.8 BLEU. And it did all this by training for three and a half days on eight P100 GPUs — a small fraction of the cost of the strong baselines. The architecture has no recurrence and no convolution; it is built entirely from attention and feed-forward layers. Quality up, cost down, parallelization unlocked.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appreciate the move, it helps to look at where sequence modeling was sitting in 2017. Recurrent networks — RNNs, LSTMs, GRUs — were the default, but they compute step by step and resist parallelization. Convolutional alternatives like ByteNet and ConvS2S could parallelize, but signals between distant positions still had to travel through many layers, growing linearly or logarithmically with distance. Self-attention does something different: every position relates to every other position in one constant-time hop. Visually you can think of it as moving from a chain to a local field to a fully connected mesh — and that mesh is what the Transformer leans into.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Let's name the constraints the authors are trying to lift. First, the sequential bottleneck: in any RNN, hidden state at time t depends on hidden state at t minus one, so you cannot parallelize within a single training example. Second, long-range path length: distant tokens have to be related through many intermediate operations, which makes learning long-range dependencies hard. Third, memory ceiling: long sequences eat GPU memory, capping batch size and throughput. The Transformer attacks all three at once by replacing the entire backbone with attention.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figure one from the paper — the Transformer architecture, redrawn here as native vector. Read it from the bottom up. Inputs and outputs both come in as embeddings, with a sinusoidal positional encoding added. The encoder on the left is a stack of six identical layers; each layer has multi-head self-attention followed by a position-wise feed-forward network, with Add and Norm wrapping each sub-layer. The decoder on the right is also six layers, but inserts a third sub-layer that attends back to the encoder output, and its self-attention is masked so it cannot peek at future tokens. The whole thing ends with a linear projection and softmax to produce token probabilities. The skeleton is the same as prior seq2seq models — what is new is what fills the boxes.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Let's compare the encoder and decoder side by side. The encoder has two sub-layers per block: multi-head self-attention, then a position-wise feed-forward network. The decoder has three: masked multi-head self-attention, then encoder-decoder attention, then the feed-forward network. Around every sub-layer the same wrapper applies — output equals LayerNorm of x plus Sublayer of x, the classic residual connection plus normalization. All sub-layers and embeddings emit a 512-dimensional vector so the residual addition is well-defined. The three asymmetries on the decoder side are the third sub-layer, the causal mask that preserves auto-regression, and the one-position shift of the output embeddings.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is the heart of the model — scaled dot-product attention. You start with three matrices: queries Q, keys K, and values V. You compute the dot product of every query with every key, scale by the square root of the key dimension, apply a row-wise softmax to get attention weights, and then multiply by V to produce the output. The scaling factor matters. For large key dimensions the dot products grow in magnitude, pushing the softmax into regions with vanishingly small gradients. Dividing by root d sub k counteracts that. Once you have the weights, the output is just a weighted average of the value vectors — that's all attention 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Multi-head attention is the next move. Instead of running one attention function over the full 512-dimensional vectors, the authors split into h equals eight independent heads, each operating on 64-dimensional projections of Q, K, and V. The projections are learned, so each head can specialize on a different kind of relationship. The heads run in parallel, their outputs are concatenated, and a final linear projection maps back to 512. The total compute is roughly the same as a single full-dimensional head, but the model gains the ability to attend to different representation subspaces at different positions simultaneously.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same attention mechanism shows up in three places in the Transformer, with three slightly different roles. In encoder self-attention, queries, keys, and values all come from the previous encoder layer; every source position attends to every other. In decoder masked self-attention, the same setup applies, but illegal future positions are set to minus infinity before the softmax, so position i attends only to positions less than or equal to i — that's how auto-regression is preserved. In encoder-decoder attention, queries come from the decoder while keys and values come from the encoder output, letting every decoder position retrieve relevant information from anywhere in the source sequence. One mechanism, three roles.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supporting cast inside every layer is just three small ideas. The position-wise feed-forward network is two linear layers with a ReLU between, applied identically at every position, with an inner dimension of 2048. The residual connection adds the sub-layer's input back to its output, which keeps the gradient signal flowing through deep stacks. Layer normalization then standardizes across the feature dimension. Put them together and the output of every sub-layer is LayerNorm of x plus Sublayer of x. Nothing here is novel by itself — but composing them around attention is what makes the architecture trainable at depth.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Because there is no recurrence and no convolution, the model has no built-in notion of token order. The authors recover order with a deterministic sinusoidal positional encoding added to each input embedding. Even dimensions use a sine wave, odd dimensions use a cosine wave, and the wavelengths form a geometric progression from two pi up to ten thousand times two pi. The neat property is that for any fixed offset k, the encoding at position pos plus k is a linear function of the encoding at pos — so the model can easily learn to attend by relative position via a simple linear combination. Order is injected, not learned.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table one from the paper, and it is the strongest argument for self-attention. A self-attention layer pays O of n squared times d in compute, but in exchange every pair of positions is exactly one operation apart. A recurrent layer pays O of n times d squared, but it takes O of n sequential operations and the maximum path length between two positions is O of n. Convolutional layers fall in between. For typical NLP workloads where the sequence length is shorter than the representation dimension, self-attention is actually faster than recurrence — and the constant path length makes long-range dependencies far easier to learn.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quick word on how this was trained. The base model trains in twelve hours on eight P100 GPUs in one machine; the big model trains in three and a half days on the same hardware. Batches were grouped by similar sequence length to keep about twenty-five thousand source and twenty-five thousand target tokens per batch. The optimizer is Adam with beta two pushed up to 0.98, and a custom learning rate schedule that warms up linearly for four thousand steps then decays as one over the square root of the step count. Regularization is dropout at 0.1 applied to every sub-layer output and to the sum of embedding and positional encoding, plus label smoothing of 0.1.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are the headline results — table two from the paper. The Transformer big scores 28.4 BLEU on English to German, beating the previous best ensemble by two full BLEU points as a single model. On English to French it scores 41.8, a new single-model state of the art. And it does all this with about 2.3 times 10 to the 19 training floating-point operations, which is well below most strong baselines. The base model alone, trained in twelve hours, already beats almost every prior published model. The combination of better quality and lower training cost is what made this paper land so hard.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variation study in table three gives us five takeaways worth remembering. First, head count has a sweet spot: a single head loses about 0.9 BLEU compared to eight heads, but going to thirty-two also degrades. Second, the key dimension matters more than the value dimension — determining compatibility is the harder learning problem. Third, scaling up the model dimension and the depth consistently improves quality, so the architecture scales monotonically with capacity. Fourth, dropout is essential — removing it loses roughly half a BLEU to a full BLEU point even at p equals 0.1. Fifth, label smoothing slightly hurts perplexity but improves BLEU, which is a reminder to optimize for the metric you actually ship 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close — this 2017 paper turned out to be one of the most consequential architectural ideas in modern machine learning. The Transformer became the substrate for BERT, for GPT, for T5, for the Vision Transformer, for AlphaFold — which is close to home at Roche — for CLIP, for almost every large language model in production today, including the one talking to you right now. The core insight — that just attention, with no recurrence and no convolution, is the right inductive bias for sequence modeling — turned out to generalize far beyond translation, to almost every modality we work with. One paper, a generation of models.</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Content">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70fcd400182424ff.jpg"/>
  <Relationship Id="rId3" Type="http://schemas.openxmlformats.org/officeDocument/2006/relationships/image" Target="../media/image_e68101c51be1e700.pn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image" Target="../media/image_f8c1316a9ddf618d.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image" Target="../media/image_846d37fcf2a5b8d8.png"/>
  <Relationship Id="rId4" Type="http://schemas.openxmlformats.org/officeDocument/2006/relationships/image" Target="../media/image_711cfaca1ebc6f90.pn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image" Target="../media/image_2bab9b454ff9a65b.png"/>
  <Relationship Id="rId4" Type="http://schemas.openxmlformats.org/officeDocument/2006/relationships/image" Target="../media/image_467a97f6d29dc0b8.png"/>
  <Relationship Id="rId5"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68101c51be1e700.png"/>
  <Relationship Id="rId3"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BFBF9"/>
            </a:solidFill>
            <a:ln>
              <a:noFill/>
            </a:ln>
          </p:spPr>
        </p:sp>
        <p:pic>
          <p:nvPicPr>
            <p:cNvPr id="3" name="Image 3"/>
            <p:cNvPicPr>
              <a:picLocks noChangeAspect="1"/>
            </p:cNvPicPr>
            <p:nvPr/>
          </p:nvPicPr>
          <p:blipFill>
            <a:blip r:embed="rId2"/>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FBFBF9">
                    <a:alpha val="86000"/>
                  </a:srgbClr>
                </a:gs>
                <a:gs pos="42000">
                  <a:srgbClr val="FBFBF9">
                    <a:alpha val="74000"/>
                  </a:srgbClr>
                </a:gs>
                <a:gs pos="70000">
                  <a:srgbClr val="FBFBF9">
                    <a:alpha val="0"/>
                  </a:srgbClr>
                </a:gs>
              </a:gsLst>
              <a:lin ang="0" scaled="1"/>
            </a:gradFill>
            <a:ln>
              <a:noFill/>
            </a:ln>
          </p:spPr>
        </p:sp>
      </p:grpSp>
      <p:pic>
        <p:nvPicPr>
          <p:cNvPr id="6" name="Image 6"/>
          <p:cNvPicPr>
            <a:picLocks noChangeAspect="1"/>
          </p:cNvPicPr>
          <p:nvPr/>
        </p:nvPicPr>
        <p:blipFill>
          <a:blip r:embed="rId3"/>
          <a:stretch>
            <a:fillRect/>
          </a:stretch>
        </p:blipFill>
        <p:spPr>
          <a:xfrm>
            <a:off x="609600" y="495300"/>
            <a:ext cx="1123950" cy="584835"/>
          </a:xfrm>
          <a:prstGeom prst="rect">
            <a:avLst/>
          </a:prstGeom>
        </p:spPr>
      </p:pic>
      <p:grpSp>
        <p:nvGrpSpPr>
          <p:cNvPr id="9" name="Group 9"/>
          <p:cNvGrpSpPr/>
          <p:nvPr/>
        </p:nvGrpSpPr>
        <p:grpSpPr>
          <a:xfrm>
            <a:off x="623316" y="1753552"/>
            <a:ext cx="2296687" cy="414909"/>
            <a:chOff x="623316" y="1753552"/>
            <a:chExt cx="2296687" cy="414909"/>
          </a:xfrm>
        </p:grpSpPr>
        <p:sp>
          <p:nvSpPr>
            <p:cNvPr id="7" name="TextBox 7"/>
            <p:cNvSpPr txBox="1"/>
            <p:nvPr/>
          </p:nvSpPr>
          <p:spPr>
            <a:xfrm>
              <a:off x="623316" y="1753552"/>
              <a:ext cx="1807159" cy="205359"/>
            </a:xfrm>
            <a:prstGeom prst="rect">
              <a:avLst/>
            </a:prstGeom>
            <a:noFill/>
            <a:ln>
              <a:noFill/>
            </a:ln>
          </p:spPr>
          <p:txBody>
            <a:bodyPr wrap="none" lIns="0" tIns="0" rIns="0" bIns="0" anchor="t" anchorCtr="0">
              <a:spAutoFit/>
            </a:bodyPr>
            <a:lstStyle/>
            <a:p>
              <a:pPr algn="l"/>
              <a:r>
                <a:rPr lang="en-US" sz="1050" spc="225" dirty="0">
                  <a:solidFill>
                    <a:srgbClr val="1482FA"/>
                  </a:solidFill>
                  <a:latin typeface="Roche Sans Medium"/>
                  <a:ea typeface="Roche Sans Medium"/>
                  <a:cs typeface="Roche Sans Medium"/>
                </a:rPr>
                <a:t>PAPER · DEEP READ</a:t>
              </a:r>
            </a:p>
          </p:txBody>
        </p:sp>
        <p:sp>
          <p:nvSpPr>
            <p:cNvPr id="8" name="TextBox 8"/>
            <p:cNvSpPr txBox="1"/>
            <p:nvPr/>
          </p:nvSpPr>
          <p:spPr>
            <a:xfrm>
              <a:off x="623316" y="1963102"/>
              <a:ext cx="2296687"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NeurIPS 2017 · arXiv:1706.03762</a:t>
              </a:r>
            </a:p>
          </p:txBody>
        </p:sp>
      </p:grpSp>
      <p:grpSp>
        <p:nvGrpSpPr>
          <p:cNvPr id="13" name="Group 13"/>
          <p:cNvGrpSpPr/>
          <p:nvPr/>
        </p:nvGrpSpPr>
        <p:grpSpPr>
          <a:xfrm>
            <a:off x="571500" y="2350770"/>
            <a:ext cx="4334512" cy="1752600"/>
            <a:chOff x="571500" y="2350770"/>
            <a:chExt cx="4334512" cy="1752600"/>
          </a:xfrm>
        </p:grpSpPr>
        <p:sp>
          <p:nvSpPr>
            <p:cNvPr id="10" name="TextBox 10"/>
            <p:cNvSpPr txBox="1"/>
            <p:nvPr/>
          </p:nvSpPr>
          <p:spPr>
            <a:xfrm>
              <a:off x="571500" y="2350770"/>
              <a:ext cx="4334512" cy="1047750"/>
            </a:xfrm>
            <a:prstGeom prst="rect">
              <a:avLst/>
            </a:prstGeom>
            <a:noFill/>
            <a:ln>
              <a:noFill/>
            </a:ln>
          </p:spPr>
          <p:txBody>
            <a:bodyPr wrap="none" lIns="0" tIns="0" rIns="0" bIns="0" anchor="t" anchorCtr="0">
              <a:spAutoFit/>
            </a:bodyPr>
            <a:lstStyle/>
            <a:p>
              <a:pPr algn="l"/>
              <a:r>
                <a:rPr lang="en-US" sz="5400" dirty="0">
                  <a:solidFill>
                    <a:srgbClr val="0B41CD"/>
                  </a:solidFill>
                  <a:latin typeface="Roche Sans Light"/>
                  <a:ea typeface="Roche Sans Light"/>
                  <a:cs typeface="Roche Sans Light"/>
                </a:rPr>
                <a:t>Attention Is</a:t>
              </a:r>
            </a:p>
          </p:txBody>
        </p:sp>
        <p:sp>
          <p:nvSpPr>
            <p:cNvPr id="11" name="TextBox 11"/>
            <p:cNvSpPr txBox="1"/>
            <p:nvPr/>
          </p:nvSpPr>
          <p:spPr>
            <a:xfrm>
              <a:off x="571500" y="3055620"/>
              <a:ext cx="4178137" cy="1047750"/>
            </a:xfrm>
            <a:prstGeom prst="rect">
              <a:avLst/>
            </a:prstGeom>
            <a:noFill/>
            <a:ln>
              <a:noFill/>
            </a:ln>
          </p:spPr>
          <p:txBody>
            <a:bodyPr wrap="none" lIns="0" tIns="0" rIns="0" bIns="0" anchor="t" anchorCtr="0">
              <a:spAutoFit/>
            </a:bodyPr>
            <a:lstStyle/>
            <a:p>
              <a:pPr algn="l"/>
              <a:r>
                <a:rPr lang="en-US" sz="5400" dirty="0">
                  <a:solidFill>
                    <a:srgbClr val="0B41CD"/>
                  </a:solidFill>
                  <a:latin typeface="Roche Sans Light"/>
                  <a:ea typeface="Roche Sans Light"/>
                  <a:cs typeface="Roche Sans Light"/>
                </a:rPr>
                <a:t>All You Need</a:t>
              </a:r>
            </a:p>
          </p:txBody>
        </p:sp>
        <p:sp>
          <p:nvSpPr>
            <p:cNvPr id="12" name="Rectangle 12"/>
            <p:cNvSpPr/>
            <p:nvPr/>
          </p:nvSpPr>
          <p:spPr>
            <a:xfrm>
              <a:off x="628650" y="3924300"/>
              <a:ext cx="838200" cy="38100"/>
            </a:xfrm>
            <a:prstGeom prst="roundRect">
              <a:avLst>
                <a:gd name="adj" fmla="val 50000"/>
              </a:avLst>
            </a:prstGeom>
            <a:gradFill>
              <a:gsLst>
                <a:gs pos="0">
                  <a:srgbClr val="0B41CD"/>
                </a:gs>
                <a:gs pos="100000">
                  <a:srgbClr val="1482FA"/>
                </a:gs>
              </a:gsLst>
              <a:lin ang="0" scaled="1"/>
            </a:gradFill>
            <a:ln>
              <a:noFill/>
            </a:ln>
          </p:spPr>
        </p:sp>
      </p:grpSp>
      <p:grpSp>
        <p:nvGrpSpPr>
          <p:cNvPr id="17" name="Group 17"/>
          <p:cNvGrpSpPr/>
          <p:nvPr/>
        </p:nvGrpSpPr>
        <p:grpSpPr>
          <a:xfrm>
            <a:off x="621411" y="4227671"/>
            <a:ext cx="4042058" cy="734568"/>
            <a:chOff x="621411" y="4227671"/>
            <a:chExt cx="4042058" cy="734568"/>
          </a:xfrm>
        </p:grpSpPr>
        <p:sp>
          <p:nvSpPr>
            <p:cNvPr id="14" name="TextBox 14"/>
            <p:cNvSpPr txBox="1"/>
            <p:nvPr/>
          </p:nvSpPr>
          <p:spPr>
            <a:xfrm>
              <a:off x="621411" y="4227671"/>
              <a:ext cx="4042058" cy="278702"/>
            </a:xfrm>
            <a:prstGeom prst="rect">
              <a:avLst/>
            </a:prstGeom>
            <a:noFill/>
            <a:ln>
              <a:noFill/>
            </a:ln>
          </p:spPr>
          <p:txBody>
            <a:bodyPr wrap="none" lIns="0" tIns="0" rIns="0" bIns="0" anchor="t" anchorCtr="0">
              <a:spAutoFit/>
            </a:bodyPr>
            <a:lstStyle/>
            <a:p>
              <a:pPr algn="l"/>
              <a:r>
                <a:rPr lang="en-US" sz="1420" i="1" dirty="0">
                  <a:solidFill>
                    <a:srgbClr val="333333"/>
                  </a:solidFill>
                  <a:latin typeface="Roche Serif Light"/>
                  <a:ea typeface="Roche Serif Light"/>
                  <a:cs typeface="Roche Serif Light"/>
                </a:rPr>
                <a:t>Vaswani · Shazeer · Parmar · Uszkoreit</a:t>
              </a:r>
            </a:p>
          </p:txBody>
        </p:sp>
        <p:sp>
          <p:nvSpPr>
            <p:cNvPr id="15" name="TextBox 15"/>
            <p:cNvSpPr txBox="1"/>
            <p:nvPr/>
          </p:nvSpPr>
          <p:spPr>
            <a:xfrm>
              <a:off x="621411" y="4475321"/>
              <a:ext cx="3615713" cy="278702"/>
            </a:xfrm>
            <a:prstGeom prst="rect">
              <a:avLst/>
            </a:prstGeom>
            <a:noFill/>
            <a:ln>
              <a:noFill/>
            </a:ln>
          </p:spPr>
          <p:txBody>
            <a:bodyPr wrap="none" lIns="0" tIns="0" rIns="0" bIns="0" anchor="t" anchorCtr="0">
              <a:spAutoFit/>
            </a:bodyPr>
            <a:lstStyle/>
            <a:p>
              <a:pPr algn="l"/>
              <a:r>
                <a:rPr lang="en-US" sz="1420" i="1" dirty="0">
                  <a:solidFill>
                    <a:srgbClr val="333333"/>
                  </a:solidFill>
                  <a:latin typeface="Roche Serif Light"/>
                  <a:ea typeface="Roche Serif Light"/>
                  <a:cs typeface="Roche Serif Light"/>
                </a:rPr>
                <a:t>Jones · Gomez · Kaiser · Polosukhin</a:t>
              </a:r>
            </a:p>
          </p:txBody>
        </p:sp>
        <p:sp>
          <p:nvSpPr>
            <p:cNvPr id="16" name="TextBox 16"/>
            <p:cNvSpPr txBox="1"/>
            <p:nvPr/>
          </p:nvSpPr>
          <p:spPr>
            <a:xfrm>
              <a:off x="623697" y="4771549"/>
              <a:ext cx="3508384"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Google Brain · Google Research · University of Toronto</a:t>
              </a:r>
            </a:p>
          </p:txBody>
        </p:sp>
      </p:grpSp>
      <p:grpSp>
        <p:nvGrpSpPr>
          <p:cNvPr id="22" name="Group 22"/>
          <p:cNvGrpSpPr/>
          <p:nvPr/>
        </p:nvGrpSpPr>
        <p:grpSpPr>
          <a:xfrm>
            <a:off x="628650" y="5353050"/>
            <a:ext cx="4279766" cy="970312"/>
            <a:chOff x="628650" y="5353050"/>
            <a:chExt cx="4279766" cy="970312"/>
          </a:xfrm>
        </p:grpSpPr>
        <p:sp>
          <p:nvSpPr>
            <p:cNvPr id="18" name="Rectangle 18"/>
            <p:cNvSpPr/>
            <p:nvPr/>
          </p:nvSpPr>
          <p:spPr>
            <a:xfrm>
              <a:off x="628650" y="5353050"/>
              <a:ext cx="47625" cy="685800"/>
            </a:xfrm>
            <a:prstGeom prst="roundRect">
              <a:avLst>
                <a:gd name="adj" fmla="val 50000"/>
              </a:avLst>
            </a:prstGeom>
            <a:gradFill>
              <a:gsLst>
                <a:gs pos="0">
                  <a:srgbClr val="0B41CD"/>
                </a:gs>
                <a:gs pos="100000">
                  <a:srgbClr val="1482FA"/>
                </a:gs>
              </a:gsLst>
              <a:lin ang="0" scaled="1"/>
            </a:gradFill>
            <a:ln>
              <a:noFill/>
            </a:ln>
          </p:spPr>
        </p:sp>
        <p:sp>
          <p:nvSpPr>
            <p:cNvPr id="19" name="TextBox 19"/>
            <p:cNvSpPr txBox="1"/>
            <p:nvPr/>
          </p:nvSpPr>
          <p:spPr>
            <a:xfrm>
              <a:off x="852488" y="5484495"/>
              <a:ext cx="1020851"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THE 2017 IDEA</a:t>
              </a:r>
            </a:p>
          </p:txBody>
        </p:sp>
        <p:sp>
          <p:nvSpPr>
            <p:cNvPr id="20" name="TextBox 20"/>
            <p:cNvSpPr txBox="1"/>
            <p:nvPr/>
          </p:nvSpPr>
          <p:spPr>
            <a:xfrm>
              <a:off x="848487" y="5700236"/>
              <a:ext cx="4059929" cy="337376"/>
            </a:xfrm>
            <a:prstGeom prst="rect">
              <a:avLst/>
            </a:prstGeom>
            <a:noFill/>
            <a:ln>
              <a:noFill/>
            </a:ln>
          </p:spPr>
          <p:txBody>
            <a:bodyPr wrap="none" lIns="0" tIns="0" rIns="0" bIns="0" anchor="t" anchorCtr="0">
              <a:spAutoFit/>
            </a:bodyPr>
            <a:lstStyle/>
            <a:p>
              <a:pPr algn="l"/>
              <a:r>
                <a:rPr lang="en-US" sz="1720" i="1" dirty="0">
                  <a:solidFill>
                    <a:srgbClr val="0B41CD"/>
                  </a:solidFill>
                  <a:latin typeface="Roche Serif Light"/>
                  <a:ea typeface="Roche Serif Light"/>
                  <a:cs typeface="Roche Serif Light"/>
                </a:rPr>
                <a:t>Drop recurrence and convolution.</a:t>
              </a:r>
            </a:p>
          </p:txBody>
        </p:sp>
        <p:sp>
          <p:nvSpPr>
            <p:cNvPr id="21" name="TextBox 21"/>
            <p:cNvSpPr txBox="1"/>
            <p:nvPr/>
          </p:nvSpPr>
          <p:spPr>
            <a:xfrm>
              <a:off x="848487" y="5985986"/>
              <a:ext cx="2367270" cy="337376"/>
            </a:xfrm>
            <a:prstGeom prst="rect">
              <a:avLst/>
            </a:prstGeom>
            <a:noFill/>
            <a:ln>
              <a:noFill/>
            </a:ln>
          </p:spPr>
          <p:txBody>
            <a:bodyPr wrap="none" lIns="0" tIns="0" rIns="0" bIns="0" anchor="t" anchorCtr="0">
              <a:spAutoFit/>
            </a:bodyPr>
            <a:lstStyle/>
            <a:p>
              <a:pPr algn="l"/>
              <a:r>
                <a:rPr lang="en-US" sz="1720" i="1" dirty="0">
                  <a:solidFill>
                    <a:srgbClr val="0B41CD"/>
                  </a:solidFill>
                  <a:latin typeface="Roche Serif Light"/>
                  <a:ea typeface="Roche Serif Light"/>
                  <a:cs typeface="Roche Serif Light"/>
                </a:rPr>
                <a:t>Use only attention.</a:t>
              </a:r>
            </a:p>
          </p:txBody>
        </p:sp>
      </p:grpSp>
      <p:sp>
        <p:nvSpPr>
          <p:cNvPr id="23" name="TextBox 23"/>
          <p:cNvSpPr txBox="1"/>
          <p:nvPr/>
        </p:nvSpPr>
        <p:spPr>
          <a:xfrm>
            <a:off x="623888" y="6521291"/>
            <a:ext cx="3943212"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Roche Blue exemplar · rebuilt with ppt-master · technical-formula style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Bottom)">
                                      <p:cBhvr>
                                        <p:cTn id="15" dur="400"/>
                                        <p:tgtEl>
                                          <p:spTgt spid="1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8414462" cy="656939"/>
            <a:chOff x="571500" y="533400"/>
            <a:chExt cx="8414462"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6384" y="565785"/>
              <a:ext cx="8199578" cy="528066"/>
            </a:xfrm>
            <a:prstGeom prst="rect">
              <a:avLst/>
            </a:prstGeom>
            <a:noFill/>
            <a:ln>
              <a:noFill/>
            </a:ln>
          </p:spPr>
          <p:txBody>
            <a:bodyPr wrap="none" lIns="0" tIns="0" rIns="0" bIns="0" anchor="t" anchorCtr="0">
              <a:spAutoFit/>
            </a:bodyPr>
            <a:lstStyle/>
            <a:p>
              <a:pPr algn="l"/>
              <a:r>
                <a:rPr lang="en-US" sz="2700" dirty="0">
                  <a:solidFill>
                    <a:srgbClr val="0B41CD"/>
                  </a:solidFill>
                  <a:latin typeface="Roche Sans Light"/>
                  <a:ea typeface="Roche Sans Light"/>
                  <a:cs typeface="Roche Sans Light"/>
                </a:rPr>
                <a:t>A simpler model, better results, less training</a:t>
              </a:r>
            </a:p>
          </p:txBody>
        </p:sp>
        <p:sp>
          <p:nvSpPr>
            <p:cNvPr id="5" name="TextBox 5"/>
            <p:cNvSpPr txBox="1"/>
            <p:nvPr/>
          </p:nvSpPr>
          <p:spPr>
            <a:xfrm>
              <a:off x="795147" y="999649"/>
              <a:ext cx="4974260"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WHY THIS PAPER MATTERS · 2017 SOTA ON WMT'14 TRANSLATION</a:t>
              </a:r>
            </a:p>
          </p:txBody>
        </p:sp>
      </p:grpSp>
      <p:grpSp>
        <p:nvGrpSpPr>
          <p:cNvPr id="24" name="Group 24"/>
          <p:cNvGrpSpPr/>
          <p:nvPr/>
        </p:nvGrpSpPr>
        <p:grpSpPr>
          <a:xfrm>
            <a:off x="571500" y="1524000"/>
            <a:ext cx="2619375" cy="2286000"/>
            <a:chOff x="571500" y="1524000"/>
            <a:chExt cx="2619375" cy="2286000"/>
          </a:xfrm>
        </p:grpSpPr>
        <p:sp>
          <p:nvSpPr>
            <p:cNvPr id="7" name="Rectangle 7"/>
            <p:cNvSpPr/>
            <p:nvPr/>
          </p:nvSpPr>
          <p:spPr>
            <a:xfrm>
              <a:off x="571500" y="1524000"/>
              <a:ext cx="2619375" cy="2286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6000"/>
                </a:srgbClr>
              </a:outerShdw>
            </a:effectLst>
          </p:spPr>
        </p:sp>
        <p:sp>
          <p:nvSpPr>
            <p:cNvPr id="8" name="Rectangle 8"/>
            <p:cNvSpPr/>
            <p:nvPr/>
          </p:nvSpPr>
          <p:spPr>
            <a:xfrm>
              <a:off x="571500" y="1524000"/>
              <a:ext cx="47625" cy="2286000"/>
            </a:xfrm>
            <a:prstGeom prst="roundRect">
              <a:avLst>
                <a:gd name="adj" fmla="val 50000"/>
              </a:avLst>
            </a:prstGeom>
            <a:solidFill>
              <a:srgbClr val="0B41CD"/>
            </a:solidFill>
            <a:ln>
              <a:noFill/>
            </a:ln>
          </p:spPr>
        </p:sp>
        <p:grpSp>
          <p:nvGrpSpPr>
            <p:cNvPr id="15" name="Group 15"/>
            <p:cNvGrpSpPr/>
            <p:nvPr/>
          </p:nvGrpSpPr>
          <p:grpSpPr>
            <a:xfrm>
              <a:off x="797719" y="1800225"/>
              <a:ext cx="214312" cy="211931"/>
              <a:chOff x="797719" y="1800225"/>
              <a:chExt cx="214312" cy="211931"/>
            </a:xfrm>
          </p:grpSpPr>
          <p:sp>
            <p:nvSpPr>
              <p:cNvPr id="9" name="Freeform 9"/>
              <p:cNvSpPr/>
              <p:nvPr/>
            </p:nvSpPr>
            <p:spPr>
              <a:xfrm>
                <a:off x="857250" y="2002631"/>
                <a:ext cx="95250" cy="9525"/>
              </a:xfrm>
              <a:custGeom>
                <a:avLst/>
                <a:gdLst/>
                <a:ahLst/>
                <a:cxnLst/>
                <a:rect l="l" t="t" r="r" b="b"/>
                <a:pathLst>
                  <a:path w="95250" h="9525">
                    <a:moveTo>
                      <a:pt x="0" y="0"/>
                    </a:moveTo>
                    <a:lnTo>
                      <a:pt x="95250" y="0"/>
                    </a:lnTo>
                  </a:path>
                </a:pathLst>
              </a:custGeom>
              <a:noFill/>
              <a:ln w="23812">
                <a:solidFill>
                  <a:srgbClr val="0B41CD"/>
                </a:solidFill>
              </a:ln>
            </p:spPr>
          </p:sp>
          <p:sp>
            <p:nvSpPr>
              <p:cNvPr id="10" name="Freeform 10"/>
              <p:cNvSpPr/>
              <p:nvPr/>
            </p:nvSpPr>
            <p:spPr>
              <a:xfrm>
                <a:off x="904875" y="1955006"/>
                <a:ext cx="9525" cy="47625"/>
              </a:xfrm>
              <a:custGeom>
                <a:avLst/>
                <a:gdLst/>
                <a:ahLst/>
                <a:cxnLst/>
                <a:rect l="l" t="t" r="r" b="b"/>
                <a:pathLst>
                  <a:path w="9525" h="47625">
                    <a:moveTo>
                      <a:pt x="0" y="0"/>
                    </a:moveTo>
                    <a:lnTo>
                      <a:pt x="0" y="47625"/>
                    </a:lnTo>
                  </a:path>
                </a:pathLst>
              </a:custGeom>
              <a:noFill/>
              <a:ln w="23812">
                <a:solidFill>
                  <a:srgbClr val="0B41CD"/>
                </a:solidFill>
              </a:ln>
            </p:spPr>
          </p:sp>
          <p:sp>
            <p:nvSpPr>
              <p:cNvPr id="11" name="Freeform 11"/>
              <p:cNvSpPr/>
              <p:nvPr/>
            </p:nvSpPr>
            <p:spPr>
              <a:xfrm>
                <a:off x="845344" y="1800225"/>
                <a:ext cx="119062" cy="9525"/>
              </a:xfrm>
              <a:custGeom>
                <a:avLst/>
                <a:gdLst/>
                <a:ahLst/>
                <a:cxnLst/>
                <a:rect l="l" t="t" r="r" b="b"/>
                <a:pathLst>
                  <a:path w="119062" h="9525">
                    <a:moveTo>
                      <a:pt x="0" y="0"/>
                    </a:moveTo>
                    <a:lnTo>
                      <a:pt x="119062" y="0"/>
                    </a:lnTo>
                  </a:path>
                </a:pathLst>
              </a:custGeom>
              <a:noFill/>
              <a:ln w="23812">
                <a:solidFill>
                  <a:srgbClr val="0B41CD"/>
                </a:solidFill>
              </a:ln>
            </p:spPr>
          </p:sp>
          <p:sp>
            <p:nvSpPr>
              <p:cNvPr id="12" name="Freeform 12"/>
              <p:cNvSpPr/>
              <p:nvPr/>
            </p:nvSpPr>
            <p:spPr>
              <a:xfrm>
                <a:off x="845344" y="1800225"/>
                <a:ext cx="119062" cy="154781"/>
              </a:xfrm>
              <a:custGeom>
                <a:avLst/>
                <a:gdLst/>
                <a:ahLst/>
                <a:cxnLst/>
                <a:rect l="l" t="t" r="r" b="b"/>
                <a:pathLst>
                  <a:path w="119062" h="154781">
                    <a:moveTo>
                      <a:pt x="119062" y="0"/>
                    </a:moveTo>
                    <a:lnTo>
                      <a:pt x="119062" y="95250"/>
                    </a:lnTo>
                    <a:cubicBezTo>
                      <a:pt x="119062" y="128128"/>
                      <a:pt x="92409" y="154781"/>
                      <a:pt x="59531" y="154781"/>
                    </a:cubicBezTo>
                    <a:cubicBezTo>
                      <a:pt x="26653" y="154781"/>
                      <a:pt x="0" y="128128"/>
                      <a:pt x="0" y="95250"/>
                    </a:cubicBezTo>
                    <a:lnTo>
                      <a:pt x="0" y="0"/>
                    </a:lnTo>
                  </a:path>
                </a:pathLst>
              </a:custGeom>
              <a:noFill/>
              <a:ln w="23812">
                <a:solidFill>
                  <a:srgbClr val="0B41CD"/>
                </a:solidFill>
              </a:ln>
            </p:spPr>
          </p:sp>
          <p:sp>
            <p:nvSpPr>
              <p:cNvPr id="13" name="Freeform 13"/>
              <p:cNvSpPr/>
              <p:nvPr/>
            </p:nvSpPr>
            <p:spPr>
              <a:xfrm>
                <a:off x="797719" y="183594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0B41CD"/>
                </a:solidFill>
              </a:ln>
            </p:spPr>
          </p:sp>
          <p:sp>
            <p:nvSpPr>
              <p:cNvPr id="14" name="Freeform 14"/>
              <p:cNvSpPr/>
              <p:nvPr/>
            </p:nvSpPr>
            <p:spPr>
              <a:xfrm>
                <a:off x="964406" y="183594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0B41CD"/>
                </a:solidFill>
              </a:ln>
            </p:spPr>
          </p:sp>
        </p:grpSp>
        <p:sp>
          <p:nvSpPr>
            <p:cNvPr id="16" name="TextBox 16"/>
            <p:cNvSpPr txBox="1"/>
            <p:nvPr/>
          </p:nvSpPr>
          <p:spPr>
            <a:xfrm>
              <a:off x="776097" y="2275999"/>
              <a:ext cx="517169" cy="190690"/>
            </a:xfrm>
            <a:prstGeom prst="rect">
              <a:avLst/>
            </a:prstGeom>
            <a:noFill/>
            <a:ln>
              <a:noFill/>
            </a:ln>
          </p:spPr>
          <p:txBody>
            <a:bodyPr wrap="none" lIns="0" tIns="0" rIns="0" bIns="0" anchor="t" anchorCtr="0">
              <a:spAutoFit/>
            </a:bodyPr>
            <a:lstStyle/>
            <a:p>
              <a:pPr algn="l"/>
              <a:r>
                <a:rPr lang="en-US" sz="980" spc="75" dirty="0">
                  <a:solidFill>
                    <a:srgbClr val="706B69"/>
                  </a:solidFill>
                  <a:latin typeface="Roche Sans Medium"/>
                  <a:ea typeface="Roche Sans Medium"/>
                  <a:cs typeface="Roche Sans Medium"/>
                </a:rPr>
                <a:t xml:space="preserve">EN </a:t>
              </a:r>
              <a:r>
                <a:rPr lang="en-US" sz="980" spc="75" dirty="0">
                  <a:solidFill>
                    <a:srgbClr val="706B69"/>
                  </a:solidFill>
                  <a:latin typeface="Consolas"/>
                  <a:ea typeface="Consolas"/>
                  <a:cs typeface="Consolas"/>
                </a:rPr>
                <a:t>→</a:t>
              </a:r>
              <a:r>
                <a:rPr lang="en-US" sz="980" spc="75" dirty="0">
                  <a:solidFill>
                    <a:srgbClr val="706B69"/>
                  </a:solidFill>
                  <a:latin typeface="Roche Sans Medium"/>
                  <a:ea typeface="Roche Sans Medium"/>
                  <a:cs typeface="Roche Sans Medium"/>
                </a:rPr>
                <a:t xml:space="preserve"> DE</a:t>
              </a:r>
            </a:p>
          </p:txBody>
        </p:sp>
        <p:sp>
          <p:nvSpPr>
            <p:cNvPr id="17" name="TextBox 17"/>
            <p:cNvSpPr txBox="1"/>
            <p:nvPr/>
          </p:nvSpPr>
          <p:spPr>
            <a:xfrm>
              <a:off x="775716" y="2496502"/>
              <a:ext cx="1132230"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BLEU on WMT'14</a:t>
              </a:r>
            </a:p>
          </p:txBody>
        </p:sp>
        <p:sp>
          <p:nvSpPr>
            <p:cNvPr id="18" name="TextBox 18"/>
            <p:cNvSpPr txBox="1"/>
            <p:nvPr/>
          </p:nvSpPr>
          <p:spPr>
            <a:xfrm>
              <a:off x="762000" y="2755582"/>
              <a:ext cx="1415263" cy="904875"/>
            </a:xfrm>
            <a:prstGeom prst="rect">
              <a:avLst/>
            </a:prstGeom>
            <a:noFill/>
            <a:ln>
              <a:noFill/>
            </a:ln>
          </p:spPr>
          <p:txBody>
            <a:bodyPr wrap="none" lIns="0" tIns="0" rIns="0" bIns="0" anchor="t" anchorCtr="0">
              <a:spAutoFit/>
            </a:bodyPr>
            <a:lstStyle/>
            <a:p>
              <a:pPr algn="l"/>
              <a:r>
                <a:rPr lang="en-US" sz="4650" dirty="0">
                  <a:solidFill>
                    <a:srgbClr val="0B41CD"/>
                  </a:solidFill>
                  <a:latin typeface="Roche Sans Light"/>
                  <a:ea typeface="Roche Sans Light"/>
                  <a:cs typeface="Roche Sans Light"/>
                </a:rPr>
                <a:t>28.4</a:t>
              </a:r>
            </a:p>
          </p:txBody>
        </p:sp>
        <p:grpSp>
          <p:nvGrpSpPr>
            <p:cNvPr id="21" name="Group 21"/>
            <p:cNvGrpSpPr/>
            <p:nvPr/>
          </p:nvGrpSpPr>
          <p:grpSpPr>
            <a:xfrm>
              <a:off x="834390" y="3444240"/>
              <a:ext cx="76200" cy="76200"/>
              <a:chOff x="834390" y="3444240"/>
              <a:chExt cx="76200" cy="76200"/>
            </a:xfrm>
          </p:grpSpPr>
          <p:sp>
            <p:nvSpPr>
              <p:cNvPr id="19" name="Freeform 19"/>
              <p:cNvSpPr/>
              <p:nvPr/>
            </p:nvSpPr>
            <p:spPr>
              <a:xfrm>
                <a:off x="834390" y="3444240"/>
                <a:ext cx="76200" cy="76200"/>
              </a:xfrm>
              <a:custGeom>
                <a:avLst/>
                <a:gdLst/>
                <a:ahLst/>
                <a:cxnLst/>
                <a:rect l="l" t="t" r="r" b="b"/>
                <a:pathLst>
                  <a:path w="76200" h="76200">
                    <a:moveTo>
                      <a:pt x="76200" y="0"/>
                    </a:moveTo>
                    <a:lnTo>
                      <a:pt x="0" y="76200"/>
                    </a:lnTo>
                  </a:path>
                </a:pathLst>
              </a:custGeom>
              <a:noFill/>
              <a:ln w="15240">
                <a:solidFill>
                  <a:srgbClr val="007A3B"/>
                </a:solidFill>
              </a:ln>
            </p:spPr>
          </p:sp>
          <p:sp>
            <p:nvSpPr>
              <p:cNvPr id="20" name="Freeform 20"/>
              <p:cNvSpPr/>
              <p:nvPr/>
            </p:nvSpPr>
            <p:spPr>
              <a:xfrm>
                <a:off x="842010" y="3444240"/>
                <a:ext cx="68580" cy="68580"/>
              </a:xfrm>
              <a:custGeom>
                <a:avLst/>
                <a:gdLst/>
                <a:ahLst/>
                <a:cxnLst/>
                <a:rect l="l" t="t" r="r" b="b"/>
                <a:pathLst>
                  <a:path w="68580" h="68580">
                    <a:moveTo>
                      <a:pt x="0" y="0"/>
                    </a:moveTo>
                    <a:lnTo>
                      <a:pt x="68580" y="0"/>
                    </a:lnTo>
                    <a:lnTo>
                      <a:pt x="68580" y="68580"/>
                    </a:lnTo>
                  </a:path>
                </a:pathLst>
              </a:custGeom>
              <a:noFill/>
              <a:ln w="15240">
                <a:solidFill>
                  <a:srgbClr val="007A3B"/>
                </a:solidFill>
              </a:ln>
            </p:spPr>
          </p:sp>
        </p:grpSp>
        <p:sp>
          <p:nvSpPr>
            <p:cNvPr id="22" name="TextBox 22"/>
            <p:cNvSpPr txBox="1"/>
            <p:nvPr/>
          </p:nvSpPr>
          <p:spPr>
            <a:xfrm>
              <a:off x="1003554" y="3413760"/>
              <a:ext cx="367589" cy="234696"/>
            </a:xfrm>
            <a:prstGeom prst="rect">
              <a:avLst/>
            </a:prstGeom>
            <a:noFill/>
            <a:ln>
              <a:noFill/>
            </a:ln>
          </p:spPr>
          <p:txBody>
            <a:bodyPr wrap="none" lIns="0" tIns="0" rIns="0" bIns="0" anchor="t" anchorCtr="0">
              <a:spAutoFit/>
            </a:bodyPr>
            <a:lstStyle/>
            <a:p>
              <a:pPr algn="l"/>
              <a:r>
                <a:rPr lang="en-US" sz="1200" dirty="0">
                  <a:solidFill>
                    <a:srgbClr val="007A3B"/>
                  </a:solidFill>
                  <a:latin typeface="Roche Sans Medium"/>
                  <a:ea typeface="Roche Sans Medium"/>
                  <a:cs typeface="Roche Sans Medium"/>
                </a:rPr>
                <a:t>+2.0</a:t>
              </a:r>
            </a:p>
          </p:txBody>
        </p:sp>
        <p:sp>
          <p:nvSpPr>
            <p:cNvPr id="23" name="TextBox 23"/>
            <p:cNvSpPr txBox="1"/>
            <p:nvPr/>
          </p:nvSpPr>
          <p:spPr>
            <a:xfrm>
              <a:off x="1423797" y="3438049"/>
              <a:ext cx="1348702"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over prior ensembles</a:t>
              </a:r>
            </a:p>
          </p:txBody>
        </p:sp>
      </p:grpSp>
      <p:grpSp>
        <p:nvGrpSpPr>
          <p:cNvPr id="39" name="Group 39"/>
          <p:cNvGrpSpPr/>
          <p:nvPr/>
        </p:nvGrpSpPr>
        <p:grpSpPr>
          <a:xfrm>
            <a:off x="3381375" y="1524000"/>
            <a:ext cx="2619375" cy="2286000"/>
            <a:chOff x="3381375" y="1524000"/>
            <a:chExt cx="2619375" cy="2286000"/>
          </a:xfrm>
        </p:grpSpPr>
        <p:sp>
          <p:nvSpPr>
            <p:cNvPr id="25" name="Rectangle 25"/>
            <p:cNvSpPr/>
            <p:nvPr/>
          </p:nvSpPr>
          <p:spPr>
            <a:xfrm>
              <a:off x="3381375" y="1524000"/>
              <a:ext cx="2619375" cy="2286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6000"/>
                </a:srgbClr>
              </a:outerShdw>
            </a:effectLst>
          </p:spPr>
        </p:sp>
        <p:sp>
          <p:nvSpPr>
            <p:cNvPr id="26" name="Rectangle 26"/>
            <p:cNvSpPr/>
            <p:nvPr/>
          </p:nvSpPr>
          <p:spPr>
            <a:xfrm>
              <a:off x="3381375" y="1524000"/>
              <a:ext cx="47625" cy="2286000"/>
            </a:xfrm>
            <a:prstGeom prst="roundRect">
              <a:avLst>
                <a:gd name="adj" fmla="val 50000"/>
              </a:avLst>
            </a:prstGeom>
            <a:solidFill>
              <a:srgbClr val="1482FA"/>
            </a:solidFill>
            <a:ln>
              <a:noFill/>
            </a:ln>
          </p:spPr>
        </p:sp>
        <p:grpSp>
          <p:nvGrpSpPr>
            <p:cNvPr id="33" name="Group 33"/>
            <p:cNvGrpSpPr/>
            <p:nvPr/>
          </p:nvGrpSpPr>
          <p:grpSpPr>
            <a:xfrm>
              <a:off x="3607594" y="1800225"/>
              <a:ext cx="214312" cy="211931"/>
              <a:chOff x="3607594" y="1800225"/>
              <a:chExt cx="214312" cy="211931"/>
            </a:xfrm>
          </p:grpSpPr>
          <p:sp>
            <p:nvSpPr>
              <p:cNvPr id="27" name="Freeform 27"/>
              <p:cNvSpPr/>
              <p:nvPr/>
            </p:nvSpPr>
            <p:spPr>
              <a:xfrm>
                <a:off x="3667125" y="2002631"/>
                <a:ext cx="95250" cy="9525"/>
              </a:xfrm>
              <a:custGeom>
                <a:avLst/>
                <a:gdLst/>
                <a:ahLst/>
                <a:cxnLst/>
                <a:rect l="l" t="t" r="r" b="b"/>
                <a:pathLst>
                  <a:path w="95250" h="9525">
                    <a:moveTo>
                      <a:pt x="0" y="0"/>
                    </a:moveTo>
                    <a:lnTo>
                      <a:pt x="95250" y="0"/>
                    </a:lnTo>
                  </a:path>
                </a:pathLst>
              </a:custGeom>
              <a:noFill/>
              <a:ln w="23812">
                <a:solidFill>
                  <a:srgbClr val="1482FA"/>
                </a:solidFill>
              </a:ln>
            </p:spPr>
          </p:sp>
          <p:sp>
            <p:nvSpPr>
              <p:cNvPr id="28" name="Freeform 28"/>
              <p:cNvSpPr/>
              <p:nvPr/>
            </p:nvSpPr>
            <p:spPr>
              <a:xfrm>
                <a:off x="3714750" y="1955006"/>
                <a:ext cx="9525" cy="47625"/>
              </a:xfrm>
              <a:custGeom>
                <a:avLst/>
                <a:gdLst/>
                <a:ahLst/>
                <a:cxnLst/>
                <a:rect l="l" t="t" r="r" b="b"/>
                <a:pathLst>
                  <a:path w="9525" h="47625">
                    <a:moveTo>
                      <a:pt x="0" y="0"/>
                    </a:moveTo>
                    <a:lnTo>
                      <a:pt x="0" y="47625"/>
                    </a:lnTo>
                  </a:path>
                </a:pathLst>
              </a:custGeom>
              <a:noFill/>
              <a:ln w="23812">
                <a:solidFill>
                  <a:srgbClr val="1482FA"/>
                </a:solidFill>
              </a:ln>
            </p:spPr>
          </p:sp>
          <p:sp>
            <p:nvSpPr>
              <p:cNvPr id="29" name="Freeform 29"/>
              <p:cNvSpPr/>
              <p:nvPr/>
            </p:nvSpPr>
            <p:spPr>
              <a:xfrm>
                <a:off x="3655219" y="1800225"/>
                <a:ext cx="119062" cy="9525"/>
              </a:xfrm>
              <a:custGeom>
                <a:avLst/>
                <a:gdLst/>
                <a:ahLst/>
                <a:cxnLst/>
                <a:rect l="l" t="t" r="r" b="b"/>
                <a:pathLst>
                  <a:path w="119062" h="9525">
                    <a:moveTo>
                      <a:pt x="0" y="0"/>
                    </a:moveTo>
                    <a:lnTo>
                      <a:pt x="119062" y="0"/>
                    </a:lnTo>
                  </a:path>
                </a:pathLst>
              </a:custGeom>
              <a:noFill/>
              <a:ln w="23812">
                <a:solidFill>
                  <a:srgbClr val="1482FA"/>
                </a:solidFill>
              </a:ln>
            </p:spPr>
          </p:sp>
          <p:sp>
            <p:nvSpPr>
              <p:cNvPr id="30" name="Freeform 30"/>
              <p:cNvSpPr/>
              <p:nvPr/>
            </p:nvSpPr>
            <p:spPr>
              <a:xfrm>
                <a:off x="3655219" y="1800225"/>
                <a:ext cx="119062" cy="154781"/>
              </a:xfrm>
              <a:custGeom>
                <a:avLst/>
                <a:gdLst/>
                <a:ahLst/>
                <a:cxnLst/>
                <a:rect l="l" t="t" r="r" b="b"/>
                <a:pathLst>
                  <a:path w="119062" h="154781">
                    <a:moveTo>
                      <a:pt x="119062" y="0"/>
                    </a:moveTo>
                    <a:lnTo>
                      <a:pt x="119062" y="95250"/>
                    </a:lnTo>
                    <a:cubicBezTo>
                      <a:pt x="119062" y="128128"/>
                      <a:pt x="92409" y="154781"/>
                      <a:pt x="59531" y="154781"/>
                    </a:cubicBezTo>
                    <a:cubicBezTo>
                      <a:pt x="26653" y="154781"/>
                      <a:pt x="0" y="128128"/>
                      <a:pt x="0" y="95250"/>
                    </a:cubicBezTo>
                    <a:lnTo>
                      <a:pt x="0" y="0"/>
                    </a:lnTo>
                  </a:path>
                </a:pathLst>
              </a:custGeom>
              <a:noFill/>
              <a:ln w="23812">
                <a:solidFill>
                  <a:srgbClr val="1482FA"/>
                </a:solidFill>
              </a:ln>
            </p:spPr>
          </p:sp>
          <p:sp>
            <p:nvSpPr>
              <p:cNvPr id="31" name="Freeform 31"/>
              <p:cNvSpPr/>
              <p:nvPr/>
            </p:nvSpPr>
            <p:spPr>
              <a:xfrm>
                <a:off x="3607594" y="183594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482FA"/>
                </a:solidFill>
              </a:ln>
            </p:spPr>
          </p:sp>
          <p:sp>
            <p:nvSpPr>
              <p:cNvPr id="32" name="Freeform 32"/>
              <p:cNvSpPr/>
              <p:nvPr/>
            </p:nvSpPr>
            <p:spPr>
              <a:xfrm>
                <a:off x="3774281" y="183594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482FA"/>
                </a:solidFill>
              </a:ln>
            </p:spPr>
          </p:sp>
        </p:grpSp>
        <p:sp>
          <p:nvSpPr>
            <p:cNvPr id="34" name="TextBox 34"/>
            <p:cNvSpPr txBox="1"/>
            <p:nvPr/>
          </p:nvSpPr>
          <p:spPr>
            <a:xfrm>
              <a:off x="3585972" y="2275999"/>
              <a:ext cx="517169" cy="190690"/>
            </a:xfrm>
            <a:prstGeom prst="rect">
              <a:avLst/>
            </a:prstGeom>
            <a:noFill/>
            <a:ln>
              <a:noFill/>
            </a:ln>
          </p:spPr>
          <p:txBody>
            <a:bodyPr wrap="none" lIns="0" tIns="0" rIns="0" bIns="0" anchor="t" anchorCtr="0">
              <a:spAutoFit/>
            </a:bodyPr>
            <a:lstStyle/>
            <a:p>
              <a:pPr algn="l"/>
              <a:r>
                <a:rPr lang="en-US" sz="980" spc="75" dirty="0">
                  <a:solidFill>
                    <a:srgbClr val="706B69"/>
                  </a:solidFill>
                  <a:latin typeface="Roche Sans Medium"/>
                  <a:ea typeface="Roche Sans Medium"/>
                  <a:cs typeface="Roche Sans Medium"/>
                </a:rPr>
                <a:t xml:space="preserve">EN </a:t>
              </a:r>
              <a:r>
                <a:rPr lang="en-US" sz="980" spc="75" dirty="0">
                  <a:solidFill>
                    <a:srgbClr val="706B69"/>
                  </a:solidFill>
                  <a:latin typeface="Consolas"/>
                  <a:ea typeface="Consolas"/>
                  <a:cs typeface="Consolas"/>
                </a:rPr>
                <a:t>→</a:t>
              </a:r>
              <a:r>
                <a:rPr lang="en-US" sz="980" spc="75" dirty="0">
                  <a:solidFill>
                    <a:srgbClr val="706B69"/>
                  </a:solidFill>
                  <a:latin typeface="Roche Sans Medium"/>
                  <a:ea typeface="Roche Sans Medium"/>
                  <a:cs typeface="Roche Sans Medium"/>
                </a:rPr>
                <a:t xml:space="preserve"> FR</a:t>
              </a:r>
            </a:p>
          </p:txBody>
        </p:sp>
        <p:sp>
          <p:nvSpPr>
            <p:cNvPr id="35" name="TextBox 35"/>
            <p:cNvSpPr txBox="1"/>
            <p:nvPr/>
          </p:nvSpPr>
          <p:spPr>
            <a:xfrm>
              <a:off x="3585591" y="2496502"/>
              <a:ext cx="1132230"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BLEU on WMT'14</a:t>
              </a:r>
            </a:p>
          </p:txBody>
        </p:sp>
        <p:sp>
          <p:nvSpPr>
            <p:cNvPr id="36" name="TextBox 36"/>
            <p:cNvSpPr txBox="1"/>
            <p:nvPr/>
          </p:nvSpPr>
          <p:spPr>
            <a:xfrm>
              <a:off x="3571875" y="2755582"/>
              <a:ext cx="1415263" cy="904875"/>
            </a:xfrm>
            <a:prstGeom prst="rect">
              <a:avLst/>
            </a:prstGeom>
            <a:noFill/>
            <a:ln>
              <a:noFill/>
            </a:ln>
          </p:spPr>
          <p:txBody>
            <a:bodyPr wrap="none" lIns="0" tIns="0" rIns="0" bIns="0" anchor="t" anchorCtr="0">
              <a:spAutoFit/>
            </a:bodyPr>
            <a:lstStyle/>
            <a:p>
              <a:pPr algn="l"/>
              <a:r>
                <a:rPr lang="en-US" sz="4650" dirty="0">
                  <a:solidFill>
                    <a:srgbClr val="1482FA"/>
                  </a:solidFill>
                  <a:latin typeface="Roche Sans Light"/>
                  <a:ea typeface="Roche Sans Light"/>
                  <a:cs typeface="Roche Sans Light"/>
                </a:rPr>
                <a:t>41.8</a:t>
              </a:r>
            </a:p>
          </p:txBody>
        </p:sp>
        <p:sp>
          <p:nvSpPr>
            <p:cNvPr id="37" name="Freeform 37"/>
            <p:cNvSpPr/>
            <p:nvPr/>
          </p:nvSpPr>
          <p:spPr>
            <a:xfrm>
              <a:off x="3606218" y="3406155"/>
              <a:ext cx="152187" cy="144727"/>
            </a:xfrm>
            <a:custGeom>
              <a:avLst/>
              <a:gdLst/>
              <a:ahLst/>
              <a:cxnLst/>
              <a:rect l="l" t="t" r="r" b="b"/>
              <a:pathLst>
                <a:path w="152187" h="144727">
                  <a:moveTo>
                    <a:pt x="76147" y="120000"/>
                  </a:moveTo>
                  <a:lnTo>
                    <a:pt x="29116" y="144727"/>
                  </a:lnTo>
                  <a:lnTo>
                    <a:pt x="38100" y="92354"/>
                  </a:lnTo>
                  <a:lnTo>
                    <a:pt x="0" y="55268"/>
                  </a:lnTo>
                  <a:lnTo>
                    <a:pt x="52578" y="47648"/>
                  </a:lnTo>
                  <a:lnTo>
                    <a:pt x="76093" y="0"/>
                  </a:lnTo>
                  <a:lnTo>
                    <a:pt x="99609" y="47648"/>
                  </a:lnTo>
                  <a:lnTo>
                    <a:pt x="152187" y="55268"/>
                  </a:lnTo>
                  <a:lnTo>
                    <a:pt x="114087" y="92354"/>
                  </a:lnTo>
                  <a:lnTo>
                    <a:pt x="123071" y="144727"/>
                  </a:lnTo>
                  <a:lnTo>
                    <a:pt x="76147" y="120000"/>
                  </a:lnTo>
                </a:path>
              </a:pathLst>
            </a:custGeom>
            <a:noFill/>
            <a:ln w="15240">
              <a:solidFill>
                <a:srgbClr val="007A3B"/>
              </a:solidFill>
            </a:ln>
          </p:spPr>
        </p:sp>
        <p:sp>
          <p:nvSpPr>
            <p:cNvPr id="38" name="TextBox 38"/>
            <p:cNvSpPr txBox="1"/>
            <p:nvPr/>
          </p:nvSpPr>
          <p:spPr>
            <a:xfrm>
              <a:off x="3833622" y="3438049"/>
              <a:ext cx="1458576" cy="190690"/>
            </a:xfrm>
            <a:prstGeom prst="rect">
              <a:avLst/>
            </a:prstGeom>
            <a:noFill/>
            <a:ln>
              <a:noFill/>
            </a:ln>
          </p:spPr>
          <p:txBody>
            <a:bodyPr wrap="none" lIns="0" tIns="0" rIns="0" bIns="0" anchor="t" anchorCtr="0">
              <a:spAutoFit/>
            </a:bodyPr>
            <a:lstStyle/>
            <a:p>
              <a:pPr algn="l"/>
              <a:r>
                <a:rPr lang="en-US" sz="980" dirty="0">
                  <a:solidFill>
                    <a:srgbClr val="007A3B"/>
                  </a:solidFill>
                  <a:latin typeface="Roche Sans Medium"/>
                  <a:ea typeface="Roche Sans Medium"/>
                  <a:cs typeface="Roche Sans Medium"/>
                </a:rPr>
                <a:t>new single-model SOTA</a:t>
              </a:r>
            </a:p>
          </p:txBody>
        </p:sp>
      </p:grpSp>
      <p:grpSp>
        <p:nvGrpSpPr>
          <p:cNvPr id="47" name="Group 47"/>
          <p:cNvGrpSpPr/>
          <p:nvPr/>
        </p:nvGrpSpPr>
        <p:grpSpPr>
          <a:xfrm>
            <a:off x="6191250" y="1524000"/>
            <a:ext cx="2619375" cy="2286000"/>
            <a:chOff x="6191250" y="1524000"/>
            <a:chExt cx="2619375" cy="2286000"/>
          </a:xfrm>
        </p:grpSpPr>
        <p:sp>
          <p:nvSpPr>
            <p:cNvPr id="40" name="Rectangle 40"/>
            <p:cNvSpPr/>
            <p:nvPr/>
          </p:nvSpPr>
          <p:spPr>
            <a:xfrm>
              <a:off x="6191250" y="1524000"/>
              <a:ext cx="2619375" cy="2286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6000"/>
                </a:srgbClr>
              </a:outerShdw>
            </a:effectLst>
          </p:spPr>
        </p:sp>
        <p:sp>
          <p:nvSpPr>
            <p:cNvPr id="41" name="Rectangle 41"/>
            <p:cNvSpPr/>
            <p:nvPr/>
          </p:nvSpPr>
          <p:spPr>
            <a:xfrm>
              <a:off x="6191250" y="1524000"/>
              <a:ext cx="47625" cy="2286000"/>
            </a:xfrm>
            <a:prstGeom prst="roundRect">
              <a:avLst>
                <a:gd name="adj" fmla="val 50000"/>
              </a:avLst>
            </a:prstGeom>
            <a:solidFill>
              <a:srgbClr val="0F5EE1"/>
            </a:solidFill>
            <a:ln>
              <a:noFill/>
            </a:ln>
          </p:spPr>
        </p:sp>
        <p:sp>
          <p:nvSpPr>
            <p:cNvPr id="42" name="Freeform 42"/>
            <p:cNvSpPr/>
            <p:nvPr/>
          </p:nvSpPr>
          <p:spPr>
            <a:xfrm>
              <a:off x="6441281" y="1788319"/>
              <a:ext cx="166688" cy="214312"/>
            </a:xfrm>
            <a:custGeom>
              <a:avLst/>
              <a:gdLst/>
              <a:ahLst/>
              <a:cxnLst/>
              <a:rect l="l" t="t" r="r" b="b"/>
              <a:pathLst>
                <a:path w="166688" h="214312">
                  <a:moveTo>
                    <a:pt x="95250" y="0"/>
                  </a:moveTo>
                  <a:lnTo>
                    <a:pt x="95250" y="83344"/>
                  </a:lnTo>
                  <a:lnTo>
                    <a:pt x="166688" y="83344"/>
                  </a:lnTo>
                  <a:lnTo>
                    <a:pt x="71438" y="214312"/>
                  </a:lnTo>
                  <a:lnTo>
                    <a:pt x="71438" y="130969"/>
                  </a:lnTo>
                  <a:lnTo>
                    <a:pt x="0" y="130969"/>
                  </a:lnTo>
                  <a:lnTo>
                    <a:pt x="95250" y="0"/>
                  </a:lnTo>
                </a:path>
              </a:pathLst>
            </a:custGeom>
            <a:noFill/>
            <a:ln w="23812">
              <a:solidFill>
                <a:srgbClr val="0F5EE1"/>
              </a:solidFill>
            </a:ln>
          </p:spPr>
        </p:sp>
        <p:sp>
          <p:nvSpPr>
            <p:cNvPr id="43" name="TextBox 43"/>
            <p:cNvSpPr txBox="1"/>
            <p:nvPr/>
          </p:nvSpPr>
          <p:spPr>
            <a:xfrm>
              <a:off x="6395847" y="2275999"/>
              <a:ext cx="1018565" cy="190690"/>
            </a:xfrm>
            <a:prstGeom prst="rect">
              <a:avLst/>
            </a:prstGeom>
            <a:noFill/>
            <a:ln>
              <a:noFill/>
            </a:ln>
          </p:spPr>
          <p:txBody>
            <a:bodyPr wrap="none" lIns="0" tIns="0" rIns="0" bIns="0" anchor="t" anchorCtr="0">
              <a:spAutoFit/>
            </a:bodyPr>
            <a:lstStyle/>
            <a:p>
              <a:pPr algn="l"/>
              <a:r>
                <a:rPr lang="en-US" sz="980" spc="75" dirty="0">
                  <a:solidFill>
                    <a:srgbClr val="706B69"/>
                  </a:solidFill>
                  <a:latin typeface="Roche Sans Medium"/>
                  <a:ea typeface="Roche Sans Medium"/>
                  <a:cs typeface="Roche Sans Medium"/>
                </a:rPr>
                <a:t>TRAINING TIME</a:t>
              </a:r>
            </a:p>
          </p:txBody>
        </p:sp>
        <p:sp>
          <p:nvSpPr>
            <p:cNvPr id="44" name="TextBox 44"/>
            <p:cNvSpPr txBox="1"/>
            <p:nvPr/>
          </p:nvSpPr>
          <p:spPr>
            <a:xfrm>
              <a:off x="6395466" y="2496502"/>
              <a:ext cx="1295067"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Transformer (big)</a:t>
              </a:r>
            </a:p>
          </p:txBody>
        </p:sp>
        <p:sp>
          <p:nvSpPr>
            <p:cNvPr id="45" name="TextBox 45"/>
            <p:cNvSpPr txBox="1"/>
            <p:nvPr/>
          </p:nvSpPr>
          <p:spPr>
            <a:xfrm>
              <a:off x="6383274" y="2866072"/>
              <a:ext cx="1962474" cy="674751"/>
            </a:xfrm>
            <a:prstGeom prst="rect">
              <a:avLst/>
            </a:prstGeom>
            <a:noFill/>
            <a:ln>
              <a:noFill/>
            </a:ln>
          </p:spPr>
          <p:txBody>
            <a:bodyPr wrap="none" lIns="0" tIns="0" rIns="0" bIns="0" anchor="t" anchorCtr="0">
              <a:spAutoFit/>
            </a:bodyPr>
            <a:lstStyle/>
            <a:p>
              <a:pPr algn="l"/>
              <a:r>
                <a:rPr lang="en-US" sz="3450" dirty="0">
                  <a:solidFill>
                    <a:srgbClr val="0B41CD"/>
                  </a:solidFill>
                  <a:latin typeface="Roche Sans Light"/>
                  <a:ea typeface="Roche Sans Light"/>
                  <a:cs typeface="Roche Sans Light"/>
                </a:rPr>
                <a:t>3.5 days</a:t>
              </a:r>
            </a:p>
          </p:txBody>
        </p:sp>
        <p:sp>
          <p:nvSpPr>
            <p:cNvPr id="46" name="TextBox 46"/>
            <p:cNvSpPr txBox="1"/>
            <p:nvPr/>
          </p:nvSpPr>
          <p:spPr>
            <a:xfrm>
              <a:off x="6395466" y="3449002"/>
              <a:ext cx="1105091"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on 8× P100 GPUs</a:t>
              </a:r>
            </a:p>
          </p:txBody>
        </p:sp>
      </p:grpSp>
      <p:grpSp>
        <p:nvGrpSpPr>
          <p:cNvPr id="58" name="Group 58"/>
          <p:cNvGrpSpPr/>
          <p:nvPr/>
        </p:nvGrpSpPr>
        <p:grpSpPr>
          <a:xfrm>
            <a:off x="9001125" y="1524000"/>
            <a:ext cx="2619375" cy="2286000"/>
            <a:chOff x="9001125" y="1524000"/>
            <a:chExt cx="2619375" cy="2286000"/>
          </a:xfrm>
        </p:grpSpPr>
        <p:sp>
          <p:nvSpPr>
            <p:cNvPr id="48" name="Rectangle 48"/>
            <p:cNvSpPr/>
            <p:nvPr/>
          </p:nvSpPr>
          <p:spPr>
            <a:xfrm>
              <a:off x="9001125" y="1524000"/>
              <a:ext cx="2619375" cy="2286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6000"/>
                </a:srgbClr>
              </a:outerShdw>
            </a:effectLst>
          </p:spPr>
        </p:sp>
        <p:sp>
          <p:nvSpPr>
            <p:cNvPr id="49" name="Rectangle 49"/>
            <p:cNvSpPr/>
            <p:nvPr/>
          </p:nvSpPr>
          <p:spPr>
            <a:xfrm>
              <a:off x="9001125" y="1524000"/>
              <a:ext cx="47625" cy="2286000"/>
            </a:xfrm>
            <a:prstGeom prst="roundRect">
              <a:avLst>
                <a:gd name="adj" fmla="val 50000"/>
              </a:avLst>
            </a:prstGeom>
            <a:solidFill>
              <a:srgbClr val="5FAAFC"/>
            </a:solidFill>
            <a:ln>
              <a:noFill/>
            </a:ln>
          </p:spPr>
        </p:sp>
        <p:grpSp>
          <p:nvGrpSpPr>
            <p:cNvPr id="52" name="Group 52"/>
            <p:cNvGrpSpPr/>
            <p:nvPr/>
          </p:nvGrpSpPr>
          <p:grpSpPr>
            <a:xfrm>
              <a:off x="9227344" y="1824038"/>
              <a:ext cx="214312" cy="142875"/>
              <a:chOff x="9227344" y="1824038"/>
              <a:chExt cx="214312" cy="142875"/>
            </a:xfrm>
          </p:grpSpPr>
          <p:sp>
            <p:nvSpPr>
              <p:cNvPr id="50" name="Freeform 50"/>
              <p:cNvSpPr/>
              <p:nvPr/>
            </p:nvSpPr>
            <p:spPr>
              <a:xfrm>
                <a:off x="9310688" y="1871662"/>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5FAAFC"/>
                </a:solidFill>
              </a:ln>
            </p:spPr>
          </p:sp>
          <p:sp>
            <p:nvSpPr>
              <p:cNvPr id="51" name="Freeform 51"/>
              <p:cNvSpPr/>
              <p:nvPr/>
            </p:nvSpPr>
            <p:spPr>
              <a:xfrm>
                <a:off x="9227344" y="1824038"/>
                <a:ext cx="214312" cy="142875"/>
              </a:xfrm>
              <a:custGeom>
                <a:avLst/>
                <a:gdLst/>
                <a:ahLst/>
                <a:cxnLst/>
                <a:rect l="l" t="t" r="r" b="b"/>
                <a:pathLst>
                  <a:path w="214312" h="142875">
                    <a:moveTo>
                      <a:pt x="214312" y="71438"/>
                    </a:moveTo>
                    <a:cubicBezTo>
                      <a:pt x="185738" y="119062"/>
                      <a:pt x="150019" y="142875"/>
                      <a:pt x="107156" y="142875"/>
                    </a:cubicBezTo>
                    <a:cubicBezTo>
                      <a:pt x="64294" y="142875"/>
                      <a:pt x="28575" y="119062"/>
                      <a:pt x="0" y="71438"/>
                    </a:cubicBezTo>
                    <a:cubicBezTo>
                      <a:pt x="28575" y="23812"/>
                      <a:pt x="64294" y="0"/>
                      <a:pt x="107156" y="0"/>
                    </a:cubicBezTo>
                    <a:cubicBezTo>
                      <a:pt x="150019" y="0"/>
                      <a:pt x="185738" y="23812"/>
                      <a:pt x="214312" y="71438"/>
                    </a:cubicBezTo>
                  </a:path>
                </a:pathLst>
              </a:custGeom>
              <a:noFill/>
              <a:ln w="23812">
                <a:solidFill>
                  <a:srgbClr val="5FAAFC"/>
                </a:solidFill>
              </a:ln>
            </p:spPr>
          </p:sp>
        </p:grpSp>
        <p:sp>
          <p:nvSpPr>
            <p:cNvPr id="53" name="TextBox 53"/>
            <p:cNvSpPr txBox="1"/>
            <p:nvPr/>
          </p:nvSpPr>
          <p:spPr>
            <a:xfrm>
              <a:off x="9205722" y="2275999"/>
              <a:ext cx="1007897" cy="190690"/>
            </a:xfrm>
            <a:prstGeom prst="rect">
              <a:avLst/>
            </a:prstGeom>
            <a:noFill/>
            <a:ln>
              <a:noFill/>
            </a:ln>
          </p:spPr>
          <p:txBody>
            <a:bodyPr wrap="none" lIns="0" tIns="0" rIns="0" bIns="0" anchor="t" anchorCtr="0">
              <a:spAutoFit/>
            </a:bodyPr>
            <a:lstStyle/>
            <a:p>
              <a:pPr algn="l"/>
              <a:r>
                <a:rPr lang="en-US" sz="980" spc="75" dirty="0">
                  <a:solidFill>
                    <a:srgbClr val="706B69"/>
                  </a:solidFill>
                  <a:latin typeface="Roche Sans Medium"/>
                  <a:ea typeface="Roche Sans Medium"/>
                  <a:cs typeface="Roche Sans Medium"/>
                </a:rPr>
                <a:t>ARCHITECTURE</a:t>
              </a:r>
            </a:p>
          </p:txBody>
        </p:sp>
        <p:sp>
          <p:nvSpPr>
            <p:cNvPr id="54" name="TextBox 54"/>
            <p:cNvSpPr txBox="1"/>
            <p:nvPr/>
          </p:nvSpPr>
          <p:spPr>
            <a:xfrm>
              <a:off x="9205341" y="2496502"/>
              <a:ext cx="1000125"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building blocks</a:t>
              </a:r>
            </a:p>
          </p:txBody>
        </p:sp>
        <p:sp>
          <p:nvSpPr>
            <p:cNvPr id="55" name="TextBox 55"/>
            <p:cNvSpPr txBox="1"/>
            <p:nvPr/>
          </p:nvSpPr>
          <p:spPr>
            <a:xfrm>
              <a:off x="9194673" y="2784158"/>
              <a:ext cx="2037588" cy="616077"/>
            </a:xfrm>
            <a:prstGeom prst="rect">
              <a:avLst/>
            </a:prstGeom>
            <a:noFill/>
            <a:ln>
              <a:noFill/>
            </a:ln>
          </p:spPr>
          <p:txBody>
            <a:bodyPr wrap="none" lIns="0" tIns="0" rIns="0" bIns="0" anchor="t" anchorCtr="0">
              <a:spAutoFit/>
            </a:bodyPr>
            <a:lstStyle/>
            <a:p>
              <a:pPr algn="l"/>
              <a:r>
                <a:rPr lang="en-US" sz="3150" dirty="0">
                  <a:solidFill>
                    <a:srgbClr val="0B41CD"/>
                  </a:solidFill>
                  <a:latin typeface="Roche Sans Light"/>
                  <a:ea typeface="Roche Sans Light"/>
                  <a:cs typeface="Roche Sans Light"/>
                </a:rPr>
                <a:t>Attention</a:t>
              </a:r>
            </a:p>
          </p:txBody>
        </p:sp>
        <p:sp>
          <p:nvSpPr>
            <p:cNvPr id="56" name="TextBox 56"/>
            <p:cNvSpPr txBox="1"/>
            <p:nvPr/>
          </p:nvSpPr>
          <p:spPr>
            <a:xfrm>
              <a:off x="9203055" y="3228975"/>
              <a:ext cx="431292" cy="293370"/>
            </a:xfrm>
            <a:prstGeom prst="rect">
              <a:avLst/>
            </a:prstGeom>
            <a:noFill/>
            <a:ln>
              <a:noFill/>
            </a:ln>
          </p:spPr>
          <p:txBody>
            <a:bodyPr wrap="none" lIns="0" tIns="0" rIns="0" bIns="0" anchor="t" anchorCtr="0">
              <a:spAutoFit/>
            </a:bodyPr>
            <a:lstStyle/>
            <a:p>
              <a:pPr algn="l"/>
              <a:r>
                <a:rPr lang="en-US" sz="1500" i="1" dirty="0">
                  <a:solidFill>
                    <a:srgbClr val="706B69"/>
                  </a:solidFill>
                  <a:latin typeface="Roche Serif Light"/>
                  <a:ea typeface="Roche Serif Light"/>
                  <a:cs typeface="Roche Serif Light"/>
                </a:rPr>
                <a:t>only</a:t>
              </a:r>
            </a:p>
          </p:txBody>
        </p:sp>
        <p:sp>
          <p:nvSpPr>
            <p:cNvPr id="57" name="TextBox 57"/>
            <p:cNvSpPr txBox="1"/>
            <p:nvPr/>
          </p:nvSpPr>
          <p:spPr>
            <a:xfrm>
              <a:off x="9205722" y="3552349"/>
              <a:ext cx="1978724"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no recurrence · no convolution</a:t>
              </a:r>
            </a:p>
          </p:txBody>
        </p:sp>
      </p:grpSp>
      <p:grpSp>
        <p:nvGrpSpPr>
          <p:cNvPr id="66" name="Group 66"/>
          <p:cNvGrpSpPr/>
          <p:nvPr/>
        </p:nvGrpSpPr>
        <p:grpSpPr>
          <a:xfrm>
            <a:off x="571500" y="4286250"/>
            <a:ext cx="11049000" cy="1610106"/>
            <a:chOff x="571500" y="4286250"/>
            <a:chExt cx="11049000" cy="1610106"/>
          </a:xfrm>
        </p:grpSpPr>
        <p:sp>
          <p:nvSpPr>
            <p:cNvPr id="59" name="Rectangle 59"/>
            <p:cNvSpPr/>
            <p:nvPr/>
          </p:nvSpPr>
          <p:spPr>
            <a:xfrm>
              <a:off x="571500" y="4286250"/>
              <a:ext cx="11049000" cy="1524000"/>
            </a:xfrm>
            <a:prstGeom prst="roundRect">
              <a:avLst>
                <a:gd name="adj" fmla="val 7500"/>
              </a:avLst>
            </a:prstGeom>
            <a:solidFill>
              <a:srgbClr val="F5F7FA"/>
            </a:solidFill>
            <a:ln w="9525">
              <a:solidFill>
                <a:srgbClr val="E0E0E0"/>
              </a:solidFill>
            </a:ln>
          </p:spPr>
        </p:sp>
        <p:sp>
          <p:nvSpPr>
            <p:cNvPr id="60" name="Rectangle 60"/>
            <p:cNvSpPr/>
            <p:nvPr/>
          </p:nvSpPr>
          <p:spPr>
            <a:xfrm>
              <a:off x="571500" y="4286250"/>
              <a:ext cx="47625" cy="1524000"/>
            </a:xfrm>
            <a:prstGeom prst="roundRect">
              <a:avLst>
                <a:gd name="adj" fmla="val 50000"/>
              </a:avLst>
            </a:prstGeom>
            <a:gradFill>
              <a:gsLst>
                <a:gs pos="0">
                  <a:srgbClr val="0B41CD"/>
                </a:gs>
                <a:gs pos="100000">
                  <a:srgbClr val="1482FA"/>
                </a:gs>
              </a:gsLst>
              <a:lin ang="5400000" scaled="1"/>
            </a:gradFill>
            <a:ln>
              <a:noFill/>
            </a:ln>
          </p:spPr>
        </p:sp>
        <p:sp>
          <p:nvSpPr>
            <p:cNvPr id="61" name="TextBox 61"/>
            <p:cNvSpPr txBox="1"/>
            <p:nvPr/>
          </p:nvSpPr>
          <p:spPr>
            <a:xfrm>
              <a:off x="947547" y="4561999"/>
              <a:ext cx="1031900"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THE HEADLINE</a:t>
              </a:r>
            </a:p>
          </p:txBody>
        </p:sp>
        <p:sp>
          <p:nvSpPr>
            <p:cNvPr id="62" name="TextBox 62"/>
            <p:cNvSpPr txBox="1"/>
            <p:nvPr/>
          </p:nvSpPr>
          <p:spPr>
            <a:xfrm>
              <a:off x="942975" y="4788694"/>
              <a:ext cx="7640882" cy="366712"/>
            </a:xfrm>
            <a:prstGeom prst="rect">
              <a:avLst/>
            </a:prstGeom>
            <a:noFill/>
            <a:ln>
              <a:noFill/>
            </a:ln>
          </p:spPr>
          <p:txBody>
            <a:bodyPr wrap="none" lIns="0" tIns="0" rIns="0" bIns="0" anchor="t" anchorCtr="0">
              <a:spAutoFit/>
            </a:bodyPr>
            <a:lstStyle/>
            <a:p>
              <a:pPr algn="l"/>
              <a:r>
                <a:rPr lang="en-US" sz="1880" dirty="0">
                  <a:solidFill>
                    <a:srgbClr val="0B41CD"/>
                  </a:solidFill>
                  <a:latin typeface="Roche Sans Light"/>
                  <a:ea typeface="Roche Sans Light"/>
                  <a:cs typeface="Roche Sans Light"/>
                </a:rPr>
                <a:t xml:space="preserve">The Transformer reaches </a:t>
              </a:r>
              <a:r>
                <a:rPr lang="en-US" sz="1880" dirty="0">
                  <a:solidFill>
                    <a:srgbClr val="1482FA"/>
                  </a:solidFill>
                  <a:latin typeface="Roche Sans Medium"/>
                  <a:ea typeface="Roche Sans Medium"/>
                  <a:cs typeface="Roche Sans Medium"/>
                </a:rPr>
                <a:t>new translation SOTA</a:t>
              </a:r>
              <a:r>
                <a:rPr lang="en-US" sz="1880" dirty="0">
                  <a:solidFill>
                    <a:srgbClr val="0B41CD"/>
                  </a:solidFill>
                  <a:latin typeface="Roche Sans Light"/>
                  <a:ea typeface="Roche Sans Light"/>
                  <a:cs typeface="Roche Sans Light"/>
                </a:rPr>
                <a:t xml:space="preserve"> while training</a:t>
              </a:r>
            </a:p>
          </p:txBody>
        </p:sp>
        <p:sp>
          <p:nvSpPr>
            <p:cNvPr id="63" name="TextBox 63"/>
            <p:cNvSpPr txBox="1"/>
            <p:nvPr/>
          </p:nvSpPr>
          <p:spPr>
            <a:xfrm>
              <a:off x="942975" y="5093494"/>
              <a:ext cx="5635228" cy="366712"/>
            </a:xfrm>
            <a:prstGeom prst="rect">
              <a:avLst/>
            </a:prstGeom>
            <a:noFill/>
            <a:ln>
              <a:noFill/>
            </a:ln>
          </p:spPr>
          <p:txBody>
            <a:bodyPr wrap="none" lIns="0" tIns="0" rIns="0" bIns="0" anchor="t" anchorCtr="0">
              <a:spAutoFit/>
            </a:bodyPr>
            <a:lstStyle/>
            <a:p>
              <a:pPr algn="l"/>
              <a:r>
                <a:rPr lang="en-US" sz="1880" dirty="0">
                  <a:solidFill>
                    <a:srgbClr val="0B41CD"/>
                  </a:solidFill>
                  <a:latin typeface="Roche Sans Light"/>
                  <a:ea typeface="Roche Sans Light"/>
                  <a:cs typeface="Roche Sans Light"/>
                </a:rPr>
                <a:t xml:space="preserve">in </a:t>
              </a:r>
              <a:r>
                <a:rPr lang="en-US" sz="1880" dirty="0">
                  <a:solidFill>
                    <a:srgbClr val="1482FA"/>
                  </a:solidFill>
                  <a:latin typeface="Roche Sans Medium"/>
                  <a:ea typeface="Roche Sans Medium"/>
                  <a:cs typeface="Roche Sans Medium"/>
                </a:rPr>
                <a:t>a fraction of the time</a:t>
              </a:r>
              <a:r>
                <a:rPr lang="en-US" sz="1880" dirty="0">
                  <a:solidFill>
                    <a:srgbClr val="0B41CD"/>
                  </a:solidFill>
                  <a:latin typeface="Roche Sans Light"/>
                  <a:ea typeface="Roche Sans Light"/>
                  <a:cs typeface="Roche Sans Light"/>
                </a:rPr>
                <a:t xml:space="preserve"> of strong baselines.</a:t>
              </a:r>
            </a:p>
          </p:txBody>
        </p:sp>
        <p:sp>
          <p:nvSpPr>
            <p:cNvPr id="64" name="TextBox 64"/>
            <p:cNvSpPr txBox="1"/>
            <p:nvPr/>
          </p:nvSpPr>
          <p:spPr>
            <a:xfrm>
              <a:off x="946404" y="5471160"/>
              <a:ext cx="6355746" cy="234696"/>
            </a:xfrm>
            <a:prstGeom prst="rect">
              <a:avLst/>
            </a:prstGeom>
            <a:noFill/>
            <a:ln>
              <a:noFill/>
            </a:ln>
          </p:spPr>
          <p:txBody>
            <a:bodyPr wrap="none" lIns="0" tIns="0" rIns="0" bIns="0" anchor="t" anchorCtr="0">
              <a:spAutoFit/>
            </a:bodyPr>
            <a:lstStyle/>
            <a:p>
              <a:pPr algn="l"/>
              <a:r>
                <a:rPr lang="en-US" sz="1200" dirty="0">
                  <a:solidFill>
                    <a:srgbClr val="706B69"/>
                  </a:solidFill>
                  <a:latin typeface="Roche Sans"/>
                  <a:ea typeface="Roche Sans"/>
                  <a:cs typeface="Roche Sans"/>
                </a:rPr>
                <a:t>Quality up · cost down · parallelization unlocked. The rest of the paper explains</a:t>
              </a:r>
            </a:p>
          </p:txBody>
        </p:sp>
        <p:sp>
          <p:nvSpPr>
            <p:cNvPr id="65" name="TextBox 65"/>
            <p:cNvSpPr txBox="1"/>
            <p:nvPr/>
          </p:nvSpPr>
          <p:spPr>
            <a:xfrm>
              <a:off x="946404" y="5661660"/>
              <a:ext cx="5787390" cy="234696"/>
            </a:xfrm>
            <a:prstGeom prst="rect">
              <a:avLst/>
            </a:prstGeom>
            <a:noFill/>
            <a:ln>
              <a:noFill/>
            </a:ln>
          </p:spPr>
          <p:txBody>
            <a:bodyPr wrap="none" lIns="0" tIns="0" rIns="0" bIns="0" anchor="t" anchorCtr="0">
              <a:spAutoFit/>
            </a:bodyPr>
            <a:lstStyle/>
            <a:p>
              <a:pPr algn="l"/>
              <a:r>
                <a:rPr lang="en-US" sz="1200" dirty="0">
                  <a:solidFill>
                    <a:srgbClr val="706B69"/>
                  </a:solidFill>
                  <a:latin typeface="Roche Sans"/>
                  <a:ea typeface="Roche Sans"/>
                  <a:cs typeface="Roche Sans"/>
                </a:rPr>
                <a:t>how attention alone makes this possible — and why nothing else is needed.</a:t>
              </a:r>
            </a:p>
          </p:txBody>
        </p:sp>
      </p:grpSp>
      <p:grpSp>
        <p:nvGrpSpPr>
          <p:cNvPr id="69" name="Group 69"/>
          <p:cNvGrpSpPr/>
          <p:nvPr/>
        </p:nvGrpSpPr>
        <p:grpSpPr>
          <a:xfrm>
            <a:off x="566738" y="6521291"/>
            <a:ext cx="11058525" cy="161925"/>
            <a:chOff x="566738" y="6521291"/>
            <a:chExt cx="11058525" cy="161925"/>
          </a:xfrm>
        </p:grpSpPr>
        <p:sp>
          <p:nvSpPr>
            <p:cNvPr id="67" name="TextBox 67"/>
            <p:cNvSpPr txBox="1"/>
            <p:nvPr/>
          </p:nvSpPr>
          <p:spPr>
            <a:xfrm>
              <a:off x="566738" y="6521291"/>
              <a:ext cx="3777254"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Table 2 (BLEU) and §5.2 (training cost)</a:t>
              </a:r>
            </a:p>
          </p:txBody>
        </p:sp>
        <p:sp>
          <p:nvSpPr>
            <p:cNvPr id="68" name="TextBox 68"/>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amond(in)">
                                      <p:cBhvr>
                                        <p:cTn id="7" dur="400"/>
                                        <p:tgtEl>
                                          <p:spTgt spid="24"/>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heel(4)">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image">
                                      <p:cBhvr>
                                        <p:cTn id="15" dur="400"/>
                                        <p:tgtEl>
                                          <p:spTgt spid="47"/>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dissolve">
                                      <p:cBhvr>
                                        <p:cTn id="19" dur="400"/>
                                        <p:tgtEl>
                                          <p:spTgt spid="5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10208203" cy="656939"/>
            <a:chOff x="571500" y="533400"/>
            <a:chExt cx="10208203"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9992557"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From recurrent chains to a fully-connected attention mesh</a:t>
              </a:r>
            </a:p>
          </p:txBody>
        </p:sp>
        <p:sp>
          <p:nvSpPr>
            <p:cNvPr id="5" name="TextBox 5"/>
            <p:cNvSpPr txBox="1"/>
            <p:nvPr/>
          </p:nvSpPr>
          <p:spPr>
            <a:xfrm>
              <a:off x="795147" y="999649"/>
              <a:ext cx="4577944"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 xml:space="preserve">SEQUENCE MODELING SO FAR · RNN </a:t>
              </a:r>
              <a:r>
                <a:rPr lang="en-US" sz="980" spc="112" dirty="0">
                  <a:solidFill>
                    <a:srgbClr val="706B69"/>
                  </a:solidFill>
                  <a:latin typeface="Consolas"/>
                  <a:ea typeface="Consolas"/>
                  <a:cs typeface="Consolas"/>
                </a:rPr>
                <a:t>→</a:t>
              </a:r>
              <a:r>
                <a:rPr lang="en-US" sz="980" spc="112" dirty="0">
                  <a:solidFill>
                    <a:srgbClr val="706B69"/>
                  </a:solidFill>
                  <a:latin typeface="Roche Sans Medium"/>
                  <a:ea typeface="Roche Sans Medium"/>
                  <a:cs typeface="Roche Sans Medium"/>
                </a:rPr>
                <a:t xml:space="preserve"> CNN </a:t>
              </a:r>
              <a:r>
                <a:rPr lang="en-US" sz="980" spc="112" dirty="0">
                  <a:solidFill>
                    <a:srgbClr val="706B69"/>
                  </a:solidFill>
                  <a:latin typeface="Consolas"/>
                  <a:ea typeface="Consolas"/>
                  <a:cs typeface="Consolas"/>
                </a:rPr>
                <a:t>→</a:t>
              </a:r>
              <a:r>
                <a:rPr lang="en-US" sz="980" spc="112" dirty="0">
                  <a:solidFill>
                    <a:srgbClr val="706B69"/>
                  </a:solidFill>
                  <a:latin typeface="Roche Sans Medium"/>
                  <a:ea typeface="Roche Sans Medium"/>
                  <a:cs typeface="Roche Sans Medium"/>
                </a:rPr>
                <a:t xml:space="preserve"> SELF-ATTENTION</a:t>
              </a:r>
            </a:p>
          </p:txBody>
        </p:sp>
      </p:grpSp>
      <p:grpSp>
        <p:nvGrpSpPr>
          <p:cNvPr id="25" name="Group 25"/>
          <p:cNvGrpSpPr/>
          <p:nvPr/>
        </p:nvGrpSpPr>
        <p:grpSpPr>
          <a:xfrm>
            <a:off x="571500" y="1524000"/>
            <a:ext cx="3429000" cy="3390900"/>
            <a:chOff x="571500" y="1524000"/>
            <a:chExt cx="3429000" cy="3390900"/>
          </a:xfrm>
        </p:grpSpPr>
        <p:sp>
          <p:nvSpPr>
            <p:cNvPr id="7" name="Rectangle 7"/>
            <p:cNvSpPr/>
            <p:nvPr/>
          </p:nvSpPr>
          <p:spPr>
            <a:xfrm>
              <a:off x="571500" y="1524000"/>
              <a:ext cx="3429000" cy="3390900"/>
            </a:xfrm>
            <a:prstGeom prst="roundRect">
              <a:avLst>
                <a:gd name="adj" fmla="val 3371"/>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8" name="Rectangle 8"/>
            <p:cNvSpPr/>
            <p:nvPr/>
          </p:nvSpPr>
          <p:spPr>
            <a:xfrm>
              <a:off x="571500" y="1524000"/>
              <a:ext cx="47625" cy="3390900"/>
            </a:xfrm>
            <a:prstGeom prst="roundRect">
              <a:avLst>
                <a:gd name="adj" fmla="val 50000"/>
              </a:avLst>
            </a:prstGeom>
            <a:solidFill>
              <a:srgbClr val="0B41CD"/>
            </a:solidFill>
            <a:ln>
              <a:noFill/>
            </a:ln>
          </p:spPr>
        </p:sp>
        <p:sp>
          <p:nvSpPr>
            <p:cNvPr id="9" name="TextBox 9"/>
            <p:cNvSpPr txBox="1"/>
            <p:nvPr/>
          </p:nvSpPr>
          <p:spPr>
            <a:xfrm>
              <a:off x="814388" y="1769745"/>
              <a:ext cx="1273683"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RNN / LSTM / GRU</a:t>
              </a:r>
            </a:p>
          </p:txBody>
        </p:sp>
        <p:sp>
          <p:nvSpPr>
            <p:cNvPr id="10" name="TextBox 10"/>
            <p:cNvSpPr txBox="1"/>
            <p:nvPr/>
          </p:nvSpPr>
          <p:spPr>
            <a:xfrm>
              <a:off x="810006" y="1977390"/>
              <a:ext cx="1225296" cy="352044"/>
            </a:xfrm>
            <a:prstGeom prst="rect">
              <a:avLst/>
            </a:prstGeom>
            <a:noFill/>
            <a:ln>
              <a:noFill/>
            </a:ln>
          </p:spPr>
          <p:txBody>
            <a:bodyPr wrap="none" lIns="0" tIns="0" rIns="0" bIns="0" anchor="t" anchorCtr="0">
              <a:spAutoFit/>
            </a:bodyPr>
            <a:lstStyle/>
            <a:p>
              <a:pPr algn="l"/>
              <a:r>
                <a:rPr lang="en-US" sz="1800" dirty="0">
                  <a:solidFill>
                    <a:srgbClr val="0B41CD"/>
                  </a:solidFill>
                  <a:latin typeface="Roche Sans Light"/>
                  <a:ea typeface="Roche Sans Light"/>
                  <a:cs typeface="Roche Sans Light"/>
                </a:rPr>
                <a:t>Recurrent</a:t>
              </a:r>
            </a:p>
          </p:txBody>
        </p:sp>
        <p:grpSp>
          <p:nvGrpSpPr>
            <p:cNvPr id="21" name="Group 21"/>
            <p:cNvGrpSpPr/>
            <p:nvPr/>
          </p:nvGrpSpPr>
          <p:grpSpPr>
            <a:xfrm>
              <a:off x="857250" y="3009900"/>
              <a:ext cx="2552700" cy="606266"/>
              <a:chOff x="857250" y="3009900"/>
              <a:chExt cx="2552700" cy="606266"/>
            </a:xfrm>
          </p:grpSpPr>
          <p:sp>
            <p:nvSpPr>
              <p:cNvPr id="11" name="Line 11"/>
              <p:cNvSpPr/>
              <p:nvPr/>
            </p:nvSpPr>
            <p:spPr>
              <a:xfrm>
                <a:off x="1095375" y="3143250"/>
                <a:ext cx="361950" cy="1"/>
              </a:xfrm>
              <a:prstGeom prst="line">
                <a:avLst/>
              </a:prstGeom>
              <a:noFill/>
              <a:ln w="15240">
                <a:solidFill>
                  <a:srgbClr val="0B41CD"/>
                </a:solidFill>
                <a:tailEnd type="triangle" w="lg" len="lg"/>
              </a:ln>
            </p:spPr>
          </p:sp>
          <p:sp>
            <p:nvSpPr>
              <p:cNvPr id="12" name="Line 12"/>
              <p:cNvSpPr/>
              <p:nvPr/>
            </p:nvSpPr>
            <p:spPr>
              <a:xfrm>
                <a:off x="1666875" y="3143250"/>
                <a:ext cx="361950" cy="1"/>
              </a:xfrm>
              <a:prstGeom prst="line">
                <a:avLst/>
              </a:prstGeom>
              <a:noFill/>
              <a:ln w="15240">
                <a:solidFill>
                  <a:srgbClr val="0B41CD"/>
                </a:solidFill>
                <a:tailEnd type="triangle" w="lg" len="lg"/>
              </a:ln>
            </p:spPr>
          </p:sp>
          <p:sp>
            <p:nvSpPr>
              <p:cNvPr id="13" name="Line 13"/>
              <p:cNvSpPr/>
              <p:nvPr/>
            </p:nvSpPr>
            <p:spPr>
              <a:xfrm>
                <a:off x="2238375" y="3143250"/>
                <a:ext cx="361950" cy="1"/>
              </a:xfrm>
              <a:prstGeom prst="line">
                <a:avLst/>
              </a:prstGeom>
              <a:noFill/>
              <a:ln w="15240">
                <a:solidFill>
                  <a:srgbClr val="0B41CD"/>
                </a:solidFill>
                <a:tailEnd type="triangle" w="lg" len="lg"/>
              </a:ln>
            </p:spPr>
          </p:sp>
          <p:sp>
            <p:nvSpPr>
              <p:cNvPr id="14" name="Line 14"/>
              <p:cNvSpPr/>
              <p:nvPr/>
            </p:nvSpPr>
            <p:spPr>
              <a:xfrm>
                <a:off x="2809875" y="3143250"/>
                <a:ext cx="361950" cy="1"/>
              </a:xfrm>
              <a:prstGeom prst="line">
                <a:avLst/>
              </a:prstGeom>
              <a:noFill/>
              <a:ln w="15240">
                <a:solidFill>
                  <a:srgbClr val="0B41CD"/>
                </a:solidFill>
                <a:tailEnd type="triangle" w="lg" len="lg"/>
              </a:ln>
            </p:spPr>
          </p:sp>
          <p:sp>
            <p:nvSpPr>
              <p:cNvPr id="15" name="Ellipse 15"/>
              <p:cNvSpPr/>
              <p:nvPr/>
            </p:nvSpPr>
            <p:spPr>
              <a:xfrm>
                <a:off x="857250" y="3009900"/>
                <a:ext cx="266700" cy="266700"/>
              </a:xfrm>
              <a:prstGeom prst="ellipse">
                <a:avLst/>
              </a:prstGeom>
              <a:solidFill>
                <a:srgbClr val="FFFFFF"/>
              </a:solidFill>
              <a:ln w="17145">
                <a:solidFill>
                  <a:srgbClr val="0B41CD"/>
                </a:solidFill>
              </a:ln>
            </p:spPr>
          </p:sp>
          <p:sp>
            <p:nvSpPr>
              <p:cNvPr id="16" name="Ellipse 16"/>
              <p:cNvSpPr/>
              <p:nvPr/>
            </p:nvSpPr>
            <p:spPr>
              <a:xfrm>
                <a:off x="1428750" y="3009900"/>
                <a:ext cx="266700" cy="266700"/>
              </a:xfrm>
              <a:prstGeom prst="ellipse">
                <a:avLst/>
              </a:prstGeom>
              <a:solidFill>
                <a:srgbClr val="FFFFFF"/>
              </a:solidFill>
              <a:ln w="17145">
                <a:solidFill>
                  <a:srgbClr val="0B41CD"/>
                </a:solidFill>
              </a:ln>
            </p:spPr>
          </p:sp>
          <p:sp>
            <p:nvSpPr>
              <p:cNvPr id="17" name="Ellipse 17"/>
              <p:cNvSpPr/>
              <p:nvPr/>
            </p:nvSpPr>
            <p:spPr>
              <a:xfrm>
                <a:off x="2000250" y="3009900"/>
                <a:ext cx="266700" cy="266700"/>
              </a:xfrm>
              <a:prstGeom prst="ellipse">
                <a:avLst/>
              </a:prstGeom>
              <a:solidFill>
                <a:srgbClr val="FFFFFF"/>
              </a:solidFill>
              <a:ln w="17145">
                <a:solidFill>
                  <a:srgbClr val="0B41CD"/>
                </a:solidFill>
              </a:ln>
            </p:spPr>
          </p:sp>
          <p:sp>
            <p:nvSpPr>
              <p:cNvPr id="18" name="Ellipse 18"/>
              <p:cNvSpPr/>
              <p:nvPr/>
            </p:nvSpPr>
            <p:spPr>
              <a:xfrm>
                <a:off x="2571750" y="3009900"/>
                <a:ext cx="266700" cy="266700"/>
              </a:xfrm>
              <a:prstGeom prst="ellipse">
                <a:avLst/>
              </a:prstGeom>
              <a:solidFill>
                <a:srgbClr val="FFFFFF"/>
              </a:solidFill>
              <a:ln w="17145">
                <a:solidFill>
                  <a:srgbClr val="0B41CD"/>
                </a:solidFill>
              </a:ln>
            </p:spPr>
          </p:sp>
          <p:sp>
            <p:nvSpPr>
              <p:cNvPr id="19" name="Ellipse 19"/>
              <p:cNvSpPr/>
              <p:nvPr/>
            </p:nvSpPr>
            <p:spPr>
              <a:xfrm>
                <a:off x="3143250" y="3009900"/>
                <a:ext cx="266700" cy="266700"/>
              </a:xfrm>
              <a:prstGeom prst="ellipse">
                <a:avLst/>
              </a:prstGeom>
              <a:solidFill>
                <a:srgbClr val="0B41CD"/>
              </a:solidFill>
              <a:ln>
                <a:noFill/>
              </a:ln>
            </p:spPr>
          </p:sp>
          <p:sp>
            <p:nvSpPr>
              <p:cNvPr id="20" name="TextBox 20"/>
              <p:cNvSpPr txBox="1"/>
              <p:nvPr/>
            </p:nvSpPr>
            <p:spPr>
              <a:xfrm>
                <a:off x="1720377" y="3454241"/>
                <a:ext cx="1131246"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Consolas"/>
                    <a:ea typeface="Consolas"/>
                    <a:cs typeface="Consolas"/>
                  </a:rPr>
                  <a:t>h₁ → h₂ → h₃ → h₄ → h₅</a:t>
                </a:r>
              </a:p>
            </p:txBody>
          </p:sp>
        </p:grpSp>
        <p:sp>
          <p:nvSpPr>
            <p:cNvPr id="22" name="TextBox 22"/>
            <p:cNvSpPr txBox="1"/>
            <p:nvPr/>
          </p:nvSpPr>
          <p:spPr>
            <a:xfrm>
              <a:off x="813816" y="4134802"/>
              <a:ext cx="245373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Strong, but inherently sequential —</a:t>
              </a:r>
            </a:p>
          </p:txBody>
        </p:sp>
        <p:sp>
          <p:nvSpPr>
            <p:cNvPr id="23" name="TextBox 23"/>
            <p:cNvSpPr txBox="1"/>
            <p:nvPr/>
          </p:nvSpPr>
          <p:spPr>
            <a:xfrm>
              <a:off x="813816" y="4325302"/>
              <a:ext cx="2434838"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each step waits on the one before,</a:t>
              </a:r>
            </a:p>
          </p:txBody>
        </p:sp>
        <p:sp>
          <p:nvSpPr>
            <p:cNvPr id="24" name="TextBox 24"/>
            <p:cNvSpPr txBox="1"/>
            <p:nvPr/>
          </p:nvSpPr>
          <p:spPr>
            <a:xfrm>
              <a:off x="813816" y="4515802"/>
              <a:ext cx="198958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so it resists parallelization.</a:t>
              </a:r>
            </a:p>
          </p:txBody>
        </p:sp>
      </p:grpSp>
      <p:grpSp>
        <p:nvGrpSpPr>
          <p:cNvPr id="61" name="Group 61"/>
          <p:cNvGrpSpPr/>
          <p:nvPr/>
        </p:nvGrpSpPr>
        <p:grpSpPr>
          <a:xfrm>
            <a:off x="4381500" y="1524000"/>
            <a:ext cx="3429000" cy="3390900"/>
            <a:chOff x="4381500" y="1524000"/>
            <a:chExt cx="3429000" cy="3390900"/>
          </a:xfrm>
        </p:grpSpPr>
        <p:sp>
          <p:nvSpPr>
            <p:cNvPr id="26" name="Rectangle 26"/>
            <p:cNvSpPr/>
            <p:nvPr/>
          </p:nvSpPr>
          <p:spPr>
            <a:xfrm>
              <a:off x="4381500" y="1524000"/>
              <a:ext cx="3429000" cy="3390900"/>
            </a:xfrm>
            <a:prstGeom prst="roundRect">
              <a:avLst>
                <a:gd name="adj" fmla="val 3371"/>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27" name="Rectangle 27"/>
            <p:cNvSpPr/>
            <p:nvPr/>
          </p:nvSpPr>
          <p:spPr>
            <a:xfrm>
              <a:off x="4381500" y="1524000"/>
              <a:ext cx="47625" cy="3390900"/>
            </a:xfrm>
            <a:prstGeom prst="roundRect">
              <a:avLst>
                <a:gd name="adj" fmla="val 50000"/>
              </a:avLst>
            </a:prstGeom>
            <a:solidFill>
              <a:srgbClr val="0F5EE1"/>
            </a:solidFill>
            <a:ln>
              <a:noFill/>
            </a:ln>
          </p:spPr>
        </p:sp>
        <p:sp>
          <p:nvSpPr>
            <p:cNvPr id="28" name="TextBox 28"/>
            <p:cNvSpPr txBox="1"/>
            <p:nvPr/>
          </p:nvSpPr>
          <p:spPr>
            <a:xfrm>
              <a:off x="4624388" y="1769745"/>
              <a:ext cx="1424102"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BYTENET / CONVS2S</a:t>
              </a:r>
            </a:p>
          </p:txBody>
        </p:sp>
        <p:sp>
          <p:nvSpPr>
            <p:cNvPr id="29" name="TextBox 29"/>
            <p:cNvSpPr txBox="1"/>
            <p:nvPr/>
          </p:nvSpPr>
          <p:spPr>
            <a:xfrm>
              <a:off x="4620006" y="1977390"/>
              <a:ext cx="1575863" cy="352044"/>
            </a:xfrm>
            <a:prstGeom prst="rect">
              <a:avLst/>
            </a:prstGeom>
            <a:noFill/>
            <a:ln>
              <a:noFill/>
            </a:ln>
          </p:spPr>
          <p:txBody>
            <a:bodyPr wrap="none" lIns="0" tIns="0" rIns="0" bIns="0" anchor="t" anchorCtr="0">
              <a:spAutoFit/>
            </a:bodyPr>
            <a:lstStyle/>
            <a:p>
              <a:pPr algn="l"/>
              <a:r>
                <a:rPr lang="en-US" sz="1800" dirty="0">
                  <a:solidFill>
                    <a:srgbClr val="0B41CD"/>
                  </a:solidFill>
                  <a:latin typeface="Roche Sans Light"/>
                  <a:ea typeface="Roche Sans Light"/>
                  <a:cs typeface="Roche Sans Light"/>
                </a:rPr>
                <a:t>Convolutional</a:t>
              </a:r>
            </a:p>
          </p:txBody>
        </p:sp>
        <p:grpSp>
          <p:nvGrpSpPr>
            <p:cNvPr id="57" name="Group 57"/>
            <p:cNvGrpSpPr/>
            <p:nvPr/>
          </p:nvGrpSpPr>
          <p:grpSpPr>
            <a:xfrm>
              <a:off x="5076825" y="2714625"/>
              <a:ext cx="2038350" cy="1101566"/>
              <a:chOff x="5076825" y="2714625"/>
              <a:chExt cx="2038350" cy="1101566"/>
            </a:xfrm>
          </p:grpSpPr>
          <p:grpSp>
            <p:nvGrpSpPr>
              <p:cNvPr id="36" name="Group 36"/>
              <p:cNvGrpSpPr/>
              <p:nvPr/>
            </p:nvGrpSpPr>
            <p:grpSpPr>
              <a:xfrm>
                <a:off x="5143500" y="2857500"/>
                <a:ext cx="1914525" cy="571500"/>
                <a:chOff x="5143500" y="2857500"/>
                <a:chExt cx="1914525" cy="571500"/>
              </a:xfrm>
            </p:grpSpPr>
            <p:sp>
              <p:nvSpPr>
                <p:cNvPr id="30" name="Line 30"/>
                <p:cNvSpPr/>
                <p:nvPr/>
              </p:nvSpPr>
              <p:spPr>
                <a:xfrm>
                  <a:off x="5143500" y="2857500"/>
                  <a:ext cx="9525" cy="571500"/>
                </a:xfrm>
                <a:custGeom>
                  <a:avLst/>
                  <a:gdLst/>
                  <a:ahLst/>
                  <a:cxnLst/>
                  <a:rect l="l" t="t" r="r" b="b"/>
                  <a:pathLst>
                    <a:path w="9525" h="571500">
                      <a:moveTo>
                        <a:pt x="0" y="0"/>
                      </a:moveTo>
                      <a:lnTo>
                        <a:pt x="0" y="571500"/>
                      </a:lnTo>
                    </a:path>
                  </a:pathLst>
                </a:custGeom>
                <a:noFill/>
                <a:ln w="12382">
                  <a:solidFill>
                    <a:srgbClr val="95C7FD"/>
                  </a:solidFill>
                </a:ln>
              </p:spPr>
            </p:sp>
            <p:sp>
              <p:nvSpPr>
                <p:cNvPr id="31" name="Line 31"/>
                <p:cNvSpPr/>
                <p:nvPr/>
              </p:nvSpPr>
              <p:spPr>
                <a:xfrm>
                  <a:off x="5524500" y="2857500"/>
                  <a:ext cx="9525" cy="571500"/>
                </a:xfrm>
                <a:custGeom>
                  <a:avLst/>
                  <a:gdLst/>
                  <a:ahLst/>
                  <a:cxnLst/>
                  <a:rect l="l" t="t" r="r" b="b"/>
                  <a:pathLst>
                    <a:path w="9525" h="571500">
                      <a:moveTo>
                        <a:pt x="0" y="0"/>
                      </a:moveTo>
                      <a:lnTo>
                        <a:pt x="0" y="571500"/>
                      </a:lnTo>
                    </a:path>
                  </a:pathLst>
                </a:custGeom>
                <a:noFill/>
                <a:ln w="12382">
                  <a:solidFill>
                    <a:srgbClr val="95C7FD"/>
                  </a:solidFill>
                </a:ln>
              </p:spPr>
            </p:sp>
            <p:sp>
              <p:nvSpPr>
                <p:cNvPr id="32" name="Line 32"/>
                <p:cNvSpPr/>
                <p:nvPr/>
              </p:nvSpPr>
              <p:spPr>
                <a:xfrm>
                  <a:off x="5905500" y="2857500"/>
                  <a:ext cx="9525" cy="571500"/>
                </a:xfrm>
                <a:custGeom>
                  <a:avLst/>
                  <a:gdLst/>
                  <a:ahLst/>
                  <a:cxnLst/>
                  <a:rect l="l" t="t" r="r" b="b"/>
                  <a:pathLst>
                    <a:path w="9525" h="571500">
                      <a:moveTo>
                        <a:pt x="0" y="0"/>
                      </a:moveTo>
                      <a:lnTo>
                        <a:pt x="0" y="571500"/>
                      </a:lnTo>
                    </a:path>
                  </a:pathLst>
                </a:custGeom>
                <a:noFill/>
                <a:ln w="12382">
                  <a:solidFill>
                    <a:srgbClr val="95C7FD"/>
                  </a:solidFill>
                </a:ln>
              </p:spPr>
            </p:sp>
            <p:sp>
              <p:nvSpPr>
                <p:cNvPr id="33" name="Line 33"/>
                <p:cNvSpPr/>
                <p:nvPr/>
              </p:nvSpPr>
              <p:spPr>
                <a:xfrm>
                  <a:off x="6286500" y="2857500"/>
                  <a:ext cx="9525" cy="571500"/>
                </a:xfrm>
                <a:custGeom>
                  <a:avLst/>
                  <a:gdLst/>
                  <a:ahLst/>
                  <a:cxnLst/>
                  <a:rect l="l" t="t" r="r" b="b"/>
                  <a:pathLst>
                    <a:path w="9525" h="571500">
                      <a:moveTo>
                        <a:pt x="0" y="0"/>
                      </a:moveTo>
                      <a:lnTo>
                        <a:pt x="0" y="571500"/>
                      </a:lnTo>
                    </a:path>
                  </a:pathLst>
                </a:custGeom>
                <a:noFill/>
                <a:ln w="12382">
                  <a:solidFill>
                    <a:srgbClr val="95C7FD"/>
                  </a:solidFill>
                </a:ln>
              </p:spPr>
            </p:sp>
            <p:sp>
              <p:nvSpPr>
                <p:cNvPr id="34" name="Line 34"/>
                <p:cNvSpPr/>
                <p:nvPr/>
              </p:nvSpPr>
              <p:spPr>
                <a:xfrm>
                  <a:off x="6667500" y="2857500"/>
                  <a:ext cx="9525" cy="571500"/>
                </a:xfrm>
                <a:custGeom>
                  <a:avLst/>
                  <a:gdLst/>
                  <a:ahLst/>
                  <a:cxnLst/>
                  <a:rect l="l" t="t" r="r" b="b"/>
                  <a:pathLst>
                    <a:path w="9525" h="571500">
                      <a:moveTo>
                        <a:pt x="0" y="0"/>
                      </a:moveTo>
                      <a:lnTo>
                        <a:pt x="0" y="571500"/>
                      </a:lnTo>
                    </a:path>
                  </a:pathLst>
                </a:custGeom>
                <a:noFill/>
                <a:ln w="12382">
                  <a:solidFill>
                    <a:srgbClr val="95C7FD"/>
                  </a:solidFill>
                </a:ln>
              </p:spPr>
            </p:sp>
            <p:sp>
              <p:nvSpPr>
                <p:cNvPr id="35" name="Line 35"/>
                <p:cNvSpPr/>
                <p:nvPr/>
              </p:nvSpPr>
              <p:spPr>
                <a:xfrm>
                  <a:off x="7048500" y="2857500"/>
                  <a:ext cx="9525" cy="571500"/>
                </a:xfrm>
                <a:custGeom>
                  <a:avLst/>
                  <a:gdLst/>
                  <a:ahLst/>
                  <a:cxnLst/>
                  <a:rect l="l" t="t" r="r" b="b"/>
                  <a:pathLst>
                    <a:path w="9525" h="571500">
                      <a:moveTo>
                        <a:pt x="0" y="0"/>
                      </a:moveTo>
                      <a:lnTo>
                        <a:pt x="0" y="571500"/>
                      </a:lnTo>
                    </a:path>
                  </a:pathLst>
                </a:custGeom>
                <a:noFill/>
                <a:ln w="12382">
                  <a:solidFill>
                    <a:srgbClr val="95C7FD"/>
                  </a:solidFill>
                </a:ln>
              </p:spPr>
            </p:sp>
          </p:grpSp>
          <p:sp>
            <p:nvSpPr>
              <p:cNvPr id="37" name="Ellipse 37"/>
              <p:cNvSpPr/>
              <p:nvPr/>
            </p:nvSpPr>
            <p:spPr>
              <a:xfrm>
                <a:off x="5076825" y="2790825"/>
                <a:ext cx="133350" cy="133350"/>
              </a:xfrm>
              <a:prstGeom prst="ellipse">
                <a:avLst/>
              </a:prstGeom>
              <a:solidFill>
                <a:srgbClr val="0F5EE1"/>
              </a:solidFill>
              <a:ln>
                <a:noFill/>
              </a:ln>
            </p:spPr>
          </p:sp>
          <p:sp>
            <p:nvSpPr>
              <p:cNvPr id="38" name="Ellipse 38"/>
              <p:cNvSpPr/>
              <p:nvPr/>
            </p:nvSpPr>
            <p:spPr>
              <a:xfrm>
                <a:off x="5457825" y="2790825"/>
                <a:ext cx="133350" cy="133350"/>
              </a:xfrm>
              <a:prstGeom prst="ellipse">
                <a:avLst/>
              </a:prstGeom>
              <a:solidFill>
                <a:srgbClr val="0F5EE1"/>
              </a:solidFill>
              <a:ln>
                <a:noFill/>
              </a:ln>
            </p:spPr>
          </p:sp>
          <p:sp>
            <p:nvSpPr>
              <p:cNvPr id="39" name="Ellipse 39"/>
              <p:cNvSpPr/>
              <p:nvPr/>
            </p:nvSpPr>
            <p:spPr>
              <a:xfrm>
                <a:off x="5838825" y="2790825"/>
                <a:ext cx="133350" cy="133350"/>
              </a:xfrm>
              <a:prstGeom prst="ellipse">
                <a:avLst/>
              </a:prstGeom>
              <a:solidFill>
                <a:srgbClr val="0F5EE1"/>
              </a:solidFill>
              <a:ln>
                <a:noFill/>
              </a:ln>
            </p:spPr>
          </p:sp>
          <p:sp>
            <p:nvSpPr>
              <p:cNvPr id="40" name="Ellipse 40"/>
              <p:cNvSpPr/>
              <p:nvPr/>
            </p:nvSpPr>
            <p:spPr>
              <a:xfrm>
                <a:off x="6219825" y="2790825"/>
                <a:ext cx="133350" cy="133350"/>
              </a:xfrm>
              <a:prstGeom prst="ellipse">
                <a:avLst/>
              </a:prstGeom>
              <a:solidFill>
                <a:srgbClr val="0F5EE1"/>
              </a:solidFill>
              <a:ln>
                <a:noFill/>
              </a:ln>
            </p:spPr>
          </p:sp>
          <p:sp>
            <p:nvSpPr>
              <p:cNvPr id="41" name="Ellipse 41"/>
              <p:cNvSpPr/>
              <p:nvPr/>
            </p:nvSpPr>
            <p:spPr>
              <a:xfrm>
                <a:off x="6600825" y="2790825"/>
                <a:ext cx="133350" cy="133350"/>
              </a:xfrm>
              <a:prstGeom prst="ellipse">
                <a:avLst/>
              </a:prstGeom>
              <a:solidFill>
                <a:srgbClr val="0F5EE1"/>
              </a:solidFill>
              <a:ln>
                <a:noFill/>
              </a:ln>
            </p:spPr>
          </p:sp>
          <p:sp>
            <p:nvSpPr>
              <p:cNvPr id="42" name="Ellipse 42"/>
              <p:cNvSpPr/>
              <p:nvPr/>
            </p:nvSpPr>
            <p:spPr>
              <a:xfrm>
                <a:off x="6981825" y="2790825"/>
                <a:ext cx="133350" cy="133350"/>
              </a:xfrm>
              <a:prstGeom prst="ellipse">
                <a:avLst/>
              </a:prstGeom>
              <a:solidFill>
                <a:srgbClr val="0F5EE1"/>
              </a:solidFill>
              <a:ln>
                <a:noFill/>
              </a:ln>
            </p:spPr>
          </p:sp>
          <p:sp>
            <p:nvSpPr>
              <p:cNvPr id="43" name="Ellipse 43"/>
              <p:cNvSpPr/>
              <p:nvPr/>
            </p:nvSpPr>
            <p:spPr>
              <a:xfrm>
                <a:off x="5076825" y="3076575"/>
                <a:ext cx="133350" cy="133350"/>
              </a:xfrm>
              <a:prstGeom prst="ellipse">
                <a:avLst/>
              </a:prstGeom>
              <a:solidFill>
                <a:srgbClr val="0F5EE1"/>
              </a:solidFill>
              <a:ln>
                <a:noFill/>
              </a:ln>
            </p:spPr>
          </p:sp>
          <p:sp>
            <p:nvSpPr>
              <p:cNvPr id="44" name="Ellipse 44"/>
              <p:cNvSpPr/>
              <p:nvPr/>
            </p:nvSpPr>
            <p:spPr>
              <a:xfrm>
                <a:off x="5457825" y="3076575"/>
                <a:ext cx="133350" cy="133350"/>
              </a:xfrm>
              <a:prstGeom prst="ellipse">
                <a:avLst/>
              </a:prstGeom>
              <a:solidFill>
                <a:srgbClr val="0F5EE1"/>
              </a:solidFill>
              <a:ln>
                <a:noFill/>
              </a:ln>
            </p:spPr>
          </p:sp>
          <p:sp>
            <p:nvSpPr>
              <p:cNvPr id="45" name="Ellipse 45"/>
              <p:cNvSpPr/>
              <p:nvPr/>
            </p:nvSpPr>
            <p:spPr>
              <a:xfrm>
                <a:off x="5838825" y="3076575"/>
                <a:ext cx="133350" cy="133350"/>
              </a:xfrm>
              <a:prstGeom prst="ellipse">
                <a:avLst/>
              </a:prstGeom>
              <a:solidFill>
                <a:srgbClr val="0F5EE1"/>
              </a:solidFill>
              <a:ln>
                <a:noFill/>
              </a:ln>
            </p:spPr>
          </p:sp>
          <p:sp>
            <p:nvSpPr>
              <p:cNvPr id="46" name="Ellipse 46"/>
              <p:cNvSpPr/>
              <p:nvPr/>
            </p:nvSpPr>
            <p:spPr>
              <a:xfrm>
                <a:off x="6219825" y="3076575"/>
                <a:ext cx="133350" cy="133350"/>
              </a:xfrm>
              <a:prstGeom prst="ellipse">
                <a:avLst/>
              </a:prstGeom>
              <a:solidFill>
                <a:srgbClr val="0F5EE1"/>
              </a:solidFill>
              <a:ln>
                <a:noFill/>
              </a:ln>
            </p:spPr>
          </p:sp>
          <p:sp>
            <p:nvSpPr>
              <p:cNvPr id="47" name="Ellipse 47"/>
              <p:cNvSpPr/>
              <p:nvPr/>
            </p:nvSpPr>
            <p:spPr>
              <a:xfrm>
                <a:off x="6600825" y="3076575"/>
                <a:ext cx="133350" cy="133350"/>
              </a:xfrm>
              <a:prstGeom prst="ellipse">
                <a:avLst/>
              </a:prstGeom>
              <a:solidFill>
                <a:srgbClr val="0F5EE1"/>
              </a:solidFill>
              <a:ln>
                <a:noFill/>
              </a:ln>
            </p:spPr>
          </p:sp>
          <p:sp>
            <p:nvSpPr>
              <p:cNvPr id="48" name="Ellipse 48"/>
              <p:cNvSpPr/>
              <p:nvPr/>
            </p:nvSpPr>
            <p:spPr>
              <a:xfrm>
                <a:off x="6981825" y="3076575"/>
                <a:ext cx="133350" cy="133350"/>
              </a:xfrm>
              <a:prstGeom prst="ellipse">
                <a:avLst/>
              </a:prstGeom>
              <a:solidFill>
                <a:srgbClr val="0F5EE1"/>
              </a:solidFill>
              <a:ln>
                <a:noFill/>
              </a:ln>
            </p:spPr>
          </p:sp>
          <p:sp>
            <p:nvSpPr>
              <p:cNvPr id="49" name="Ellipse 49"/>
              <p:cNvSpPr/>
              <p:nvPr/>
            </p:nvSpPr>
            <p:spPr>
              <a:xfrm>
                <a:off x="5076825" y="3362325"/>
                <a:ext cx="133350" cy="133350"/>
              </a:xfrm>
              <a:prstGeom prst="ellipse">
                <a:avLst/>
              </a:prstGeom>
              <a:solidFill>
                <a:srgbClr val="0F5EE1"/>
              </a:solidFill>
              <a:ln>
                <a:noFill/>
              </a:ln>
            </p:spPr>
          </p:sp>
          <p:sp>
            <p:nvSpPr>
              <p:cNvPr id="50" name="Ellipse 50"/>
              <p:cNvSpPr/>
              <p:nvPr/>
            </p:nvSpPr>
            <p:spPr>
              <a:xfrm>
                <a:off x="5457825" y="3362325"/>
                <a:ext cx="133350" cy="133350"/>
              </a:xfrm>
              <a:prstGeom prst="ellipse">
                <a:avLst/>
              </a:prstGeom>
              <a:solidFill>
                <a:srgbClr val="0F5EE1"/>
              </a:solidFill>
              <a:ln>
                <a:noFill/>
              </a:ln>
            </p:spPr>
          </p:sp>
          <p:sp>
            <p:nvSpPr>
              <p:cNvPr id="51" name="Ellipse 51"/>
              <p:cNvSpPr/>
              <p:nvPr/>
            </p:nvSpPr>
            <p:spPr>
              <a:xfrm>
                <a:off x="5838825" y="3362325"/>
                <a:ext cx="133350" cy="133350"/>
              </a:xfrm>
              <a:prstGeom prst="ellipse">
                <a:avLst/>
              </a:prstGeom>
              <a:solidFill>
                <a:srgbClr val="0F5EE1"/>
              </a:solidFill>
              <a:ln>
                <a:noFill/>
              </a:ln>
            </p:spPr>
          </p:sp>
          <p:sp>
            <p:nvSpPr>
              <p:cNvPr id="52" name="Ellipse 52"/>
              <p:cNvSpPr/>
              <p:nvPr/>
            </p:nvSpPr>
            <p:spPr>
              <a:xfrm>
                <a:off x="6219825" y="3362325"/>
                <a:ext cx="133350" cy="133350"/>
              </a:xfrm>
              <a:prstGeom prst="ellipse">
                <a:avLst/>
              </a:prstGeom>
              <a:solidFill>
                <a:srgbClr val="0F5EE1"/>
              </a:solidFill>
              <a:ln>
                <a:noFill/>
              </a:ln>
            </p:spPr>
          </p:sp>
          <p:sp>
            <p:nvSpPr>
              <p:cNvPr id="53" name="Ellipse 53"/>
              <p:cNvSpPr/>
              <p:nvPr/>
            </p:nvSpPr>
            <p:spPr>
              <a:xfrm>
                <a:off x="6600825" y="3362325"/>
                <a:ext cx="133350" cy="133350"/>
              </a:xfrm>
              <a:prstGeom prst="ellipse">
                <a:avLst/>
              </a:prstGeom>
              <a:solidFill>
                <a:srgbClr val="0F5EE1"/>
              </a:solidFill>
              <a:ln>
                <a:noFill/>
              </a:ln>
            </p:spPr>
          </p:sp>
          <p:sp>
            <p:nvSpPr>
              <p:cNvPr id="54" name="Ellipse 54"/>
              <p:cNvSpPr/>
              <p:nvPr/>
            </p:nvSpPr>
            <p:spPr>
              <a:xfrm>
                <a:off x="6981825" y="3362325"/>
                <a:ext cx="133350" cy="133350"/>
              </a:xfrm>
              <a:prstGeom prst="ellipse">
                <a:avLst/>
              </a:prstGeom>
              <a:solidFill>
                <a:srgbClr val="0F5EE1"/>
              </a:solidFill>
              <a:ln>
                <a:noFill/>
              </a:ln>
            </p:spPr>
          </p:sp>
          <p:sp>
            <p:nvSpPr>
              <p:cNvPr id="55" name="Rectangle 55"/>
              <p:cNvSpPr/>
              <p:nvPr/>
            </p:nvSpPr>
            <p:spPr>
              <a:xfrm>
                <a:off x="5715000" y="2714625"/>
                <a:ext cx="762000" cy="857250"/>
              </a:xfrm>
              <a:prstGeom prst="roundRect">
                <a:avLst>
                  <a:gd name="adj" fmla="val 7500"/>
                </a:avLst>
              </a:prstGeom>
              <a:noFill/>
              <a:ln w="15240">
                <a:solidFill>
                  <a:srgbClr val="1482FA"/>
                </a:solidFill>
                <a:custDash>
                  <a:ds d="250000" sp="187500"/>
                </a:custDash>
              </a:ln>
            </p:spPr>
          </p:sp>
          <p:sp>
            <p:nvSpPr>
              <p:cNvPr id="56" name="TextBox 56"/>
              <p:cNvSpPr txBox="1"/>
              <p:nvPr/>
            </p:nvSpPr>
            <p:spPr>
              <a:xfrm>
                <a:off x="5547036" y="3654266"/>
                <a:ext cx="1097928"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local receptive field</a:t>
                </a:r>
              </a:p>
            </p:txBody>
          </p:sp>
        </p:grpSp>
        <p:sp>
          <p:nvSpPr>
            <p:cNvPr id="58" name="TextBox 58"/>
            <p:cNvSpPr txBox="1"/>
            <p:nvPr/>
          </p:nvSpPr>
          <p:spPr>
            <a:xfrm>
              <a:off x="4623816" y="4134802"/>
              <a:ext cx="241094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Parallelizable, but signals between</a:t>
              </a:r>
            </a:p>
          </p:txBody>
        </p:sp>
        <p:sp>
          <p:nvSpPr>
            <p:cNvPr id="59" name="TextBox 59"/>
            <p:cNvSpPr txBox="1"/>
            <p:nvPr/>
          </p:nvSpPr>
          <p:spPr>
            <a:xfrm>
              <a:off x="4623816" y="4325302"/>
              <a:ext cx="2244014"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distant positions still grow with</a:t>
              </a:r>
            </a:p>
          </p:txBody>
        </p:sp>
        <p:sp>
          <p:nvSpPr>
            <p:cNvPr id="60" name="TextBox 60"/>
            <p:cNvSpPr txBox="1"/>
            <p:nvPr/>
          </p:nvSpPr>
          <p:spPr>
            <a:xfrm>
              <a:off x="4623816" y="4515802"/>
              <a:ext cx="2173338"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distance — linearly or log-wise.</a:t>
              </a:r>
            </a:p>
          </p:txBody>
        </p:sp>
      </p:grpSp>
      <p:grpSp>
        <p:nvGrpSpPr>
          <p:cNvPr id="87" name="Group 87"/>
          <p:cNvGrpSpPr/>
          <p:nvPr/>
        </p:nvGrpSpPr>
        <p:grpSpPr>
          <a:xfrm>
            <a:off x="8191500" y="1524000"/>
            <a:ext cx="3429000" cy="3390900"/>
            <a:chOff x="8191500" y="1524000"/>
            <a:chExt cx="3429000" cy="3390900"/>
          </a:xfrm>
        </p:grpSpPr>
        <p:sp>
          <p:nvSpPr>
            <p:cNvPr id="62" name="Rectangle 62"/>
            <p:cNvSpPr/>
            <p:nvPr/>
          </p:nvSpPr>
          <p:spPr>
            <a:xfrm>
              <a:off x="8191500" y="1524000"/>
              <a:ext cx="3429000" cy="3390900"/>
            </a:xfrm>
            <a:prstGeom prst="roundRect">
              <a:avLst>
                <a:gd name="adj" fmla="val 3371"/>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63" name="Rectangle 63"/>
            <p:cNvSpPr/>
            <p:nvPr/>
          </p:nvSpPr>
          <p:spPr>
            <a:xfrm>
              <a:off x="8191500" y="1524000"/>
              <a:ext cx="47625" cy="3390900"/>
            </a:xfrm>
            <a:prstGeom prst="roundRect">
              <a:avLst>
                <a:gd name="adj" fmla="val 50000"/>
              </a:avLst>
            </a:prstGeom>
            <a:solidFill>
              <a:srgbClr val="1482FA"/>
            </a:solidFill>
            <a:ln>
              <a:noFill/>
            </a:ln>
          </p:spPr>
        </p:sp>
        <p:sp>
          <p:nvSpPr>
            <p:cNvPr id="64" name="TextBox 64"/>
            <p:cNvSpPr txBox="1"/>
            <p:nvPr/>
          </p:nvSpPr>
          <p:spPr>
            <a:xfrm>
              <a:off x="8434388" y="1769745"/>
              <a:ext cx="1308887"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THE TRANSFORMER</a:t>
              </a:r>
            </a:p>
          </p:txBody>
        </p:sp>
        <p:sp>
          <p:nvSpPr>
            <p:cNvPr id="65" name="TextBox 65"/>
            <p:cNvSpPr txBox="1"/>
            <p:nvPr/>
          </p:nvSpPr>
          <p:spPr>
            <a:xfrm>
              <a:off x="8430006" y="1977390"/>
              <a:ext cx="1778156" cy="352044"/>
            </a:xfrm>
            <a:prstGeom prst="rect">
              <a:avLst/>
            </a:prstGeom>
            <a:noFill/>
            <a:ln>
              <a:noFill/>
            </a:ln>
          </p:spPr>
          <p:txBody>
            <a:bodyPr wrap="none" lIns="0" tIns="0" rIns="0" bIns="0" anchor="t" anchorCtr="0">
              <a:spAutoFit/>
            </a:bodyPr>
            <a:lstStyle/>
            <a:p>
              <a:pPr algn="l"/>
              <a:r>
                <a:rPr lang="en-US" sz="1800" dirty="0">
                  <a:solidFill>
                    <a:srgbClr val="0B41CD"/>
                  </a:solidFill>
                  <a:latin typeface="Roche Sans Light"/>
                  <a:ea typeface="Roche Sans Light"/>
                  <a:cs typeface="Roche Sans Light"/>
                </a:rPr>
                <a:t>Self-Attention</a:t>
              </a:r>
            </a:p>
          </p:txBody>
        </p:sp>
        <p:grpSp>
          <p:nvGrpSpPr>
            <p:cNvPr id="83" name="Group 83"/>
            <p:cNvGrpSpPr/>
            <p:nvPr/>
          </p:nvGrpSpPr>
          <p:grpSpPr>
            <a:xfrm>
              <a:off x="9172575" y="2381250"/>
              <a:ext cx="1466850" cy="1644491"/>
              <a:chOff x="9172575" y="2381250"/>
              <a:chExt cx="1466850" cy="1644491"/>
            </a:xfrm>
          </p:grpSpPr>
          <p:grpSp>
            <p:nvGrpSpPr>
              <p:cNvPr id="76" name="Group 76"/>
              <p:cNvGrpSpPr/>
              <p:nvPr/>
            </p:nvGrpSpPr>
            <p:grpSpPr>
              <a:xfrm>
                <a:off x="9286875" y="2495550"/>
                <a:ext cx="1238250" cy="1181100"/>
                <a:chOff x="9286875" y="2495550"/>
                <a:chExt cx="1238250" cy="1181100"/>
              </a:xfrm>
            </p:grpSpPr>
            <p:sp>
              <p:nvSpPr>
                <p:cNvPr id="66" name="Line 66"/>
                <p:cNvSpPr/>
                <p:nvPr/>
              </p:nvSpPr>
              <p:spPr>
                <a:xfrm>
                  <a:off x="9906000" y="2495550"/>
                  <a:ext cx="619125" cy="447675"/>
                </a:xfrm>
                <a:custGeom>
                  <a:avLst/>
                  <a:gdLst/>
                  <a:ahLst/>
                  <a:cxnLst/>
                  <a:rect l="l" t="t" r="r" b="b"/>
                  <a:pathLst>
                    <a:path w="619125" h="447675">
                      <a:moveTo>
                        <a:pt x="0" y="0"/>
                      </a:moveTo>
                      <a:lnTo>
                        <a:pt x="619125" y="447675"/>
                      </a:lnTo>
                    </a:path>
                  </a:pathLst>
                </a:custGeom>
                <a:noFill/>
                <a:ln w="12382">
                  <a:solidFill>
                    <a:srgbClr val="1482FA">
                      <a:alpha val="50000"/>
                    </a:srgbClr>
                  </a:solidFill>
                </a:ln>
              </p:spPr>
            </p:sp>
            <p:sp>
              <p:nvSpPr>
                <p:cNvPr id="67" name="Line 67"/>
                <p:cNvSpPr/>
                <p:nvPr/>
              </p:nvSpPr>
              <p:spPr>
                <a:xfrm>
                  <a:off x="9906000" y="2495550"/>
                  <a:ext cx="381000" cy="1171575"/>
                </a:xfrm>
                <a:custGeom>
                  <a:avLst/>
                  <a:gdLst/>
                  <a:ahLst/>
                  <a:cxnLst/>
                  <a:rect l="l" t="t" r="r" b="b"/>
                  <a:pathLst>
                    <a:path w="381000" h="1171575">
                      <a:moveTo>
                        <a:pt x="0" y="0"/>
                      </a:moveTo>
                      <a:lnTo>
                        <a:pt x="381000" y="1171575"/>
                      </a:lnTo>
                    </a:path>
                  </a:pathLst>
                </a:custGeom>
                <a:noFill/>
                <a:ln w="12382">
                  <a:solidFill>
                    <a:srgbClr val="1482FA">
                      <a:alpha val="50000"/>
                    </a:srgbClr>
                  </a:solidFill>
                </a:ln>
              </p:spPr>
            </p:sp>
            <p:sp>
              <p:nvSpPr>
                <p:cNvPr id="68" name="Line 68"/>
                <p:cNvSpPr/>
                <p:nvPr/>
              </p:nvSpPr>
              <p:spPr>
                <a:xfrm>
                  <a:off x="9525000" y="2495550"/>
                  <a:ext cx="381000" cy="1171575"/>
                </a:xfrm>
                <a:custGeom>
                  <a:avLst/>
                  <a:gdLst/>
                  <a:ahLst/>
                  <a:cxnLst/>
                  <a:rect l="l" t="t" r="r" b="b"/>
                  <a:pathLst>
                    <a:path w="381000" h="1171575">
                      <a:moveTo>
                        <a:pt x="381000" y="0"/>
                      </a:moveTo>
                      <a:lnTo>
                        <a:pt x="0" y="1171575"/>
                      </a:lnTo>
                    </a:path>
                  </a:pathLst>
                </a:custGeom>
                <a:noFill/>
                <a:ln w="12382">
                  <a:solidFill>
                    <a:srgbClr val="1482FA">
                      <a:alpha val="50000"/>
                    </a:srgbClr>
                  </a:solidFill>
                </a:ln>
              </p:spPr>
            </p:sp>
            <p:sp>
              <p:nvSpPr>
                <p:cNvPr id="69" name="Line 69"/>
                <p:cNvSpPr/>
                <p:nvPr/>
              </p:nvSpPr>
              <p:spPr>
                <a:xfrm>
                  <a:off x="9286875" y="2495550"/>
                  <a:ext cx="619125" cy="447675"/>
                </a:xfrm>
                <a:custGeom>
                  <a:avLst/>
                  <a:gdLst/>
                  <a:ahLst/>
                  <a:cxnLst/>
                  <a:rect l="l" t="t" r="r" b="b"/>
                  <a:pathLst>
                    <a:path w="619125" h="447675">
                      <a:moveTo>
                        <a:pt x="619125" y="0"/>
                      </a:moveTo>
                      <a:lnTo>
                        <a:pt x="0" y="447675"/>
                      </a:lnTo>
                    </a:path>
                  </a:pathLst>
                </a:custGeom>
                <a:noFill/>
                <a:ln w="12382">
                  <a:solidFill>
                    <a:srgbClr val="1482FA">
                      <a:alpha val="50000"/>
                    </a:srgbClr>
                  </a:solidFill>
                </a:ln>
              </p:spPr>
            </p:sp>
            <p:sp>
              <p:nvSpPr>
                <p:cNvPr id="70" name="Line 70"/>
                <p:cNvSpPr/>
                <p:nvPr/>
              </p:nvSpPr>
              <p:spPr>
                <a:xfrm>
                  <a:off x="10287000" y="2943225"/>
                  <a:ext cx="238125" cy="723900"/>
                </a:xfrm>
                <a:custGeom>
                  <a:avLst/>
                  <a:gdLst/>
                  <a:ahLst/>
                  <a:cxnLst/>
                  <a:rect l="l" t="t" r="r" b="b"/>
                  <a:pathLst>
                    <a:path w="238125" h="723900">
                      <a:moveTo>
                        <a:pt x="238125" y="0"/>
                      </a:moveTo>
                      <a:lnTo>
                        <a:pt x="0" y="723900"/>
                      </a:lnTo>
                    </a:path>
                  </a:pathLst>
                </a:custGeom>
                <a:noFill/>
                <a:ln w="12382">
                  <a:solidFill>
                    <a:srgbClr val="1482FA">
                      <a:alpha val="50000"/>
                    </a:srgbClr>
                  </a:solidFill>
                </a:ln>
              </p:spPr>
            </p:sp>
            <p:sp>
              <p:nvSpPr>
                <p:cNvPr id="71" name="Line 71"/>
                <p:cNvSpPr/>
                <p:nvPr/>
              </p:nvSpPr>
              <p:spPr>
                <a:xfrm>
                  <a:off x="9525000" y="2943225"/>
                  <a:ext cx="1000125" cy="723900"/>
                </a:xfrm>
                <a:custGeom>
                  <a:avLst/>
                  <a:gdLst/>
                  <a:ahLst/>
                  <a:cxnLst/>
                  <a:rect l="l" t="t" r="r" b="b"/>
                  <a:pathLst>
                    <a:path w="1000125" h="723900">
                      <a:moveTo>
                        <a:pt x="1000125" y="0"/>
                      </a:moveTo>
                      <a:lnTo>
                        <a:pt x="0" y="723900"/>
                      </a:lnTo>
                    </a:path>
                  </a:pathLst>
                </a:custGeom>
                <a:noFill/>
                <a:ln w="12382">
                  <a:solidFill>
                    <a:srgbClr val="1482FA">
                      <a:alpha val="50000"/>
                    </a:srgbClr>
                  </a:solidFill>
                </a:ln>
              </p:spPr>
            </p:sp>
            <p:sp>
              <p:nvSpPr>
                <p:cNvPr id="72" name="Line 72"/>
                <p:cNvSpPr/>
                <p:nvPr/>
              </p:nvSpPr>
              <p:spPr>
                <a:xfrm>
                  <a:off x="9286875" y="2943225"/>
                  <a:ext cx="1238250" cy="9525"/>
                </a:xfrm>
                <a:custGeom>
                  <a:avLst/>
                  <a:gdLst/>
                  <a:ahLst/>
                  <a:cxnLst/>
                  <a:rect l="l" t="t" r="r" b="b"/>
                  <a:pathLst>
                    <a:path w="1238250" h="9525">
                      <a:moveTo>
                        <a:pt x="1238250" y="0"/>
                      </a:moveTo>
                      <a:lnTo>
                        <a:pt x="0" y="0"/>
                      </a:lnTo>
                    </a:path>
                  </a:pathLst>
                </a:custGeom>
                <a:noFill/>
                <a:ln w="12382">
                  <a:solidFill>
                    <a:srgbClr val="1482FA">
                      <a:alpha val="50000"/>
                    </a:srgbClr>
                  </a:solidFill>
                </a:ln>
              </p:spPr>
            </p:sp>
            <p:sp>
              <p:nvSpPr>
                <p:cNvPr id="73" name="Line 73"/>
                <p:cNvSpPr/>
                <p:nvPr/>
              </p:nvSpPr>
              <p:spPr>
                <a:xfrm>
                  <a:off x="9525000" y="3667125"/>
                  <a:ext cx="762000" cy="9525"/>
                </a:xfrm>
                <a:custGeom>
                  <a:avLst/>
                  <a:gdLst/>
                  <a:ahLst/>
                  <a:cxnLst/>
                  <a:rect l="l" t="t" r="r" b="b"/>
                  <a:pathLst>
                    <a:path w="762000" h="9525">
                      <a:moveTo>
                        <a:pt x="762000" y="0"/>
                      </a:moveTo>
                      <a:lnTo>
                        <a:pt x="0" y="0"/>
                      </a:lnTo>
                    </a:path>
                  </a:pathLst>
                </a:custGeom>
                <a:noFill/>
                <a:ln w="12382">
                  <a:solidFill>
                    <a:srgbClr val="1482FA">
                      <a:alpha val="50000"/>
                    </a:srgbClr>
                  </a:solidFill>
                </a:ln>
              </p:spPr>
            </p:sp>
            <p:sp>
              <p:nvSpPr>
                <p:cNvPr id="74" name="Line 74"/>
                <p:cNvSpPr/>
                <p:nvPr/>
              </p:nvSpPr>
              <p:spPr>
                <a:xfrm>
                  <a:off x="9286875" y="2943225"/>
                  <a:ext cx="1000125" cy="723900"/>
                </a:xfrm>
                <a:custGeom>
                  <a:avLst/>
                  <a:gdLst/>
                  <a:ahLst/>
                  <a:cxnLst/>
                  <a:rect l="l" t="t" r="r" b="b"/>
                  <a:pathLst>
                    <a:path w="1000125" h="723900">
                      <a:moveTo>
                        <a:pt x="1000125" y="723900"/>
                      </a:moveTo>
                      <a:lnTo>
                        <a:pt x="0" y="0"/>
                      </a:lnTo>
                    </a:path>
                  </a:pathLst>
                </a:custGeom>
                <a:noFill/>
                <a:ln w="12382">
                  <a:solidFill>
                    <a:srgbClr val="1482FA">
                      <a:alpha val="50000"/>
                    </a:srgbClr>
                  </a:solidFill>
                </a:ln>
              </p:spPr>
            </p:sp>
            <p:sp>
              <p:nvSpPr>
                <p:cNvPr id="75" name="Line 75"/>
                <p:cNvSpPr/>
                <p:nvPr/>
              </p:nvSpPr>
              <p:spPr>
                <a:xfrm>
                  <a:off x="9286875" y="2943225"/>
                  <a:ext cx="238125" cy="723900"/>
                </a:xfrm>
                <a:custGeom>
                  <a:avLst/>
                  <a:gdLst/>
                  <a:ahLst/>
                  <a:cxnLst/>
                  <a:rect l="l" t="t" r="r" b="b"/>
                  <a:pathLst>
                    <a:path w="238125" h="723900">
                      <a:moveTo>
                        <a:pt x="238125" y="723900"/>
                      </a:moveTo>
                      <a:lnTo>
                        <a:pt x="0" y="0"/>
                      </a:lnTo>
                    </a:path>
                  </a:pathLst>
                </a:custGeom>
                <a:noFill/>
                <a:ln w="12382">
                  <a:solidFill>
                    <a:srgbClr val="1482FA">
                      <a:alpha val="50000"/>
                    </a:srgbClr>
                  </a:solidFill>
                </a:ln>
              </p:spPr>
            </p:sp>
          </p:grpSp>
          <p:sp>
            <p:nvSpPr>
              <p:cNvPr id="77" name="Ellipse 77"/>
              <p:cNvSpPr/>
              <p:nvPr/>
            </p:nvSpPr>
            <p:spPr>
              <a:xfrm>
                <a:off x="9791700" y="2381250"/>
                <a:ext cx="228600" cy="228600"/>
              </a:xfrm>
              <a:prstGeom prst="ellipse">
                <a:avLst/>
              </a:prstGeom>
              <a:solidFill>
                <a:srgbClr val="1482FA"/>
              </a:solidFill>
              <a:ln>
                <a:noFill/>
              </a:ln>
            </p:spPr>
          </p:sp>
          <p:sp>
            <p:nvSpPr>
              <p:cNvPr id="78" name="Ellipse 78"/>
              <p:cNvSpPr/>
              <p:nvPr/>
            </p:nvSpPr>
            <p:spPr>
              <a:xfrm>
                <a:off x="10410825" y="2828925"/>
                <a:ext cx="228600" cy="228600"/>
              </a:xfrm>
              <a:prstGeom prst="ellipse">
                <a:avLst/>
              </a:prstGeom>
              <a:solidFill>
                <a:srgbClr val="1482FA"/>
              </a:solidFill>
              <a:ln>
                <a:noFill/>
              </a:ln>
            </p:spPr>
          </p:sp>
          <p:sp>
            <p:nvSpPr>
              <p:cNvPr id="79" name="Ellipse 79"/>
              <p:cNvSpPr/>
              <p:nvPr/>
            </p:nvSpPr>
            <p:spPr>
              <a:xfrm>
                <a:off x="10172700" y="3552825"/>
                <a:ext cx="228600" cy="228600"/>
              </a:xfrm>
              <a:prstGeom prst="ellipse">
                <a:avLst/>
              </a:prstGeom>
              <a:solidFill>
                <a:srgbClr val="1482FA"/>
              </a:solidFill>
              <a:ln>
                <a:noFill/>
              </a:ln>
            </p:spPr>
          </p:sp>
          <p:sp>
            <p:nvSpPr>
              <p:cNvPr id="80" name="Ellipse 80"/>
              <p:cNvSpPr/>
              <p:nvPr/>
            </p:nvSpPr>
            <p:spPr>
              <a:xfrm>
                <a:off x="9410700" y="3552825"/>
                <a:ext cx="228600" cy="228600"/>
              </a:xfrm>
              <a:prstGeom prst="ellipse">
                <a:avLst/>
              </a:prstGeom>
              <a:solidFill>
                <a:srgbClr val="1482FA"/>
              </a:solidFill>
              <a:ln>
                <a:noFill/>
              </a:ln>
            </p:spPr>
          </p:sp>
          <p:sp>
            <p:nvSpPr>
              <p:cNvPr id="81" name="Ellipse 81"/>
              <p:cNvSpPr/>
              <p:nvPr/>
            </p:nvSpPr>
            <p:spPr>
              <a:xfrm>
                <a:off x="9172575" y="2828925"/>
                <a:ext cx="228600" cy="228600"/>
              </a:xfrm>
              <a:prstGeom prst="ellipse">
                <a:avLst/>
              </a:prstGeom>
              <a:solidFill>
                <a:srgbClr val="1482FA"/>
              </a:solidFill>
              <a:ln>
                <a:noFill/>
              </a:ln>
            </p:spPr>
          </p:sp>
          <p:sp>
            <p:nvSpPr>
              <p:cNvPr id="82" name="TextBox 82"/>
              <p:cNvSpPr txBox="1"/>
              <p:nvPr/>
            </p:nvSpPr>
            <p:spPr>
              <a:xfrm>
                <a:off x="9390355" y="3863816"/>
                <a:ext cx="1031291"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all pairs connected</a:t>
                </a:r>
              </a:p>
            </p:txBody>
          </p:sp>
        </p:grpSp>
        <p:sp>
          <p:nvSpPr>
            <p:cNvPr id="84" name="TextBox 84"/>
            <p:cNvSpPr txBox="1"/>
            <p:nvPr/>
          </p:nvSpPr>
          <p:spPr>
            <a:xfrm>
              <a:off x="8433816" y="4134802"/>
              <a:ext cx="2057815"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Relates any two positions in a</a:t>
              </a:r>
            </a:p>
          </p:txBody>
        </p:sp>
        <p:sp>
          <p:nvSpPr>
            <p:cNvPr id="85" name="TextBox 85"/>
            <p:cNvSpPr txBox="1"/>
            <p:nvPr/>
          </p:nvSpPr>
          <p:spPr>
            <a:xfrm>
              <a:off x="8433816" y="4325302"/>
              <a:ext cx="2272284"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constant number of operations —</a:t>
              </a:r>
            </a:p>
          </p:txBody>
        </p:sp>
        <p:sp>
          <p:nvSpPr>
            <p:cNvPr id="86" name="TextBox 86"/>
            <p:cNvSpPr txBox="1"/>
            <p:nvPr/>
          </p:nvSpPr>
          <p:spPr>
            <a:xfrm>
              <a:off x="8433816" y="4515802"/>
              <a:ext cx="2590324"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this mesh is what the paper leans on.</a:t>
              </a:r>
            </a:p>
          </p:txBody>
        </p:sp>
      </p:grpSp>
      <p:grpSp>
        <p:nvGrpSpPr>
          <p:cNvPr id="93" name="Group 93"/>
          <p:cNvGrpSpPr/>
          <p:nvPr/>
        </p:nvGrpSpPr>
        <p:grpSpPr>
          <a:xfrm>
            <a:off x="571500" y="5219700"/>
            <a:ext cx="11049000" cy="1066800"/>
            <a:chOff x="571500" y="5219700"/>
            <a:chExt cx="11049000" cy="1066800"/>
          </a:xfrm>
        </p:grpSpPr>
        <p:sp>
          <p:nvSpPr>
            <p:cNvPr id="88" name="Rectangle 88"/>
            <p:cNvSpPr/>
            <p:nvPr/>
          </p:nvSpPr>
          <p:spPr>
            <a:xfrm>
              <a:off x="571500" y="5219700"/>
              <a:ext cx="11049000" cy="1066800"/>
            </a:xfrm>
            <a:prstGeom prst="roundRect">
              <a:avLst>
                <a:gd name="adj" fmla="val 10714"/>
              </a:avLst>
            </a:prstGeom>
            <a:solidFill>
              <a:srgbClr val="F5F7FA"/>
            </a:solidFill>
            <a:ln w="9525">
              <a:solidFill>
                <a:srgbClr val="E0E0E0"/>
              </a:solidFill>
            </a:ln>
          </p:spPr>
        </p:sp>
        <p:sp>
          <p:nvSpPr>
            <p:cNvPr id="89" name="Rectangle 89"/>
            <p:cNvSpPr/>
            <p:nvPr/>
          </p:nvSpPr>
          <p:spPr>
            <a:xfrm>
              <a:off x="571500" y="5219700"/>
              <a:ext cx="47625" cy="1066800"/>
            </a:xfrm>
            <a:prstGeom prst="roundRect">
              <a:avLst>
                <a:gd name="adj" fmla="val 50000"/>
              </a:avLst>
            </a:prstGeom>
            <a:gradFill>
              <a:gsLst>
                <a:gs pos="0">
                  <a:srgbClr val="0B41CD"/>
                </a:gs>
                <a:gs pos="100000">
                  <a:srgbClr val="1482FA"/>
                </a:gs>
              </a:gsLst>
              <a:lin ang="5400000" scaled="1"/>
            </a:gradFill>
            <a:ln>
              <a:noFill/>
            </a:ln>
          </p:spPr>
        </p:sp>
        <p:sp>
          <p:nvSpPr>
            <p:cNvPr id="90" name="TextBox 90"/>
            <p:cNvSpPr txBox="1"/>
            <p:nvPr/>
          </p:nvSpPr>
          <p:spPr>
            <a:xfrm>
              <a:off x="947547" y="5457349"/>
              <a:ext cx="1714652"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THE MOVE IN ONE LINE</a:t>
              </a:r>
            </a:p>
          </p:txBody>
        </p:sp>
        <p:sp>
          <p:nvSpPr>
            <p:cNvPr id="91" name="TextBox 91"/>
            <p:cNvSpPr txBox="1"/>
            <p:nvPr/>
          </p:nvSpPr>
          <p:spPr>
            <a:xfrm>
              <a:off x="944499" y="5697379"/>
              <a:ext cx="9734048" cy="308039"/>
            </a:xfrm>
            <a:prstGeom prst="rect">
              <a:avLst/>
            </a:prstGeom>
            <a:noFill/>
            <a:ln>
              <a:noFill/>
            </a:ln>
          </p:spPr>
          <p:txBody>
            <a:bodyPr wrap="none" lIns="0" tIns="0" rIns="0" bIns="0" anchor="t" anchorCtr="0">
              <a:spAutoFit/>
            </a:bodyPr>
            <a:lstStyle/>
            <a:p>
              <a:pPr algn="l"/>
              <a:r>
                <a:rPr lang="en-US" sz="1580" dirty="0">
                  <a:solidFill>
                    <a:srgbClr val="0B41CD"/>
                  </a:solidFill>
                  <a:latin typeface="Roche Sans Light"/>
                  <a:ea typeface="Roche Sans Light"/>
                  <a:cs typeface="Roche Sans Light"/>
                </a:rPr>
                <a:t xml:space="preserve">From a </a:t>
              </a:r>
              <a:r>
                <a:rPr lang="en-US" sz="1580" dirty="0">
                  <a:solidFill>
                    <a:srgbClr val="0B41CD"/>
                  </a:solidFill>
                  <a:latin typeface="Roche Sans Medium"/>
                  <a:ea typeface="Roche Sans Medium"/>
                  <a:cs typeface="Roche Sans Medium"/>
                </a:rPr>
                <a:t>chain</a:t>
              </a:r>
              <a:r>
                <a:rPr lang="en-US" sz="1580" dirty="0">
                  <a:solidFill>
                    <a:srgbClr val="0B41CD"/>
                  </a:solidFill>
                  <a:latin typeface="Roche Sans Light"/>
                  <a:ea typeface="Roche Sans Light"/>
                  <a:cs typeface="Roche Sans Light"/>
                </a:rPr>
                <a:t xml:space="preserve"> to a </a:t>
              </a:r>
              <a:r>
                <a:rPr lang="en-US" sz="1580" dirty="0">
                  <a:solidFill>
                    <a:srgbClr val="0F5EE1"/>
                  </a:solidFill>
                  <a:latin typeface="Roche Sans Medium"/>
                  <a:ea typeface="Roche Sans Medium"/>
                  <a:cs typeface="Roche Sans Medium"/>
                </a:rPr>
                <a:t>local field</a:t>
              </a:r>
              <a:r>
                <a:rPr lang="en-US" sz="1580" dirty="0">
                  <a:solidFill>
                    <a:srgbClr val="0B41CD"/>
                  </a:solidFill>
                  <a:latin typeface="Roche Sans Light"/>
                  <a:ea typeface="Roche Sans Light"/>
                  <a:cs typeface="Roche Sans Light"/>
                </a:rPr>
                <a:t xml:space="preserve"> to a </a:t>
              </a:r>
              <a:r>
                <a:rPr lang="en-US" sz="1580" dirty="0">
                  <a:solidFill>
                    <a:srgbClr val="1482FA"/>
                  </a:solidFill>
                  <a:latin typeface="Roche Sans Medium"/>
                  <a:ea typeface="Roche Sans Medium"/>
                  <a:cs typeface="Roche Sans Medium"/>
                </a:rPr>
                <a:t>fully-connected mesh</a:t>
              </a:r>
              <a:r>
                <a:rPr lang="en-US" sz="1580" dirty="0">
                  <a:solidFill>
                    <a:srgbClr val="0B41CD"/>
                  </a:solidFill>
                  <a:latin typeface="Roche Sans Light"/>
                  <a:ea typeface="Roche Sans Light"/>
                  <a:cs typeface="Roche Sans Light"/>
                </a:rPr>
                <a:t xml:space="preserve"> — attention makes distance irrelevant.</a:t>
              </a:r>
            </a:p>
          </p:txBody>
        </p:sp>
        <p:sp>
          <p:nvSpPr>
            <p:cNvPr id="92" name="TextBox 92"/>
            <p:cNvSpPr txBox="1"/>
            <p:nvPr/>
          </p:nvSpPr>
          <p:spPr>
            <a:xfrm>
              <a:off x="947166" y="6001702"/>
              <a:ext cx="5292687"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The Transformer drops recurrence and convolution and keeps only the mesh.</a:t>
              </a:r>
            </a:p>
          </p:txBody>
        </p:sp>
      </p:grpSp>
      <p:grpSp>
        <p:nvGrpSpPr>
          <p:cNvPr id="96" name="Group 96"/>
          <p:cNvGrpSpPr/>
          <p:nvPr/>
        </p:nvGrpSpPr>
        <p:grpSpPr>
          <a:xfrm>
            <a:off x="566738" y="6521291"/>
            <a:ext cx="11058525" cy="161925"/>
            <a:chOff x="566738" y="6521291"/>
            <a:chExt cx="11058525" cy="161925"/>
          </a:xfrm>
        </p:grpSpPr>
        <p:sp>
          <p:nvSpPr>
            <p:cNvPr id="94" name="TextBox 94"/>
            <p:cNvSpPr txBox="1"/>
            <p:nvPr/>
          </p:nvSpPr>
          <p:spPr>
            <a:xfrm>
              <a:off x="566738" y="6521291"/>
              <a:ext cx="4948116"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§1–2 (Introduction · Background) — redrawn as native vector</a:t>
              </a:r>
            </a:p>
          </p:txBody>
        </p:sp>
        <p:sp>
          <p:nvSpPr>
            <p:cNvPr id="95" name="TextBox 9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400"/>
                                        <p:tgtEl>
                                          <p:spTgt spid="2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slide(fromBottom)">
                                      <p:cBhvr>
                                        <p:cTn id="11" dur="400"/>
                                        <p:tgtEl>
                                          <p:spTgt spid="6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image">
                                      <p:cBhvr>
                                        <p:cTn id="15" dur="400"/>
                                        <p:tgtEl>
                                          <p:spTgt spid="8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fade">
                                      <p:cBhvr>
                                        <p:cTn id="19" dur="4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7055859" cy="656939"/>
            <a:chOff x="571500" y="533400"/>
            <a:chExt cx="7055859"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6840213"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What hurts in RNN / CNN sequence models</a:t>
              </a:r>
            </a:p>
          </p:txBody>
        </p:sp>
        <p:sp>
          <p:nvSpPr>
            <p:cNvPr id="5" name="TextBox 5"/>
            <p:cNvSpPr txBox="1"/>
            <p:nvPr/>
          </p:nvSpPr>
          <p:spPr>
            <a:xfrm>
              <a:off x="795147" y="999649"/>
              <a:ext cx="4307510"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THE FUNDAMENTAL CONSTRAINT WE WANT TO LIFT · §1–2</a:t>
              </a:r>
            </a:p>
          </p:txBody>
        </p:sp>
      </p:grpSp>
      <p:grpSp>
        <p:nvGrpSpPr>
          <p:cNvPr id="24" name="Group 24"/>
          <p:cNvGrpSpPr/>
          <p:nvPr/>
        </p:nvGrpSpPr>
        <p:grpSpPr>
          <a:xfrm>
            <a:off x="571500" y="1524000"/>
            <a:ext cx="2286000" cy="4191000"/>
            <a:chOff x="571500" y="1524000"/>
            <a:chExt cx="2286000" cy="4191000"/>
          </a:xfrm>
        </p:grpSpPr>
        <p:sp>
          <p:nvSpPr>
            <p:cNvPr id="7" name="Rectangle 7"/>
            <p:cNvSpPr/>
            <p:nvPr/>
          </p:nvSpPr>
          <p:spPr>
            <a:xfrm>
              <a:off x="571500" y="1524000"/>
              <a:ext cx="2286000" cy="4191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8" name="Rectangle 8"/>
            <p:cNvSpPr/>
            <p:nvPr/>
          </p:nvSpPr>
          <p:spPr>
            <a:xfrm>
              <a:off x="571500" y="1524000"/>
              <a:ext cx="2286000" cy="57150"/>
            </a:xfrm>
            <a:prstGeom prst="roundRect">
              <a:avLst>
                <a:gd name="adj" fmla="val 50000"/>
              </a:avLst>
            </a:prstGeom>
            <a:solidFill>
              <a:srgbClr val="0B41CD"/>
            </a:solidFill>
            <a:ln>
              <a:noFill/>
            </a:ln>
          </p:spPr>
        </p:sp>
        <p:grpSp>
          <p:nvGrpSpPr>
            <p:cNvPr id="13" name="Group 13"/>
            <p:cNvGrpSpPr/>
            <p:nvPr/>
          </p:nvGrpSpPr>
          <p:grpSpPr>
            <a:xfrm>
              <a:off x="891540" y="1912620"/>
              <a:ext cx="182880" cy="274320"/>
              <a:chOff x="891540" y="1912620"/>
              <a:chExt cx="182880" cy="274320"/>
            </a:xfrm>
          </p:grpSpPr>
          <p:sp>
            <p:nvSpPr>
              <p:cNvPr id="9" name="Freeform 9"/>
              <p:cNvSpPr/>
              <p:nvPr/>
            </p:nvSpPr>
            <p:spPr>
              <a:xfrm>
                <a:off x="899160" y="1973580"/>
                <a:ext cx="167640" cy="9525"/>
              </a:xfrm>
              <a:custGeom>
                <a:avLst/>
                <a:gdLst/>
                <a:ahLst/>
                <a:cxnLst/>
                <a:rect l="l" t="t" r="r" b="b"/>
                <a:pathLst>
                  <a:path w="167640" h="9525">
                    <a:moveTo>
                      <a:pt x="0" y="0"/>
                    </a:moveTo>
                    <a:lnTo>
                      <a:pt x="167640" y="0"/>
                    </a:lnTo>
                  </a:path>
                </a:pathLst>
              </a:custGeom>
              <a:noFill/>
              <a:ln w="30480">
                <a:solidFill>
                  <a:srgbClr val="0B41CD"/>
                </a:solidFill>
              </a:ln>
            </p:spPr>
          </p:sp>
          <p:sp>
            <p:nvSpPr>
              <p:cNvPr id="10" name="Freeform 10"/>
              <p:cNvSpPr/>
              <p:nvPr/>
            </p:nvSpPr>
            <p:spPr>
              <a:xfrm>
                <a:off x="899160" y="2125980"/>
                <a:ext cx="167640" cy="9525"/>
              </a:xfrm>
              <a:custGeom>
                <a:avLst/>
                <a:gdLst/>
                <a:ahLst/>
                <a:cxnLst/>
                <a:rect l="l" t="t" r="r" b="b"/>
                <a:pathLst>
                  <a:path w="167640" h="9525">
                    <a:moveTo>
                      <a:pt x="0" y="0"/>
                    </a:moveTo>
                    <a:lnTo>
                      <a:pt x="167640" y="0"/>
                    </a:lnTo>
                  </a:path>
                </a:pathLst>
              </a:custGeom>
              <a:noFill/>
              <a:ln w="30480">
                <a:solidFill>
                  <a:srgbClr val="0B41CD"/>
                </a:solidFill>
              </a:ln>
            </p:spPr>
          </p:sp>
          <p:sp>
            <p:nvSpPr>
              <p:cNvPr id="11" name="Freeform 11"/>
              <p:cNvSpPr/>
              <p:nvPr/>
            </p:nvSpPr>
            <p:spPr>
              <a:xfrm>
                <a:off x="891540" y="2049780"/>
                <a:ext cx="182880" cy="137160"/>
              </a:xfrm>
              <a:custGeom>
                <a:avLst/>
                <a:gdLst/>
                <a:ahLst/>
                <a:cxnLst/>
                <a:rect l="l" t="t" r="r" b="b"/>
                <a:pathLst>
                  <a:path w="182880" h="137160">
                    <a:moveTo>
                      <a:pt x="0" y="121920"/>
                    </a:moveTo>
                    <a:lnTo>
                      <a:pt x="0" y="91440"/>
                    </a:lnTo>
                    <a:cubicBezTo>
                      <a:pt x="0" y="40939"/>
                      <a:pt x="40939" y="0"/>
                      <a:pt x="91440" y="0"/>
                    </a:cubicBezTo>
                    <a:cubicBezTo>
                      <a:pt x="141941" y="0"/>
                      <a:pt x="182880" y="40939"/>
                      <a:pt x="182880" y="91440"/>
                    </a:cubicBezTo>
                    <a:lnTo>
                      <a:pt x="182880" y="121920"/>
                    </a:lnTo>
                    <a:cubicBezTo>
                      <a:pt x="182880" y="130337"/>
                      <a:pt x="176057" y="137160"/>
                      <a:pt x="167640" y="137160"/>
                    </a:cubicBezTo>
                    <a:lnTo>
                      <a:pt x="15240" y="137160"/>
                    </a:lnTo>
                    <a:cubicBezTo>
                      <a:pt x="6823" y="137160"/>
                      <a:pt x="0" y="130337"/>
                      <a:pt x="0" y="121920"/>
                    </a:cubicBezTo>
                    <a:close/>
                  </a:path>
                </a:pathLst>
              </a:custGeom>
              <a:noFill/>
              <a:ln w="30480">
                <a:solidFill>
                  <a:srgbClr val="0B41CD"/>
                </a:solidFill>
              </a:ln>
            </p:spPr>
          </p:sp>
          <p:sp>
            <p:nvSpPr>
              <p:cNvPr id="12" name="Freeform 12"/>
              <p:cNvSpPr/>
              <p:nvPr/>
            </p:nvSpPr>
            <p:spPr>
              <a:xfrm>
                <a:off x="891540" y="1912620"/>
                <a:ext cx="182880" cy="137160"/>
              </a:xfrm>
              <a:custGeom>
                <a:avLst/>
                <a:gdLst/>
                <a:ahLst/>
                <a:cxnLst/>
                <a:rect l="l" t="t" r="r" b="b"/>
                <a:pathLst>
                  <a:path w="182880" h="137160">
                    <a:moveTo>
                      <a:pt x="0" y="15240"/>
                    </a:moveTo>
                    <a:lnTo>
                      <a:pt x="0" y="45720"/>
                    </a:lnTo>
                    <a:cubicBezTo>
                      <a:pt x="0" y="96221"/>
                      <a:pt x="40939" y="137160"/>
                      <a:pt x="91440" y="137160"/>
                    </a:cubicBezTo>
                    <a:cubicBezTo>
                      <a:pt x="141941" y="137160"/>
                      <a:pt x="182880" y="96221"/>
                      <a:pt x="182880" y="45720"/>
                    </a:cubicBezTo>
                    <a:lnTo>
                      <a:pt x="182880" y="15240"/>
                    </a:lnTo>
                    <a:cubicBezTo>
                      <a:pt x="182880" y="6823"/>
                      <a:pt x="176057" y="0"/>
                      <a:pt x="167640" y="0"/>
                    </a:cubicBezTo>
                    <a:lnTo>
                      <a:pt x="15240" y="0"/>
                    </a:lnTo>
                    <a:cubicBezTo>
                      <a:pt x="6823" y="0"/>
                      <a:pt x="0" y="6823"/>
                      <a:pt x="0" y="15240"/>
                    </a:cubicBezTo>
                    <a:close/>
                  </a:path>
                </a:pathLst>
              </a:custGeom>
              <a:noFill/>
              <a:ln w="30480">
                <a:solidFill>
                  <a:srgbClr val="0B41CD"/>
                </a:solidFill>
              </a:ln>
            </p:spPr>
          </p:sp>
        </p:grpSp>
        <p:sp>
          <p:nvSpPr>
            <p:cNvPr id="14" name="TextBox 14"/>
            <p:cNvSpPr txBox="1"/>
            <p:nvPr/>
          </p:nvSpPr>
          <p:spPr>
            <a:xfrm>
              <a:off x="795338" y="2646045"/>
              <a:ext cx="1014451" cy="176212"/>
            </a:xfrm>
            <a:prstGeom prst="rect">
              <a:avLst/>
            </a:prstGeom>
            <a:noFill/>
            <a:ln>
              <a:noFill/>
            </a:ln>
          </p:spPr>
          <p:txBody>
            <a:bodyPr wrap="none" lIns="0" tIns="0" rIns="0" bIns="0" anchor="t" anchorCtr="0">
              <a:spAutoFit/>
            </a:bodyPr>
            <a:lstStyle/>
            <a:p>
              <a:pPr algn="l"/>
              <a:r>
                <a:rPr lang="en-US" sz="900" spc="75" dirty="0">
                  <a:solidFill>
                    <a:srgbClr val="1482FA"/>
                  </a:solidFill>
                  <a:latin typeface="Roche Sans Medium"/>
                  <a:ea typeface="Roche Sans Medium"/>
                  <a:cs typeface="Roche Sans Medium"/>
                </a:rPr>
                <a:t>CONSTRAINT 01</a:t>
              </a:r>
            </a:p>
          </p:txBody>
        </p:sp>
        <p:sp>
          <p:nvSpPr>
            <p:cNvPr id="15" name="TextBox 15"/>
            <p:cNvSpPr txBox="1"/>
            <p:nvPr/>
          </p:nvSpPr>
          <p:spPr>
            <a:xfrm>
              <a:off x="791718" y="2831782"/>
              <a:ext cx="1133666"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Sequential</a:t>
              </a:r>
            </a:p>
          </p:txBody>
        </p:sp>
        <p:sp>
          <p:nvSpPr>
            <p:cNvPr id="16" name="TextBox 16"/>
            <p:cNvSpPr txBox="1"/>
            <p:nvPr/>
          </p:nvSpPr>
          <p:spPr>
            <a:xfrm>
              <a:off x="791718" y="3079432"/>
              <a:ext cx="1182910"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bottleneck</a:t>
              </a:r>
            </a:p>
          </p:txBody>
        </p:sp>
        <p:sp>
          <p:nvSpPr>
            <p:cNvPr id="17" name="Rectangle 17"/>
            <p:cNvSpPr/>
            <p:nvPr/>
          </p:nvSpPr>
          <p:spPr>
            <a:xfrm>
              <a:off x="800100" y="3448050"/>
              <a:ext cx="381000" cy="28575"/>
            </a:xfrm>
            <a:prstGeom prst="roundRect">
              <a:avLst>
                <a:gd name="adj" fmla="val 50000"/>
              </a:avLst>
            </a:prstGeom>
            <a:solidFill>
              <a:srgbClr val="1482FA"/>
            </a:solidFill>
            <a:ln>
              <a:noFill/>
            </a:ln>
          </p:spPr>
        </p:sp>
        <p:sp>
          <p:nvSpPr>
            <p:cNvPr id="18" name="TextBox 18"/>
            <p:cNvSpPr txBox="1"/>
            <p:nvPr/>
          </p:nvSpPr>
          <p:spPr>
            <a:xfrm>
              <a:off x="794576" y="3692604"/>
              <a:ext cx="1721681"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 xml:space="preserve">Hidden state </a:t>
              </a:r>
              <a:r>
                <a:rPr lang="en-US" sz="1090" dirty="0">
                  <a:solidFill>
                    <a:srgbClr val="0B41CD"/>
                  </a:solidFill>
                  <a:latin typeface="Consolas"/>
                  <a:ea typeface="Consolas"/>
                  <a:cs typeface="Consolas"/>
                </a:rPr>
                <a:t>hₜ</a:t>
              </a:r>
              <a:r>
                <a:rPr lang="en-US" sz="1090" dirty="0">
                  <a:solidFill>
                    <a:srgbClr val="333333"/>
                  </a:solidFill>
                  <a:latin typeface="Roche Sans"/>
                  <a:ea typeface="Roche Sans"/>
                  <a:cs typeface="Roche Sans"/>
                </a:rPr>
                <a:t xml:space="preserve"> depends</a:t>
              </a:r>
            </a:p>
          </p:txBody>
        </p:sp>
        <p:sp>
          <p:nvSpPr>
            <p:cNvPr id="19" name="TextBox 19"/>
            <p:cNvSpPr txBox="1"/>
            <p:nvPr/>
          </p:nvSpPr>
          <p:spPr>
            <a:xfrm>
              <a:off x="794576" y="3902154"/>
              <a:ext cx="1687320"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 xml:space="preserve">on </a:t>
              </a:r>
              <a:r>
                <a:rPr lang="en-US" sz="1090" dirty="0">
                  <a:solidFill>
                    <a:srgbClr val="0B41CD"/>
                  </a:solidFill>
                  <a:latin typeface="Consolas"/>
                  <a:ea typeface="Consolas"/>
                  <a:cs typeface="Consolas"/>
                </a:rPr>
                <a:t>hₜ₋₁</a:t>
              </a:r>
              <a:r>
                <a:rPr lang="en-US" sz="1090" dirty="0">
                  <a:solidFill>
                    <a:srgbClr val="333333"/>
                  </a:solidFill>
                  <a:latin typeface="Roche Sans"/>
                  <a:ea typeface="Roche Sans"/>
                  <a:cs typeface="Roche Sans"/>
                </a:rPr>
                <a:t xml:space="preserve"> — so there is no</a:t>
              </a:r>
            </a:p>
          </p:txBody>
        </p:sp>
        <p:sp>
          <p:nvSpPr>
            <p:cNvPr id="20" name="TextBox 20"/>
            <p:cNvSpPr txBox="1"/>
            <p:nvPr/>
          </p:nvSpPr>
          <p:spPr>
            <a:xfrm>
              <a:off x="794576" y="4111704"/>
              <a:ext cx="1841040"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parallelism within a single</a:t>
              </a:r>
            </a:p>
          </p:txBody>
        </p:sp>
        <p:sp>
          <p:nvSpPr>
            <p:cNvPr id="21" name="TextBox 21"/>
            <p:cNvSpPr txBox="1"/>
            <p:nvPr/>
          </p:nvSpPr>
          <p:spPr>
            <a:xfrm>
              <a:off x="794576" y="4321254"/>
              <a:ext cx="1262763"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training example.</a:t>
              </a:r>
            </a:p>
          </p:txBody>
        </p:sp>
        <p:sp>
          <p:nvSpPr>
            <p:cNvPr id="22" name="TextBox 22"/>
            <p:cNvSpPr txBox="1"/>
            <p:nvPr/>
          </p:nvSpPr>
          <p:spPr>
            <a:xfrm>
              <a:off x="794766" y="5201602"/>
              <a:ext cx="1589977"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Time cost scales with</a:t>
              </a:r>
            </a:p>
          </p:txBody>
        </p:sp>
        <p:sp>
          <p:nvSpPr>
            <p:cNvPr id="23" name="TextBox 23"/>
            <p:cNvSpPr txBox="1"/>
            <p:nvPr/>
          </p:nvSpPr>
          <p:spPr>
            <a:xfrm>
              <a:off x="794766" y="5392102"/>
              <a:ext cx="1250290"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sequence length.</a:t>
              </a:r>
            </a:p>
          </p:txBody>
        </p:sp>
      </p:grpSp>
      <p:grpSp>
        <p:nvGrpSpPr>
          <p:cNvPr id="41" name="Group 41"/>
          <p:cNvGrpSpPr/>
          <p:nvPr/>
        </p:nvGrpSpPr>
        <p:grpSpPr>
          <a:xfrm>
            <a:off x="3048000" y="1524000"/>
            <a:ext cx="2286000" cy="4191000"/>
            <a:chOff x="3048000" y="1524000"/>
            <a:chExt cx="2286000" cy="4191000"/>
          </a:xfrm>
        </p:grpSpPr>
        <p:sp>
          <p:nvSpPr>
            <p:cNvPr id="25" name="Rectangle 25"/>
            <p:cNvSpPr/>
            <p:nvPr/>
          </p:nvSpPr>
          <p:spPr>
            <a:xfrm>
              <a:off x="3048000" y="1524000"/>
              <a:ext cx="2286000" cy="4191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26" name="Rectangle 26"/>
            <p:cNvSpPr/>
            <p:nvPr/>
          </p:nvSpPr>
          <p:spPr>
            <a:xfrm>
              <a:off x="3048000" y="1524000"/>
              <a:ext cx="2286000" cy="57150"/>
            </a:xfrm>
            <a:prstGeom prst="roundRect">
              <a:avLst>
                <a:gd name="adj" fmla="val 50000"/>
              </a:avLst>
            </a:prstGeom>
            <a:solidFill>
              <a:srgbClr val="0F5EE1"/>
            </a:solidFill>
            <a:ln>
              <a:noFill/>
            </a:ln>
          </p:spPr>
        </p:sp>
        <p:grpSp>
          <p:nvGrpSpPr>
            <p:cNvPr id="30" name="Group 30"/>
            <p:cNvGrpSpPr/>
            <p:nvPr/>
          </p:nvGrpSpPr>
          <p:grpSpPr>
            <a:xfrm>
              <a:off x="3322320" y="1988820"/>
              <a:ext cx="274320" cy="121920"/>
              <a:chOff x="3322320" y="1988820"/>
              <a:chExt cx="274320" cy="121920"/>
            </a:xfrm>
          </p:grpSpPr>
          <p:sp>
            <p:nvSpPr>
              <p:cNvPr id="27" name="Freeform 27"/>
              <p:cNvSpPr/>
              <p:nvPr/>
            </p:nvSpPr>
            <p:spPr>
              <a:xfrm>
                <a:off x="3322320" y="2049780"/>
                <a:ext cx="274320" cy="9525"/>
              </a:xfrm>
              <a:custGeom>
                <a:avLst/>
                <a:gdLst/>
                <a:ahLst/>
                <a:cxnLst/>
                <a:rect l="l" t="t" r="r" b="b"/>
                <a:pathLst>
                  <a:path w="274320" h="9525">
                    <a:moveTo>
                      <a:pt x="0" y="0"/>
                    </a:moveTo>
                    <a:lnTo>
                      <a:pt x="274320" y="0"/>
                    </a:lnTo>
                  </a:path>
                </a:pathLst>
              </a:custGeom>
              <a:noFill/>
              <a:ln w="30480">
                <a:solidFill>
                  <a:srgbClr val="0F5EE1"/>
                </a:solidFill>
              </a:ln>
            </p:spPr>
          </p:sp>
          <p:sp>
            <p:nvSpPr>
              <p:cNvPr id="28" name="Freeform 28"/>
              <p:cNvSpPr/>
              <p:nvPr/>
            </p:nvSpPr>
            <p:spPr>
              <a:xfrm>
                <a:off x="3322320" y="1988820"/>
                <a:ext cx="60960" cy="121920"/>
              </a:xfrm>
              <a:custGeom>
                <a:avLst/>
                <a:gdLst/>
                <a:ahLst/>
                <a:cxnLst/>
                <a:rect l="l" t="t" r="r" b="b"/>
                <a:pathLst>
                  <a:path w="60960" h="121920">
                    <a:moveTo>
                      <a:pt x="60960" y="0"/>
                    </a:moveTo>
                    <a:lnTo>
                      <a:pt x="0" y="60960"/>
                    </a:lnTo>
                    <a:lnTo>
                      <a:pt x="60960" y="121920"/>
                    </a:lnTo>
                  </a:path>
                </a:pathLst>
              </a:custGeom>
              <a:noFill/>
              <a:ln w="30480">
                <a:solidFill>
                  <a:srgbClr val="0F5EE1"/>
                </a:solidFill>
              </a:ln>
            </p:spPr>
          </p:sp>
          <p:sp>
            <p:nvSpPr>
              <p:cNvPr id="29" name="Freeform 29"/>
              <p:cNvSpPr/>
              <p:nvPr/>
            </p:nvSpPr>
            <p:spPr>
              <a:xfrm>
                <a:off x="3535680" y="1988820"/>
                <a:ext cx="60960" cy="121920"/>
              </a:xfrm>
              <a:custGeom>
                <a:avLst/>
                <a:gdLst/>
                <a:ahLst/>
                <a:cxnLst/>
                <a:rect l="l" t="t" r="r" b="b"/>
                <a:pathLst>
                  <a:path w="60960" h="121920">
                    <a:moveTo>
                      <a:pt x="0" y="0"/>
                    </a:moveTo>
                    <a:lnTo>
                      <a:pt x="60960" y="60960"/>
                    </a:lnTo>
                    <a:lnTo>
                      <a:pt x="0" y="121920"/>
                    </a:lnTo>
                  </a:path>
                </a:pathLst>
              </a:custGeom>
              <a:noFill/>
              <a:ln w="30480">
                <a:solidFill>
                  <a:srgbClr val="0F5EE1"/>
                </a:solidFill>
              </a:ln>
            </p:spPr>
          </p:sp>
        </p:grpSp>
        <p:sp>
          <p:nvSpPr>
            <p:cNvPr id="31" name="TextBox 31"/>
            <p:cNvSpPr txBox="1"/>
            <p:nvPr/>
          </p:nvSpPr>
          <p:spPr>
            <a:xfrm>
              <a:off x="3271838" y="2646045"/>
              <a:ext cx="1014451" cy="176212"/>
            </a:xfrm>
            <a:prstGeom prst="rect">
              <a:avLst/>
            </a:prstGeom>
            <a:noFill/>
            <a:ln>
              <a:noFill/>
            </a:ln>
          </p:spPr>
          <p:txBody>
            <a:bodyPr wrap="none" lIns="0" tIns="0" rIns="0" bIns="0" anchor="t" anchorCtr="0">
              <a:spAutoFit/>
            </a:bodyPr>
            <a:lstStyle/>
            <a:p>
              <a:pPr algn="l"/>
              <a:r>
                <a:rPr lang="en-US" sz="900" spc="75" dirty="0">
                  <a:solidFill>
                    <a:srgbClr val="1482FA"/>
                  </a:solidFill>
                  <a:latin typeface="Roche Sans Medium"/>
                  <a:ea typeface="Roche Sans Medium"/>
                  <a:cs typeface="Roche Sans Medium"/>
                </a:rPr>
                <a:t>CONSTRAINT 02</a:t>
              </a:r>
            </a:p>
          </p:txBody>
        </p:sp>
        <p:sp>
          <p:nvSpPr>
            <p:cNvPr id="32" name="TextBox 32"/>
            <p:cNvSpPr txBox="1"/>
            <p:nvPr/>
          </p:nvSpPr>
          <p:spPr>
            <a:xfrm>
              <a:off x="3268218" y="2831782"/>
              <a:ext cx="1246124"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Long-range</a:t>
              </a:r>
            </a:p>
          </p:txBody>
        </p:sp>
        <p:sp>
          <p:nvSpPr>
            <p:cNvPr id="33" name="TextBox 33"/>
            <p:cNvSpPr txBox="1"/>
            <p:nvPr/>
          </p:nvSpPr>
          <p:spPr>
            <a:xfrm>
              <a:off x="3268218" y="3079432"/>
              <a:ext cx="1249547"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path length</a:t>
              </a:r>
            </a:p>
          </p:txBody>
        </p:sp>
        <p:sp>
          <p:nvSpPr>
            <p:cNvPr id="34" name="Rectangle 34"/>
            <p:cNvSpPr/>
            <p:nvPr/>
          </p:nvSpPr>
          <p:spPr>
            <a:xfrm>
              <a:off x="3276600" y="3448050"/>
              <a:ext cx="381000" cy="28575"/>
            </a:xfrm>
            <a:prstGeom prst="roundRect">
              <a:avLst>
                <a:gd name="adj" fmla="val 50000"/>
              </a:avLst>
            </a:prstGeom>
            <a:solidFill>
              <a:srgbClr val="1482FA"/>
            </a:solidFill>
            <a:ln>
              <a:noFill/>
            </a:ln>
          </p:spPr>
        </p:sp>
        <p:sp>
          <p:nvSpPr>
            <p:cNvPr id="35" name="TextBox 35"/>
            <p:cNvSpPr txBox="1"/>
            <p:nvPr/>
          </p:nvSpPr>
          <p:spPr>
            <a:xfrm>
              <a:off x="3271076" y="3692604"/>
              <a:ext cx="1717912"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ConvS2S grows the path</a:t>
              </a:r>
            </a:p>
          </p:txBody>
        </p:sp>
        <p:sp>
          <p:nvSpPr>
            <p:cNvPr id="36" name="TextBox 36"/>
            <p:cNvSpPr txBox="1"/>
            <p:nvPr/>
          </p:nvSpPr>
          <p:spPr>
            <a:xfrm>
              <a:off x="3271076" y="3902154"/>
              <a:ext cx="1701960"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between distant tokens</a:t>
              </a:r>
            </a:p>
          </p:txBody>
        </p:sp>
        <p:sp>
          <p:nvSpPr>
            <p:cNvPr id="37" name="TextBox 37"/>
            <p:cNvSpPr txBox="1"/>
            <p:nvPr/>
          </p:nvSpPr>
          <p:spPr>
            <a:xfrm>
              <a:off x="3271076" y="4111704"/>
              <a:ext cx="1242709"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linearly, ByteNet</a:t>
              </a:r>
            </a:p>
          </p:txBody>
        </p:sp>
        <p:sp>
          <p:nvSpPr>
            <p:cNvPr id="38" name="TextBox 38"/>
            <p:cNvSpPr txBox="1"/>
            <p:nvPr/>
          </p:nvSpPr>
          <p:spPr>
            <a:xfrm>
              <a:off x="3271076" y="4321254"/>
              <a:ext cx="1145643"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logarithmically.</a:t>
              </a:r>
            </a:p>
          </p:txBody>
        </p:sp>
        <p:sp>
          <p:nvSpPr>
            <p:cNvPr id="39" name="TextBox 39"/>
            <p:cNvSpPr txBox="1"/>
            <p:nvPr/>
          </p:nvSpPr>
          <p:spPr>
            <a:xfrm>
              <a:off x="3271266" y="5201602"/>
              <a:ext cx="1761714"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Far-apart dependencies</a:t>
              </a:r>
            </a:p>
          </p:txBody>
        </p:sp>
        <p:sp>
          <p:nvSpPr>
            <p:cNvPr id="40" name="TextBox 40"/>
            <p:cNvSpPr txBox="1"/>
            <p:nvPr/>
          </p:nvSpPr>
          <p:spPr>
            <a:xfrm>
              <a:off x="3271266" y="5392102"/>
              <a:ext cx="1422044"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stay hard to learn.</a:t>
              </a:r>
            </a:p>
          </p:txBody>
        </p:sp>
      </p:grpSp>
      <p:grpSp>
        <p:nvGrpSpPr>
          <p:cNvPr id="58" name="Group 58"/>
          <p:cNvGrpSpPr/>
          <p:nvPr/>
        </p:nvGrpSpPr>
        <p:grpSpPr>
          <a:xfrm>
            <a:off x="5524500" y="1524000"/>
            <a:ext cx="2286000" cy="4191000"/>
            <a:chOff x="5524500" y="1524000"/>
            <a:chExt cx="2286000" cy="4191000"/>
          </a:xfrm>
        </p:grpSpPr>
        <p:sp>
          <p:nvSpPr>
            <p:cNvPr id="42" name="Rectangle 42"/>
            <p:cNvSpPr/>
            <p:nvPr/>
          </p:nvSpPr>
          <p:spPr>
            <a:xfrm>
              <a:off x="5524500" y="1524000"/>
              <a:ext cx="2286000" cy="4191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43" name="Rectangle 43"/>
            <p:cNvSpPr/>
            <p:nvPr/>
          </p:nvSpPr>
          <p:spPr>
            <a:xfrm>
              <a:off x="5524500" y="1524000"/>
              <a:ext cx="2286000" cy="57150"/>
            </a:xfrm>
            <a:prstGeom prst="roundRect">
              <a:avLst>
                <a:gd name="adj" fmla="val 50000"/>
              </a:avLst>
            </a:prstGeom>
            <a:solidFill>
              <a:srgbClr val="1482FA"/>
            </a:solidFill>
            <a:ln>
              <a:noFill/>
            </a:ln>
          </p:spPr>
        </p:sp>
        <p:grpSp>
          <p:nvGrpSpPr>
            <p:cNvPr id="47" name="Group 47"/>
            <p:cNvGrpSpPr/>
            <p:nvPr/>
          </p:nvGrpSpPr>
          <p:grpSpPr>
            <a:xfrm>
              <a:off x="5814060" y="1912620"/>
              <a:ext cx="243840" cy="274320"/>
              <a:chOff x="5814060" y="1912620"/>
              <a:chExt cx="243840" cy="274320"/>
            </a:xfrm>
          </p:grpSpPr>
          <p:sp>
            <p:nvSpPr>
              <p:cNvPr id="44" name="Freeform 44"/>
              <p:cNvSpPr/>
              <p:nvPr/>
            </p:nvSpPr>
            <p:spPr>
              <a:xfrm>
                <a:off x="5814060" y="1912620"/>
                <a:ext cx="243840" cy="91440"/>
              </a:xfrm>
              <a:custGeom>
                <a:avLst/>
                <a:gdLst/>
                <a:ahLst/>
                <a:cxnLst/>
                <a:rect l="l" t="t" r="r" b="b"/>
                <a:pathLst>
                  <a:path w="243840" h="91440">
                    <a:moveTo>
                      <a:pt x="121920" y="45720"/>
                    </a:moveTo>
                    <a:moveTo>
                      <a:pt x="0" y="45720"/>
                    </a:moveTo>
                    <a:cubicBezTo>
                      <a:pt x="0" y="70970"/>
                      <a:pt x="54585" y="91440"/>
                      <a:pt x="121920" y="91440"/>
                    </a:cubicBezTo>
                    <a:cubicBezTo>
                      <a:pt x="189255" y="91440"/>
                      <a:pt x="243840" y="70970"/>
                      <a:pt x="243840" y="45720"/>
                    </a:cubicBezTo>
                    <a:cubicBezTo>
                      <a:pt x="243840" y="20470"/>
                      <a:pt x="189255" y="0"/>
                      <a:pt x="121920" y="0"/>
                    </a:cubicBezTo>
                    <a:cubicBezTo>
                      <a:pt x="54585" y="0"/>
                      <a:pt x="0" y="20470"/>
                      <a:pt x="0" y="45720"/>
                    </a:cubicBezTo>
                  </a:path>
                </a:pathLst>
              </a:custGeom>
              <a:noFill/>
              <a:ln w="30480">
                <a:solidFill>
                  <a:srgbClr val="1482FA"/>
                </a:solidFill>
              </a:ln>
            </p:spPr>
          </p:sp>
          <p:sp>
            <p:nvSpPr>
              <p:cNvPr id="45" name="Freeform 45"/>
              <p:cNvSpPr/>
              <p:nvPr/>
            </p:nvSpPr>
            <p:spPr>
              <a:xfrm>
                <a:off x="5814060" y="1958340"/>
                <a:ext cx="243840" cy="137160"/>
              </a:xfrm>
              <a:custGeom>
                <a:avLst/>
                <a:gdLst/>
                <a:ahLst/>
                <a:cxnLst/>
                <a:rect l="l" t="t" r="r" b="b"/>
                <a:pathLst>
                  <a:path w="243840" h="137160">
                    <a:moveTo>
                      <a:pt x="0" y="0"/>
                    </a:moveTo>
                    <a:lnTo>
                      <a:pt x="0" y="91440"/>
                    </a:lnTo>
                    <a:cubicBezTo>
                      <a:pt x="0" y="116690"/>
                      <a:pt x="54585" y="137160"/>
                      <a:pt x="121920" y="137160"/>
                    </a:cubicBezTo>
                    <a:cubicBezTo>
                      <a:pt x="189255" y="137160"/>
                      <a:pt x="243840" y="116690"/>
                      <a:pt x="243840" y="91440"/>
                    </a:cubicBezTo>
                    <a:lnTo>
                      <a:pt x="243840" y="0"/>
                    </a:lnTo>
                  </a:path>
                </a:pathLst>
              </a:custGeom>
              <a:noFill/>
              <a:ln w="30480">
                <a:solidFill>
                  <a:srgbClr val="1482FA"/>
                </a:solidFill>
              </a:ln>
            </p:spPr>
          </p:sp>
          <p:sp>
            <p:nvSpPr>
              <p:cNvPr id="46" name="Freeform 46"/>
              <p:cNvSpPr/>
              <p:nvPr/>
            </p:nvSpPr>
            <p:spPr>
              <a:xfrm>
                <a:off x="5814060" y="2049780"/>
                <a:ext cx="243840" cy="137160"/>
              </a:xfrm>
              <a:custGeom>
                <a:avLst/>
                <a:gdLst/>
                <a:ahLst/>
                <a:cxnLst/>
                <a:rect l="l" t="t" r="r" b="b"/>
                <a:pathLst>
                  <a:path w="243840" h="137160">
                    <a:moveTo>
                      <a:pt x="0" y="0"/>
                    </a:moveTo>
                    <a:lnTo>
                      <a:pt x="0" y="91440"/>
                    </a:lnTo>
                    <a:cubicBezTo>
                      <a:pt x="0" y="116690"/>
                      <a:pt x="54585" y="137160"/>
                      <a:pt x="121920" y="137160"/>
                    </a:cubicBezTo>
                    <a:cubicBezTo>
                      <a:pt x="189255" y="137160"/>
                      <a:pt x="243840" y="116690"/>
                      <a:pt x="243840" y="91440"/>
                    </a:cubicBezTo>
                    <a:lnTo>
                      <a:pt x="243840" y="0"/>
                    </a:lnTo>
                  </a:path>
                </a:pathLst>
              </a:custGeom>
              <a:noFill/>
              <a:ln w="30480">
                <a:solidFill>
                  <a:srgbClr val="1482FA"/>
                </a:solidFill>
              </a:ln>
            </p:spPr>
          </p:sp>
        </p:grpSp>
        <p:sp>
          <p:nvSpPr>
            <p:cNvPr id="48" name="TextBox 48"/>
            <p:cNvSpPr txBox="1"/>
            <p:nvPr/>
          </p:nvSpPr>
          <p:spPr>
            <a:xfrm>
              <a:off x="5748338" y="2646045"/>
              <a:ext cx="1014451" cy="176212"/>
            </a:xfrm>
            <a:prstGeom prst="rect">
              <a:avLst/>
            </a:prstGeom>
            <a:noFill/>
            <a:ln>
              <a:noFill/>
            </a:ln>
          </p:spPr>
          <p:txBody>
            <a:bodyPr wrap="none" lIns="0" tIns="0" rIns="0" bIns="0" anchor="t" anchorCtr="0">
              <a:spAutoFit/>
            </a:bodyPr>
            <a:lstStyle/>
            <a:p>
              <a:pPr algn="l"/>
              <a:r>
                <a:rPr lang="en-US" sz="900" spc="75" dirty="0">
                  <a:solidFill>
                    <a:srgbClr val="1482FA"/>
                  </a:solidFill>
                  <a:latin typeface="Roche Sans Medium"/>
                  <a:ea typeface="Roche Sans Medium"/>
                  <a:cs typeface="Roche Sans Medium"/>
                </a:rPr>
                <a:t>CONSTRAINT 03</a:t>
              </a:r>
            </a:p>
          </p:txBody>
        </p:sp>
        <p:sp>
          <p:nvSpPr>
            <p:cNvPr id="49" name="TextBox 49"/>
            <p:cNvSpPr txBox="1"/>
            <p:nvPr/>
          </p:nvSpPr>
          <p:spPr>
            <a:xfrm>
              <a:off x="5744718" y="2831782"/>
              <a:ext cx="846372"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Memory</a:t>
              </a:r>
            </a:p>
          </p:txBody>
        </p:sp>
        <p:sp>
          <p:nvSpPr>
            <p:cNvPr id="50" name="TextBox 50"/>
            <p:cNvSpPr txBox="1"/>
            <p:nvPr/>
          </p:nvSpPr>
          <p:spPr>
            <a:xfrm>
              <a:off x="5744718" y="3079432"/>
              <a:ext cx="705345"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ceiling</a:t>
              </a:r>
            </a:p>
          </p:txBody>
        </p:sp>
        <p:sp>
          <p:nvSpPr>
            <p:cNvPr id="51" name="Rectangle 51"/>
            <p:cNvSpPr/>
            <p:nvPr/>
          </p:nvSpPr>
          <p:spPr>
            <a:xfrm>
              <a:off x="5753100" y="3448050"/>
              <a:ext cx="381000" cy="28575"/>
            </a:xfrm>
            <a:prstGeom prst="roundRect">
              <a:avLst>
                <a:gd name="adj" fmla="val 50000"/>
              </a:avLst>
            </a:prstGeom>
            <a:solidFill>
              <a:srgbClr val="1482FA"/>
            </a:solidFill>
            <a:ln>
              <a:noFill/>
            </a:ln>
          </p:spPr>
        </p:sp>
        <p:sp>
          <p:nvSpPr>
            <p:cNvPr id="52" name="TextBox 52"/>
            <p:cNvSpPr txBox="1"/>
            <p:nvPr/>
          </p:nvSpPr>
          <p:spPr>
            <a:xfrm>
              <a:off x="5747576" y="3692604"/>
              <a:ext cx="1596636"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Sequence length limits</a:t>
              </a:r>
            </a:p>
          </p:txBody>
        </p:sp>
        <p:sp>
          <p:nvSpPr>
            <p:cNvPr id="53" name="TextBox 53"/>
            <p:cNvSpPr txBox="1"/>
            <p:nvPr/>
          </p:nvSpPr>
          <p:spPr>
            <a:xfrm>
              <a:off x="5747576" y="3902154"/>
              <a:ext cx="1760520"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how large a batch fits in</a:t>
              </a:r>
            </a:p>
          </p:txBody>
        </p:sp>
        <p:sp>
          <p:nvSpPr>
            <p:cNvPr id="54" name="TextBox 54"/>
            <p:cNvSpPr txBox="1"/>
            <p:nvPr/>
          </p:nvSpPr>
          <p:spPr>
            <a:xfrm>
              <a:off x="5747576" y="4111704"/>
              <a:ext cx="1660725"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GPU memory — worst at</a:t>
              </a:r>
            </a:p>
          </p:txBody>
        </p:sp>
        <p:sp>
          <p:nvSpPr>
            <p:cNvPr id="55" name="TextBox 55"/>
            <p:cNvSpPr txBox="1"/>
            <p:nvPr/>
          </p:nvSpPr>
          <p:spPr>
            <a:xfrm>
              <a:off x="5747576" y="4321254"/>
              <a:ext cx="984604" cy="212693"/>
            </a:xfrm>
            <a:prstGeom prst="rect">
              <a:avLst/>
            </a:prstGeom>
            <a:noFill/>
            <a:ln>
              <a:noFill/>
            </a:ln>
          </p:spPr>
          <p:txBody>
            <a:bodyPr wrap="none" lIns="0" tIns="0" rIns="0" bIns="0" anchor="t" anchorCtr="0">
              <a:spAutoFit/>
            </a:bodyPr>
            <a:lstStyle/>
            <a:p>
              <a:pPr algn="l"/>
              <a:r>
                <a:rPr lang="en-US" sz="1090" dirty="0">
                  <a:solidFill>
                    <a:srgbClr val="333333"/>
                  </a:solidFill>
                  <a:latin typeface="Roche Sans"/>
                  <a:ea typeface="Roche Sans"/>
                  <a:cs typeface="Roche Sans"/>
                </a:rPr>
                <a:t>long context.</a:t>
              </a:r>
            </a:p>
          </p:txBody>
        </p:sp>
        <p:sp>
          <p:nvSpPr>
            <p:cNvPr id="56" name="TextBox 56"/>
            <p:cNvSpPr txBox="1"/>
            <p:nvPr/>
          </p:nvSpPr>
          <p:spPr>
            <a:xfrm>
              <a:off x="5747766" y="5201602"/>
              <a:ext cx="1559751"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Throughput is capped</a:t>
              </a:r>
            </a:p>
          </p:txBody>
        </p:sp>
        <p:sp>
          <p:nvSpPr>
            <p:cNvPr id="57" name="TextBox 57"/>
            <p:cNvSpPr txBox="1"/>
            <p:nvPr/>
          </p:nvSpPr>
          <p:spPr>
            <a:xfrm>
              <a:off x="5747766" y="5392102"/>
              <a:ext cx="1504188"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before you scale up.</a:t>
              </a:r>
            </a:p>
          </p:txBody>
        </p:sp>
      </p:grpSp>
      <p:grpSp>
        <p:nvGrpSpPr>
          <p:cNvPr id="88" name="Group 88"/>
          <p:cNvGrpSpPr/>
          <p:nvPr/>
        </p:nvGrpSpPr>
        <p:grpSpPr>
          <a:xfrm>
            <a:off x="8191500" y="1524000"/>
            <a:ext cx="3429000" cy="4191000"/>
            <a:chOff x="8191500" y="1524000"/>
            <a:chExt cx="3429000" cy="4191000"/>
          </a:xfrm>
        </p:grpSpPr>
        <p:sp>
          <p:nvSpPr>
            <p:cNvPr id="59" name="Rectangle 59"/>
            <p:cNvSpPr/>
            <p:nvPr/>
          </p:nvSpPr>
          <p:spPr>
            <a:xfrm>
              <a:off x="8191500" y="1524000"/>
              <a:ext cx="3429000" cy="4191000"/>
            </a:xfrm>
            <a:prstGeom prst="roundRect">
              <a:avLst>
                <a:gd name="adj" fmla="val 3333"/>
              </a:avLst>
            </a:prstGeom>
            <a:solidFill>
              <a:srgbClr val="F5F7FA"/>
            </a:solidFill>
            <a:ln w="14288">
              <a:solidFill>
                <a:srgbClr val="E0E0E0"/>
              </a:solidFill>
            </a:ln>
          </p:spPr>
        </p:sp>
        <p:sp>
          <p:nvSpPr>
            <p:cNvPr id="60" name="Rectangle 60"/>
            <p:cNvSpPr/>
            <p:nvPr/>
          </p:nvSpPr>
          <p:spPr>
            <a:xfrm>
              <a:off x="8191500" y="1524000"/>
              <a:ext cx="47625" cy="4191000"/>
            </a:xfrm>
            <a:prstGeom prst="roundRect">
              <a:avLst>
                <a:gd name="adj" fmla="val 50000"/>
              </a:avLst>
            </a:prstGeom>
            <a:solidFill>
              <a:srgbClr val="0B41CD"/>
            </a:solidFill>
            <a:ln>
              <a:noFill/>
            </a:ln>
          </p:spPr>
        </p:sp>
        <p:sp>
          <p:nvSpPr>
            <p:cNvPr id="61" name="TextBox 61"/>
            <p:cNvSpPr txBox="1"/>
            <p:nvPr/>
          </p:nvSpPr>
          <p:spPr>
            <a:xfrm>
              <a:off x="8491538" y="1769745"/>
              <a:ext cx="2675458"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SEQUENTIAL COMPUTE, STEP BY STEP</a:t>
              </a:r>
            </a:p>
          </p:txBody>
        </p:sp>
        <p:grpSp>
          <p:nvGrpSpPr>
            <p:cNvPr id="79" name="Group 79"/>
            <p:cNvGrpSpPr/>
            <p:nvPr/>
          </p:nvGrpSpPr>
          <p:grpSpPr>
            <a:xfrm>
              <a:off x="8810625" y="2114550"/>
              <a:ext cx="1143000" cy="3009900"/>
              <a:chOff x="8810625" y="2114550"/>
              <a:chExt cx="1143000" cy="3009900"/>
            </a:xfrm>
          </p:grpSpPr>
          <p:sp>
            <p:nvSpPr>
              <p:cNvPr id="62" name="Line 62"/>
              <p:cNvSpPr/>
              <p:nvPr/>
            </p:nvSpPr>
            <p:spPr>
              <a:xfrm>
                <a:off x="9382125" y="2333625"/>
                <a:ext cx="1" cy="180975"/>
              </a:xfrm>
              <a:prstGeom prst="line">
                <a:avLst/>
              </a:prstGeom>
              <a:noFill/>
              <a:ln w="15240">
                <a:solidFill>
                  <a:srgbClr val="0B41CD"/>
                </a:solidFill>
                <a:tailEnd type="triangle" w="lg" len="lg"/>
              </a:ln>
            </p:spPr>
          </p:sp>
          <p:sp>
            <p:nvSpPr>
              <p:cNvPr id="63" name="Line 63"/>
              <p:cNvSpPr/>
              <p:nvPr/>
            </p:nvSpPr>
            <p:spPr>
              <a:xfrm>
                <a:off x="9382125" y="2886075"/>
                <a:ext cx="1" cy="180975"/>
              </a:xfrm>
              <a:prstGeom prst="line">
                <a:avLst/>
              </a:prstGeom>
              <a:noFill/>
              <a:ln w="15240">
                <a:solidFill>
                  <a:srgbClr val="0B41CD"/>
                </a:solidFill>
                <a:tailEnd type="triangle" w="lg" len="lg"/>
              </a:ln>
            </p:spPr>
          </p:sp>
          <p:sp>
            <p:nvSpPr>
              <p:cNvPr id="64" name="Line 64"/>
              <p:cNvSpPr/>
              <p:nvPr/>
            </p:nvSpPr>
            <p:spPr>
              <a:xfrm>
                <a:off x="9382125" y="3438525"/>
                <a:ext cx="1" cy="180975"/>
              </a:xfrm>
              <a:prstGeom prst="line">
                <a:avLst/>
              </a:prstGeom>
              <a:noFill/>
              <a:ln w="15240">
                <a:solidFill>
                  <a:srgbClr val="0B41CD"/>
                </a:solidFill>
                <a:tailEnd type="triangle" w="lg" len="lg"/>
              </a:ln>
            </p:spPr>
          </p:sp>
          <p:sp>
            <p:nvSpPr>
              <p:cNvPr id="65" name="Line 65"/>
              <p:cNvSpPr/>
              <p:nvPr/>
            </p:nvSpPr>
            <p:spPr>
              <a:xfrm>
                <a:off x="9382125" y="3990975"/>
                <a:ext cx="1" cy="180975"/>
              </a:xfrm>
              <a:prstGeom prst="line">
                <a:avLst/>
              </a:prstGeom>
              <a:noFill/>
              <a:ln w="15240">
                <a:solidFill>
                  <a:srgbClr val="0B41CD"/>
                </a:solidFill>
                <a:tailEnd type="triangle" w="lg" len="lg"/>
              </a:ln>
            </p:spPr>
          </p:sp>
          <p:sp>
            <p:nvSpPr>
              <p:cNvPr id="66" name="Line 66"/>
              <p:cNvSpPr/>
              <p:nvPr/>
            </p:nvSpPr>
            <p:spPr>
              <a:xfrm>
                <a:off x="9382125" y="4543425"/>
                <a:ext cx="1" cy="180975"/>
              </a:xfrm>
              <a:prstGeom prst="line">
                <a:avLst/>
              </a:prstGeom>
              <a:noFill/>
              <a:ln w="15240">
                <a:solidFill>
                  <a:srgbClr val="0B41CD"/>
                </a:solidFill>
                <a:tailEnd type="triangle" w="lg" len="lg"/>
              </a:ln>
            </p:spPr>
          </p:sp>
          <p:sp>
            <p:nvSpPr>
              <p:cNvPr id="67" name="Rectangle 67"/>
              <p:cNvSpPr/>
              <p:nvPr/>
            </p:nvSpPr>
            <p:spPr>
              <a:xfrm>
                <a:off x="8810625" y="2114550"/>
                <a:ext cx="1143000" cy="247650"/>
              </a:xfrm>
              <a:prstGeom prst="roundRect">
                <a:avLst>
                  <a:gd name="adj" fmla="val 23077"/>
                </a:avLst>
              </a:prstGeom>
              <a:solidFill>
                <a:srgbClr val="FFFFFF"/>
              </a:solidFill>
              <a:ln w="14288">
                <a:solidFill>
                  <a:srgbClr val="0B41CD"/>
                </a:solidFill>
              </a:ln>
            </p:spPr>
          </p:sp>
          <p:sp>
            <p:nvSpPr>
              <p:cNvPr id="68" name="TextBox 68"/>
              <p:cNvSpPr txBox="1"/>
              <p:nvPr/>
            </p:nvSpPr>
            <p:spPr>
              <a:xfrm>
                <a:off x="9310726" y="2179320"/>
                <a:ext cx="14279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Consolas"/>
                    <a:ea typeface="Consolas"/>
                    <a:cs typeface="Consolas"/>
                  </a:rPr>
                  <a:t>h₁</a:t>
                </a:r>
              </a:p>
            </p:txBody>
          </p:sp>
          <p:sp>
            <p:nvSpPr>
              <p:cNvPr id="69" name="Rectangle 69"/>
              <p:cNvSpPr/>
              <p:nvPr/>
            </p:nvSpPr>
            <p:spPr>
              <a:xfrm>
                <a:off x="8810625" y="2667000"/>
                <a:ext cx="1143000" cy="247650"/>
              </a:xfrm>
              <a:prstGeom prst="roundRect">
                <a:avLst>
                  <a:gd name="adj" fmla="val 23077"/>
                </a:avLst>
              </a:prstGeom>
              <a:solidFill>
                <a:srgbClr val="FFFFFF"/>
              </a:solidFill>
              <a:ln w="14288">
                <a:solidFill>
                  <a:srgbClr val="0B41CD"/>
                </a:solidFill>
              </a:ln>
            </p:spPr>
          </p:sp>
          <p:sp>
            <p:nvSpPr>
              <p:cNvPr id="70" name="TextBox 70"/>
              <p:cNvSpPr txBox="1"/>
              <p:nvPr/>
            </p:nvSpPr>
            <p:spPr>
              <a:xfrm>
                <a:off x="9310726" y="2731770"/>
                <a:ext cx="14279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Consolas"/>
                    <a:ea typeface="Consolas"/>
                    <a:cs typeface="Consolas"/>
                  </a:rPr>
                  <a:t>h₂</a:t>
                </a:r>
              </a:p>
            </p:txBody>
          </p:sp>
          <p:sp>
            <p:nvSpPr>
              <p:cNvPr id="71" name="Rectangle 71"/>
              <p:cNvSpPr/>
              <p:nvPr/>
            </p:nvSpPr>
            <p:spPr>
              <a:xfrm>
                <a:off x="8810625" y="3219450"/>
                <a:ext cx="1143000" cy="247650"/>
              </a:xfrm>
              <a:prstGeom prst="roundRect">
                <a:avLst>
                  <a:gd name="adj" fmla="val 23077"/>
                </a:avLst>
              </a:prstGeom>
              <a:solidFill>
                <a:srgbClr val="FFFFFF"/>
              </a:solidFill>
              <a:ln w="14288">
                <a:solidFill>
                  <a:srgbClr val="0B41CD"/>
                </a:solidFill>
              </a:ln>
            </p:spPr>
          </p:sp>
          <p:sp>
            <p:nvSpPr>
              <p:cNvPr id="72" name="TextBox 72"/>
              <p:cNvSpPr txBox="1"/>
              <p:nvPr/>
            </p:nvSpPr>
            <p:spPr>
              <a:xfrm>
                <a:off x="9310726" y="3284220"/>
                <a:ext cx="14279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Consolas"/>
                    <a:ea typeface="Consolas"/>
                    <a:cs typeface="Consolas"/>
                  </a:rPr>
                  <a:t>h₃</a:t>
                </a:r>
              </a:p>
            </p:txBody>
          </p:sp>
          <p:sp>
            <p:nvSpPr>
              <p:cNvPr id="73" name="Rectangle 73"/>
              <p:cNvSpPr/>
              <p:nvPr/>
            </p:nvSpPr>
            <p:spPr>
              <a:xfrm>
                <a:off x="8810625" y="3771900"/>
                <a:ext cx="1143000" cy="247650"/>
              </a:xfrm>
              <a:prstGeom prst="roundRect">
                <a:avLst>
                  <a:gd name="adj" fmla="val 23077"/>
                </a:avLst>
              </a:prstGeom>
              <a:solidFill>
                <a:srgbClr val="FFFFFF"/>
              </a:solidFill>
              <a:ln w="14288">
                <a:solidFill>
                  <a:srgbClr val="0B41CD"/>
                </a:solidFill>
              </a:ln>
            </p:spPr>
          </p:sp>
          <p:sp>
            <p:nvSpPr>
              <p:cNvPr id="74" name="TextBox 74"/>
              <p:cNvSpPr txBox="1"/>
              <p:nvPr/>
            </p:nvSpPr>
            <p:spPr>
              <a:xfrm>
                <a:off x="9310726" y="3836670"/>
                <a:ext cx="14279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Consolas"/>
                    <a:ea typeface="Consolas"/>
                    <a:cs typeface="Consolas"/>
                  </a:rPr>
                  <a:t>h₄</a:t>
                </a:r>
              </a:p>
            </p:txBody>
          </p:sp>
          <p:sp>
            <p:nvSpPr>
              <p:cNvPr id="75" name="Rectangle 75"/>
              <p:cNvSpPr/>
              <p:nvPr/>
            </p:nvSpPr>
            <p:spPr>
              <a:xfrm>
                <a:off x="8810625" y="4324350"/>
                <a:ext cx="1143000" cy="247650"/>
              </a:xfrm>
              <a:prstGeom prst="roundRect">
                <a:avLst>
                  <a:gd name="adj" fmla="val 23077"/>
                </a:avLst>
              </a:prstGeom>
              <a:solidFill>
                <a:srgbClr val="FFFFFF"/>
              </a:solidFill>
              <a:ln w="14288">
                <a:solidFill>
                  <a:srgbClr val="0B41CD"/>
                </a:solidFill>
              </a:ln>
            </p:spPr>
          </p:sp>
          <p:sp>
            <p:nvSpPr>
              <p:cNvPr id="76" name="TextBox 76"/>
              <p:cNvSpPr txBox="1"/>
              <p:nvPr/>
            </p:nvSpPr>
            <p:spPr>
              <a:xfrm>
                <a:off x="9310726" y="4389120"/>
                <a:ext cx="14279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Consolas"/>
                    <a:ea typeface="Consolas"/>
                    <a:cs typeface="Consolas"/>
                  </a:rPr>
                  <a:t>h₅</a:t>
                </a:r>
              </a:p>
            </p:txBody>
          </p:sp>
          <p:sp>
            <p:nvSpPr>
              <p:cNvPr id="77" name="Rectangle 77"/>
              <p:cNvSpPr/>
              <p:nvPr/>
            </p:nvSpPr>
            <p:spPr>
              <a:xfrm>
                <a:off x="8810625" y="4876800"/>
                <a:ext cx="1143000" cy="247650"/>
              </a:xfrm>
              <a:prstGeom prst="roundRect">
                <a:avLst>
                  <a:gd name="adj" fmla="val 23077"/>
                </a:avLst>
              </a:prstGeom>
              <a:solidFill>
                <a:srgbClr val="0B41CD"/>
              </a:solidFill>
              <a:ln>
                <a:noFill/>
              </a:ln>
            </p:spPr>
          </p:sp>
          <p:sp>
            <p:nvSpPr>
              <p:cNvPr id="78" name="TextBox 78"/>
              <p:cNvSpPr txBox="1"/>
              <p:nvPr/>
            </p:nvSpPr>
            <p:spPr>
              <a:xfrm>
                <a:off x="9310726" y="4941570"/>
                <a:ext cx="142799" cy="176212"/>
              </a:xfrm>
              <a:prstGeom prst="rect">
                <a:avLst/>
              </a:prstGeom>
              <a:noFill/>
              <a:ln>
                <a:noFill/>
              </a:ln>
            </p:spPr>
            <p:txBody>
              <a:bodyPr wrap="none" lIns="0" tIns="0" rIns="0" bIns="0" anchor="t" anchorCtr="0">
                <a:spAutoFit/>
              </a:bodyPr>
              <a:lstStyle/>
              <a:p>
                <a:pPr algn="ctr"/>
                <a:r>
                  <a:rPr lang="en-US" sz="900" dirty="0">
                    <a:solidFill>
                      <a:srgbClr val="FFFFFF"/>
                    </a:solidFill>
                    <a:latin typeface="Consolas"/>
                    <a:ea typeface="Consolas"/>
                    <a:cs typeface="Consolas"/>
                  </a:rPr>
                  <a:t>h₆</a:t>
                </a:r>
              </a:p>
            </p:txBody>
          </p:sp>
        </p:grpSp>
        <p:grpSp>
          <p:nvGrpSpPr>
            <p:cNvPr id="84" name="Group 84"/>
            <p:cNvGrpSpPr/>
            <p:nvPr/>
          </p:nvGrpSpPr>
          <p:grpSpPr>
            <a:xfrm>
              <a:off x="10515600" y="3424238"/>
              <a:ext cx="171450" cy="257175"/>
              <a:chOff x="10515600" y="3424238"/>
              <a:chExt cx="171450" cy="257175"/>
            </a:xfrm>
          </p:grpSpPr>
          <p:sp>
            <p:nvSpPr>
              <p:cNvPr id="80" name="Freeform 80"/>
              <p:cNvSpPr/>
              <p:nvPr/>
            </p:nvSpPr>
            <p:spPr>
              <a:xfrm>
                <a:off x="10522744" y="3481388"/>
                <a:ext cx="157162" cy="9525"/>
              </a:xfrm>
              <a:custGeom>
                <a:avLst/>
                <a:gdLst/>
                <a:ahLst/>
                <a:cxnLst/>
                <a:rect l="l" t="t" r="r" b="b"/>
                <a:pathLst>
                  <a:path w="157162" h="9525">
                    <a:moveTo>
                      <a:pt x="0" y="0"/>
                    </a:moveTo>
                    <a:lnTo>
                      <a:pt x="157162" y="0"/>
                    </a:lnTo>
                  </a:path>
                </a:pathLst>
              </a:custGeom>
              <a:noFill/>
              <a:ln w="28575">
                <a:solidFill>
                  <a:srgbClr val="1482FA"/>
                </a:solidFill>
              </a:ln>
            </p:spPr>
          </p:sp>
          <p:sp>
            <p:nvSpPr>
              <p:cNvPr id="81" name="Freeform 81"/>
              <p:cNvSpPr/>
              <p:nvPr/>
            </p:nvSpPr>
            <p:spPr>
              <a:xfrm>
                <a:off x="10522744" y="3624262"/>
                <a:ext cx="157162" cy="9525"/>
              </a:xfrm>
              <a:custGeom>
                <a:avLst/>
                <a:gdLst/>
                <a:ahLst/>
                <a:cxnLst/>
                <a:rect l="l" t="t" r="r" b="b"/>
                <a:pathLst>
                  <a:path w="157162" h="9525">
                    <a:moveTo>
                      <a:pt x="0" y="0"/>
                    </a:moveTo>
                    <a:lnTo>
                      <a:pt x="157162" y="0"/>
                    </a:lnTo>
                  </a:path>
                </a:pathLst>
              </a:custGeom>
              <a:noFill/>
              <a:ln w="28575">
                <a:solidFill>
                  <a:srgbClr val="1482FA"/>
                </a:solidFill>
              </a:ln>
            </p:spPr>
          </p:sp>
          <p:sp>
            <p:nvSpPr>
              <p:cNvPr id="82" name="Freeform 82"/>
              <p:cNvSpPr/>
              <p:nvPr/>
            </p:nvSpPr>
            <p:spPr>
              <a:xfrm>
                <a:off x="10515600" y="3552825"/>
                <a:ext cx="171450" cy="128588"/>
              </a:xfrm>
              <a:custGeom>
                <a:avLst/>
                <a:gdLst/>
                <a:ahLst/>
                <a:cxnLst/>
                <a:rect l="l" t="t" r="r" b="b"/>
                <a:pathLst>
                  <a:path w="171450" h="128588">
                    <a:moveTo>
                      <a:pt x="0" y="114300"/>
                    </a:moveTo>
                    <a:lnTo>
                      <a:pt x="0" y="85725"/>
                    </a:lnTo>
                    <a:cubicBezTo>
                      <a:pt x="0" y="38380"/>
                      <a:pt x="38380" y="0"/>
                      <a:pt x="85725" y="0"/>
                    </a:cubicBezTo>
                    <a:cubicBezTo>
                      <a:pt x="133070" y="0"/>
                      <a:pt x="171450" y="38380"/>
                      <a:pt x="171450" y="85725"/>
                    </a:cubicBezTo>
                    <a:lnTo>
                      <a:pt x="171450" y="114300"/>
                    </a:lnTo>
                    <a:cubicBezTo>
                      <a:pt x="171450" y="122191"/>
                      <a:pt x="165053" y="128588"/>
                      <a:pt x="157162" y="128588"/>
                    </a:cubicBezTo>
                    <a:lnTo>
                      <a:pt x="14288" y="128588"/>
                    </a:lnTo>
                    <a:cubicBezTo>
                      <a:pt x="6397" y="128588"/>
                      <a:pt x="0" y="122191"/>
                      <a:pt x="0" y="114300"/>
                    </a:cubicBezTo>
                    <a:close/>
                  </a:path>
                </a:pathLst>
              </a:custGeom>
              <a:noFill/>
              <a:ln w="28575">
                <a:solidFill>
                  <a:srgbClr val="1482FA"/>
                </a:solidFill>
              </a:ln>
            </p:spPr>
          </p:sp>
          <p:sp>
            <p:nvSpPr>
              <p:cNvPr id="83" name="Freeform 83"/>
              <p:cNvSpPr/>
              <p:nvPr/>
            </p:nvSpPr>
            <p:spPr>
              <a:xfrm>
                <a:off x="10515600" y="3424238"/>
                <a:ext cx="171450" cy="128588"/>
              </a:xfrm>
              <a:custGeom>
                <a:avLst/>
                <a:gdLst/>
                <a:ahLst/>
                <a:cxnLst/>
                <a:rect l="l" t="t" r="r" b="b"/>
                <a:pathLst>
                  <a:path w="171450" h="128588">
                    <a:moveTo>
                      <a:pt x="0" y="14288"/>
                    </a:moveTo>
                    <a:lnTo>
                      <a:pt x="0" y="42862"/>
                    </a:lnTo>
                    <a:cubicBezTo>
                      <a:pt x="0" y="90207"/>
                      <a:pt x="38380" y="128588"/>
                      <a:pt x="85725" y="128588"/>
                    </a:cubicBezTo>
                    <a:cubicBezTo>
                      <a:pt x="133070" y="128588"/>
                      <a:pt x="171450" y="90207"/>
                      <a:pt x="171450" y="42862"/>
                    </a:cubicBezTo>
                    <a:lnTo>
                      <a:pt x="171450" y="14288"/>
                    </a:lnTo>
                    <a:cubicBezTo>
                      <a:pt x="171450" y="6397"/>
                      <a:pt x="165053" y="0"/>
                      <a:pt x="157162" y="0"/>
                    </a:cubicBezTo>
                    <a:lnTo>
                      <a:pt x="14288" y="0"/>
                    </a:lnTo>
                    <a:cubicBezTo>
                      <a:pt x="6397" y="0"/>
                      <a:pt x="0" y="6397"/>
                      <a:pt x="0" y="14288"/>
                    </a:cubicBezTo>
                    <a:close/>
                  </a:path>
                </a:pathLst>
              </a:custGeom>
              <a:noFill/>
              <a:ln w="28575">
                <a:solidFill>
                  <a:srgbClr val="1482FA"/>
                </a:solidFill>
              </a:ln>
            </p:spPr>
          </p:sp>
        </p:grpSp>
        <p:sp>
          <p:nvSpPr>
            <p:cNvPr id="85" name="Line 85"/>
            <p:cNvSpPr/>
            <p:nvPr/>
          </p:nvSpPr>
          <p:spPr>
            <a:xfrm>
              <a:off x="8524875" y="2114550"/>
              <a:ext cx="9525" cy="3009900"/>
            </a:xfrm>
            <a:custGeom>
              <a:avLst/>
              <a:gdLst/>
              <a:ahLst/>
              <a:cxnLst/>
              <a:rect l="l" t="t" r="r" b="b"/>
              <a:pathLst>
                <a:path w="9525" h="3009900">
                  <a:moveTo>
                    <a:pt x="0" y="0"/>
                  </a:moveTo>
                  <a:lnTo>
                    <a:pt x="0" y="3009900"/>
                  </a:lnTo>
                </a:path>
              </a:pathLst>
            </a:custGeom>
            <a:noFill/>
            <a:ln w="9525">
              <a:solidFill>
                <a:srgbClr val="A39F9C"/>
              </a:solidFill>
              <a:prstDash val="dash"/>
            </a:ln>
          </p:spPr>
        </p:sp>
        <p:sp>
          <p:nvSpPr>
            <p:cNvPr id="86" name="Line 86"/>
            <p:cNvSpPr/>
            <p:nvPr/>
          </p:nvSpPr>
          <p:spPr>
            <a:xfrm>
              <a:off x="10239375" y="2114550"/>
              <a:ext cx="9525" cy="3009900"/>
            </a:xfrm>
            <a:custGeom>
              <a:avLst/>
              <a:gdLst/>
              <a:ahLst/>
              <a:cxnLst/>
              <a:rect l="l" t="t" r="r" b="b"/>
              <a:pathLst>
                <a:path w="9525" h="3009900">
                  <a:moveTo>
                    <a:pt x="0" y="0"/>
                  </a:moveTo>
                  <a:lnTo>
                    <a:pt x="0" y="3009900"/>
                  </a:lnTo>
                </a:path>
              </a:pathLst>
            </a:custGeom>
            <a:noFill/>
            <a:ln w="9525">
              <a:solidFill>
                <a:srgbClr val="A39F9C"/>
              </a:solidFill>
              <a:prstDash val="dash"/>
            </a:ln>
          </p:spPr>
        </p:sp>
        <p:sp>
          <p:nvSpPr>
            <p:cNvPr id="87" name="TextBox 87"/>
            <p:cNvSpPr txBox="1"/>
            <p:nvPr/>
          </p:nvSpPr>
          <p:spPr>
            <a:xfrm>
              <a:off x="8491538" y="5427345"/>
              <a:ext cx="2135848" cy="176212"/>
            </a:xfrm>
            <a:prstGeom prst="rect">
              <a:avLst/>
            </a:prstGeom>
            <a:noFill/>
            <a:ln>
              <a:noFill/>
            </a:ln>
          </p:spPr>
          <p:txBody>
            <a:bodyPr wrap="none" lIns="0" tIns="0" rIns="0" bIns="0" anchor="t" anchorCtr="0">
              <a:spAutoFit/>
            </a:bodyPr>
            <a:lstStyle/>
            <a:p>
              <a:pPr algn="l"/>
              <a:r>
                <a:rPr lang="en-US" sz="900" dirty="0">
                  <a:solidFill>
                    <a:srgbClr val="706B69"/>
                  </a:solidFill>
                  <a:latin typeface="Roche Sans"/>
                  <a:ea typeface="Roche Sans"/>
                  <a:cs typeface="Roche Sans"/>
                </a:rPr>
                <a:t>dashed = non-parallelizable channels</a:t>
              </a:r>
            </a:p>
          </p:txBody>
        </p:sp>
      </p:grpSp>
      <p:grpSp>
        <p:nvGrpSpPr>
          <p:cNvPr id="91" name="Group 91"/>
          <p:cNvGrpSpPr/>
          <p:nvPr/>
        </p:nvGrpSpPr>
        <p:grpSpPr>
          <a:xfrm>
            <a:off x="566738" y="6521291"/>
            <a:ext cx="11058525" cy="161925"/>
            <a:chOff x="566738" y="6521291"/>
            <a:chExt cx="11058525" cy="161925"/>
          </a:xfrm>
        </p:grpSpPr>
        <p:sp>
          <p:nvSpPr>
            <p:cNvPr id="89" name="TextBox 89"/>
            <p:cNvSpPr txBox="1"/>
            <p:nvPr/>
          </p:nvSpPr>
          <p:spPr>
            <a:xfrm>
              <a:off x="566738" y="6521291"/>
              <a:ext cx="3444493"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§1–2 (Introduction · Background)</a:t>
              </a:r>
            </a:p>
          </p:txBody>
        </p:sp>
        <p:sp>
          <p:nvSpPr>
            <p:cNvPr id="90" name="TextBox 90"/>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Bottom)">
                                      <p:cBhvr>
                                        <p:cTn id="11" dur="400"/>
                                        <p:tgtEl>
                                          <p:spTgt spid="4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slide(fromBottom)">
                                      <p:cBhvr>
                                        <p:cTn id="15" dur="400"/>
                                        <p:tgtEl>
                                          <p:spTgt spid="58"/>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10067987" cy="656939"/>
            <a:chOff x="571500" y="533400"/>
            <a:chExt cx="10067987"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9852341"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Encoder–Decoder, stacked self-attention, point-wise FFN</a:t>
              </a:r>
            </a:p>
          </p:txBody>
        </p:sp>
        <p:sp>
          <p:nvSpPr>
            <p:cNvPr id="5" name="TextBox 5"/>
            <p:cNvSpPr txBox="1"/>
            <p:nvPr/>
          </p:nvSpPr>
          <p:spPr>
            <a:xfrm>
              <a:off x="795147" y="999649"/>
              <a:ext cx="3992226"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MODEL ARCHITECTURE · §3 · redrawn from Figure 1</a:t>
              </a:r>
            </a:p>
          </p:txBody>
        </p:sp>
      </p:grpSp>
      <p:grpSp>
        <p:nvGrpSpPr>
          <p:cNvPr id="82" name="Group 82"/>
          <p:cNvGrpSpPr/>
          <p:nvPr/>
        </p:nvGrpSpPr>
        <p:grpSpPr>
          <a:xfrm>
            <a:off x="757238" y="1331595"/>
            <a:ext cx="5371248" cy="4913471"/>
            <a:chOff x="757238" y="1331595"/>
            <a:chExt cx="5371248" cy="4913471"/>
          </a:xfrm>
        </p:grpSpPr>
        <p:sp>
          <p:nvSpPr>
            <p:cNvPr id="7" name="TextBox 7"/>
            <p:cNvSpPr txBox="1"/>
            <p:nvPr/>
          </p:nvSpPr>
          <p:spPr>
            <a:xfrm>
              <a:off x="757238" y="1331595"/>
              <a:ext cx="1308887"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THE TRANSFORMER</a:t>
              </a:r>
            </a:p>
          </p:txBody>
        </p:sp>
        <p:sp>
          <p:nvSpPr>
            <p:cNvPr id="8" name="Rectangle 8"/>
            <p:cNvSpPr/>
            <p:nvPr/>
          </p:nvSpPr>
          <p:spPr>
            <a:xfrm>
              <a:off x="1123950" y="2857500"/>
              <a:ext cx="1752600" cy="2381250"/>
            </a:xfrm>
            <a:prstGeom prst="roundRect">
              <a:avLst>
                <a:gd name="adj" fmla="val 5435"/>
              </a:avLst>
            </a:prstGeom>
            <a:solidFill>
              <a:srgbClr val="F7F9FE"/>
            </a:solidFill>
            <a:ln w="14288">
              <a:solidFill>
                <a:srgbClr val="0B41CD"/>
              </a:solidFill>
            </a:ln>
          </p:spPr>
        </p:sp>
        <p:sp>
          <p:nvSpPr>
            <p:cNvPr id="9" name="TextBox 9"/>
            <p:cNvSpPr txBox="1"/>
            <p:nvPr/>
          </p:nvSpPr>
          <p:spPr>
            <a:xfrm>
              <a:off x="1271397" y="2980849"/>
              <a:ext cx="571576" cy="190690"/>
            </a:xfrm>
            <a:prstGeom prst="rect">
              <a:avLst/>
            </a:prstGeom>
            <a:noFill/>
            <a:ln>
              <a:noFill/>
            </a:ln>
          </p:spPr>
          <p:txBody>
            <a:bodyPr wrap="none" lIns="0" tIns="0" rIns="0" bIns="0" anchor="t" anchorCtr="0">
              <a:spAutoFit/>
            </a:bodyPr>
            <a:lstStyle/>
            <a:p>
              <a:pPr algn="l"/>
              <a:r>
                <a:rPr lang="en-US" sz="980" dirty="0">
                  <a:solidFill>
                    <a:srgbClr val="0B41CD"/>
                  </a:solidFill>
                  <a:latin typeface="Roche Sans Medium"/>
                  <a:ea typeface="Roche Sans Medium"/>
                  <a:cs typeface="Roche Sans Medium"/>
                </a:rPr>
                <a:t>ENCODER</a:t>
              </a:r>
            </a:p>
          </p:txBody>
        </p:sp>
        <p:sp>
          <p:nvSpPr>
            <p:cNvPr id="10" name="TextBox 10"/>
            <p:cNvSpPr txBox="1"/>
            <p:nvPr/>
          </p:nvSpPr>
          <p:spPr>
            <a:xfrm>
              <a:off x="2535441" y="2980849"/>
              <a:ext cx="193662" cy="190690"/>
            </a:xfrm>
            <a:prstGeom prst="rect">
              <a:avLst/>
            </a:prstGeom>
            <a:noFill/>
            <a:ln>
              <a:noFill/>
            </a:ln>
          </p:spPr>
          <p:txBody>
            <a:bodyPr wrap="none" lIns="0" tIns="0" rIns="0" bIns="0" anchor="t" anchorCtr="0">
              <a:spAutoFit/>
            </a:bodyPr>
            <a:lstStyle/>
            <a:p>
              <a:pPr algn="r"/>
              <a:r>
                <a:rPr lang="en-US" sz="980" dirty="0">
                  <a:solidFill>
                    <a:srgbClr val="706B69"/>
                  </a:solidFill>
                  <a:latin typeface="Roche Sans Medium"/>
                  <a:ea typeface="Roche Sans Medium"/>
                  <a:cs typeface="Roche Sans Medium"/>
                </a:rPr>
                <a:t>× 6</a:t>
              </a:r>
            </a:p>
          </p:txBody>
        </p:sp>
        <p:sp>
          <p:nvSpPr>
            <p:cNvPr id="11" name="Rectangle 11"/>
            <p:cNvSpPr/>
            <p:nvPr/>
          </p:nvSpPr>
          <p:spPr>
            <a:xfrm>
              <a:off x="1285875" y="3543300"/>
              <a:ext cx="1428750" cy="247650"/>
            </a:xfrm>
            <a:prstGeom prst="roundRect">
              <a:avLst>
                <a:gd name="adj" fmla="val 23077"/>
              </a:avLst>
            </a:prstGeom>
            <a:solidFill>
              <a:srgbClr val="F5F7FA"/>
            </a:solidFill>
            <a:ln w="9525">
              <a:solidFill>
                <a:srgbClr val="E0E0E0"/>
              </a:solidFill>
            </a:ln>
          </p:spPr>
        </p:sp>
        <p:sp>
          <p:nvSpPr>
            <p:cNvPr id="12" name="TextBox 12"/>
            <p:cNvSpPr txBox="1"/>
            <p:nvPr/>
          </p:nvSpPr>
          <p:spPr>
            <a:xfrm>
              <a:off x="1675382" y="3608070"/>
              <a:ext cx="649736"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Add &amp; Norm</a:t>
              </a:r>
            </a:p>
          </p:txBody>
        </p:sp>
        <p:sp>
          <p:nvSpPr>
            <p:cNvPr id="13" name="Rectangle 13"/>
            <p:cNvSpPr/>
            <p:nvPr/>
          </p:nvSpPr>
          <p:spPr>
            <a:xfrm>
              <a:off x="1285875" y="3867150"/>
              <a:ext cx="1428750" cy="361950"/>
            </a:xfrm>
            <a:prstGeom prst="roundRect">
              <a:avLst>
                <a:gd name="adj" fmla="val 15789"/>
              </a:avLst>
            </a:prstGeom>
            <a:solidFill>
              <a:srgbClr val="E9EEFA"/>
            </a:solidFill>
            <a:ln w="14288">
              <a:solidFill>
                <a:srgbClr val="1482FA"/>
              </a:solidFill>
            </a:ln>
          </p:spPr>
        </p:sp>
        <p:sp>
          <p:nvSpPr>
            <p:cNvPr id="14" name="TextBox 14"/>
            <p:cNvSpPr txBox="1"/>
            <p:nvPr/>
          </p:nvSpPr>
          <p:spPr>
            <a:xfrm>
              <a:off x="1561015" y="3980974"/>
              <a:ext cx="878471" cy="190690"/>
            </a:xfrm>
            <a:prstGeom prst="rect">
              <a:avLst/>
            </a:prstGeom>
            <a:noFill/>
            <a:ln>
              <a:noFill/>
            </a:ln>
          </p:spPr>
          <p:txBody>
            <a:bodyPr wrap="none" lIns="0" tIns="0" rIns="0" bIns="0" anchor="t" anchorCtr="0">
              <a:spAutoFit/>
            </a:bodyPr>
            <a:lstStyle/>
            <a:p>
              <a:pPr algn="ctr"/>
              <a:r>
                <a:rPr lang="en-US" sz="980" dirty="0">
                  <a:solidFill>
                    <a:srgbClr val="0B41CD"/>
                  </a:solidFill>
                  <a:latin typeface="Roche Sans Medium"/>
                  <a:ea typeface="Roche Sans Medium"/>
                  <a:cs typeface="Roche Sans Medium"/>
                </a:rPr>
                <a:t>Feed Forward</a:t>
              </a:r>
            </a:p>
          </p:txBody>
        </p:sp>
        <p:sp>
          <p:nvSpPr>
            <p:cNvPr id="15" name="Rectangle 15"/>
            <p:cNvSpPr/>
            <p:nvPr/>
          </p:nvSpPr>
          <p:spPr>
            <a:xfrm>
              <a:off x="1285875" y="4305300"/>
              <a:ext cx="1428750" cy="247650"/>
            </a:xfrm>
            <a:prstGeom prst="roundRect">
              <a:avLst>
                <a:gd name="adj" fmla="val 23077"/>
              </a:avLst>
            </a:prstGeom>
            <a:solidFill>
              <a:srgbClr val="F5F7FA"/>
            </a:solidFill>
            <a:ln w="9525">
              <a:solidFill>
                <a:srgbClr val="E0E0E0"/>
              </a:solidFill>
            </a:ln>
          </p:spPr>
        </p:sp>
        <p:sp>
          <p:nvSpPr>
            <p:cNvPr id="16" name="TextBox 16"/>
            <p:cNvSpPr txBox="1"/>
            <p:nvPr/>
          </p:nvSpPr>
          <p:spPr>
            <a:xfrm>
              <a:off x="1675382" y="4370070"/>
              <a:ext cx="649736"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Add &amp; Norm</a:t>
              </a:r>
            </a:p>
          </p:txBody>
        </p:sp>
        <p:sp>
          <p:nvSpPr>
            <p:cNvPr id="17" name="Rectangle 17"/>
            <p:cNvSpPr/>
            <p:nvPr/>
          </p:nvSpPr>
          <p:spPr>
            <a:xfrm>
              <a:off x="1285875" y="4629150"/>
              <a:ext cx="1428750" cy="419100"/>
            </a:xfrm>
            <a:prstGeom prst="roundRect">
              <a:avLst>
                <a:gd name="adj" fmla="val 13636"/>
              </a:avLst>
            </a:prstGeom>
            <a:solidFill>
              <a:srgbClr val="E9EEFA"/>
            </a:solidFill>
            <a:ln w="14288">
              <a:solidFill>
                <a:srgbClr val="1482FA"/>
              </a:solidFill>
            </a:ln>
          </p:spPr>
        </p:sp>
        <p:sp>
          <p:nvSpPr>
            <p:cNvPr id="18" name="TextBox 18"/>
            <p:cNvSpPr txBox="1"/>
            <p:nvPr/>
          </p:nvSpPr>
          <p:spPr>
            <a:xfrm>
              <a:off x="1676514" y="4703445"/>
              <a:ext cx="647471"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Roche Sans Medium"/>
                  <a:ea typeface="Roche Sans Medium"/>
                  <a:cs typeface="Roche Sans Medium"/>
                </a:rPr>
                <a:t>Multi-Head</a:t>
              </a:r>
            </a:p>
          </p:txBody>
        </p:sp>
        <p:sp>
          <p:nvSpPr>
            <p:cNvPr id="19" name="TextBox 19"/>
            <p:cNvSpPr txBox="1"/>
            <p:nvPr/>
          </p:nvSpPr>
          <p:spPr>
            <a:xfrm>
              <a:off x="1555520" y="4855845"/>
              <a:ext cx="889459"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Roche Sans Medium"/>
                  <a:ea typeface="Roche Sans Medium"/>
                  <a:cs typeface="Roche Sans Medium"/>
                </a:rPr>
                <a:t>Self-Attention</a:t>
              </a:r>
            </a:p>
          </p:txBody>
        </p:sp>
        <p:sp>
          <p:nvSpPr>
            <p:cNvPr id="20" name="Line 20"/>
            <p:cNvSpPr/>
            <p:nvPr/>
          </p:nvSpPr>
          <p:spPr>
            <a:xfrm flipV="1">
              <a:off x="2000250" y="4248150"/>
              <a:ext cx="1" cy="57150"/>
            </a:xfrm>
            <a:prstGeom prst="line">
              <a:avLst/>
            </a:prstGeom>
            <a:noFill/>
            <a:ln w="14288">
              <a:solidFill>
                <a:srgbClr val="1482FA"/>
              </a:solidFill>
              <a:tailEnd type="triangle" w="lg" len="lg"/>
            </a:ln>
          </p:spPr>
        </p:sp>
        <p:sp>
          <p:nvSpPr>
            <p:cNvPr id="21" name="Line 21"/>
            <p:cNvSpPr/>
            <p:nvPr/>
          </p:nvSpPr>
          <p:spPr>
            <a:xfrm flipV="1">
              <a:off x="2000250" y="3810000"/>
              <a:ext cx="1" cy="57150"/>
            </a:xfrm>
            <a:prstGeom prst="line">
              <a:avLst/>
            </a:prstGeom>
            <a:noFill/>
            <a:ln w="14288">
              <a:solidFill>
                <a:srgbClr val="1482FA"/>
              </a:solidFill>
              <a:tailEnd type="triangle" w="lg" len="lg"/>
            </a:ln>
          </p:spPr>
        </p:sp>
        <p:sp>
          <p:nvSpPr>
            <p:cNvPr id="22" name="Line 22"/>
            <p:cNvSpPr/>
            <p:nvPr/>
          </p:nvSpPr>
          <p:spPr>
            <a:xfrm flipV="1">
              <a:off x="2000250" y="4572000"/>
              <a:ext cx="1" cy="57150"/>
            </a:xfrm>
            <a:prstGeom prst="line">
              <a:avLst/>
            </a:prstGeom>
            <a:noFill/>
            <a:ln w="14288">
              <a:solidFill>
                <a:srgbClr val="1482FA"/>
              </a:solidFill>
              <a:tailEnd type="triangle" w="lg" len="lg"/>
            </a:ln>
          </p:spPr>
        </p:sp>
        <p:sp>
          <p:nvSpPr>
            <p:cNvPr id="23" name="Rectangle 23"/>
            <p:cNvSpPr/>
            <p:nvPr/>
          </p:nvSpPr>
          <p:spPr>
            <a:xfrm>
              <a:off x="1333500" y="5676900"/>
              <a:ext cx="1333500" cy="285750"/>
            </a:xfrm>
            <a:prstGeom prst="roundRect">
              <a:avLst>
                <a:gd name="adj" fmla="val 20000"/>
              </a:avLst>
            </a:prstGeom>
            <a:solidFill>
              <a:srgbClr val="FFFFFF"/>
            </a:solidFill>
            <a:ln w="14288">
              <a:solidFill>
                <a:srgbClr val="0B41CD"/>
              </a:solidFill>
            </a:ln>
          </p:spPr>
        </p:sp>
        <p:sp>
          <p:nvSpPr>
            <p:cNvPr id="24" name="TextBox 24"/>
            <p:cNvSpPr txBox="1"/>
            <p:nvPr/>
          </p:nvSpPr>
          <p:spPr>
            <a:xfrm>
              <a:off x="1525257" y="5760720"/>
              <a:ext cx="949985" cy="176212"/>
            </a:xfrm>
            <a:prstGeom prst="rect">
              <a:avLst/>
            </a:prstGeom>
            <a:noFill/>
            <a:ln>
              <a:noFill/>
            </a:ln>
          </p:spPr>
          <p:txBody>
            <a:bodyPr wrap="none" lIns="0" tIns="0" rIns="0" bIns="0" anchor="t" anchorCtr="0">
              <a:spAutoFit/>
            </a:bodyPr>
            <a:lstStyle/>
            <a:p>
              <a:pPr algn="ctr"/>
              <a:r>
                <a:rPr lang="en-US" sz="900" dirty="0">
                  <a:solidFill>
                    <a:srgbClr val="0B41CD"/>
                  </a:solidFill>
                  <a:latin typeface="Roche Sans Medium"/>
                  <a:ea typeface="Roche Sans Medium"/>
                  <a:cs typeface="Roche Sans Medium"/>
                </a:rPr>
                <a:t>Input Embedding</a:t>
              </a:r>
            </a:p>
          </p:txBody>
        </p:sp>
        <p:sp>
          <p:nvSpPr>
            <p:cNvPr id="25" name="Ellipse 25"/>
            <p:cNvSpPr/>
            <p:nvPr/>
          </p:nvSpPr>
          <p:spPr>
            <a:xfrm>
              <a:off x="1895475" y="5286375"/>
              <a:ext cx="209550" cy="209550"/>
            </a:xfrm>
            <a:prstGeom prst="ellipse">
              <a:avLst/>
            </a:prstGeom>
            <a:solidFill>
              <a:srgbClr val="FFFFFF"/>
            </a:solidFill>
            <a:ln w="14288">
              <a:solidFill>
                <a:srgbClr val="706B69"/>
              </a:solidFill>
            </a:ln>
          </p:spPr>
        </p:sp>
        <p:sp>
          <p:nvSpPr>
            <p:cNvPr id="26" name="TextBox 26"/>
            <p:cNvSpPr txBox="1"/>
            <p:nvPr/>
          </p:nvSpPr>
          <p:spPr>
            <a:xfrm>
              <a:off x="1956044" y="5325428"/>
              <a:ext cx="88411" cy="205359"/>
            </a:xfrm>
            <a:prstGeom prst="rect">
              <a:avLst/>
            </a:prstGeom>
            <a:noFill/>
            <a:ln>
              <a:noFill/>
            </a:ln>
          </p:spPr>
          <p:txBody>
            <a:bodyPr wrap="none" lIns="0" tIns="0" rIns="0" bIns="0" anchor="t" anchorCtr="0">
              <a:spAutoFit/>
            </a:bodyPr>
            <a:lstStyle/>
            <a:p>
              <a:pPr algn="ctr"/>
              <a:r>
                <a:rPr lang="en-US" sz="1050" dirty="0">
                  <a:solidFill>
                    <a:srgbClr val="706B69"/>
                  </a:solidFill>
                  <a:latin typeface="Roche Sans"/>
                  <a:ea typeface="Roche Sans"/>
                  <a:cs typeface="Roche Sans"/>
                </a:rPr>
                <a:t>+</a:t>
              </a:r>
            </a:p>
          </p:txBody>
        </p:sp>
        <p:sp>
          <p:nvSpPr>
            <p:cNvPr id="27" name="TextBox 27"/>
            <p:cNvSpPr txBox="1"/>
            <p:nvPr/>
          </p:nvSpPr>
          <p:spPr>
            <a:xfrm>
              <a:off x="2166938" y="5272088"/>
              <a:ext cx="489109" cy="147638"/>
            </a:xfrm>
            <a:prstGeom prst="rect">
              <a:avLst/>
            </a:prstGeom>
            <a:noFill/>
            <a:ln>
              <a:noFill/>
            </a:ln>
          </p:spPr>
          <p:txBody>
            <a:bodyPr wrap="none" lIns="0" tIns="0" rIns="0" bIns="0" anchor="t" anchorCtr="0">
              <a:spAutoFit/>
            </a:bodyPr>
            <a:lstStyle/>
            <a:p>
              <a:pPr algn="l"/>
              <a:r>
                <a:rPr lang="en-US" sz="750" dirty="0">
                  <a:solidFill>
                    <a:srgbClr val="706B69"/>
                  </a:solidFill>
                  <a:latin typeface="Roche Sans"/>
                  <a:ea typeface="Roche Sans"/>
                  <a:cs typeface="Roche Sans"/>
                </a:rPr>
                <a:t>positional</a:t>
              </a:r>
            </a:p>
          </p:txBody>
        </p:sp>
        <p:sp>
          <p:nvSpPr>
            <p:cNvPr id="28" name="TextBox 28"/>
            <p:cNvSpPr txBox="1"/>
            <p:nvPr/>
          </p:nvSpPr>
          <p:spPr>
            <a:xfrm>
              <a:off x="2166938" y="5386388"/>
              <a:ext cx="428530" cy="147638"/>
            </a:xfrm>
            <a:prstGeom prst="rect">
              <a:avLst/>
            </a:prstGeom>
            <a:noFill/>
            <a:ln>
              <a:noFill/>
            </a:ln>
          </p:spPr>
          <p:txBody>
            <a:bodyPr wrap="none" lIns="0" tIns="0" rIns="0" bIns="0" anchor="t" anchorCtr="0">
              <a:spAutoFit/>
            </a:bodyPr>
            <a:lstStyle/>
            <a:p>
              <a:pPr algn="l"/>
              <a:r>
                <a:rPr lang="en-US" sz="750" dirty="0">
                  <a:solidFill>
                    <a:srgbClr val="706B69"/>
                  </a:solidFill>
                  <a:latin typeface="Roche Sans"/>
                  <a:ea typeface="Roche Sans"/>
                  <a:cs typeface="Roche Sans"/>
                </a:rPr>
                <a:t>encoding</a:t>
              </a:r>
            </a:p>
          </p:txBody>
        </p:sp>
        <p:sp>
          <p:nvSpPr>
            <p:cNvPr id="29" name="Line 29"/>
            <p:cNvSpPr/>
            <p:nvPr/>
          </p:nvSpPr>
          <p:spPr>
            <a:xfrm flipV="1">
              <a:off x="2000250" y="5524500"/>
              <a:ext cx="1" cy="152400"/>
            </a:xfrm>
            <a:prstGeom prst="line">
              <a:avLst/>
            </a:prstGeom>
            <a:noFill/>
            <a:ln w="14288">
              <a:solidFill>
                <a:srgbClr val="1482FA"/>
              </a:solidFill>
              <a:tailEnd type="triangle" w="lg" len="lg"/>
            </a:ln>
          </p:spPr>
        </p:sp>
        <p:sp>
          <p:nvSpPr>
            <p:cNvPr id="30" name="Line 30"/>
            <p:cNvSpPr/>
            <p:nvPr/>
          </p:nvSpPr>
          <p:spPr>
            <a:xfrm flipV="1">
              <a:off x="2000250" y="5086350"/>
              <a:ext cx="1" cy="200025"/>
            </a:xfrm>
            <a:prstGeom prst="line">
              <a:avLst/>
            </a:prstGeom>
            <a:noFill/>
            <a:ln w="14288">
              <a:solidFill>
                <a:srgbClr val="1482FA"/>
              </a:solidFill>
              <a:tailEnd type="triangle" w="lg" len="lg"/>
            </a:ln>
          </p:spPr>
        </p:sp>
        <p:sp>
          <p:nvSpPr>
            <p:cNvPr id="31" name="Rectangle 31"/>
            <p:cNvSpPr/>
            <p:nvPr/>
          </p:nvSpPr>
          <p:spPr>
            <a:xfrm>
              <a:off x="3429000" y="2381250"/>
              <a:ext cx="1905000" cy="2857500"/>
            </a:xfrm>
            <a:prstGeom prst="roundRect">
              <a:avLst>
                <a:gd name="adj" fmla="val 5000"/>
              </a:avLst>
            </a:prstGeom>
            <a:solidFill>
              <a:srgbClr val="F7F9FE"/>
            </a:solidFill>
            <a:ln w="14288">
              <a:solidFill>
                <a:srgbClr val="0B41CD"/>
              </a:solidFill>
            </a:ln>
          </p:spPr>
        </p:sp>
        <p:sp>
          <p:nvSpPr>
            <p:cNvPr id="32" name="TextBox 32"/>
            <p:cNvSpPr txBox="1"/>
            <p:nvPr/>
          </p:nvSpPr>
          <p:spPr>
            <a:xfrm>
              <a:off x="3576447" y="2504599"/>
              <a:ext cx="571576" cy="190690"/>
            </a:xfrm>
            <a:prstGeom prst="rect">
              <a:avLst/>
            </a:prstGeom>
            <a:noFill/>
            <a:ln>
              <a:noFill/>
            </a:ln>
          </p:spPr>
          <p:txBody>
            <a:bodyPr wrap="none" lIns="0" tIns="0" rIns="0" bIns="0" anchor="t" anchorCtr="0">
              <a:spAutoFit/>
            </a:bodyPr>
            <a:lstStyle/>
            <a:p>
              <a:pPr algn="l"/>
              <a:r>
                <a:rPr lang="en-US" sz="980" dirty="0">
                  <a:solidFill>
                    <a:srgbClr val="0B41CD"/>
                  </a:solidFill>
                  <a:latin typeface="Roche Sans Medium"/>
                  <a:ea typeface="Roche Sans Medium"/>
                  <a:cs typeface="Roche Sans Medium"/>
                </a:rPr>
                <a:t>DECODER</a:t>
              </a:r>
            </a:p>
          </p:txBody>
        </p:sp>
        <p:sp>
          <p:nvSpPr>
            <p:cNvPr id="33" name="TextBox 33"/>
            <p:cNvSpPr txBox="1"/>
            <p:nvPr/>
          </p:nvSpPr>
          <p:spPr>
            <a:xfrm>
              <a:off x="4992891" y="2504599"/>
              <a:ext cx="193662" cy="190690"/>
            </a:xfrm>
            <a:prstGeom prst="rect">
              <a:avLst/>
            </a:prstGeom>
            <a:noFill/>
            <a:ln>
              <a:noFill/>
            </a:ln>
          </p:spPr>
          <p:txBody>
            <a:bodyPr wrap="none" lIns="0" tIns="0" rIns="0" bIns="0" anchor="t" anchorCtr="0">
              <a:spAutoFit/>
            </a:bodyPr>
            <a:lstStyle/>
            <a:p>
              <a:pPr algn="r"/>
              <a:r>
                <a:rPr lang="en-US" sz="980" dirty="0">
                  <a:solidFill>
                    <a:srgbClr val="706B69"/>
                  </a:solidFill>
                  <a:latin typeface="Roche Sans Medium"/>
                  <a:ea typeface="Roche Sans Medium"/>
                  <a:cs typeface="Roche Sans Medium"/>
                </a:rPr>
                <a:t>× 6</a:t>
              </a:r>
            </a:p>
          </p:txBody>
        </p:sp>
        <p:sp>
          <p:nvSpPr>
            <p:cNvPr id="34" name="Rectangle 34"/>
            <p:cNvSpPr/>
            <p:nvPr/>
          </p:nvSpPr>
          <p:spPr>
            <a:xfrm>
              <a:off x="3571875" y="3143250"/>
              <a:ext cx="1619250" cy="228600"/>
            </a:xfrm>
            <a:prstGeom prst="roundRect">
              <a:avLst>
                <a:gd name="adj" fmla="val 25000"/>
              </a:avLst>
            </a:prstGeom>
            <a:solidFill>
              <a:srgbClr val="F5F7FA"/>
            </a:solidFill>
            <a:ln w="9525">
              <a:solidFill>
                <a:srgbClr val="E0E0E0"/>
              </a:solidFill>
            </a:ln>
          </p:spPr>
        </p:sp>
        <p:sp>
          <p:nvSpPr>
            <p:cNvPr id="35" name="TextBox 35"/>
            <p:cNvSpPr txBox="1"/>
            <p:nvPr/>
          </p:nvSpPr>
          <p:spPr>
            <a:xfrm>
              <a:off x="4083308" y="3206591"/>
              <a:ext cx="596385"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Add &amp; Norm</a:t>
              </a:r>
            </a:p>
          </p:txBody>
        </p:sp>
        <p:sp>
          <p:nvSpPr>
            <p:cNvPr id="36" name="Rectangle 36"/>
            <p:cNvSpPr/>
            <p:nvPr/>
          </p:nvSpPr>
          <p:spPr>
            <a:xfrm>
              <a:off x="3571875" y="3429000"/>
              <a:ext cx="1619250" cy="323850"/>
            </a:xfrm>
            <a:prstGeom prst="roundRect">
              <a:avLst>
                <a:gd name="adj" fmla="val 17647"/>
              </a:avLst>
            </a:prstGeom>
            <a:solidFill>
              <a:srgbClr val="E9EEFA"/>
            </a:solidFill>
            <a:ln w="14288">
              <a:solidFill>
                <a:srgbClr val="1482FA"/>
              </a:solidFill>
            </a:ln>
          </p:spPr>
        </p:sp>
        <p:sp>
          <p:nvSpPr>
            <p:cNvPr id="37" name="TextBox 37"/>
            <p:cNvSpPr txBox="1"/>
            <p:nvPr/>
          </p:nvSpPr>
          <p:spPr>
            <a:xfrm>
              <a:off x="3942265" y="3523774"/>
              <a:ext cx="878471" cy="190690"/>
            </a:xfrm>
            <a:prstGeom prst="rect">
              <a:avLst/>
            </a:prstGeom>
            <a:noFill/>
            <a:ln>
              <a:noFill/>
            </a:ln>
          </p:spPr>
          <p:txBody>
            <a:bodyPr wrap="none" lIns="0" tIns="0" rIns="0" bIns="0" anchor="t" anchorCtr="0">
              <a:spAutoFit/>
            </a:bodyPr>
            <a:lstStyle/>
            <a:p>
              <a:pPr algn="ctr"/>
              <a:r>
                <a:rPr lang="en-US" sz="980" dirty="0">
                  <a:solidFill>
                    <a:srgbClr val="0B41CD"/>
                  </a:solidFill>
                  <a:latin typeface="Roche Sans Medium"/>
                  <a:ea typeface="Roche Sans Medium"/>
                  <a:cs typeface="Roche Sans Medium"/>
                </a:rPr>
                <a:t>Feed Forward</a:t>
              </a:r>
            </a:p>
          </p:txBody>
        </p:sp>
        <p:sp>
          <p:nvSpPr>
            <p:cNvPr id="38" name="Rectangle 38"/>
            <p:cNvSpPr/>
            <p:nvPr/>
          </p:nvSpPr>
          <p:spPr>
            <a:xfrm>
              <a:off x="3571875" y="3790950"/>
              <a:ext cx="1619250" cy="228600"/>
            </a:xfrm>
            <a:prstGeom prst="roundRect">
              <a:avLst>
                <a:gd name="adj" fmla="val 25000"/>
              </a:avLst>
            </a:prstGeom>
            <a:solidFill>
              <a:srgbClr val="F5F7FA"/>
            </a:solidFill>
            <a:ln w="9525">
              <a:solidFill>
                <a:srgbClr val="E0E0E0"/>
              </a:solidFill>
            </a:ln>
          </p:spPr>
        </p:sp>
        <p:sp>
          <p:nvSpPr>
            <p:cNvPr id="39" name="TextBox 39"/>
            <p:cNvSpPr txBox="1"/>
            <p:nvPr/>
          </p:nvSpPr>
          <p:spPr>
            <a:xfrm>
              <a:off x="4083308" y="3854291"/>
              <a:ext cx="596385"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Add &amp; Norm</a:t>
              </a:r>
            </a:p>
          </p:txBody>
        </p:sp>
        <p:sp>
          <p:nvSpPr>
            <p:cNvPr id="40" name="Rectangle 40"/>
            <p:cNvSpPr/>
            <p:nvPr/>
          </p:nvSpPr>
          <p:spPr>
            <a:xfrm>
              <a:off x="3571875" y="4076700"/>
              <a:ext cx="1619250" cy="361950"/>
            </a:xfrm>
            <a:prstGeom prst="roundRect">
              <a:avLst>
                <a:gd name="adj" fmla="val 15789"/>
              </a:avLst>
            </a:prstGeom>
            <a:solidFill>
              <a:srgbClr val="E9EEFA"/>
            </a:solidFill>
            <a:ln w="14288">
              <a:solidFill>
                <a:srgbClr val="1482FA"/>
              </a:solidFill>
            </a:ln>
          </p:spPr>
        </p:sp>
        <p:sp>
          <p:nvSpPr>
            <p:cNvPr id="41" name="TextBox 41"/>
            <p:cNvSpPr txBox="1"/>
            <p:nvPr/>
          </p:nvSpPr>
          <p:spPr>
            <a:xfrm>
              <a:off x="3914904" y="4159091"/>
              <a:ext cx="933191" cy="161925"/>
            </a:xfrm>
            <a:prstGeom prst="rect">
              <a:avLst/>
            </a:prstGeom>
            <a:noFill/>
            <a:ln>
              <a:noFill/>
            </a:ln>
          </p:spPr>
          <p:txBody>
            <a:bodyPr wrap="none" lIns="0" tIns="0" rIns="0" bIns="0" anchor="t" anchorCtr="0">
              <a:spAutoFit/>
            </a:bodyPr>
            <a:lstStyle/>
            <a:p>
              <a:pPr algn="ctr"/>
              <a:r>
                <a:rPr lang="en-US" sz="820" dirty="0">
                  <a:solidFill>
                    <a:srgbClr val="0B41CD"/>
                  </a:solidFill>
                  <a:latin typeface="Roche Sans Medium"/>
                  <a:ea typeface="Roche Sans Medium"/>
                  <a:cs typeface="Roche Sans Medium"/>
                </a:rPr>
                <a:t>Encoder–Decoder</a:t>
              </a:r>
            </a:p>
          </p:txBody>
        </p:sp>
        <p:sp>
          <p:nvSpPr>
            <p:cNvPr id="42" name="TextBox 42"/>
            <p:cNvSpPr txBox="1"/>
            <p:nvPr/>
          </p:nvSpPr>
          <p:spPr>
            <a:xfrm>
              <a:off x="3804980" y="4292441"/>
              <a:ext cx="1153039" cy="161925"/>
            </a:xfrm>
            <a:prstGeom prst="rect">
              <a:avLst/>
            </a:prstGeom>
            <a:noFill/>
            <a:ln>
              <a:noFill/>
            </a:ln>
          </p:spPr>
          <p:txBody>
            <a:bodyPr wrap="none" lIns="0" tIns="0" rIns="0" bIns="0" anchor="t" anchorCtr="0">
              <a:spAutoFit/>
            </a:bodyPr>
            <a:lstStyle/>
            <a:p>
              <a:pPr algn="ctr"/>
              <a:r>
                <a:rPr lang="en-US" sz="820" dirty="0">
                  <a:solidFill>
                    <a:srgbClr val="0B41CD"/>
                  </a:solidFill>
                  <a:latin typeface="Roche Sans Medium"/>
                  <a:ea typeface="Roche Sans Medium"/>
                  <a:cs typeface="Roche Sans Medium"/>
                </a:rPr>
                <a:t>Multi-Head Attention</a:t>
              </a:r>
            </a:p>
          </p:txBody>
        </p:sp>
        <p:sp>
          <p:nvSpPr>
            <p:cNvPr id="43" name="Rectangle 43"/>
            <p:cNvSpPr/>
            <p:nvPr/>
          </p:nvSpPr>
          <p:spPr>
            <a:xfrm>
              <a:off x="3571875" y="4476750"/>
              <a:ext cx="1619250" cy="228600"/>
            </a:xfrm>
            <a:prstGeom prst="roundRect">
              <a:avLst>
                <a:gd name="adj" fmla="val 25000"/>
              </a:avLst>
            </a:prstGeom>
            <a:solidFill>
              <a:srgbClr val="F5F7FA"/>
            </a:solidFill>
            <a:ln w="9525">
              <a:solidFill>
                <a:srgbClr val="E0E0E0"/>
              </a:solidFill>
            </a:ln>
          </p:spPr>
        </p:sp>
        <p:sp>
          <p:nvSpPr>
            <p:cNvPr id="44" name="TextBox 44"/>
            <p:cNvSpPr txBox="1"/>
            <p:nvPr/>
          </p:nvSpPr>
          <p:spPr>
            <a:xfrm>
              <a:off x="4083308" y="4540091"/>
              <a:ext cx="596385"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Add &amp; Norm</a:t>
              </a:r>
            </a:p>
          </p:txBody>
        </p:sp>
        <p:sp>
          <p:nvSpPr>
            <p:cNvPr id="45" name="Rectangle 45"/>
            <p:cNvSpPr/>
            <p:nvPr/>
          </p:nvSpPr>
          <p:spPr>
            <a:xfrm>
              <a:off x="3571875" y="4762500"/>
              <a:ext cx="1619250" cy="400050"/>
            </a:xfrm>
            <a:prstGeom prst="roundRect">
              <a:avLst>
                <a:gd name="adj" fmla="val 14286"/>
              </a:avLst>
            </a:prstGeom>
            <a:solidFill>
              <a:srgbClr val="E9EEFA"/>
            </a:solidFill>
            <a:ln w="14288">
              <a:solidFill>
                <a:srgbClr val="1482FA"/>
              </a:solidFill>
            </a:ln>
          </p:spPr>
        </p:sp>
        <p:sp>
          <p:nvSpPr>
            <p:cNvPr id="46" name="TextBox 46"/>
            <p:cNvSpPr txBox="1"/>
            <p:nvPr/>
          </p:nvSpPr>
          <p:spPr>
            <a:xfrm>
              <a:off x="3871303" y="4844891"/>
              <a:ext cx="1020394" cy="161925"/>
            </a:xfrm>
            <a:prstGeom prst="rect">
              <a:avLst/>
            </a:prstGeom>
            <a:noFill/>
            <a:ln>
              <a:noFill/>
            </a:ln>
          </p:spPr>
          <p:txBody>
            <a:bodyPr wrap="none" lIns="0" tIns="0" rIns="0" bIns="0" anchor="t" anchorCtr="0">
              <a:spAutoFit/>
            </a:bodyPr>
            <a:lstStyle/>
            <a:p>
              <a:pPr algn="ctr"/>
              <a:r>
                <a:rPr lang="en-US" sz="820" dirty="0">
                  <a:solidFill>
                    <a:srgbClr val="0B41CD"/>
                  </a:solidFill>
                  <a:latin typeface="Roche Sans Medium"/>
                  <a:ea typeface="Roche Sans Medium"/>
                  <a:cs typeface="Roche Sans Medium"/>
                </a:rPr>
                <a:t>Masked Multi-Head</a:t>
              </a:r>
            </a:p>
          </p:txBody>
        </p:sp>
        <p:sp>
          <p:nvSpPr>
            <p:cNvPr id="47" name="TextBox 47"/>
            <p:cNvSpPr txBox="1"/>
            <p:nvPr/>
          </p:nvSpPr>
          <p:spPr>
            <a:xfrm>
              <a:off x="3973434" y="4987766"/>
              <a:ext cx="816131" cy="161925"/>
            </a:xfrm>
            <a:prstGeom prst="rect">
              <a:avLst/>
            </a:prstGeom>
            <a:noFill/>
            <a:ln>
              <a:noFill/>
            </a:ln>
          </p:spPr>
          <p:txBody>
            <a:bodyPr wrap="none" lIns="0" tIns="0" rIns="0" bIns="0" anchor="t" anchorCtr="0">
              <a:spAutoFit/>
            </a:bodyPr>
            <a:lstStyle/>
            <a:p>
              <a:pPr algn="ctr"/>
              <a:r>
                <a:rPr lang="en-US" sz="820" dirty="0">
                  <a:solidFill>
                    <a:srgbClr val="0B41CD"/>
                  </a:solidFill>
                  <a:latin typeface="Roche Sans Medium"/>
                  <a:ea typeface="Roche Sans Medium"/>
                  <a:cs typeface="Roche Sans Medium"/>
                </a:rPr>
                <a:t>Self-Attention</a:t>
              </a:r>
            </a:p>
          </p:txBody>
        </p:sp>
        <p:sp>
          <p:nvSpPr>
            <p:cNvPr id="48" name="Line 48"/>
            <p:cNvSpPr/>
            <p:nvPr/>
          </p:nvSpPr>
          <p:spPr>
            <a:xfrm flipV="1">
              <a:off x="4381500" y="4438650"/>
              <a:ext cx="1" cy="38100"/>
            </a:xfrm>
            <a:prstGeom prst="line">
              <a:avLst/>
            </a:prstGeom>
            <a:noFill/>
            <a:ln w="14288">
              <a:solidFill>
                <a:srgbClr val="1482FA"/>
              </a:solidFill>
              <a:tailEnd type="triangle" w="lg" len="lg"/>
            </a:ln>
          </p:spPr>
        </p:sp>
        <p:sp>
          <p:nvSpPr>
            <p:cNvPr id="49" name="Line 49"/>
            <p:cNvSpPr/>
            <p:nvPr/>
          </p:nvSpPr>
          <p:spPr>
            <a:xfrm flipV="1">
              <a:off x="4381500" y="4038600"/>
              <a:ext cx="1" cy="38100"/>
            </a:xfrm>
            <a:prstGeom prst="line">
              <a:avLst/>
            </a:prstGeom>
            <a:noFill/>
            <a:ln w="14288">
              <a:solidFill>
                <a:srgbClr val="1482FA"/>
              </a:solidFill>
              <a:tailEnd type="triangle" w="lg" len="lg"/>
            </a:ln>
          </p:spPr>
        </p:sp>
        <p:sp>
          <p:nvSpPr>
            <p:cNvPr id="50" name="Line 50"/>
            <p:cNvSpPr/>
            <p:nvPr/>
          </p:nvSpPr>
          <p:spPr>
            <a:xfrm flipV="1">
              <a:off x="4381500" y="3752850"/>
              <a:ext cx="1" cy="38100"/>
            </a:xfrm>
            <a:prstGeom prst="line">
              <a:avLst/>
            </a:prstGeom>
            <a:noFill/>
            <a:ln w="14288">
              <a:solidFill>
                <a:srgbClr val="1482FA"/>
              </a:solidFill>
              <a:tailEnd type="triangle" w="lg" len="lg"/>
            </a:ln>
          </p:spPr>
        </p:sp>
        <p:sp>
          <p:nvSpPr>
            <p:cNvPr id="51" name="Line 51"/>
            <p:cNvSpPr/>
            <p:nvPr/>
          </p:nvSpPr>
          <p:spPr>
            <a:xfrm flipV="1">
              <a:off x="4381500" y="3390900"/>
              <a:ext cx="1" cy="38100"/>
            </a:xfrm>
            <a:prstGeom prst="line">
              <a:avLst/>
            </a:prstGeom>
            <a:noFill/>
            <a:ln w="14288">
              <a:solidFill>
                <a:srgbClr val="1482FA"/>
              </a:solidFill>
              <a:tailEnd type="triangle" w="lg" len="lg"/>
            </a:ln>
          </p:spPr>
        </p:sp>
        <p:sp>
          <p:nvSpPr>
            <p:cNvPr id="52" name="Line 52"/>
            <p:cNvSpPr/>
            <p:nvPr/>
          </p:nvSpPr>
          <p:spPr>
            <a:xfrm flipV="1">
              <a:off x="4381500" y="4724400"/>
              <a:ext cx="1" cy="38100"/>
            </a:xfrm>
            <a:prstGeom prst="line">
              <a:avLst/>
            </a:prstGeom>
            <a:noFill/>
            <a:ln w="14288">
              <a:solidFill>
                <a:srgbClr val="1482FA"/>
              </a:solidFill>
              <a:tailEnd type="triangle" w="lg" len="lg"/>
            </a:ln>
          </p:spPr>
        </p:sp>
        <p:sp>
          <p:nvSpPr>
            <p:cNvPr id="53" name="Rectangle 53"/>
            <p:cNvSpPr/>
            <p:nvPr/>
          </p:nvSpPr>
          <p:spPr>
            <a:xfrm>
              <a:off x="3714750" y="5676900"/>
              <a:ext cx="1333500" cy="285750"/>
            </a:xfrm>
            <a:prstGeom prst="roundRect">
              <a:avLst>
                <a:gd name="adj" fmla="val 20000"/>
              </a:avLst>
            </a:prstGeom>
            <a:solidFill>
              <a:srgbClr val="FFFFFF"/>
            </a:solidFill>
            <a:ln w="14288">
              <a:solidFill>
                <a:srgbClr val="0B41CD"/>
              </a:solidFill>
            </a:ln>
          </p:spPr>
        </p:sp>
        <p:sp>
          <p:nvSpPr>
            <p:cNvPr id="54" name="TextBox 54"/>
            <p:cNvSpPr txBox="1"/>
            <p:nvPr/>
          </p:nvSpPr>
          <p:spPr>
            <a:xfrm>
              <a:off x="3889974" y="5768816"/>
              <a:ext cx="983052" cy="161925"/>
            </a:xfrm>
            <a:prstGeom prst="rect">
              <a:avLst/>
            </a:prstGeom>
            <a:noFill/>
            <a:ln>
              <a:noFill/>
            </a:ln>
          </p:spPr>
          <p:txBody>
            <a:bodyPr wrap="none" lIns="0" tIns="0" rIns="0" bIns="0" anchor="t" anchorCtr="0">
              <a:spAutoFit/>
            </a:bodyPr>
            <a:lstStyle/>
            <a:p>
              <a:pPr algn="ctr"/>
              <a:r>
                <a:rPr lang="en-US" sz="820" dirty="0">
                  <a:solidFill>
                    <a:srgbClr val="0B41CD"/>
                  </a:solidFill>
                  <a:latin typeface="Roche Sans Medium"/>
                  <a:ea typeface="Roche Sans Medium"/>
                  <a:cs typeface="Roche Sans Medium"/>
                </a:rPr>
                <a:t>Output Embedding</a:t>
              </a:r>
            </a:p>
          </p:txBody>
        </p:sp>
        <p:sp>
          <p:nvSpPr>
            <p:cNvPr id="55" name="Ellipse 55"/>
            <p:cNvSpPr/>
            <p:nvPr/>
          </p:nvSpPr>
          <p:spPr>
            <a:xfrm>
              <a:off x="4276725" y="5286375"/>
              <a:ext cx="209550" cy="209550"/>
            </a:xfrm>
            <a:prstGeom prst="ellipse">
              <a:avLst/>
            </a:prstGeom>
            <a:solidFill>
              <a:srgbClr val="FFFFFF"/>
            </a:solidFill>
            <a:ln w="14288">
              <a:solidFill>
                <a:srgbClr val="706B69"/>
              </a:solidFill>
            </a:ln>
          </p:spPr>
        </p:sp>
        <p:sp>
          <p:nvSpPr>
            <p:cNvPr id="56" name="TextBox 56"/>
            <p:cNvSpPr txBox="1"/>
            <p:nvPr/>
          </p:nvSpPr>
          <p:spPr>
            <a:xfrm>
              <a:off x="4337294" y="5325428"/>
              <a:ext cx="88411" cy="205359"/>
            </a:xfrm>
            <a:prstGeom prst="rect">
              <a:avLst/>
            </a:prstGeom>
            <a:noFill/>
            <a:ln>
              <a:noFill/>
            </a:ln>
          </p:spPr>
          <p:txBody>
            <a:bodyPr wrap="none" lIns="0" tIns="0" rIns="0" bIns="0" anchor="t" anchorCtr="0">
              <a:spAutoFit/>
            </a:bodyPr>
            <a:lstStyle/>
            <a:p>
              <a:pPr algn="ctr"/>
              <a:r>
                <a:rPr lang="en-US" sz="1050" dirty="0">
                  <a:solidFill>
                    <a:srgbClr val="706B69"/>
                  </a:solidFill>
                  <a:latin typeface="Roche Sans"/>
                  <a:ea typeface="Roche Sans"/>
                  <a:cs typeface="Roche Sans"/>
                </a:rPr>
                <a:t>+</a:t>
              </a:r>
            </a:p>
          </p:txBody>
        </p:sp>
        <p:sp>
          <p:nvSpPr>
            <p:cNvPr id="57" name="TextBox 57"/>
            <p:cNvSpPr txBox="1"/>
            <p:nvPr/>
          </p:nvSpPr>
          <p:spPr>
            <a:xfrm>
              <a:off x="4548188" y="5272088"/>
              <a:ext cx="489109" cy="147638"/>
            </a:xfrm>
            <a:prstGeom prst="rect">
              <a:avLst/>
            </a:prstGeom>
            <a:noFill/>
            <a:ln>
              <a:noFill/>
            </a:ln>
          </p:spPr>
          <p:txBody>
            <a:bodyPr wrap="none" lIns="0" tIns="0" rIns="0" bIns="0" anchor="t" anchorCtr="0">
              <a:spAutoFit/>
            </a:bodyPr>
            <a:lstStyle/>
            <a:p>
              <a:pPr algn="l"/>
              <a:r>
                <a:rPr lang="en-US" sz="750" dirty="0">
                  <a:solidFill>
                    <a:srgbClr val="706B69"/>
                  </a:solidFill>
                  <a:latin typeface="Roche Sans"/>
                  <a:ea typeface="Roche Sans"/>
                  <a:cs typeface="Roche Sans"/>
                </a:rPr>
                <a:t>positional</a:t>
              </a:r>
            </a:p>
          </p:txBody>
        </p:sp>
        <p:sp>
          <p:nvSpPr>
            <p:cNvPr id="58" name="TextBox 58"/>
            <p:cNvSpPr txBox="1"/>
            <p:nvPr/>
          </p:nvSpPr>
          <p:spPr>
            <a:xfrm>
              <a:off x="4548188" y="5386388"/>
              <a:ext cx="428530" cy="147638"/>
            </a:xfrm>
            <a:prstGeom prst="rect">
              <a:avLst/>
            </a:prstGeom>
            <a:noFill/>
            <a:ln>
              <a:noFill/>
            </a:ln>
          </p:spPr>
          <p:txBody>
            <a:bodyPr wrap="none" lIns="0" tIns="0" rIns="0" bIns="0" anchor="t" anchorCtr="0">
              <a:spAutoFit/>
            </a:bodyPr>
            <a:lstStyle/>
            <a:p>
              <a:pPr algn="l"/>
              <a:r>
                <a:rPr lang="en-US" sz="750" dirty="0">
                  <a:solidFill>
                    <a:srgbClr val="706B69"/>
                  </a:solidFill>
                  <a:latin typeface="Roche Sans"/>
                  <a:ea typeface="Roche Sans"/>
                  <a:cs typeface="Roche Sans"/>
                </a:rPr>
                <a:t>encoding</a:t>
              </a:r>
            </a:p>
          </p:txBody>
        </p:sp>
        <p:sp>
          <p:nvSpPr>
            <p:cNvPr id="59" name="Line 59"/>
            <p:cNvSpPr/>
            <p:nvPr/>
          </p:nvSpPr>
          <p:spPr>
            <a:xfrm flipV="1">
              <a:off x="4381500" y="5524500"/>
              <a:ext cx="1" cy="152400"/>
            </a:xfrm>
            <a:prstGeom prst="line">
              <a:avLst/>
            </a:prstGeom>
            <a:noFill/>
            <a:ln w="14288">
              <a:solidFill>
                <a:srgbClr val="1482FA"/>
              </a:solidFill>
              <a:tailEnd type="triangle" w="lg" len="lg"/>
            </a:ln>
          </p:spPr>
        </p:sp>
        <p:sp>
          <p:nvSpPr>
            <p:cNvPr id="60" name="Line 60"/>
            <p:cNvSpPr/>
            <p:nvPr/>
          </p:nvSpPr>
          <p:spPr>
            <a:xfrm flipV="1">
              <a:off x="4381500" y="5200650"/>
              <a:ext cx="1" cy="85725"/>
            </a:xfrm>
            <a:prstGeom prst="line">
              <a:avLst/>
            </a:prstGeom>
            <a:noFill/>
            <a:ln w="14288">
              <a:solidFill>
                <a:srgbClr val="1482FA"/>
              </a:solidFill>
              <a:tailEnd type="triangle" w="lg" len="lg"/>
            </a:ln>
          </p:spPr>
        </p:sp>
        <p:sp>
          <p:nvSpPr>
            <p:cNvPr id="61" name="Rectangle 61"/>
            <p:cNvSpPr/>
            <p:nvPr/>
          </p:nvSpPr>
          <p:spPr>
            <a:xfrm>
              <a:off x="3667125" y="2038350"/>
              <a:ext cx="1428750" cy="266700"/>
            </a:xfrm>
            <a:prstGeom prst="roundRect">
              <a:avLst>
                <a:gd name="adj" fmla="val 21429"/>
              </a:avLst>
            </a:prstGeom>
            <a:solidFill>
              <a:srgbClr val="0B41CD"/>
            </a:solidFill>
            <a:ln>
              <a:noFill/>
            </a:ln>
          </p:spPr>
        </p:sp>
        <p:sp>
          <p:nvSpPr>
            <p:cNvPr id="62" name="TextBox 62"/>
            <p:cNvSpPr txBox="1"/>
            <p:nvPr/>
          </p:nvSpPr>
          <p:spPr>
            <a:xfrm>
              <a:off x="4174496" y="2114074"/>
              <a:ext cx="414009"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Linear</a:t>
              </a:r>
            </a:p>
          </p:txBody>
        </p:sp>
        <p:sp>
          <p:nvSpPr>
            <p:cNvPr id="63" name="Rectangle 63"/>
            <p:cNvSpPr/>
            <p:nvPr/>
          </p:nvSpPr>
          <p:spPr>
            <a:xfrm>
              <a:off x="3667125" y="1676400"/>
              <a:ext cx="1428750" cy="266700"/>
            </a:xfrm>
            <a:prstGeom prst="roundRect">
              <a:avLst>
                <a:gd name="adj" fmla="val 21429"/>
              </a:avLst>
            </a:prstGeom>
            <a:solidFill>
              <a:srgbClr val="0B41CD"/>
            </a:solidFill>
            <a:ln>
              <a:noFill/>
            </a:ln>
          </p:spPr>
        </p:sp>
        <p:sp>
          <p:nvSpPr>
            <p:cNvPr id="64" name="TextBox 64"/>
            <p:cNvSpPr txBox="1"/>
            <p:nvPr/>
          </p:nvSpPr>
          <p:spPr>
            <a:xfrm>
              <a:off x="4108607" y="1752124"/>
              <a:ext cx="545785"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Softmax</a:t>
              </a:r>
            </a:p>
          </p:txBody>
        </p:sp>
        <p:sp>
          <p:nvSpPr>
            <p:cNvPr id="65" name="TextBox 65"/>
            <p:cNvSpPr txBox="1"/>
            <p:nvPr/>
          </p:nvSpPr>
          <p:spPr>
            <a:xfrm>
              <a:off x="3820914" y="1453991"/>
              <a:ext cx="1121171"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Output Probabilities</a:t>
              </a:r>
            </a:p>
          </p:txBody>
        </p:sp>
        <p:sp>
          <p:nvSpPr>
            <p:cNvPr id="66" name="Line 66"/>
            <p:cNvSpPr/>
            <p:nvPr/>
          </p:nvSpPr>
          <p:spPr>
            <a:xfrm flipV="1">
              <a:off x="4381500" y="2343150"/>
              <a:ext cx="1" cy="800100"/>
            </a:xfrm>
            <a:prstGeom prst="line">
              <a:avLst/>
            </a:prstGeom>
            <a:noFill/>
            <a:ln w="14288">
              <a:solidFill>
                <a:srgbClr val="1482FA"/>
              </a:solidFill>
              <a:tailEnd type="triangle" w="lg" len="lg"/>
            </a:ln>
          </p:spPr>
        </p:sp>
        <p:sp>
          <p:nvSpPr>
            <p:cNvPr id="67" name="Line 67"/>
            <p:cNvSpPr/>
            <p:nvPr/>
          </p:nvSpPr>
          <p:spPr>
            <a:xfrm flipV="1">
              <a:off x="4381500" y="1981200"/>
              <a:ext cx="1" cy="57150"/>
            </a:xfrm>
            <a:prstGeom prst="line">
              <a:avLst/>
            </a:prstGeom>
            <a:noFill/>
            <a:ln w="14288">
              <a:solidFill>
                <a:srgbClr val="1482FA"/>
              </a:solidFill>
              <a:tailEnd type="triangle" w="lg" len="lg"/>
            </a:ln>
          </p:spPr>
        </p:sp>
        <p:sp>
          <p:nvSpPr>
            <p:cNvPr id="68" name="Freeform 68"/>
            <p:cNvSpPr/>
            <p:nvPr/>
          </p:nvSpPr>
          <p:spPr>
            <a:xfrm>
              <a:off x="2876550" y="3952875"/>
              <a:ext cx="676275" cy="304800"/>
            </a:xfrm>
            <a:custGeom>
              <a:avLst/>
              <a:gdLst/>
              <a:ahLst/>
              <a:cxnLst/>
              <a:rect l="l" t="t" r="r" b="b"/>
              <a:pathLst>
                <a:path w="676275" h="304800">
                  <a:moveTo>
                    <a:pt x="0" y="0"/>
                  </a:moveTo>
                  <a:cubicBezTo>
                    <a:pt x="285750" y="0"/>
                    <a:pt x="400050" y="304800"/>
                    <a:pt x="676275" y="304800"/>
                  </a:cubicBezTo>
                </a:path>
              </a:pathLst>
            </a:custGeom>
            <a:noFill/>
            <a:ln w="14288">
              <a:solidFill>
                <a:srgbClr val="0B41CD"/>
              </a:solidFill>
              <a:custDash>
                <a:ds d="333333" sp="200000"/>
              </a:custDash>
              <a:tailEnd type="triangle" w="lg" len="lg"/>
            </a:ln>
          </p:spPr>
        </p:sp>
        <p:sp>
          <p:nvSpPr>
            <p:cNvPr id="69" name="TextBox 69"/>
            <p:cNvSpPr txBox="1"/>
            <p:nvPr/>
          </p:nvSpPr>
          <p:spPr>
            <a:xfrm>
              <a:off x="3005138" y="3805238"/>
              <a:ext cx="217551" cy="147638"/>
            </a:xfrm>
            <a:prstGeom prst="rect">
              <a:avLst/>
            </a:prstGeom>
            <a:noFill/>
            <a:ln>
              <a:noFill/>
            </a:ln>
          </p:spPr>
          <p:txBody>
            <a:bodyPr wrap="none" lIns="0" tIns="0" rIns="0" bIns="0" anchor="t" anchorCtr="0">
              <a:spAutoFit/>
            </a:bodyPr>
            <a:lstStyle/>
            <a:p>
              <a:pPr algn="l"/>
              <a:r>
                <a:rPr lang="en-US" sz="750" dirty="0">
                  <a:solidFill>
                    <a:srgbClr val="0B41CD"/>
                  </a:solidFill>
                  <a:latin typeface="Roche Sans Medium"/>
                  <a:ea typeface="Roche Sans Medium"/>
                  <a:cs typeface="Roche Sans Medium"/>
                </a:rPr>
                <a:t>K, V</a:t>
              </a:r>
            </a:p>
          </p:txBody>
        </p:sp>
        <p:grpSp>
          <p:nvGrpSpPr>
            <p:cNvPr id="75" name="Group 75"/>
            <p:cNvGrpSpPr/>
            <p:nvPr/>
          </p:nvGrpSpPr>
          <p:grpSpPr>
            <a:xfrm>
              <a:off x="1200150" y="3257550"/>
              <a:ext cx="3181350" cy="1962150"/>
              <a:chOff x="1200150" y="3257550"/>
              <a:chExt cx="3181350" cy="1962150"/>
            </a:xfrm>
          </p:grpSpPr>
          <p:sp>
            <p:nvSpPr>
              <p:cNvPr id="70" name="Freeform 70"/>
              <p:cNvSpPr/>
              <p:nvPr/>
            </p:nvSpPr>
            <p:spPr>
              <a:xfrm>
                <a:off x="1200150" y="4429125"/>
                <a:ext cx="800100" cy="695325"/>
              </a:xfrm>
              <a:custGeom>
                <a:avLst/>
                <a:gdLst/>
                <a:ahLst/>
                <a:cxnLst/>
                <a:rect l="l" t="t" r="r" b="b"/>
                <a:pathLst>
                  <a:path w="800100" h="695325">
                    <a:moveTo>
                      <a:pt x="800100" y="695325"/>
                    </a:moveTo>
                    <a:lnTo>
                      <a:pt x="0" y="695325"/>
                    </a:lnTo>
                    <a:lnTo>
                      <a:pt x="0" y="0"/>
                    </a:lnTo>
                    <a:lnTo>
                      <a:pt x="66675" y="0"/>
                    </a:lnTo>
                  </a:path>
                </a:pathLst>
              </a:custGeom>
              <a:noFill/>
              <a:ln w="12382">
                <a:solidFill>
                  <a:srgbClr val="95C7FD"/>
                </a:solidFill>
                <a:tailEnd type="triangle" w="lg" len="lg"/>
              </a:ln>
            </p:spPr>
          </p:sp>
          <p:sp>
            <p:nvSpPr>
              <p:cNvPr id="71" name="Freeform 71"/>
              <p:cNvSpPr/>
              <p:nvPr/>
            </p:nvSpPr>
            <p:spPr>
              <a:xfrm>
                <a:off x="1200150" y="3667125"/>
                <a:ext cx="800100" cy="600075"/>
              </a:xfrm>
              <a:custGeom>
                <a:avLst/>
                <a:gdLst/>
                <a:ahLst/>
                <a:cxnLst/>
                <a:rect l="l" t="t" r="r" b="b"/>
                <a:pathLst>
                  <a:path w="800100" h="600075">
                    <a:moveTo>
                      <a:pt x="800100" y="600075"/>
                    </a:moveTo>
                    <a:lnTo>
                      <a:pt x="0" y="600075"/>
                    </a:lnTo>
                    <a:lnTo>
                      <a:pt x="0" y="0"/>
                    </a:lnTo>
                    <a:lnTo>
                      <a:pt x="66675" y="0"/>
                    </a:lnTo>
                  </a:path>
                </a:pathLst>
              </a:custGeom>
              <a:noFill/>
              <a:ln w="12382">
                <a:solidFill>
                  <a:srgbClr val="95C7FD"/>
                </a:solidFill>
                <a:tailEnd type="triangle" w="lg" len="lg"/>
              </a:ln>
            </p:spPr>
          </p:sp>
          <p:sp>
            <p:nvSpPr>
              <p:cNvPr id="72" name="Freeform 72"/>
              <p:cNvSpPr/>
              <p:nvPr/>
            </p:nvSpPr>
            <p:spPr>
              <a:xfrm>
                <a:off x="3495675" y="4591050"/>
                <a:ext cx="885825" cy="628650"/>
              </a:xfrm>
              <a:custGeom>
                <a:avLst/>
                <a:gdLst/>
                <a:ahLst/>
                <a:cxnLst/>
                <a:rect l="l" t="t" r="r" b="b"/>
                <a:pathLst>
                  <a:path w="885825" h="628650">
                    <a:moveTo>
                      <a:pt x="885825" y="628650"/>
                    </a:moveTo>
                    <a:lnTo>
                      <a:pt x="0" y="628650"/>
                    </a:lnTo>
                    <a:lnTo>
                      <a:pt x="0" y="0"/>
                    </a:lnTo>
                    <a:lnTo>
                      <a:pt x="57150" y="0"/>
                    </a:lnTo>
                  </a:path>
                </a:pathLst>
              </a:custGeom>
              <a:noFill/>
              <a:ln w="12382">
                <a:solidFill>
                  <a:srgbClr val="95C7FD"/>
                </a:solidFill>
                <a:tailEnd type="triangle" w="lg" len="lg"/>
              </a:ln>
            </p:spPr>
          </p:sp>
          <p:sp>
            <p:nvSpPr>
              <p:cNvPr id="73" name="Freeform 73"/>
              <p:cNvSpPr/>
              <p:nvPr/>
            </p:nvSpPr>
            <p:spPr>
              <a:xfrm>
                <a:off x="3495675" y="3905250"/>
                <a:ext cx="885825" cy="590550"/>
              </a:xfrm>
              <a:custGeom>
                <a:avLst/>
                <a:gdLst/>
                <a:ahLst/>
                <a:cxnLst/>
                <a:rect l="l" t="t" r="r" b="b"/>
                <a:pathLst>
                  <a:path w="885825" h="590550">
                    <a:moveTo>
                      <a:pt x="885825" y="590550"/>
                    </a:moveTo>
                    <a:lnTo>
                      <a:pt x="0" y="590550"/>
                    </a:lnTo>
                    <a:lnTo>
                      <a:pt x="0" y="0"/>
                    </a:lnTo>
                    <a:lnTo>
                      <a:pt x="57150" y="0"/>
                    </a:lnTo>
                  </a:path>
                </a:pathLst>
              </a:custGeom>
              <a:noFill/>
              <a:ln w="12382">
                <a:solidFill>
                  <a:srgbClr val="95C7FD"/>
                </a:solidFill>
                <a:tailEnd type="triangle" w="lg" len="lg"/>
              </a:ln>
            </p:spPr>
          </p:sp>
          <p:sp>
            <p:nvSpPr>
              <p:cNvPr id="74" name="Freeform 74"/>
              <p:cNvSpPr/>
              <p:nvPr/>
            </p:nvSpPr>
            <p:spPr>
              <a:xfrm>
                <a:off x="3495675" y="3257550"/>
                <a:ext cx="885825" cy="552450"/>
              </a:xfrm>
              <a:custGeom>
                <a:avLst/>
                <a:gdLst/>
                <a:ahLst/>
                <a:cxnLst/>
                <a:rect l="l" t="t" r="r" b="b"/>
                <a:pathLst>
                  <a:path w="885825" h="552450">
                    <a:moveTo>
                      <a:pt x="885825" y="552450"/>
                    </a:moveTo>
                    <a:lnTo>
                      <a:pt x="0" y="552450"/>
                    </a:lnTo>
                    <a:lnTo>
                      <a:pt x="0" y="0"/>
                    </a:lnTo>
                    <a:lnTo>
                      <a:pt x="57150" y="0"/>
                    </a:lnTo>
                  </a:path>
                </a:pathLst>
              </a:custGeom>
              <a:noFill/>
              <a:ln w="12382">
                <a:solidFill>
                  <a:srgbClr val="95C7FD"/>
                </a:solidFill>
                <a:tailEnd type="triangle" w="lg" len="lg"/>
              </a:ln>
            </p:spPr>
          </p:sp>
        </p:grpSp>
        <p:grpSp>
          <p:nvGrpSpPr>
            <p:cNvPr id="78" name="Group 78"/>
            <p:cNvGrpSpPr/>
            <p:nvPr/>
          </p:nvGrpSpPr>
          <p:grpSpPr>
            <a:xfrm>
              <a:off x="1885950" y="5048250"/>
              <a:ext cx="228601" cy="95250"/>
              <a:chOff x="1885950" y="5048250"/>
              <a:chExt cx="228601" cy="95250"/>
            </a:xfrm>
          </p:grpSpPr>
          <p:sp>
            <p:nvSpPr>
              <p:cNvPr id="76" name="Line 76"/>
              <p:cNvSpPr/>
              <p:nvPr/>
            </p:nvSpPr>
            <p:spPr>
              <a:xfrm flipV="1">
                <a:off x="1885950" y="5048250"/>
                <a:ext cx="1" cy="95250"/>
              </a:xfrm>
              <a:prstGeom prst="line">
                <a:avLst/>
              </a:prstGeom>
              <a:noFill/>
              <a:ln w="12382">
                <a:solidFill>
                  <a:srgbClr val="95C7FD"/>
                </a:solidFill>
                <a:tailEnd type="triangle" w="lg" len="lg"/>
              </a:ln>
            </p:spPr>
          </p:sp>
          <p:sp>
            <p:nvSpPr>
              <p:cNvPr id="77" name="Line 77"/>
              <p:cNvSpPr/>
              <p:nvPr/>
            </p:nvSpPr>
            <p:spPr>
              <a:xfrm flipV="1">
                <a:off x="2114550" y="5048250"/>
                <a:ext cx="1" cy="95250"/>
              </a:xfrm>
              <a:prstGeom prst="line">
                <a:avLst/>
              </a:prstGeom>
              <a:noFill/>
              <a:ln w="12382">
                <a:solidFill>
                  <a:srgbClr val="95C7FD"/>
                </a:solidFill>
                <a:tailEnd type="triangle" w="lg" len="lg"/>
              </a:ln>
            </p:spPr>
          </p:sp>
        </p:grpSp>
        <p:sp>
          <p:nvSpPr>
            <p:cNvPr id="79" name="TextBox 79"/>
            <p:cNvSpPr txBox="1"/>
            <p:nvPr/>
          </p:nvSpPr>
          <p:spPr>
            <a:xfrm>
              <a:off x="1862138" y="5184934"/>
              <a:ext cx="244754" cy="133350"/>
            </a:xfrm>
            <a:prstGeom prst="rect">
              <a:avLst/>
            </a:prstGeom>
            <a:noFill/>
            <a:ln>
              <a:noFill/>
            </a:ln>
          </p:spPr>
          <p:txBody>
            <a:bodyPr wrap="none" lIns="0" tIns="0" rIns="0" bIns="0" anchor="t" anchorCtr="0">
              <a:spAutoFit/>
            </a:bodyPr>
            <a:lstStyle/>
            <a:p>
              <a:pPr algn="l"/>
              <a:r>
                <a:rPr lang="en-US" sz="680" dirty="0">
                  <a:solidFill>
                    <a:srgbClr val="95C7FD"/>
                  </a:solidFill>
                  <a:latin typeface="Consolas"/>
                  <a:ea typeface="Consolas"/>
                  <a:cs typeface="Consolas"/>
                </a:rPr>
                <a:t>Q K V</a:t>
              </a:r>
            </a:p>
          </p:txBody>
        </p:sp>
        <p:sp>
          <p:nvSpPr>
            <p:cNvPr id="80" name="Freeform 80"/>
            <p:cNvSpPr/>
            <p:nvPr/>
          </p:nvSpPr>
          <p:spPr>
            <a:xfrm>
              <a:off x="1200150" y="6057900"/>
              <a:ext cx="66675" cy="95250"/>
            </a:xfrm>
            <a:custGeom>
              <a:avLst/>
              <a:gdLst/>
              <a:ahLst/>
              <a:cxnLst/>
              <a:rect l="l" t="t" r="r" b="b"/>
              <a:pathLst>
                <a:path w="66675" h="95250">
                  <a:moveTo>
                    <a:pt x="0" y="95250"/>
                  </a:moveTo>
                  <a:lnTo>
                    <a:pt x="0" y="0"/>
                  </a:lnTo>
                  <a:lnTo>
                    <a:pt x="66675" y="0"/>
                  </a:lnTo>
                </a:path>
              </a:pathLst>
            </a:custGeom>
            <a:noFill/>
            <a:ln w="12382">
              <a:solidFill>
                <a:srgbClr val="95C7FD"/>
              </a:solidFill>
              <a:tailEnd type="triangle" w="lg" len="lg"/>
            </a:ln>
          </p:spPr>
        </p:sp>
        <p:sp>
          <p:nvSpPr>
            <p:cNvPr id="81" name="TextBox 81"/>
            <p:cNvSpPr txBox="1"/>
            <p:nvPr/>
          </p:nvSpPr>
          <p:spPr>
            <a:xfrm>
              <a:off x="1328738" y="6083141"/>
              <a:ext cx="4799748" cy="161925"/>
            </a:xfrm>
            <a:prstGeom prst="rect">
              <a:avLst/>
            </a:prstGeom>
            <a:noFill/>
            <a:ln>
              <a:noFill/>
            </a:ln>
          </p:spPr>
          <p:txBody>
            <a:bodyPr wrap="none" lIns="0" tIns="0" rIns="0" bIns="0" anchor="t" anchorCtr="0">
              <a:spAutoFit/>
            </a:bodyPr>
            <a:lstStyle/>
            <a:p>
              <a:pPr algn="l"/>
              <a:r>
                <a:rPr lang="en-US" sz="820" dirty="0">
                  <a:solidFill>
                    <a:srgbClr val="706B69"/>
                  </a:solidFill>
                  <a:latin typeface="Roche Sans"/>
                  <a:ea typeface="Roche Sans"/>
                  <a:cs typeface="Roche Sans"/>
                </a:rPr>
                <a:t>residual skip = LayerNorm(x + Sublayer(x)) · Q K V = same-source self-attention inputs</a:t>
              </a:r>
            </a:p>
          </p:txBody>
        </p:sp>
      </p:grpSp>
      <p:grpSp>
        <p:nvGrpSpPr>
          <p:cNvPr id="113" name="Group 113"/>
          <p:cNvGrpSpPr/>
          <p:nvPr/>
        </p:nvGrpSpPr>
        <p:grpSpPr>
          <a:xfrm>
            <a:off x="5905500" y="1409700"/>
            <a:ext cx="5867105" cy="4495800"/>
            <a:chOff x="5905500" y="1409700"/>
            <a:chExt cx="5867105" cy="4495800"/>
          </a:xfrm>
        </p:grpSpPr>
        <p:sp>
          <p:nvSpPr>
            <p:cNvPr id="83" name="Rectangle 83"/>
            <p:cNvSpPr/>
            <p:nvPr/>
          </p:nvSpPr>
          <p:spPr>
            <a:xfrm>
              <a:off x="5905500" y="1409700"/>
              <a:ext cx="5715000" cy="4495800"/>
            </a:xfrm>
            <a:prstGeom prst="roundRect">
              <a:avLst>
                <a:gd name="adj" fmla="val 2542"/>
              </a:avLst>
            </a:prstGeom>
            <a:solidFill>
              <a:srgbClr val="F5F7FA"/>
            </a:solidFill>
            <a:ln w="9525">
              <a:solidFill>
                <a:srgbClr val="E0E0E0"/>
              </a:solidFill>
            </a:ln>
          </p:spPr>
        </p:sp>
        <p:sp>
          <p:nvSpPr>
            <p:cNvPr id="84" name="Rectangle 84"/>
            <p:cNvSpPr/>
            <p:nvPr/>
          </p:nvSpPr>
          <p:spPr>
            <a:xfrm>
              <a:off x="5905500" y="1409700"/>
              <a:ext cx="47625" cy="4495800"/>
            </a:xfrm>
            <a:prstGeom prst="roundRect">
              <a:avLst>
                <a:gd name="adj" fmla="val 50000"/>
              </a:avLst>
            </a:prstGeom>
            <a:solidFill>
              <a:srgbClr val="0B41CD"/>
            </a:solidFill>
            <a:ln>
              <a:noFill/>
            </a:ln>
          </p:spPr>
        </p:sp>
        <p:sp>
          <p:nvSpPr>
            <p:cNvPr id="85" name="TextBox 85"/>
            <p:cNvSpPr txBox="1"/>
            <p:nvPr/>
          </p:nvSpPr>
          <p:spPr>
            <a:xfrm>
              <a:off x="6243447" y="1647349"/>
              <a:ext cx="1216457"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READ THE STACK</a:t>
              </a:r>
            </a:p>
          </p:txBody>
        </p:sp>
        <p:grpSp>
          <p:nvGrpSpPr>
            <p:cNvPr id="90" name="Group 90"/>
            <p:cNvGrpSpPr/>
            <p:nvPr/>
          </p:nvGrpSpPr>
          <p:grpSpPr>
            <a:xfrm>
              <a:off x="6210300" y="1998821"/>
              <a:ext cx="4432105" cy="474440"/>
              <a:chOff x="6210300" y="1998821"/>
              <a:chExt cx="4432105" cy="474440"/>
            </a:xfrm>
          </p:grpSpPr>
          <p:sp>
            <p:nvSpPr>
              <p:cNvPr id="86" name="Ellipse 86"/>
              <p:cNvSpPr/>
              <p:nvPr/>
            </p:nvSpPr>
            <p:spPr>
              <a:xfrm>
                <a:off x="6210300" y="2038350"/>
                <a:ext cx="304800" cy="304800"/>
              </a:xfrm>
              <a:prstGeom prst="ellipse">
                <a:avLst/>
              </a:prstGeom>
              <a:solidFill>
                <a:srgbClr val="0B41CD"/>
              </a:solidFill>
              <a:ln>
                <a:noFill/>
              </a:ln>
            </p:spPr>
          </p:sp>
          <p:sp>
            <p:nvSpPr>
              <p:cNvPr id="87" name="TextBox 87"/>
              <p:cNvSpPr txBox="1"/>
              <p:nvPr/>
            </p:nvSpPr>
            <p:spPr>
              <a:xfrm>
                <a:off x="6315337" y="2126456"/>
                <a:ext cx="94726"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1</a:t>
                </a:r>
              </a:p>
            </p:txBody>
          </p:sp>
          <p:sp>
            <p:nvSpPr>
              <p:cNvPr id="88" name="TextBox 88"/>
              <p:cNvSpPr txBox="1"/>
              <p:nvPr/>
            </p:nvSpPr>
            <p:spPr>
              <a:xfrm>
                <a:off x="6660261" y="1998821"/>
                <a:ext cx="3051575"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Embeddings + positional encoding</a:t>
                </a:r>
              </a:p>
            </p:txBody>
          </p:sp>
          <p:sp>
            <p:nvSpPr>
              <p:cNvPr id="89" name="TextBox 89"/>
              <p:cNvSpPr txBox="1"/>
              <p:nvPr/>
            </p:nvSpPr>
            <p:spPr>
              <a:xfrm>
                <a:off x="6662166" y="2267902"/>
                <a:ext cx="3980239"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Tokens become vectors; a sinusoidal signal injects order.</a:t>
                </a:r>
              </a:p>
            </p:txBody>
          </p:sp>
        </p:grpSp>
        <p:grpSp>
          <p:nvGrpSpPr>
            <p:cNvPr id="95" name="Group 95"/>
            <p:cNvGrpSpPr/>
            <p:nvPr/>
          </p:nvGrpSpPr>
          <p:grpSpPr>
            <a:xfrm>
              <a:off x="6210300" y="2741771"/>
              <a:ext cx="4428870" cy="474440"/>
              <a:chOff x="6210300" y="2741771"/>
              <a:chExt cx="4428870" cy="474440"/>
            </a:xfrm>
          </p:grpSpPr>
          <p:sp>
            <p:nvSpPr>
              <p:cNvPr id="91" name="Ellipse 91"/>
              <p:cNvSpPr/>
              <p:nvPr/>
            </p:nvSpPr>
            <p:spPr>
              <a:xfrm>
                <a:off x="6210300" y="2781300"/>
                <a:ext cx="304800" cy="304800"/>
              </a:xfrm>
              <a:prstGeom prst="ellipse">
                <a:avLst/>
              </a:prstGeom>
              <a:solidFill>
                <a:srgbClr val="0F5EE1"/>
              </a:solidFill>
              <a:ln>
                <a:noFill/>
              </a:ln>
            </p:spPr>
          </p:sp>
          <p:sp>
            <p:nvSpPr>
              <p:cNvPr id="92" name="TextBox 92"/>
              <p:cNvSpPr txBox="1"/>
              <p:nvPr/>
            </p:nvSpPr>
            <p:spPr>
              <a:xfrm>
                <a:off x="6315337" y="2869406"/>
                <a:ext cx="94726"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2</a:t>
                </a:r>
              </a:p>
            </p:txBody>
          </p:sp>
          <p:sp>
            <p:nvSpPr>
              <p:cNvPr id="93" name="TextBox 93"/>
              <p:cNvSpPr txBox="1"/>
              <p:nvPr/>
            </p:nvSpPr>
            <p:spPr>
              <a:xfrm>
                <a:off x="6660261" y="2741771"/>
                <a:ext cx="1565462"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N× encoder block</a:t>
                </a:r>
              </a:p>
            </p:txBody>
          </p:sp>
          <p:sp>
            <p:nvSpPr>
              <p:cNvPr id="94" name="TextBox 94"/>
              <p:cNvSpPr txBox="1"/>
              <p:nvPr/>
            </p:nvSpPr>
            <p:spPr>
              <a:xfrm>
                <a:off x="6662166" y="3010852"/>
                <a:ext cx="3977004"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Multi-Head Self-Attention + position-wise Feed Forward.</a:t>
                </a:r>
              </a:p>
            </p:txBody>
          </p:sp>
        </p:grpSp>
        <p:grpSp>
          <p:nvGrpSpPr>
            <p:cNvPr id="100" name="Group 100"/>
            <p:cNvGrpSpPr/>
            <p:nvPr/>
          </p:nvGrpSpPr>
          <p:grpSpPr>
            <a:xfrm>
              <a:off x="6210300" y="3484721"/>
              <a:ext cx="4814961" cy="474440"/>
              <a:chOff x="6210300" y="3484721"/>
              <a:chExt cx="4814961" cy="474440"/>
            </a:xfrm>
          </p:grpSpPr>
          <p:sp>
            <p:nvSpPr>
              <p:cNvPr id="96" name="Ellipse 96"/>
              <p:cNvSpPr/>
              <p:nvPr/>
            </p:nvSpPr>
            <p:spPr>
              <a:xfrm>
                <a:off x="6210300" y="3524250"/>
                <a:ext cx="304800" cy="304800"/>
              </a:xfrm>
              <a:prstGeom prst="ellipse">
                <a:avLst/>
              </a:prstGeom>
              <a:solidFill>
                <a:srgbClr val="1482FA"/>
              </a:solidFill>
              <a:ln>
                <a:noFill/>
              </a:ln>
            </p:spPr>
          </p:sp>
          <p:sp>
            <p:nvSpPr>
              <p:cNvPr id="97" name="TextBox 97"/>
              <p:cNvSpPr txBox="1"/>
              <p:nvPr/>
            </p:nvSpPr>
            <p:spPr>
              <a:xfrm>
                <a:off x="6315337" y="3612356"/>
                <a:ext cx="94726"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3</a:t>
                </a:r>
              </a:p>
            </p:txBody>
          </p:sp>
          <p:sp>
            <p:nvSpPr>
              <p:cNvPr id="98" name="TextBox 98"/>
              <p:cNvSpPr txBox="1"/>
              <p:nvPr/>
            </p:nvSpPr>
            <p:spPr>
              <a:xfrm>
                <a:off x="6660261" y="3484721"/>
                <a:ext cx="1565462"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N× decoder block</a:t>
                </a:r>
              </a:p>
            </p:txBody>
          </p:sp>
          <p:sp>
            <p:nvSpPr>
              <p:cNvPr id="99" name="TextBox 99"/>
              <p:cNvSpPr txBox="1"/>
              <p:nvPr/>
            </p:nvSpPr>
            <p:spPr>
              <a:xfrm>
                <a:off x="6662166" y="3753802"/>
                <a:ext cx="4363095"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Masked self-attention, encoder–decoder attention, then FFN.</a:t>
                </a:r>
              </a:p>
            </p:txBody>
          </p:sp>
        </p:grpSp>
        <p:grpSp>
          <p:nvGrpSpPr>
            <p:cNvPr id="105" name="Group 105"/>
            <p:cNvGrpSpPr/>
            <p:nvPr/>
          </p:nvGrpSpPr>
          <p:grpSpPr>
            <a:xfrm>
              <a:off x="6210300" y="4227671"/>
              <a:ext cx="4354180" cy="474440"/>
              <a:chOff x="6210300" y="4227671"/>
              <a:chExt cx="4354180" cy="474440"/>
            </a:xfrm>
          </p:grpSpPr>
          <p:sp>
            <p:nvSpPr>
              <p:cNvPr id="101" name="Ellipse 101"/>
              <p:cNvSpPr/>
              <p:nvPr/>
            </p:nvSpPr>
            <p:spPr>
              <a:xfrm>
                <a:off x="6210300" y="4267200"/>
                <a:ext cx="304800" cy="304800"/>
              </a:xfrm>
              <a:prstGeom prst="ellipse">
                <a:avLst/>
              </a:prstGeom>
              <a:solidFill>
                <a:srgbClr val="5FAAFC"/>
              </a:solidFill>
              <a:ln>
                <a:noFill/>
              </a:ln>
            </p:spPr>
          </p:sp>
          <p:sp>
            <p:nvSpPr>
              <p:cNvPr id="102" name="TextBox 102"/>
              <p:cNvSpPr txBox="1"/>
              <p:nvPr/>
            </p:nvSpPr>
            <p:spPr>
              <a:xfrm>
                <a:off x="6315337" y="4355306"/>
                <a:ext cx="94726"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4</a:t>
                </a:r>
              </a:p>
            </p:txBody>
          </p:sp>
          <p:sp>
            <p:nvSpPr>
              <p:cNvPr id="103" name="TextBox 103"/>
              <p:cNvSpPr txBox="1"/>
              <p:nvPr/>
            </p:nvSpPr>
            <p:spPr>
              <a:xfrm>
                <a:off x="6660261" y="4227671"/>
                <a:ext cx="2839300"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Add &amp; Norm on every sub-layer</a:t>
                </a:r>
              </a:p>
            </p:txBody>
          </p:sp>
          <p:sp>
            <p:nvSpPr>
              <p:cNvPr id="104" name="TextBox 104"/>
              <p:cNvSpPr txBox="1"/>
              <p:nvPr/>
            </p:nvSpPr>
            <p:spPr>
              <a:xfrm>
                <a:off x="6662166" y="4496752"/>
                <a:ext cx="3902314"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Residual then LayerNorm — LayerNorm(x + Sublayer(x)).</a:t>
                </a:r>
              </a:p>
            </p:txBody>
          </p:sp>
        </p:grpSp>
        <p:grpSp>
          <p:nvGrpSpPr>
            <p:cNvPr id="110" name="Group 110"/>
            <p:cNvGrpSpPr/>
            <p:nvPr/>
          </p:nvGrpSpPr>
          <p:grpSpPr>
            <a:xfrm>
              <a:off x="6210300" y="4970621"/>
              <a:ext cx="4156436" cy="474440"/>
              <a:chOff x="6210300" y="4970621"/>
              <a:chExt cx="4156436" cy="474440"/>
            </a:xfrm>
          </p:grpSpPr>
          <p:sp>
            <p:nvSpPr>
              <p:cNvPr id="106" name="Ellipse 106"/>
              <p:cNvSpPr/>
              <p:nvPr/>
            </p:nvSpPr>
            <p:spPr>
              <a:xfrm>
                <a:off x="6210300" y="5010150"/>
                <a:ext cx="304800" cy="304800"/>
              </a:xfrm>
              <a:prstGeom prst="ellipse">
                <a:avLst/>
              </a:prstGeom>
              <a:solidFill>
                <a:srgbClr val="95C7FD"/>
              </a:solidFill>
              <a:ln>
                <a:noFill/>
              </a:ln>
            </p:spPr>
          </p:sp>
          <p:sp>
            <p:nvSpPr>
              <p:cNvPr id="107" name="TextBox 107"/>
              <p:cNvSpPr txBox="1"/>
              <p:nvPr/>
            </p:nvSpPr>
            <p:spPr>
              <a:xfrm>
                <a:off x="6315337" y="5098256"/>
                <a:ext cx="94726"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5</a:t>
                </a:r>
              </a:p>
            </p:txBody>
          </p:sp>
          <p:sp>
            <p:nvSpPr>
              <p:cNvPr id="108" name="TextBox 108"/>
              <p:cNvSpPr txBox="1"/>
              <p:nvPr/>
            </p:nvSpPr>
            <p:spPr>
              <a:xfrm>
                <a:off x="6660261" y="4970621"/>
                <a:ext cx="2105825"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Final Linear + Softmax</a:t>
                </a:r>
              </a:p>
            </p:txBody>
          </p:sp>
          <p:sp>
            <p:nvSpPr>
              <p:cNvPr id="109" name="TextBox 109"/>
              <p:cNvSpPr txBox="1"/>
              <p:nvPr/>
            </p:nvSpPr>
            <p:spPr>
              <a:xfrm>
                <a:off x="6662166" y="5239702"/>
                <a:ext cx="3704570"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Projects decoder output to next-token probabilities.</a:t>
                </a:r>
              </a:p>
            </p:txBody>
          </p:sp>
        </p:grpSp>
        <p:sp>
          <p:nvSpPr>
            <p:cNvPr id="111" name="Rectangle 111"/>
            <p:cNvSpPr/>
            <p:nvPr/>
          </p:nvSpPr>
          <p:spPr>
            <a:xfrm>
              <a:off x="6248400" y="5581650"/>
              <a:ext cx="5219700" cy="9525"/>
            </a:xfrm>
            <a:prstGeom prst="rect">
              <a:avLst/>
            </a:prstGeom>
            <a:solidFill>
              <a:srgbClr val="E0E0E0"/>
            </a:solidFill>
            <a:ln>
              <a:noFill/>
            </a:ln>
          </p:spPr>
        </p:sp>
        <p:sp>
          <p:nvSpPr>
            <p:cNvPr id="112" name="TextBox 112"/>
            <p:cNvSpPr txBox="1"/>
            <p:nvPr/>
          </p:nvSpPr>
          <p:spPr>
            <a:xfrm>
              <a:off x="6243447" y="5666899"/>
              <a:ext cx="5529158" cy="190690"/>
            </a:xfrm>
            <a:prstGeom prst="rect">
              <a:avLst/>
            </a:prstGeom>
            <a:noFill/>
            <a:ln>
              <a:noFill/>
            </a:ln>
          </p:spPr>
          <p:txBody>
            <a:bodyPr wrap="none" lIns="0" tIns="0" rIns="0" bIns="0" anchor="t" anchorCtr="0">
              <a:spAutoFit/>
            </a:bodyPr>
            <a:lstStyle/>
            <a:p>
              <a:pPr algn="l"/>
              <a:r>
                <a:rPr lang="en-US" sz="980" dirty="0">
                  <a:solidFill>
                    <a:srgbClr val="0B41CD"/>
                  </a:solidFill>
                  <a:latin typeface="Roche Sans Medium"/>
                  <a:ea typeface="Roche Sans Medium"/>
                  <a:cs typeface="Roche Sans Medium"/>
                </a:rPr>
                <a:t>d_model = 512</a:t>
              </a:r>
              <a:r>
                <a:rPr lang="en-US" sz="980" dirty="0">
                  <a:solidFill>
                    <a:srgbClr val="333333"/>
                  </a:solidFill>
                  <a:latin typeface="Roche Sans"/>
                  <a:ea typeface="Roche Sans"/>
                  <a:cs typeface="Roche Sans"/>
                </a:rPr>
                <a:t xml:space="preserve"> · every sub-layer output stays the same width, so blocks stack freely.</a:t>
              </a:r>
            </a:p>
          </p:txBody>
        </p:sp>
      </p:grpSp>
      <p:grpSp>
        <p:nvGrpSpPr>
          <p:cNvPr id="116" name="Group 116"/>
          <p:cNvGrpSpPr/>
          <p:nvPr/>
        </p:nvGrpSpPr>
        <p:grpSpPr>
          <a:xfrm>
            <a:off x="566738" y="6521291"/>
            <a:ext cx="11058525" cy="161925"/>
            <a:chOff x="566738" y="6521291"/>
            <a:chExt cx="11058525" cy="161925"/>
          </a:xfrm>
        </p:grpSpPr>
        <p:sp>
          <p:nvSpPr>
            <p:cNvPr id="114" name="TextBox 114"/>
            <p:cNvSpPr txBox="1"/>
            <p:nvPr/>
          </p:nvSpPr>
          <p:spPr>
            <a:xfrm>
              <a:off x="566738" y="6521291"/>
              <a:ext cx="4918904"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Figure 1 (§3 Model Architecture) — redrawn as native vector</a:t>
              </a:r>
            </a:p>
          </p:txBody>
        </p:sp>
        <p:sp>
          <p:nvSpPr>
            <p:cNvPr id="115" name="TextBox 11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400"/>
                                        <p:tgtEl>
                                          <p:spTgt spid="8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13"/>
                                        </p:tgtEl>
                                        <p:attrNameLst>
                                          <p:attrName>style.visibility</p:attrName>
                                        </p:attrNameLst>
                                      </p:cBhvr>
                                      <p:to>
                                        <p:strVal val="visible"/>
                                      </p:to>
                                    </p:set>
                                    <p:animEffect transition="in" filter="wipe(left)">
                                      <p:cBhvr>
                                        <p:cTn id="11" dur="4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6071930" cy="656939"/>
            <a:chOff x="571500" y="533400"/>
            <a:chExt cx="6071930"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5856284"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Same skeleton, three asymmetries</a:t>
              </a:r>
            </a:p>
          </p:txBody>
        </p:sp>
        <p:sp>
          <p:nvSpPr>
            <p:cNvPr id="5" name="TextBox 5"/>
            <p:cNvSpPr txBox="1"/>
            <p:nvPr/>
          </p:nvSpPr>
          <p:spPr>
            <a:xfrm>
              <a:off x="795147" y="999649"/>
              <a:ext cx="4470402"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ENCODER STACK · DECODER STACK · N = 6 · d_model = 512</a:t>
              </a:r>
            </a:p>
          </p:txBody>
        </p:sp>
      </p:grpSp>
      <p:grpSp>
        <p:nvGrpSpPr>
          <p:cNvPr id="30" name="Group 30"/>
          <p:cNvGrpSpPr/>
          <p:nvPr/>
        </p:nvGrpSpPr>
        <p:grpSpPr>
          <a:xfrm>
            <a:off x="762000" y="1524000"/>
            <a:ext cx="5286375" cy="4762500"/>
            <a:chOff x="762000" y="1524000"/>
            <a:chExt cx="5286375" cy="4762500"/>
          </a:xfrm>
        </p:grpSpPr>
        <p:sp>
          <p:nvSpPr>
            <p:cNvPr id="7" name="Rectangle 7"/>
            <p:cNvSpPr/>
            <p:nvPr/>
          </p:nvSpPr>
          <p:spPr>
            <a:xfrm>
              <a:off x="762000" y="1524000"/>
              <a:ext cx="5286375" cy="4762500"/>
            </a:xfrm>
            <a:prstGeom prst="roundRect">
              <a:avLst>
                <a:gd name="adj" fmla="val 2800"/>
              </a:avLst>
            </a:prstGeom>
            <a:solidFill>
              <a:srgbClr val="FFFFFF"/>
            </a:solidFill>
            <a:ln w="14288">
              <a:solidFill>
                <a:srgbClr val="E0E0E0"/>
              </a:solidFill>
            </a:ln>
            <a:effectLst>
              <a:outerShdw blurRad="114300" dist="28575" dir="5400000" algn="ctr" rotWithShape="0">
                <a:srgbClr val="0B41CD">
                  <a:alpha val="5250"/>
                </a:srgbClr>
              </a:outerShdw>
            </a:effectLst>
          </p:spPr>
        </p:sp>
        <p:sp>
          <p:nvSpPr>
            <p:cNvPr id="8" name="Freeform 8"/>
            <p:cNvSpPr/>
            <p:nvPr/>
          </p:nvSpPr>
          <p:spPr>
            <a:xfrm>
              <a:off x="762000" y="1524000"/>
              <a:ext cx="5286375" cy="990600"/>
            </a:xfrm>
            <a:custGeom>
              <a:avLst/>
              <a:gdLst/>
              <a:ahLst/>
              <a:cxnLst/>
              <a:rect l="l" t="t" r="r" b="b"/>
              <a:pathLst>
                <a:path w="5286375" h="990600">
                  <a:moveTo>
                    <a:pt x="133350" y="0"/>
                  </a:moveTo>
                  <a:lnTo>
                    <a:pt x="5153025" y="0"/>
                  </a:lnTo>
                  <a:cubicBezTo>
                    <a:pt x="5226672" y="0"/>
                    <a:pt x="5286375" y="59703"/>
                    <a:pt x="5286375" y="133350"/>
                  </a:cubicBezTo>
                  <a:lnTo>
                    <a:pt x="5286375" y="990600"/>
                  </a:lnTo>
                  <a:lnTo>
                    <a:pt x="0" y="990600"/>
                  </a:lnTo>
                  <a:lnTo>
                    <a:pt x="0" y="133350"/>
                  </a:lnTo>
                  <a:cubicBezTo>
                    <a:pt x="0" y="59703"/>
                    <a:pt x="59703" y="0"/>
                    <a:pt x="133350" y="0"/>
                  </a:cubicBezTo>
                  <a:close/>
                </a:path>
              </a:pathLst>
            </a:custGeom>
            <a:solidFill>
              <a:srgbClr val="0B41CD"/>
            </a:solidFill>
            <a:ln>
              <a:noFill/>
            </a:ln>
          </p:spPr>
        </p:sp>
        <p:sp>
          <p:nvSpPr>
            <p:cNvPr id="9" name="TextBox 9"/>
            <p:cNvSpPr txBox="1"/>
            <p:nvPr/>
          </p:nvSpPr>
          <p:spPr>
            <a:xfrm>
              <a:off x="2841155" y="1792605"/>
              <a:ext cx="1118540"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Roche Sans Light"/>
                  <a:ea typeface="Roche Sans Light"/>
                  <a:cs typeface="Roche Sans Light"/>
                </a:rPr>
                <a:t>Encoder</a:t>
              </a:r>
            </a:p>
          </p:txBody>
        </p:sp>
        <p:sp>
          <p:nvSpPr>
            <p:cNvPr id="10" name="TextBox 10"/>
            <p:cNvSpPr txBox="1"/>
            <p:nvPr/>
          </p:nvSpPr>
          <p:spPr>
            <a:xfrm>
              <a:off x="2491511" y="2172652"/>
              <a:ext cx="1817827" cy="205359"/>
            </a:xfrm>
            <a:prstGeom prst="rect">
              <a:avLst/>
            </a:prstGeom>
            <a:noFill/>
            <a:ln>
              <a:noFill/>
            </a:ln>
          </p:spPr>
          <p:txBody>
            <a:bodyPr wrap="none" lIns="0" tIns="0" rIns="0" bIns="0" anchor="t" anchorCtr="0">
              <a:spAutoFit/>
            </a:bodyPr>
            <a:lstStyle/>
            <a:p>
              <a:pPr algn="ctr"/>
              <a:r>
                <a:rPr lang="en-US" sz="1050" spc="75" dirty="0">
                  <a:solidFill>
                    <a:srgbClr val="95C7FD"/>
                  </a:solidFill>
                  <a:latin typeface="Roche Sans Medium"/>
                  <a:ea typeface="Roche Sans Medium"/>
                  <a:cs typeface="Roche Sans Medium"/>
                </a:rPr>
                <a:t>N = 6 IDENTICAL LAYERS</a:t>
              </a:r>
            </a:p>
          </p:txBody>
        </p:sp>
        <p:grpSp>
          <p:nvGrpSpPr>
            <p:cNvPr id="16" name="Group 16"/>
            <p:cNvGrpSpPr/>
            <p:nvPr/>
          </p:nvGrpSpPr>
          <p:grpSpPr>
            <a:xfrm>
              <a:off x="1047750" y="2857500"/>
              <a:ext cx="4714875" cy="533400"/>
              <a:chOff x="1047750" y="2857500"/>
              <a:chExt cx="4714875" cy="533400"/>
            </a:xfrm>
          </p:grpSpPr>
          <p:sp>
            <p:nvSpPr>
              <p:cNvPr id="11" name="Rectangle 11"/>
              <p:cNvSpPr/>
              <p:nvPr/>
            </p:nvSpPr>
            <p:spPr>
              <a:xfrm>
                <a:off x="1047750" y="2857500"/>
                <a:ext cx="4714875" cy="533400"/>
              </a:xfrm>
              <a:prstGeom prst="roundRect">
                <a:avLst>
                  <a:gd name="adj" fmla="val 14286"/>
                </a:avLst>
              </a:prstGeom>
              <a:solidFill>
                <a:srgbClr val="F5F7FA"/>
              </a:solidFill>
              <a:ln w="14288">
                <a:solidFill>
                  <a:srgbClr val="0B41CD"/>
                </a:solidFill>
              </a:ln>
            </p:spPr>
          </p:sp>
          <p:sp>
            <p:nvSpPr>
              <p:cNvPr id="12" name="Ellipse 12"/>
              <p:cNvSpPr/>
              <p:nvPr/>
            </p:nvSpPr>
            <p:spPr>
              <a:xfrm>
                <a:off x="1181100" y="2990850"/>
                <a:ext cx="266700" cy="266700"/>
              </a:xfrm>
              <a:prstGeom prst="ellipse">
                <a:avLst/>
              </a:prstGeom>
              <a:solidFill>
                <a:srgbClr val="0B41CD"/>
              </a:solidFill>
              <a:ln>
                <a:noFill/>
              </a:ln>
            </p:spPr>
          </p:sp>
          <p:sp>
            <p:nvSpPr>
              <p:cNvPr id="13" name="TextBox 13"/>
              <p:cNvSpPr txBox="1"/>
              <p:nvPr/>
            </p:nvSpPr>
            <p:spPr>
              <a:xfrm>
                <a:off x="1273402" y="3076099"/>
                <a:ext cx="82096"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1</a:t>
                </a:r>
              </a:p>
            </p:txBody>
          </p:sp>
          <p:sp>
            <p:nvSpPr>
              <p:cNvPr id="14" name="TextBox 14"/>
              <p:cNvSpPr txBox="1"/>
              <p:nvPr/>
            </p:nvSpPr>
            <p:spPr>
              <a:xfrm>
                <a:off x="1574673" y="2948464"/>
                <a:ext cx="2215222" cy="249364"/>
              </a:xfrm>
              <a:prstGeom prst="rect">
                <a:avLst/>
              </a:prstGeom>
              <a:noFill/>
              <a:ln>
                <a:noFill/>
              </a:ln>
            </p:spPr>
            <p:txBody>
              <a:bodyPr wrap="none" lIns="0" tIns="0" rIns="0" bIns="0" anchor="t" anchorCtr="0">
                <a:spAutoFit/>
              </a:bodyPr>
              <a:lstStyle/>
              <a:p>
                <a:pPr algn="l"/>
                <a:r>
                  <a:rPr lang="en-US" sz="1280" dirty="0">
                    <a:solidFill>
                      <a:srgbClr val="0B41CD"/>
                    </a:solidFill>
                    <a:latin typeface="Roche Sans Medium"/>
                    <a:ea typeface="Roche Sans Medium"/>
                    <a:cs typeface="Roche Sans Medium"/>
                  </a:rPr>
                  <a:t>Multi-Head Self-Attention</a:t>
                </a:r>
              </a:p>
            </p:txBody>
          </p:sp>
          <p:sp>
            <p:nvSpPr>
              <p:cNvPr id="15" name="TextBox 15"/>
              <p:cNvSpPr txBox="1"/>
              <p:nvPr/>
            </p:nvSpPr>
            <p:spPr>
              <a:xfrm>
                <a:off x="1576197" y="3190399"/>
                <a:ext cx="2606375"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Every position attends to every position</a:t>
                </a:r>
              </a:p>
            </p:txBody>
          </p:sp>
        </p:grpSp>
        <p:grpSp>
          <p:nvGrpSpPr>
            <p:cNvPr id="22" name="Group 22"/>
            <p:cNvGrpSpPr/>
            <p:nvPr/>
          </p:nvGrpSpPr>
          <p:grpSpPr>
            <a:xfrm>
              <a:off x="1047750" y="3543300"/>
              <a:ext cx="4714875" cy="533400"/>
              <a:chOff x="1047750" y="3543300"/>
              <a:chExt cx="4714875" cy="533400"/>
            </a:xfrm>
          </p:grpSpPr>
          <p:sp>
            <p:nvSpPr>
              <p:cNvPr id="17" name="Rectangle 17"/>
              <p:cNvSpPr/>
              <p:nvPr/>
            </p:nvSpPr>
            <p:spPr>
              <a:xfrm>
                <a:off x="1047750" y="3543300"/>
                <a:ext cx="4714875" cy="533400"/>
              </a:xfrm>
              <a:prstGeom prst="roundRect">
                <a:avLst>
                  <a:gd name="adj" fmla="val 14286"/>
                </a:avLst>
              </a:prstGeom>
              <a:solidFill>
                <a:srgbClr val="F5F7FA"/>
              </a:solidFill>
              <a:ln w="14288">
                <a:solidFill>
                  <a:srgbClr val="0B41CD"/>
                </a:solidFill>
              </a:ln>
            </p:spPr>
          </p:sp>
          <p:sp>
            <p:nvSpPr>
              <p:cNvPr id="18" name="Ellipse 18"/>
              <p:cNvSpPr/>
              <p:nvPr/>
            </p:nvSpPr>
            <p:spPr>
              <a:xfrm>
                <a:off x="1181100" y="3676650"/>
                <a:ext cx="266700" cy="266700"/>
              </a:xfrm>
              <a:prstGeom prst="ellipse">
                <a:avLst/>
              </a:prstGeom>
              <a:solidFill>
                <a:srgbClr val="0B41CD"/>
              </a:solidFill>
              <a:ln>
                <a:noFill/>
              </a:ln>
            </p:spPr>
          </p:sp>
          <p:sp>
            <p:nvSpPr>
              <p:cNvPr id="19" name="TextBox 19"/>
              <p:cNvSpPr txBox="1"/>
              <p:nvPr/>
            </p:nvSpPr>
            <p:spPr>
              <a:xfrm>
                <a:off x="1273402" y="3761899"/>
                <a:ext cx="82096"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2</a:t>
                </a:r>
              </a:p>
            </p:txBody>
          </p:sp>
          <p:sp>
            <p:nvSpPr>
              <p:cNvPr id="20" name="TextBox 20"/>
              <p:cNvSpPr txBox="1"/>
              <p:nvPr/>
            </p:nvSpPr>
            <p:spPr>
              <a:xfrm>
                <a:off x="1574673" y="3634264"/>
                <a:ext cx="2338563" cy="249364"/>
              </a:xfrm>
              <a:prstGeom prst="rect">
                <a:avLst/>
              </a:prstGeom>
              <a:noFill/>
              <a:ln>
                <a:noFill/>
              </a:ln>
            </p:spPr>
            <p:txBody>
              <a:bodyPr wrap="none" lIns="0" tIns="0" rIns="0" bIns="0" anchor="t" anchorCtr="0">
                <a:spAutoFit/>
              </a:bodyPr>
              <a:lstStyle/>
              <a:p>
                <a:pPr algn="l"/>
                <a:r>
                  <a:rPr lang="en-US" sz="1280" dirty="0">
                    <a:solidFill>
                      <a:srgbClr val="0B41CD"/>
                    </a:solidFill>
                    <a:latin typeface="Roche Sans Medium"/>
                    <a:ea typeface="Roche Sans Medium"/>
                    <a:cs typeface="Roche Sans Medium"/>
                  </a:rPr>
                  <a:t>Position-wise Feed Forward</a:t>
                </a:r>
              </a:p>
            </p:txBody>
          </p:sp>
          <p:sp>
            <p:nvSpPr>
              <p:cNvPr id="21" name="TextBox 21"/>
              <p:cNvSpPr txBox="1"/>
              <p:nvPr/>
            </p:nvSpPr>
            <p:spPr>
              <a:xfrm>
                <a:off x="1576197" y="3876199"/>
                <a:ext cx="2088547"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Two linear layers, ReLU between</a:t>
                </a:r>
              </a:p>
            </p:txBody>
          </p:sp>
        </p:grpSp>
        <p:sp>
          <p:nvSpPr>
            <p:cNvPr id="23" name="TextBox 23"/>
            <p:cNvSpPr txBox="1"/>
            <p:nvPr/>
          </p:nvSpPr>
          <p:spPr>
            <a:xfrm>
              <a:off x="1042988" y="4341495"/>
              <a:ext cx="2454631"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WRAPPER AROUND EACH SUB-LAYER</a:t>
              </a:r>
            </a:p>
          </p:txBody>
        </p:sp>
        <p:sp>
          <p:nvSpPr>
            <p:cNvPr id="24" name="TextBox 24"/>
            <p:cNvSpPr txBox="1"/>
            <p:nvPr/>
          </p:nvSpPr>
          <p:spPr>
            <a:xfrm>
              <a:off x="1042035" y="4564856"/>
              <a:ext cx="2914993"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Output = LayerNorm( x + Sublayer(x) )</a:t>
              </a:r>
            </a:p>
          </p:txBody>
        </p:sp>
        <p:sp>
          <p:nvSpPr>
            <p:cNvPr id="25" name="TextBox 25"/>
            <p:cNvSpPr txBox="1"/>
            <p:nvPr/>
          </p:nvSpPr>
          <p:spPr>
            <a:xfrm>
              <a:off x="1042416" y="4782502"/>
              <a:ext cx="3268809"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 residual connection then layer normalization.</a:t>
              </a:r>
            </a:p>
          </p:txBody>
        </p:sp>
        <p:sp>
          <p:nvSpPr>
            <p:cNvPr id="26" name="Rectangle 26"/>
            <p:cNvSpPr/>
            <p:nvPr/>
          </p:nvSpPr>
          <p:spPr>
            <a:xfrm>
              <a:off x="1047750" y="5181600"/>
              <a:ext cx="4714875" cy="762000"/>
            </a:xfrm>
            <a:prstGeom prst="roundRect">
              <a:avLst>
                <a:gd name="adj" fmla="val 10000"/>
              </a:avLst>
            </a:prstGeom>
            <a:solidFill>
              <a:srgbClr val="F5F7FA"/>
            </a:solidFill>
            <a:ln>
              <a:noFill/>
            </a:ln>
          </p:spPr>
        </p:sp>
        <p:sp>
          <p:nvSpPr>
            <p:cNvPr id="27" name="TextBox 27"/>
            <p:cNvSpPr txBox="1"/>
            <p:nvPr/>
          </p:nvSpPr>
          <p:spPr>
            <a:xfrm>
              <a:off x="1176338" y="5313045"/>
              <a:ext cx="1196873" cy="176212"/>
            </a:xfrm>
            <a:prstGeom prst="rect">
              <a:avLst/>
            </a:prstGeom>
            <a:noFill/>
            <a:ln>
              <a:noFill/>
            </a:ln>
          </p:spPr>
          <p:txBody>
            <a:bodyPr wrap="none" lIns="0" tIns="0" rIns="0" bIns="0" anchor="t" anchorCtr="0">
              <a:spAutoFit/>
            </a:bodyPr>
            <a:lstStyle/>
            <a:p>
              <a:pPr algn="l"/>
              <a:r>
                <a:rPr lang="en-US" sz="900" spc="112" dirty="0">
                  <a:solidFill>
                    <a:srgbClr val="0B41CD"/>
                  </a:solidFill>
                  <a:latin typeface="Roche Sans Medium"/>
                  <a:ea typeface="Roche Sans Medium"/>
                  <a:cs typeface="Roche Sans Medium"/>
                </a:rPr>
                <a:t>SHAPE CONTRACT</a:t>
              </a:r>
            </a:p>
          </p:txBody>
        </p:sp>
        <p:sp>
          <p:nvSpPr>
            <p:cNvPr id="28" name="TextBox 28"/>
            <p:cNvSpPr txBox="1"/>
            <p:nvPr/>
          </p:nvSpPr>
          <p:spPr>
            <a:xfrm>
              <a:off x="1175766" y="5525452"/>
              <a:ext cx="4072661"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All sub-layers and embeddings emit dimension </a:t>
              </a:r>
              <a:r>
                <a:rPr lang="en-US" sz="1050" dirty="0">
                  <a:solidFill>
                    <a:srgbClr val="1482FA"/>
                  </a:solidFill>
                  <a:latin typeface="Consolas"/>
                  <a:ea typeface="Consolas"/>
                  <a:cs typeface="Consolas"/>
                </a:rPr>
                <a:t>d_model = 512</a:t>
              </a:r>
            </a:p>
          </p:txBody>
        </p:sp>
        <p:sp>
          <p:nvSpPr>
            <p:cNvPr id="29" name="TextBox 29"/>
            <p:cNvSpPr txBox="1"/>
            <p:nvPr/>
          </p:nvSpPr>
          <p:spPr>
            <a:xfrm>
              <a:off x="1175766" y="5715952"/>
              <a:ext cx="2491378"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so residual addition is well-defined.</a:t>
              </a:r>
            </a:p>
          </p:txBody>
        </p:sp>
      </p:grpSp>
      <p:grpSp>
        <p:nvGrpSpPr>
          <p:cNvPr id="58" name="Group 58"/>
          <p:cNvGrpSpPr/>
          <p:nvPr/>
        </p:nvGrpSpPr>
        <p:grpSpPr>
          <a:xfrm>
            <a:off x="6238875" y="1524000"/>
            <a:ext cx="5286375" cy="4762500"/>
            <a:chOff x="6238875" y="1524000"/>
            <a:chExt cx="5286375" cy="4762500"/>
          </a:xfrm>
        </p:grpSpPr>
        <p:sp>
          <p:nvSpPr>
            <p:cNvPr id="31" name="Rectangle 31"/>
            <p:cNvSpPr/>
            <p:nvPr/>
          </p:nvSpPr>
          <p:spPr>
            <a:xfrm>
              <a:off x="6238875" y="1524000"/>
              <a:ext cx="5286375" cy="4762500"/>
            </a:xfrm>
            <a:prstGeom prst="roundRect">
              <a:avLst>
                <a:gd name="adj" fmla="val 2800"/>
              </a:avLst>
            </a:prstGeom>
            <a:solidFill>
              <a:srgbClr val="FFFFFF"/>
            </a:solidFill>
            <a:ln w="14288">
              <a:solidFill>
                <a:srgbClr val="E0E0E0"/>
              </a:solidFill>
            </a:ln>
            <a:effectLst>
              <a:outerShdw blurRad="114300" dist="28575" dir="5400000" algn="ctr" rotWithShape="0">
                <a:srgbClr val="0B41CD">
                  <a:alpha val="5250"/>
                </a:srgbClr>
              </a:outerShdw>
            </a:effectLst>
          </p:spPr>
        </p:sp>
        <p:sp>
          <p:nvSpPr>
            <p:cNvPr id="32" name="Freeform 32"/>
            <p:cNvSpPr/>
            <p:nvPr/>
          </p:nvSpPr>
          <p:spPr>
            <a:xfrm>
              <a:off x="6238875" y="1524000"/>
              <a:ext cx="5286375" cy="990600"/>
            </a:xfrm>
            <a:custGeom>
              <a:avLst/>
              <a:gdLst/>
              <a:ahLst/>
              <a:cxnLst/>
              <a:rect l="l" t="t" r="r" b="b"/>
              <a:pathLst>
                <a:path w="5286375" h="990600">
                  <a:moveTo>
                    <a:pt x="133350" y="0"/>
                  </a:moveTo>
                  <a:lnTo>
                    <a:pt x="5153025" y="0"/>
                  </a:lnTo>
                  <a:cubicBezTo>
                    <a:pt x="5226672" y="0"/>
                    <a:pt x="5286375" y="59703"/>
                    <a:pt x="5286375" y="133350"/>
                  </a:cubicBezTo>
                  <a:lnTo>
                    <a:pt x="5286375" y="990600"/>
                  </a:lnTo>
                  <a:lnTo>
                    <a:pt x="0" y="990600"/>
                  </a:lnTo>
                  <a:lnTo>
                    <a:pt x="0" y="133350"/>
                  </a:lnTo>
                  <a:cubicBezTo>
                    <a:pt x="0" y="59703"/>
                    <a:pt x="59703" y="0"/>
                    <a:pt x="133350" y="0"/>
                  </a:cubicBezTo>
                  <a:close/>
                </a:path>
              </a:pathLst>
            </a:custGeom>
            <a:solidFill>
              <a:srgbClr val="1482FA"/>
            </a:solidFill>
            <a:ln>
              <a:noFill/>
            </a:ln>
          </p:spPr>
        </p:sp>
        <p:sp>
          <p:nvSpPr>
            <p:cNvPr id="33" name="TextBox 33"/>
            <p:cNvSpPr txBox="1"/>
            <p:nvPr/>
          </p:nvSpPr>
          <p:spPr>
            <a:xfrm>
              <a:off x="8318030" y="1792605"/>
              <a:ext cx="1118540"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Roche Sans Light"/>
                  <a:ea typeface="Roche Sans Light"/>
                  <a:cs typeface="Roche Sans Light"/>
                </a:rPr>
                <a:t>Decoder</a:t>
              </a:r>
            </a:p>
          </p:txBody>
        </p:sp>
        <p:sp>
          <p:nvSpPr>
            <p:cNvPr id="34" name="TextBox 34"/>
            <p:cNvSpPr txBox="1"/>
            <p:nvPr/>
          </p:nvSpPr>
          <p:spPr>
            <a:xfrm>
              <a:off x="6799707" y="2172652"/>
              <a:ext cx="4155186" cy="205359"/>
            </a:xfrm>
            <a:prstGeom prst="rect">
              <a:avLst/>
            </a:prstGeom>
            <a:noFill/>
            <a:ln>
              <a:noFill/>
            </a:ln>
          </p:spPr>
          <p:txBody>
            <a:bodyPr wrap="none" lIns="0" tIns="0" rIns="0" bIns="0" anchor="t" anchorCtr="0">
              <a:spAutoFit/>
            </a:bodyPr>
            <a:lstStyle/>
            <a:p>
              <a:pPr algn="ctr"/>
              <a:r>
                <a:rPr lang="en-US" sz="1050" spc="75" dirty="0">
                  <a:solidFill>
                    <a:srgbClr val="FFFFFF">
                      <a:alphaMod val="92000"/>
                    </a:srgbClr>
                  </a:solidFill>
                  <a:latin typeface="Roche Sans Medium"/>
                  <a:ea typeface="Roche Sans Medium"/>
                  <a:cs typeface="Roche Sans Medium"/>
                </a:rPr>
                <a:t>N = 6 IDENTICAL LAYERS · INSERTS A THIRD SUB-LAYER</a:t>
              </a:r>
            </a:p>
          </p:txBody>
        </p:sp>
        <p:grpSp>
          <p:nvGrpSpPr>
            <p:cNvPr id="40" name="Group 40"/>
            <p:cNvGrpSpPr/>
            <p:nvPr/>
          </p:nvGrpSpPr>
          <p:grpSpPr>
            <a:xfrm>
              <a:off x="6524625" y="2857500"/>
              <a:ext cx="4714875" cy="533400"/>
              <a:chOff x="6524625" y="2857500"/>
              <a:chExt cx="4714875" cy="533400"/>
            </a:xfrm>
          </p:grpSpPr>
          <p:sp>
            <p:nvSpPr>
              <p:cNvPr id="35" name="Rectangle 35"/>
              <p:cNvSpPr/>
              <p:nvPr/>
            </p:nvSpPr>
            <p:spPr>
              <a:xfrm>
                <a:off x="6524625" y="2857500"/>
                <a:ext cx="4714875" cy="533400"/>
              </a:xfrm>
              <a:prstGeom prst="roundRect">
                <a:avLst>
                  <a:gd name="adj" fmla="val 14286"/>
                </a:avLst>
              </a:prstGeom>
              <a:solidFill>
                <a:srgbClr val="FFFFFF"/>
              </a:solidFill>
              <a:ln w="14288">
                <a:solidFill>
                  <a:srgbClr val="1482FA"/>
                </a:solidFill>
              </a:ln>
            </p:spPr>
          </p:sp>
          <p:sp>
            <p:nvSpPr>
              <p:cNvPr id="36" name="Ellipse 36"/>
              <p:cNvSpPr/>
              <p:nvPr/>
            </p:nvSpPr>
            <p:spPr>
              <a:xfrm>
                <a:off x="6657975" y="2990850"/>
                <a:ext cx="266700" cy="266700"/>
              </a:xfrm>
              <a:prstGeom prst="ellipse">
                <a:avLst/>
              </a:prstGeom>
              <a:solidFill>
                <a:srgbClr val="1482FA"/>
              </a:solidFill>
              <a:ln>
                <a:noFill/>
              </a:ln>
            </p:spPr>
          </p:sp>
          <p:sp>
            <p:nvSpPr>
              <p:cNvPr id="37" name="TextBox 37"/>
              <p:cNvSpPr txBox="1"/>
              <p:nvPr/>
            </p:nvSpPr>
            <p:spPr>
              <a:xfrm>
                <a:off x="6750277" y="3076099"/>
                <a:ext cx="82096"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1</a:t>
                </a:r>
              </a:p>
            </p:txBody>
          </p:sp>
          <p:sp>
            <p:nvSpPr>
              <p:cNvPr id="38" name="TextBox 38"/>
              <p:cNvSpPr txBox="1"/>
              <p:nvPr/>
            </p:nvSpPr>
            <p:spPr>
              <a:xfrm>
                <a:off x="7051548" y="2948464"/>
                <a:ext cx="2873648" cy="249364"/>
              </a:xfrm>
              <a:prstGeom prst="rect">
                <a:avLst/>
              </a:prstGeom>
              <a:noFill/>
              <a:ln>
                <a:noFill/>
              </a:ln>
            </p:spPr>
            <p:txBody>
              <a:bodyPr wrap="none" lIns="0" tIns="0" rIns="0" bIns="0" anchor="t" anchorCtr="0">
                <a:spAutoFit/>
              </a:bodyPr>
              <a:lstStyle/>
              <a:p>
                <a:pPr algn="l"/>
                <a:r>
                  <a:rPr lang="en-US" sz="1280" dirty="0">
                    <a:solidFill>
                      <a:srgbClr val="1482FA"/>
                    </a:solidFill>
                    <a:latin typeface="Roche Sans Medium"/>
                    <a:ea typeface="Roche Sans Medium"/>
                    <a:cs typeface="Roche Sans Medium"/>
                  </a:rPr>
                  <a:t>Masked</a:t>
                </a:r>
                <a:r>
                  <a:rPr lang="en-US" sz="1280" dirty="0">
                    <a:solidFill>
                      <a:srgbClr val="0B41CD"/>
                    </a:solidFill>
                    <a:latin typeface="Roche Sans Medium"/>
                    <a:ea typeface="Roche Sans Medium"/>
                    <a:cs typeface="Roche Sans Medium"/>
                  </a:rPr>
                  <a:t xml:space="preserve"> Multi-Head Self-Attention</a:t>
                </a:r>
              </a:p>
            </p:txBody>
          </p:sp>
          <p:sp>
            <p:nvSpPr>
              <p:cNvPr id="39" name="TextBox 39"/>
              <p:cNvSpPr txBox="1"/>
              <p:nvPr/>
            </p:nvSpPr>
            <p:spPr>
              <a:xfrm>
                <a:off x="7053072" y="3190399"/>
                <a:ext cx="2442409"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Position i attends only to positions ≤ i</a:t>
                </a:r>
              </a:p>
            </p:txBody>
          </p:sp>
        </p:grpSp>
        <p:grpSp>
          <p:nvGrpSpPr>
            <p:cNvPr id="46" name="Group 46"/>
            <p:cNvGrpSpPr/>
            <p:nvPr/>
          </p:nvGrpSpPr>
          <p:grpSpPr>
            <a:xfrm>
              <a:off x="6524625" y="3543300"/>
              <a:ext cx="4714875" cy="533400"/>
              <a:chOff x="6524625" y="3543300"/>
              <a:chExt cx="4714875" cy="533400"/>
            </a:xfrm>
          </p:grpSpPr>
          <p:sp>
            <p:nvSpPr>
              <p:cNvPr id="41" name="Rectangle 41"/>
              <p:cNvSpPr/>
              <p:nvPr/>
            </p:nvSpPr>
            <p:spPr>
              <a:xfrm>
                <a:off x="6524625" y="3543300"/>
                <a:ext cx="4714875" cy="533400"/>
              </a:xfrm>
              <a:prstGeom prst="roundRect">
                <a:avLst>
                  <a:gd name="adj" fmla="val 14286"/>
                </a:avLst>
              </a:prstGeom>
              <a:solidFill>
                <a:srgbClr val="FFFFFF"/>
              </a:solidFill>
              <a:ln w="23812">
                <a:solidFill>
                  <a:srgbClr val="1482FA"/>
                </a:solidFill>
              </a:ln>
            </p:spPr>
          </p:sp>
          <p:sp>
            <p:nvSpPr>
              <p:cNvPr id="42" name="Ellipse 42"/>
              <p:cNvSpPr/>
              <p:nvPr/>
            </p:nvSpPr>
            <p:spPr>
              <a:xfrm>
                <a:off x="6657975" y="3676650"/>
                <a:ext cx="266700" cy="266700"/>
              </a:xfrm>
              <a:prstGeom prst="ellipse">
                <a:avLst/>
              </a:prstGeom>
              <a:solidFill>
                <a:srgbClr val="1482FA"/>
              </a:solidFill>
              <a:ln>
                <a:noFill/>
              </a:ln>
            </p:spPr>
          </p:sp>
          <p:sp>
            <p:nvSpPr>
              <p:cNvPr id="43" name="TextBox 43"/>
              <p:cNvSpPr txBox="1"/>
              <p:nvPr/>
            </p:nvSpPr>
            <p:spPr>
              <a:xfrm>
                <a:off x="6750277" y="3761899"/>
                <a:ext cx="82096"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2</a:t>
                </a:r>
              </a:p>
            </p:txBody>
          </p:sp>
          <p:sp>
            <p:nvSpPr>
              <p:cNvPr id="44" name="TextBox 44"/>
              <p:cNvSpPr txBox="1"/>
              <p:nvPr/>
            </p:nvSpPr>
            <p:spPr>
              <a:xfrm>
                <a:off x="7051548" y="3634264"/>
                <a:ext cx="2303982" cy="249364"/>
              </a:xfrm>
              <a:prstGeom prst="rect">
                <a:avLst/>
              </a:prstGeom>
              <a:noFill/>
              <a:ln>
                <a:noFill/>
              </a:ln>
            </p:spPr>
            <p:txBody>
              <a:bodyPr wrap="none" lIns="0" tIns="0" rIns="0" bIns="0" anchor="t" anchorCtr="0">
                <a:spAutoFit/>
              </a:bodyPr>
              <a:lstStyle/>
              <a:p>
                <a:pPr algn="l"/>
                <a:r>
                  <a:rPr lang="en-US" sz="1280" dirty="0">
                    <a:solidFill>
                      <a:srgbClr val="1482FA"/>
                    </a:solidFill>
                    <a:latin typeface="Roche Sans Medium"/>
                    <a:ea typeface="Roche Sans Medium"/>
                    <a:cs typeface="Roche Sans Medium"/>
                  </a:rPr>
                  <a:t>Encoder-Decoder</a:t>
                </a:r>
                <a:r>
                  <a:rPr lang="en-US" sz="1280" dirty="0">
                    <a:solidFill>
                      <a:srgbClr val="0B41CD"/>
                    </a:solidFill>
                    <a:latin typeface="Roche Sans Medium"/>
                    <a:ea typeface="Roche Sans Medium"/>
                    <a:cs typeface="Roche Sans Medium"/>
                  </a:rPr>
                  <a:t xml:space="preserve"> Attention</a:t>
                </a:r>
              </a:p>
            </p:txBody>
          </p:sp>
          <p:sp>
            <p:nvSpPr>
              <p:cNvPr id="45" name="TextBox 45"/>
              <p:cNvSpPr txBox="1"/>
              <p:nvPr/>
            </p:nvSpPr>
            <p:spPr>
              <a:xfrm>
                <a:off x="7053072" y="3876199"/>
                <a:ext cx="2801145"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Q from decoder · K, V from encoder output</a:t>
                </a:r>
              </a:p>
            </p:txBody>
          </p:sp>
        </p:grpSp>
        <p:grpSp>
          <p:nvGrpSpPr>
            <p:cNvPr id="52" name="Group 52"/>
            <p:cNvGrpSpPr/>
            <p:nvPr/>
          </p:nvGrpSpPr>
          <p:grpSpPr>
            <a:xfrm>
              <a:off x="6524625" y="4229100"/>
              <a:ext cx="4714875" cy="533400"/>
              <a:chOff x="6524625" y="4229100"/>
              <a:chExt cx="4714875" cy="533400"/>
            </a:xfrm>
          </p:grpSpPr>
          <p:sp>
            <p:nvSpPr>
              <p:cNvPr id="47" name="Rectangle 47"/>
              <p:cNvSpPr/>
              <p:nvPr/>
            </p:nvSpPr>
            <p:spPr>
              <a:xfrm>
                <a:off x="6524625" y="4229100"/>
                <a:ext cx="4714875" cy="533400"/>
              </a:xfrm>
              <a:prstGeom prst="roundRect">
                <a:avLst>
                  <a:gd name="adj" fmla="val 14286"/>
                </a:avLst>
              </a:prstGeom>
              <a:solidFill>
                <a:srgbClr val="F5F7FA"/>
              </a:solidFill>
              <a:ln w="14288">
                <a:solidFill>
                  <a:srgbClr val="1482FA"/>
                </a:solidFill>
              </a:ln>
            </p:spPr>
          </p:sp>
          <p:sp>
            <p:nvSpPr>
              <p:cNvPr id="48" name="Ellipse 48"/>
              <p:cNvSpPr/>
              <p:nvPr/>
            </p:nvSpPr>
            <p:spPr>
              <a:xfrm>
                <a:off x="6657975" y="4362450"/>
                <a:ext cx="266700" cy="266700"/>
              </a:xfrm>
              <a:prstGeom prst="ellipse">
                <a:avLst/>
              </a:prstGeom>
              <a:solidFill>
                <a:srgbClr val="1482FA"/>
              </a:solidFill>
              <a:ln>
                <a:noFill/>
              </a:ln>
            </p:spPr>
          </p:sp>
          <p:sp>
            <p:nvSpPr>
              <p:cNvPr id="49" name="TextBox 49"/>
              <p:cNvSpPr txBox="1"/>
              <p:nvPr/>
            </p:nvSpPr>
            <p:spPr>
              <a:xfrm>
                <a:off x="6750277" y="4447699"/>
                <a:ext cx="82096" cy="190690"/>
              </a:xfrm>
              <a:prstGeom prst="rect">
                <a:avLst/>
              </a:prstGeom>
              <a:noFill/>
              <a:ln>
                <a:noFill/>
              </a:ln>
            </p:spPr>
            <p:txBody>
              <a:bodyPr wrap="none" lIns="0" tIns="0" rIns="0" bIns="0" anchor="t" anchorCtr="0">
                <a:spAutoFit/>
              </a:bodyPr>
              <a:lstStyle/>
              <a:p>
                <a:pPr algn="ctr"/>
                <a:r>
                  <a:rPr lang="en-US" sz="980" dirty="0">
                    <a:solidFill>
                      <a:srgbClr val="FFFFFF"/>
                    </a:solidFill>
                    <a:latin typeface="Roche Sans Medium"/>
                    <a:ea typeface="Roche Sans Medium"/>
                    <a:cs typeface="Roche Sans Medium"/>
                  </a:rPr>
                  <a:t>3</a:t>
                </a:r>
              </a:p>
            </p:txBody>
          </p:sp>
          <p:sp>
            <p:nvSpPr>
              <p:cNvPr id="50" name="TextBox 50"/>
              <p:cNvSpPr txBox="1"/>
              <p:nvPr/>
            </p:nvSpPr>
            <p:spPr>
              <a:xfrm>
                <a:off x="7051548" y="4320064"/>
                <a:ext cx="2338563" cy="249364"/>
              </a:xfrm>
              <a:prstGeom prst="rect">
                <a:avLst/>
              </a:prstGeom>
              <a:noFill/>
              <a:ln>
                <a:noFill/>
              </a:ln>
            </p:spPr>
            <p:txBody>
              <a:bodyPr wrap="none" lIns="0" tIns="0" rIns="0" bIns="0" anchor="t" anchorCtr="0">
                <a:spAutoFit/>
              </a:bodyPr>
              <a:lstStyle/>
              <a:p>
                <a:pPr algn="l"/>
                <a:r>
                  <a:rPr lang="en-US" sz="1280" dirty="0">
                    <a:solidFill>
                      <a:srgbClr val="0B41CD"/>
                    </a:solidFill>
                    <a:latin typeface="Roche Sans Medium"/>
                    <a:ea typeface="Roche Sans Medium"/>
                    <a:cs typeface="Roche Sans Medium"/>
                  </a:rPr>
                  <a:t>Position-wise Feed Forward</a:t>
                </a:r>
              </a:p>
            </p:txBody>
          </p:sp>
          <p:sp>
            <p:nvSpPr>
              <p:cNvPr id="51" name="TextBox 51"/>
              <p:cNvSpPr txBox="1"/>
              <p:nvPr/>
            </p:nvSpPr>
            <p:spPr>
              <a:xfrm>
                <a:off x="7053072" y="4561999"/>
                <a:ext cx="1727978"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Same shape as encoder FFN</a:t>
                </a:r>
              </a:p>
            </p:txBody>
          </p:sp>
        </p:grpSp>
        <p:sp>
          <p:nvSpPr>
            <p:cNvPr id="53" name="Rectangle 53"/>
            <p:cNvSpPr/>
            <p:nvPr/>
          </p:nvSpPr>
          <p:spPr>
            <a:xfrm>
              <a:off x="6524625" y="5029200"/>
              <a:ext cx="4714875" cy="914400"/>
            </a:xfrm>
            <a:prstGeom prst="roundRect">
              <a:avLst>
                <a:gd name="adj" fmla="val 8333"/>
              </a:avLst>
            </a:prstGeom>
            <a:solidFill>
              <a:srgbClr val="E9EEFA"/>
            </a:solidFill>
            <a:ln>
              <a:noFill/>
            </a:ln>
          </p:spPr>
        </p:sp>
        <p:sp>
          <p:nvSpPr>
            <p:cNvPr id="54" name="TextBox 54"/>
            <p:cNvSpPr txBox="1"/>
            <p:nvPr/>
          </p:nvSpPr>
          <p:spPr>
            <a:xfrm>
              <a:off x="6653212" y="5160645"/>
              <a:ext cx="2361819"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THREE ASYMMETRIES VS ENCODER</a:t>
              </a:r>
            </a:p>
          </p:txBody>
        </p:sp>
        <p:sp>
          <p:nvSpPr>
            <p:cNvPr id="55" name="TextBox 55"/>
            <p:cNvSpPr txBox="1"/>
            <p:nvPr/>
          </p:nvSpPr>
          <p:spPr>
            <a:xfrm>
              <a:off x="6652641" y="5392102"/>
              <a:ext cx="3064116" cy="205359"/>
            </a:xfrm>
            <a:prstGeom prst="rect">
              <a:avLst/>
            </a:prstGeom>
            <a:noFill/>
            <a:ln>
              <a:noFill/>
            </a:ln>
          </p:spPr>
          <p:txBody>
            <a:bodyPr wrap="none" lIns="0" tIns="0" rIns="0" bIns="0" anchor="t" anchorCtr="0">
              <a:spAutoFit/>
            </a:bodyPr>
            <a:lstStyle/>
            <a:p>
              <a:pPr algn="l" marL="113348" indent="-113348">
                <a:buClr>
                  <a:srgbClr val="333333"/>
                </a:buClr>
                <a:buSzTx/>
                <a:buFontTx/>
                <a:buChar char="•"/>
              </a:pPr>
              <a:r>
                <a:rPr lang="en-US" sz="1050" dirty="0">
                  <a:solidFill>
                    <a:srgbClr val="333333"/>
                  </a:solidFill>
                  <a:latin typeface="Roche Sans"/>
                  <a:ea typeface="Roche Sans"/>
                  <a:cs typeface="Roche Sans"/>
                </a:rPr>
                <a:t>third sub-layer attends to encoder output</a:t>
              </a:r>
            </a:p>
          </p:txBody>
        </p:sp>
        <p:sp>
          <p:nvSpPr>
            <p:cNvPr id="56" name="TextBox 56"/>
            <p:cNvSpPr txBox="1"/>
            <p:nvPr/>
          </p:nvSpPr>
          <p:spPr>
            <a:xfrm>
              <a:off x="6652641" y="5582602"/>
              <a:ext cx="3452832" cy="205359"/>
            </a:xfrm>
            <a:prstGeom prst="rect">
              <a:avLst/>
            </a:prstGeom>
            <a:noFill/>
            <a:ln>
              <a:noFill/>
            </a:ln>
          </p:spPr>
          <p:txBody>
            <a:bodyPr wrap="none" lIns="0" tIns="0" rIns="0" bIns="0" anchor="t" anchorCtr="0">
              <a:spAutoFit/>
            </a:bodyPr>
            <a:lstStyle/>
            <a:p>
              <a:pPr algn="l" marL="113348" indent="-113348">
                <a:buClr>
                  <a:srgbClr val="333333"/>
                </a:buClr>
                <a:buSzTx/>
                <a:buFontTx/>
                <a:buChar char="•"/>
              </a:pPr>
              <a:r>
                <a:rPr lang="en-US" sz="1050" dirty="0">
                  <a:solidFill>
                    <a:srgbClr val="333333"/>
                  </a:solidFill>
                  <a:latin typeface="Roche Sans"/>
                  <a:ea typeface="Roche Sans"/>
                  <a:cs typeface="Roche Sans"/>
                </a:rPr>
                <a:t>self-attention is masked (no peeking at future)</a:t>
              </a:r>
            </a:p>
          </p:txBody>
        </p:sp>
        <p:sp>
          <p:nvSpPr>
            <p:cNvPr id="57" name="TextBox 57"/>
            <p:cNvSpPr txBox="1"/>
            <p:nvPr/>
          </p:nvSpPr>
          <p:spPr>
            <a:xfrm>
              <a:off x="6652641" y="5773102"/>
              <a:ext cx="3254940" cy="205359"/>
            </a:xfrm>
            <a:prstGeom prst="rect">
              <a:avLst/>
            </a:prstGeom>
            <a:noFill/>
            <a:ln>
              <a:noFill/>
            </a:ln>
          </p:spPr>
          <p:txBody>
            <a:bodyPr wrap="none" lIns="0" tIns="0" rIns="0" bIns="0" anchor="t" anchorCtr="0">
              <a:spAutoFit/>
            </a:bodyPr>
            <a:lstStyle/>
            <a:p>
              <a:pPr algn="l" marL="113348" indent="-113348">
                <a:buClr>
                  <a:srgbClr val="333333"/>
                </a:buClr>
                <a:buSzTx/>
                <a:buFontTx/>
                <a:buChar char="•"/>
              </a:pPr>
              <a:r>
                <a:rPr lang="en-US" sz="1050" dirty="0">
                  <a:solidFill>
                    <a:srgbClr val="333333"/>
                  </a:solidFill>
                  <a:latin typeface="Roche Sans"/>
                  <a:ea typeface="Roche Sans"/>
                  <a:cs typeface="Roche Sans"/>
                </a:rPr>
                <a:t>output embeddings are offset by one position</a:t>
              </a:r>
            </a:p>
          </p:txBody>
        </p:sp>
      </p:grpSp>
      <p:grpSp>
        <p:nvGrpSpPr>
          <p:cNvPr id="61" name="Group 61"/>
          <p:cNvGrpSpPr/>
          <p:nvPr/>
        </p:nvGrpSpPr>
        <p:grpSpPr>
          <a:xfrm>
            <a:off x="566738" y="6521291"/>
            <a:ext cx="11058525" cy="161925"/>
            <a:chOff x="566738" y="6521291"/>
            <a:chExt cx="11058525" cy="161925"/>
          </a:xfrm>
        </p:grpSpPr>
        <p:sp>
          <p:nvSpPr>
            <p:cNvPr id="59" name="TextBox 59"/>
            <p:cNvSpPr txBox="1"/>
            <p:nvPr/>
          </p:nvSpPr>
          <p:spPr>
            <a:xfrm>
              <a:off x="566738" y="6521291"/>
              <a:ext cx="3415276"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§3.1 Encoder and Decoder Stacks</a:t>
              </a:r>
            </a:p>
          </p:txBody>
        </p:sp>
        <p:sp>
          <p:nvSpPr>
            <p:cNvPr id="60" name="TextBox 60"/>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slide(fromBottom)">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9676740" cy="666464"/>
            <a:chOff x="571500" y="533400"/>
            <a:chExt cx="9676740" cy="666464"/>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9461094"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Attention as a weighted average — keys, values, queries</a:t>
              </a:r>
            </a:p>
          </p:txBody>
        </p:sp>
        <p:sp>
          <p:nvSpPr>
            <p:cNvPr id="5" name="TextBox 5"/>
            <p:cNvSpPr txBox="1"/>
            <p:nvPr/>
          </p:nvSpPr>
          <p:spPr>
            <a:xfrm>
              <a:off x="795147" y="1009174"/>
              <a:ext cx="3318053"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SCALED DOT-PRODUCT ATTENTION · §3.2.1</a:t>
              </a:r>
            </a:p>
          </p:txBody>
        </p:sp>
      </p:grpSp>
      <p:grpSp>
        <p:nvGrpSpPr>
          <p:cNvPr id="11" name="Group 11"/>
          <p:cNvGrpSpPr/>
          <p:nvPr/>
        </p:nvGrpSpPr>
        <p:grpSpPr>
          <a:xfrm>
            <a:off x="571500" y="1428750"/>
            <a:ext cx="11049000" cy="1314450"/>
            <a:chOff x="571500" y="1428750"/>
            <a:chExt cx="11049000" cy="1314450"/>
          </a:xfrm>
        </p:grpSpPr>
        <p:sp>
          <p:nvSpPr>
            <p:cNvPr id="7" name="Rectangle 7"/>
            <p:cNvSpPr/>
            <p:nvPr/>
          </p:nvSpPr>
          <p:spPr>
            <a:xfrm>
              <a:off x="571500" y="1428750"/>
              <a:ext cx="11049000" cy="1295400"/>
            </a:xfrm>
            <a:prstGeom prst="roundRect">
              <a:avLst>
                <a:gd name="adj" fmla="val 8824"/>
              </a:avLst>
            </a:prstGeom>
            <a:gradFill>
              <a:gsLst>
                <a:gs pos="0">
                  <a:srgbClr val="F8FAFF"/>
                </a:gs>
                <a:gs pos="100000">
                  <a:srgbClr val="E9EEFA"/>
                </a:gs>
              </a:gsLst>
              <a:lin ang="2700000" scaled="1"/>
            </a:gradFill>
            <a:ln w="14288">
              <a:solidFill>
                <a:srgbClr val="E0E0E0"/>
              </a:solidFill>
            </a:ln>
          </p:spPr>
        </p:sp>
        <p:sp>
          <p:nvSpPr>
            <p:cNvPr id="8" name="Rectangle 8"/>
            <p:cNvSpPr/>
            <p:nvPr/>
          </p:nvSpPr>
          <p:spPr>
            <a:xfrm>
              <a:off x="571500" y="1428750"/>
              <a:ext cx="57150" cy="1295400"/>
            </a:xfrm>
            <a:prstGeom prst="roundRect">
              <a:avLst>
                <a:gd name="adj" fmla="val 50000"/>
              </a:avLst>
            </a:prstGeom>
            <a:gradFill>
              <a:gsLst>
                <a:gs pos="0">
                  <a:srgbClr val="0B41CD"/>
                </a:gs>
                <a:gs pos="100000">
                  <a:srgbClr val="1482FA"/>
                </a:gs>
              </a:gsLst>
              <a:lin ang="5400000" scaled="1"/>
            </a:gradFill>
            <a:ln>
              <a:noFill/>
            </a:ln>
          </p:spPr>
        </p:sp>
        <p:sp>
          <p:nvSpPr>
            <p:cNvPr id="9" name="TextBox 9"/>
            <p:cNvSpPr txBox="1"/>
            <p:nvPr/>
          </p:nvSpPr>
          <p:spPr>
            <a:xfrm>
              <a:off x="947738" y="1598295"/>
              <a:ext cx="2361068"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EQUATION (1) · LaTeX-rendered</a:t>
              </a:r>
            </a:p>
          </p:txBody>
        </p:sp>
        <p:pic>
          <p:nvPicPr>
            <p:cNvPr id="10" name="Image 10"/>
            <p:cNvPicPr>
              <a:picLocks noChangeAspect="1"/>
            </p:cNvPicPr>
            <p:nvPr/>
          </p:nvPicPr>
          <p:blipFill>
            <a:blip r:embed="rId3"/>
            <a:stretch>
              <a:fillRect/>
            </a:stretch>
          </p:blipFill>
          <p:spPr>
            <a:xfrm>
              <a:off x="3638550" y="1828800"/>
              <a:ext cx="4914900" cy="914400"/>
            </a:xfrm>
            <a:prstGeom prst="rect">
              <a:avLst/>
            </a:prstGeom>
          </p:spPr>
        </p:pic>
      </p:grpSp>
      <p:grpSp>
        <p:nvGrpSpPr>
          <p:cNvPr id="34" name="Group 34"/>
          <p:cNvGrpSpPr/>
          <p:nvPr/>
        </p:nvGrpSpPr>
        <p:grpSpPr>
          <a:xfrm>
            <a:off x="781050" y="2961799"/>
            <a:ext cx="4924721" cy="2985135"/>
            <a:chOff x="781050" y="2961799"/>
            <a:chExt cx="4924721" cy="2985135"/>
          </a:xfrm>
        </p:grpSpPr>
        <p:sp>
          <p:nvSpPr>
            <p:cNvPr id="12" name="TextBox 12"/>
            <p:cNvSpPr txBox="1"/>
            <p:nvPr/>
          </p:nvSpPr>
          <p:spPr>
            <a:xfrm>
              <a:off x="795147" y="2961799"/>
              <a:ext cx="1052703"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HOW IT READS</a:t>
              </a:r>
            </a:p>
          </p:txBody>
        </p:sp>
        <p:grpSp>
          <p:nvGrpSpPr>
            <p:cNvPr id="17" name="Group 17"/>
            <p:cNvGrpSpPr/>
            <p:nvPr/>
          </p:nvGrpSpPr>
          <p:grpSpPr>
            <a:xfrm>
              <a:off x="781050" y="3283268"/>
              <a:ext cx="4861617" cy="472916"/>
              <a:chOff x="781050" y="3283268"/>
              <a:chExt cx="4861617" cy="472916"/>
            </a:xfrm>
          </p:grpSpPr>
          <p:sp>
            <p:nvSpPr>
              <p:cNvPr id="13" name="Ellipse 13"/>
              <p:cNvSpPr/>
              <p:nvPr/>
            </p:nvSpPr>
            <p:spPr>
              <a:xfrm>
                <a:off x="781050" y="3314700"/>
                <a:ext cx="342900" cy="342900"/>
              </a:xfrm>
              <a:prstGeom prst="ellipse">
                <a:avLst/>
              </a:prstGeom>
              <a:solidFill>
                <a:srgbClr val="0B41CD"/>
              </a:solidFill>
              <a:ln>
                <a:noFill/>
              </a:ln>
            </p:spPr>
          </p:sp>
          <p:sp>
            <p:nvSpPr>
              <p:cNvPr id="14" name="TextBox 14"/>
              <p:cNvSpPr txBox="1"/>
              <p:nvPr/>
            </p:nvSpPr>
            <p:spPr>
              <a:xfrm>
                <a:off x="901979" y="341376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1</a:t>
                </a:r>
              </a:p>
            </p:txBody>
          </p:sp>
          <p:sp>
            <p:nvSpPr>
              <p:cNvPr id="15" name="TextBox 15"/>
              <p:cNvSpPr txBox="1"/>
              <p:nvPr/>
            </p:nvSpPr>
            <p:spPr>
              <a:xfrm>
                <a:off x="1250442" y="3283268"/>
                <a:ext cx="3254541"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Dot-product all queries with all keys</a:t>
                </a:r>
              </a:p>
            </p:txBody>
          </p:sp>
          <p:sp>
            <p:nvSpPr>
              <p:cNvPr id="16" name="TextBox 16"/>
              <p:cNvSpPr txBox="1"/>
              <p:nvPr/>
            </p:nvSpPr>
            <p:spPr>
              <a:xfrm>
                <a:off x="1251585" y="3536156"/>
                <a:ext cx="4391082"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QK</a:t>
                </a:r>
                <a:r>
                  <a:rPr lang="en-US" sz="750" dirty="0">
                    <a:solidFill>
                      <a:srgbClr val="333333"/>
                    </a:solidFill>
                    <a:latin typeface="Roche Sans"/>
                    <a:ea typeface="Roche Sans"/>
                    <a:cs typeface="Roche Sans"/>
                  </a:rPr>
                  <a:t>T</a:t>
                </a:r>
                <a:r>
                  <a:rPr lang="en-US" sz="1120" dirty="0">
                    <a:solidFill>
                      <a:srgbClr val="333333"/>
                    </a:solidFill>
                    <a:latin typeface="Roche Sans"/>
                    <a:ea typeface="Roche Sans"/>
                    <a:cs typeface="Roche Sans"/>
                  </a:rPr>
                  <a:t xml:space="preserve"> gives a similarity score between every query–key pair.</a:t>
                </a:r>
              </a:p>
            </p:txBody>
          </p:sp>
        </p:grpSp>
        <p:grpSp>
          <p:nvGrpSpPr>
            <p:cNvPr id="23" name="Group 23"/>
            <p:cNvGrpSpPr/>
            <p:nvPr/>
          </p:nvGrpSpPr>
          <p:grpSpPr>
            <a:xfrm>
              <a:off x="781050" y="3950018"/>
              <a:ext cx="4924721" cy="663416"/>
              <a:chOff x="781050" y="3950018"/>
              <a:chExt cx="4924721" cy="663416"/>
            </a:xfrm>
          </p:grpSpPr>
          <p:sp>
            <p:nvSpPr>
              <p:cNvPr id="18" name="Ellipse 18"/>
              <p:cNvSpPr/>
              <p:nvPr/>
            </p:nvSpPr>
            <p:spPr>
              <a:xfrm>
                <a:off x="781050" y="3981450"/>
                <a:ext cx="342900" cy="342900"/>
              </a:xfrm>
              <a:prstGeom prst="ellipse">
                <a:avLst/>
              </a:prstGeom>
              <a:solidFill>
                <a:srgbClr val="0F5EE1"/>
              </a:solidFill>
              <a:ln>
                <a:noFill/>
              </a:ln>
            </p:spPr>
          </p:sp>
          <p:sp>
            <p:nvSpPr>
              <p:cNvPr id="19" name="TextBox 19"/>
              <p:cNvSpPr txBox="1"/>
              <p:nvPr/>
            </p:nvSpPr>
            <p:spPr>
              <a:xfrm>
                <a:off x="901979" y="408051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2</a:t>
                </a:r>
              </a:p>
            </p:txBody>
          </p:sp>
          <p:sp>
            <p:nvSpPr>
              <p:cNvPr id="20" name="TextBox 20"/>
              <p:cNvSpPr txBox="1"/>
              <p:nvPr/>
            </p:nvSpPr>
            <p:spPr>
              <a:xfrm>
                <a:off x="1250442" y="3950018"/>
                <a:ext cx="1184148"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 xml:space="preserve">Scale by </a:t>
                </a:r>
                <a:r>
                  <a:rPr lang="en-US" sz="1350" dirty="0">
                    <a:solidFill>
                      <a:srgbClr val="1482FA"/>
                    </a:solidFill>
                    <a:latin typeface="Consolas"/>
                    <a:ea typeface="Consolas"/>
                    <a:cs typeface="Consolas"/>
                  </a:rPr>
                  <a:t>√d_k</a:t>
                </a:r>
              </a:p>
            </p:txBody>
          </p:sp>
          <p:sp>
            <p:nvSpPr>
              <p:cNvPr id="21" name="TextBox 21"/>
              <p:cNvSpPr txBox="1"/>
              <p:nvPr/>
            </p:nvSpPr>
            <p:spPr>
              <a:xfrm>
                <a:off x="1251585" y="4202906"/>
                <a:ext cx="4454186"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For large d_k the dot products grow large, pushing softmax</a:t>
                </a:r>
              </a:p>
            </p:txBody>
          </p:sp>
          <p:sp>
            <p:nvSpPr>
              <p:cNvPr id="22" name="TextBox 22"/>
              <p:cNvSpPr txBox="1"/>
              <p:nvPr/>
            </p:nvSpPr>
            <p:spPr>
              <a:xfrm>
                <a:off x="1251585" y="4393406"/>
                <a:ext cx="3961713"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into low-gradient regions. Scaling counteracts that.</a:t>
                </a:r>
              </a:p>
            </p:txBody>
          </p:sp>
        </p:grpSp>
        <p:grpSp>
          <p:nvGrpSpPr>
            <p:cNvPr id="28" name="Group 28"/>
            <p:cNvGrpSpPr/>
            <p:nvPr/>
          </p:nvGrpSpPr>
          <p:grpSpPr>
            <a:xfrm>
              <a:off x="781050" y="4807268"/>
              <a:ext cx="4531196" cy="472916"/>
              <a:chOff x="781050" y="4807268"/>
              <a:chExt cx="4531196" cy="472916"/>
            </a:xfrm>
          </p:grpSpPr>
          <p:sp>
            <p:nvSpPr>
              <p:cNvPr id="24" name="Ellipse 24"/>
              <p:cNvSpPr/>
              <p:nvPr/>
            </p:nvSpPr>
            <p:spPr>
              <a:xfrm>
                <a:off x="781050" y="4838700"/>
                <a:ext cx="342900" cy="342900"/>
              </a:xfrm>
              <a:prstGeom prst="ellipse">
                <a:avLst/>
              </a:prstGeom>
              <a:solidFill>
                <a:srgbClr val="1482FA"/>
              </a:solidFill>
              <a:ln>
                <a:noFill/>
              </a:ln>
            </p:spPr>
          </p:sp>
          <p:sp>
            <p:nvSpPr>
              <p:cNvPr id="25" name="TextBox 25"/>
              <p:cNvSpPr txBox="1"/>
              <p:nvPr/>
            </p:nvSpPr>
            <p:spPr>
              <a:xfrm>
                <a:off x="901979" y="493776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3</a:t>
                </a:r>
              </a:p>
            </p:txBody>
          </p:sp>
          <p:sp>
            <p:nvSpPr>
              <p:cNvPr id="26" name="TextBox 26"/>
              <p:cNvSpPr txBox="1"/>
              <p:nvPr/>
            </p:nvSpPr>
            <p:spPr>
              <a:xfrm>
                <a:off x="1250442" y="4807268"/>
                <a:ext cx="2918281"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Softmax gives attention weights</a:t>
                </a:r>
              </a:p>
            </p:txBody>
          </p:sp>
          <p:sp>
            <p:nvSpPr>
              <p:cNvPr id="27" name="TextBox 27"/>
              <p:cNvSpPr txBox="1"/>
              <p:nvPr/>
            </p:nvSpPr>
            <p:spPr>
              <a:xfrm>
                <a:off x="1251585" y="5060156"/>
                <a:ext cx="4060661"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Normalize each row so the weights over keys sum to 1.</a:t>
                </a:r>
              </a:p>
            </p:txBody>
          </p:sp>
        </p:grpSp>
        <p:grpSp>
          <p:nvGrpSpPr>
            <p:cNvPr id="33" name="Group 33"/>
            <p:cNvGrpSpPr/>
            <p:nvPr/>
          </p:nvGrpSpPr>
          <p:grpSpPr>
            <a:xfrm>
              <a:off x="781050" y="5474018"/>
              <a:ext cx="4899481" cy="472916"/>
              <a:chOff x="781050" y="5474018"/>
              <a:chExt cx="4899481" cy="472916"/>
            </a:xfrm>
          </p:grpSpPr>
          <p:sp>
            <p:nvSpPr>
              <p:cNvPr id="29" name="Ellipse 29"/>
              <p:cNvSpPr/>
              <p:nvPr/>
            </p:nvSpPr>
            <p:spPr>
              <a:xfrm>
                <a:off x="781050" y="5505450"/>
                <a:ext cx="342900" cy="342900"/>
              </a:xfrm>
              <a:prstGeom prst="ellipse">
                <a:avLst/>
              </a:prstGeom>
              <a:solidFill>
                <a:srgbClr val="5FAAFC"/>
              </a:solidFill>
              <a:ln>
                <a:noFill/>
              </a:ln>
            </p:spPr>
          </p:sp>
          <p:sp>
            <p:nvSpPr>
              <p:cNvPr id="30" name="TextBox 30"/>
              <p:cNvSpPr txBox="1"/>
              <p:nvPr/>
            </p:nvSpPr>
            <p:spPr>
              <a:xfrm>
                <a:off x="901979" y="560451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4</a:t>
                </a:r>
              </a:p>
            </p:txBody>
          </p:sp>
          <p:sp>
            <p:nvSpPr>
              <p:cNvPr id="31" name="TextBox 31"/>
              <p:cNvSpPr txBox="1"/>
              <p:nvPr/>
            </p:nvSpPr>
            <p:spPr>
              <a:xfrm>
                <a:off x="1250442" y="5474018"/>
                <a:ext cx="2064348"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Weighted sum of values</a:t>
                </a:r>
              </a:p>
            </p:txBody>
          </p:sp>
          <p:sp>
            <p:nvSpPr>
              <p:cNvPr id="32" name="TextBox 32"/>
              <p:cNvSpPr txBox="1"/>
              <p:nvPr/>
            </p:nvSpPr>
            <p:spPr>
              <a:xfrm>
                <a:off x="1251585" y="5726906"/>
                <a:ext cx="4428946"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Multiply weights by V to get each output position's vector.</a:t>
                </a:r>
              </a:p>
            </p:txBody>
          </p:sp>
        </p:grpSp>
      </p:grpSp>
      <p:grpSp>
        <p:nvGrpSpPr>
          <p:cNvPr id="73" name="Group 73"/>
          <p:cNvGrpSpPr/>
          <p:nvPr/>
        </p:nvGrpSpPr>
        <p:grpSpPr>
          <a:xfrm>
            <a:off x="6667500" y="2952750"/>
            <a:ext cx="4953000" cy="3105150"/>
            <a:chOff x="6667500" y="2952750"/>
            <a:chExt cx="4953000" cy="3105150"/>
          </a:xfrm>
        </p:grpSpPr>
        <p:sp>
          <p:nvSpPr>
            <p:cNvPr id="35" name="Rectangle 35"/>
            <p:cNvSpPr/>
            <p:nvPr/>
          </p:nvSpPr>
          <p:spPr>
            <a:xfrm>
              <a:off x="6667500" y="2952750"/>
              <a:ext cx="4953000" cy="3105150"/>
            </a:xfrm>
            <a:prstGeom prst="roundRect">
              <a:avLst>
                <a:gd name="adj" fmla="val 3681"/>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36" name="TextBox 36"/>
            <p:cNvSpPr txBox="1"/>
            <p:nvPr/>
          </p:nvSpPr>
          <p:spPr>
            <a:xfrm>
              <a:off x="6891338" y="3122295"/>
              <a:ext cx="736016"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DATAFLOW</a:t>
              </a:r>
            </a:p>
          </p:txBody>
        </p:sp>
        <p:grpSp>
          <p:nvGrpSpPr>
            <p:cNvPr id="39" name="Group 39"/>
            <p:cNvGrpSpPr/>
            <p:nvPr/>
          </p:nvGrpSpPr>
          <p:grpSpPr>
            <a:xfrm>
              <a:off x="6920027" y="3533775"/>
              <a:ext cx="409346" cy="425291"/>
              <a:chOff x="6920027" y="3533775"/>
              <a:chExt cx="409346" cy="425291"/>
            </a:xfrm>
          </p:grpSpPr>
          <p:sp>
            <p:nvSpPr>
              <p:cNvPr id="37" name="TextBox 37"/>
              <p:cNvSpPr txBox="1"/>
              <p:nvPr/>
            </p:nvSpPr>
            <p:spPr>
              <a:xfrm>
                <a:off x="7033070" y="3533775"/>
                <a:ext cx="183261" cy="293370"/>
              </a:xfrm>
              <a:prstGeom prst="rect">
                <a:avLst/>
              </a:prstGeom>
              <a:noFill/>
              <a:ln>
                <a:noFill/>
              </a:ln>
            </p:spPr>
            <p:txBody>
              <a:bodyPr wrap="none" lIns="0" tIns="0" rIns="0" bIns="0" anchor="t" anchorCtr="0">
                <a:spAutoFit/>
              </a:bodyPr>
              <a:lstStyle/>
              <a:p>
                <a:pPr algn="ctr"/>
                <a:r>
                  <a:rPr lang="en-US" sz="1500" b="1" dirty="0">
                    <a:solidFill>
                      <a:srgbClr val="0B41CD"/>
                    </a:solidFill>
                    <a:latin typeface="Consolas"/>
                    <a:ea typeface="Consolas"/>
                    <a:cs typeface="Consolas"/>
                  </a:rPr>
                  <a:t>Q</a:t>
                </a:r>
              </a:p>
            </p:txBody>
          </p:sp>
          <p:sp>
            <p:nvSpPr>
              <p:cNvPr id="38" name="TextBox 38"/>
              <p:cNvSpPr txBox="1"/>
              <p:nvPr/>
            </p:nvSpPr>
            <p:spPr>
              <a:xfrm>
                <a:off x="6920027" y="3797141"/>
                <a:ext cx="409346"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queries</a:t>
                </a:r>
              </a:p>
            </p:txBody>
          </p:sp>
        </p:grpSp>
        <p:grpSp>
          <p:nvGrpSpPr>
            <p:cNvPr id="42" name="Group 42"/>
            <p:cNvGrpSpPr/>
            <p:nvPr/>
          </p:nvGrpSpPr>
          <p:grpSpPr>
            <a:xfrm>
              <a:off x="6997770" y="4124325"/>
              <a:ext cx="253860" cy="425291"/>
              <a:chOff x="6997770" y="4124325"/>
              <a:chExt cx="253860" cy="425291"/>
            </a:xfrm>
          </p:grpSpPr>
          <p:sp>
            <p:nvSpPr>
              <p:cNvPr id="40" name="TextBox 40"/>
              <p:cNvSpPr txBox="1"/>
              <p:nvPr/>
            </p:nvSpPr>
            <p:spPr>
              <a:xfrm>
                <a:off x="7055472" y="4124325"/>
                <a:ext cx="138455" cy="293370"/>
              </a:xfrm>
              <a:prstGeom prst="rect">
                <a:avLst/>
              </a:prstGeom>
              <a:noFill/>
              <a:ln>
                <a:noFill/>
              </a:ln>
            </p:spPr>
            <p:txBody>
              <a:bodyPr wrap="none" lIns="0" tIns="0" rIns="0" bIns="0" anchor="t" anchorCtr="0">
                <a:spAutoFit/>
              </a:bodyPr>
              <a:lstStyle/>
              <a:p>
                <a:pPr algn="ctr"/>
                <a:r>
                  <a:rPr lang="en-US" sz="1500" b="1" dirty="0">
                    <a:solidFill>
                      <a:srgbClr val="0B41CD"/>
                    </a:solidFill>
                    <a:latin typeface="Consolas"/>
                    <a:ea typeface="Consolas"/>
                    <a:cs typeface="Consolas"/>
                  </a:rPr>
                  <a:t>K</a:t>
                </a:r>
              </a:p>
            </p:txBody>
          </p:sp>
          <p:sp>
            <p:nvSpPr>
              <p:cNvPr id="41" name="TextBox 41"/>
              <p:cNvSpPr txBox="1"/>
              <p:nvPr/>
            </p:nvSpPr>
            <p:spPr>
              <a:xfrm>
                <a:off x="6997770" y="4387691"/>
                <a:ext cx="253860"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keys</a:t>
                </a:r>
              </a:p>
            </p:txBody>
          </p:sp>
        </p:grpSp>
        <p:grpSp>
          <p:nvGrpSpPr>
            <p:cNvPr id="45" name="Group 45"/>
            <p:cNvGrpSpPr/>
            <p:nvPr/>
          </p:nvGrpSpPr>
          <p:grpSpPr>
            <a:xfrm>
              <a:off x="6950569" y="5648325"/>
              <a:ext cx="348263" cy="406241"/>
              <a:chOff x="6950569" y="5648325"/>
              <a:chExt cx="348263" cy="406241"/>
            </a:xfrm>
          </p:grpSpPr>
          <p:sp>
            <p:nvSpPr>
              <p:cNvPr id="43" name="TextBox 43"/>
              <p:cNvSpPr txBox="1"/>
              <p:nvPr/>
            </p:nvSpPr>
            <p:spPr>
              <a:xfrm>
                <a:off x="7055472" y="5648325"/>
                <a:ext cx="138455" cy="293370"/>
              </a:xfrm>
              <a:prstGeom prst="rect">
                <a:avLst/>
              </a:prstGeom>
              <a:noFill/>
              <a:ln>
                <a:noFill/>
              </a:ln>
            </p:spPr>
            <p:txBody>
              <a:bodyPr wrap="none" lIns="0" tIns="0" rIns="0" bIns="0" anchor="t" anchorCtr="0">
                <a:spAutoFit/>
              </a:bodyPr>
              <a:lstStyle/>
              <a:p>
                <a:pPr algn="ctr"/>
                <a:r>
                  <a:rPr lang="en-US" sz="1500" b="1" dirty="0">
                    <a:solidFill>
                      <a:srgbClr val="0B41CD"/>
                    </a:solidFill>
                    <a:latin typeface="Consolas"/>
                    <a:ea typeface="Consolas"/>
                    <a:cs typeface="Consolas"/>
                  </a:rPr>
                  <a:t>V</a:t>
                </a:r>
              </a:p>
            </p:txBody>
          </p:sp>
          <p:sp>
            <p:nvSpPr>
              <p:cNvPr id="44" name="TextBox 44"/>
              <p:cNvSpPr txBox="1"/>
              <p:nvPr/>
            </p:nvSpPr>
            <p:spPr>
              <a:xfrm>
                <a:off x="6950569" y="5892641"/>
                <a:ext cx="348263"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values</a:t>
                </a:r>
              </a:p>
            </p:txBody>
          </p:sp>
        </p:grpSp>
        <p:grpSp>
          <p:nvGrpSpPr>
            <p:cNvPr id="49" name="Group 49"/>
            <p:cNvGrpSpPr/>
            <p:nvPr/>
          </p:nvGrpSpPr>
          <p:grpSpPr>
            <a:xfrm>
              <a:off x="7543800" y="3543300"/>
              <a:ext cx="1066800" cy="571500"/>
              <a:chOff x="7543800" y="3543300"/>
              <a:chExt cx="1066800" cy="571500"/>
            </a:xfrm>
          </p:grpSpPr>
          <p:sp>
            <p:nvSpPr>
              <p:cNvPr id="46" name="Rectangle 46"/>
              <p:cNvSpPr/>
              <p:nvPr/>
            </p:nvSpPr>
            <p:spPr>
              <a:xfrm>
                <a:off x="7543800" y="3543300"/>
                <a:ext cx="1066800" cy="571500"/>
              </a:xfrm>
              <a:prstGeom prst="roundRect">
                <a:avLst>
                  <a:gd name="adj" fmla="val 13333"/>
                </a:avLst>
              </a:prstGeom>
              <a:solidFill>
                <a:srgbClr val="E9EEFA"/>
              </a:solidFill>
              <a:ln w="14288">
                <a:solidFill>
                  <a:srgbClr val="1482FA"/>
                </a:solidFill>
              </a:ln>
            </p:spPr>
          </p:sp>
          <p:sp>
            <p:nvSpPr>
              <p:cNvPr id="47" name="TextBox 47"/>
              <p:cNvSpPr txBox="1"/>
              <p:nvPr/>
            </p:nvSpPr>
            <p:spPr>
              <a:xfrm>
                <a:off x="7823435" y="3677602"/>
                <a:ext cx="507530" cy="205359"/>
              </a:xfrm>
              <a:prstGeom prst="rect">
                <a:avLst/>
              </a:prstGeom>
              <a:noFill/>
              <a:ln>
                <a:noFill/>
              </a:ln>
            </p:spPr>
            <p:txBody>
              <a:bodyPr wrap="none" lIns="0" tIns="0" rIns="0" bIns="0" anchor="t" anchorCtr="0">
                <a:spAutoFit/>
              </a:bodyPr>
              <a:lstStyle/>
              <a:p>
                <a:pPr algn="ctr"/>
                <a:r>
                  <a:rPr lang="en-US" sz="1050" dirty="0">
                    <a:solidFill>
                      <a:srgbClr val="0B41CD"/>
                    </a:solidFill>
                    <a:latin typeface="Roche Sans Medium"/>
                    <a:ea typeface="Roche Sans Medium"/>
                    <a:cs typeface="Roche Sans Medium"/>
                  </a:rPr>
                  <a:t>MatMul</a:t>
                </a:r>
              </a:p>
            </p:txBody>
          </p:sp>
          <p:sp>
            <p:nvSpPr>
              <p:cNvPr id="48" name="TextBox 48"/>
              <p:cNvSpPr txBox="1"/>
              <p:nvPr/>
            </p:nvSpPr>
            <p:spPr>
              <a:xfrm>
                <a:off x="7962824" y="3903345"/>
                <a:ext cx="228752"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Consolas"/>
                    <a:ea typeface="Consolas"/>
                    <a:cs typeface="Consolas"/>
                  </a:rPr>
                  <a:t>QK</a:t>
                </a:r>
                <a:r>
                  <a:rPr lang="en-US" sz="680" dirty="0">
                    <a:solidFill>
                      <a:srgbClr val="706B69"/>
                    </a:solidFill>
                    <a:latin typeface="Consolas"/>
                    <a:ea typeface="Consolas"/>
                    <a:cs typeface="Consolas"/>
                  </a:rPr>
                  <a:t>T</a:t>
                </a:r>
              </a:p>
            </p:txBody>
          </p:sp>
        </p:grpSp>
        <p:sp>
          <p:nvSpPr>
            <p:cNvPr id="50" name="Line 50"/>
            <p:cNvSpPr/>
            <p:nvPr/>
          </p:nvSpPr>
          <p:spPr>
            <a:xfrm>
              <a:off x="7258050" y="3657600"/>
              <a:ext cx="285750" cy="133350"/>
            </a:xfrm>
            <a:prstGeom prst="line">
              <a:avLst/>
            </a:prstGeom>
            <a:noFill/>
            <a:ln w="14288">
              <a:solidFill>
                <a:srgbClr val="0B41CD"/>
              </a:solidFill>
              <a:tailEnd type="triangle" w="lg" len="lg"/>
            </a:ln>
          </p:spPr>
        </p:sp>
        <p:sp>
          <p:nvSpPr>
            <p:cNvPr id="51" name="Line 51"/>
            <p:cNvSpPr/>
            <p:nvPr/>
          </p:nvSpPr>
          <p:spPr>
            <a:xfrm flipV="1">
              <a:off x="7258050" y="3905250"/>
              <a:ext cx="285750" cy="342900"/>
            </a:xfrm>
            <a:prstGeom prst="line">
              <a:avLst/>
            </a:prstGeom>
            <a:noFill/>
            <a:ln w="14288">
              <a:solidFill>
                <a:srgbClr val="0B41CD"/>
              </a:solidFill>
              <a:tailEnd type="triangle" w="lg" len="lg"/>
            </a:ln>
          </p:spPr>
        </p:sp>
        <p:grpSp>
          <p:nvGrpSpPr>
            <p:cNvPr id="55" name="Group 55"/>
            <p:cNvGrpSpPr/>
            <p:nvPr/>
          </p:nvGrpSpPr>
          <p:grpSpPr>
            <a:xfrm>
              <a:off x="8877300" y="3543300"/>
              <a:ext cx="914400" cy="571500"/>
              <a:chOff x="8877300" y="3543300"/>
              <a:chExt cx="914400" cy="571500"/>
            </a:xfrm>
          </p:grpSpPr>
          <p:sp>
            <p:nvSpPr>
              <p:cNvPr id="52" name="Rectangle 52"/>
              <p:cNvSpPr/>
              <p:nvPr/>
            </p:nvSpPr>
            <p:spPr>
              <a:xfrm>
                <a:off x="8877300" y="3543300"/>
                <a:ext cx="914400" cy="571500"/>
              </a:xfrm>
              <a:prstGeom prst="roundRect">
                <a:avLst>
                  <a:gd name="adj" fmla="val 13333"/>
                </a:avLst>
              </a:prstGeom>
              <a:solidFill>
                <a:srgbClr val="F0F4FC"/>
              </a:solidFill>
              <a:ln w="14288">
                <a:solidFill>
                  <a:srgbClr val="5FAAFC"/>
                </a:solidFill>
              </a:ln>
            </p:spPr>
          </p:sp>
          <p:sp>
            <p:nvSpPr>
              <p:cNvPr id="53" name="TextBox 53"/>
              <p:cNvSpPr txBox="1"/>
              <p:nvPr/>
            </p:nvSpPr>
            <p:spPr>
              <a:xfrm>
                <a:off x="9150477" y="3658552"/>
                <a:ext cx="368046" cy="205359"/>
              </a:xfrm>
              <a:prstGeom prst="rect">
                <a:avLst/>
              </a:prstGeom>
              <a:noFill/>
              <a:ln>
                <a:noFill/>
              </a:ln>
            </p:spPr>
            <p:txBody>
              <a:bodyPr wrap="none" lIns="0" tIns="0" rIns="0" bIns="0" anchor="t" anchorCtr="0">
                <a:spAutoFit/>
              </a:bodyPr>
              <a:lstStyle/>
              <a:p>
                <a:pPr algn="ctr"/>
                <a:r>
                  <a:rPr lang="en-US" sz="1050" dirty="0">
                    <a:solidFill>
                      <a:srgbClr val="0F5EE1"/>
                    </a:solidFill>
                    <a:latin typeface="Roche Sans Medium"/>
                    <a:ea typeface="Roche Sans Medium"/>
                    <a:cs typeface="Roche Sans Medium"/>
                  </a:rPr>
                  <a:t>Scale</a:t>
                </a:r>
              </a:p>
            </p:txBody>
          </p:sp>
          <p:sp>
            <p:nvSpPr>
              <p:cNvPr id="54" name="TextBox 54"/>
              <p:cNvSpPr txBox="1"/>
              <p:nvPr/>
            </p:nvSpPr>
            <p:spPr>
              <a:xfrm>
                <a:off x="9144972" y="3884295"/>
                <a:ext cx="379057"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Consolas"/>
                    <a:ea typeface="Consolas"/>
                    <a:cs typeface="Consolas"/>
                  </a:rPr>
                  <a:t>÷ √d_k</a:t>
                </a:r>
              </a:p>
            </p:txBody>
          </p:sp>
        </p:grpSp>
        <p:sp>
          <p:nvSpPr>
            <p:cNvPr id="56" name="Line 56"/>
            <p:cNvSpPr/>
            <p:nvPr/>
          </p:nvSpPr>
          <p:spPr>
            <a:xfrm>
              <a:off x="8610600" y="3829050"/>
              <a:ext cx="266700" cy="1"/>
            </a:xfrm>
            <a:prstGeom prst="line">
              <a:avLst/>
            </a:prstGeom>
            <a:noFill/>
            <a:ln w="14288">
              <a:solidFill>
                <a:srgbClr val="0B41CD"/>
              </a:solidFill>
              <a:tailEnd type="triangle" w="lg" len="lg"/>
            </a:ln>
          </p:spPr>
        </p:sp>
        <p:grpSp>
          <p:nvGrpSpPr>
            <p:cNvPr id="60" name="Group 60"/>
            <p:cNvGrpSpPr/>
            <p:nvPr/>
          </p:nvGrpSpPr>
          <p:grpSpPr>
            <a:xfrm>
              <a:off x="10058400" y="3543300"/>
              <a:ext cx="1333500" cy="571500"/>
              <a:chOff x="10058400" y="3543300"/>
              <a:chExt cx="1333500" cy="571500"/>
            </a:xfrm>
          </p:grpSpPr>
          <p:sp>
            <p:nvSpPr>
              <p:cNvPr id="57" name="Rectangle 57"/>
              <p:cNvSpPr/>
              <p:nvPr/>
            </p:nvSpPr>
            <p:spPr>
              <a:xfrm>
                <a:off x="10058400" y="3543300"/>
                <a:ext cx="1333500" cy="571500"/>
              </a:xfrm>
              <a:prstGeom prst="roundRect">
                <a:avLst>
                  <a:gd name="adj" fmla="val 13333"/>
                </a:avLst>
              </a:prstGeom>
              <a:solidFill>
                <a:srgbClr val="FFFFFF"/>
              </a:solidFill>
              <a:ln w="14288">
                <a:solidFill>
                  <a:srgbClr val="A39F9C"/>
                </a:solidFill>
                <a:custDash>
                  <a:ds d="266666" sp="200000"/>
                </a:custDash>
              </a:ln>
            </p:spPr>
          </p:sp>
          <p:sp>
            <p:nvSpPr>
              <p:cNvPr id="58" name="TextBox 58"/>
              <p:cNvSpPr txBox="1"/>
              <p:nvPr/>
            </p:nvSpPr>
            <p:spPr>
              <a:xfrm>
                <a:off x="10292334" y="3658552"/>
                <a:ext cx="865632" cy="205359"/>
              </a:xfrm>
              <a:prstGeom prst="rect">
                <a:avLst/>
              </a:prstGeom>
              <a:noFill/>
              <a:ln>
                <a:noFill/>
              </a:ln>
            </p:spPr>
            <p:txBody>
              <a:bodyPr wrap="none" lIns="0" tIns="0" rIns="0" bIns="0" anchor="t" anchorCtr="0">
                <a:spAutoFit/>
              </a:bodyPr>
              <a:lstStyle/>
              <a:p>
                <a:pPr algn="ctr"/>
                <a:r>
                  <a:rPr lang="en-US" sz="1050" dirty="0">
                    <a:solidFill>
                      <a:srgbClr val="706B69"/>
                    </a:solidFill>
                    <a:latin typeface="Roche Sans Medium"/>
                    <a:ea typeface="Roche Sans Medium"/>
                    <a:cs typeface="Roche Sans Medium"/>
                  </a:rPr>
                  <a:t>Mask (opt.)</a:t>
                </a:r>
              </a:p>
            </p:txBody>
          </p:sp>
          <p:sp>
            <p:nvSpPr>
              <p:cNvPr id="59" name="TextBox 59"/>
              <p:cNvSpPr txBox="1"/>
              <p:nvPr/>
            </p:nvSpPr>
            <p:spPr>
              <a:xfrm>
                <a:off x="10381650" y="3892391"/>
                <a:ext cx="687000" cy="161925"/>
              </a:xfrm>
              <a:prstGeom prst="rect">
                <a:avLst/>
              </a:prstGeom>
              <a:noFill/>
              <a:ln>
                <a:noFill/>
              </a:ln>
            </p:spPr>
            <p:txBody>
              <a:bodyPr wrap="none" lIns="0" tIns="0" rIns="0" bIns="0" anchor="t" anchorCtr="0">
                <a:spAutoFit/>
              </a:bodyPr>
              <a:lstStyle/>
              <a:p>
                <a:pPr algn="ctr"/>
                <a:r>
                  <a:rPr lang="en-US" sz="820" dirty="0">
                    <a:solidFill>
                      <a:srgbClr val="A39F9C"/>
                    </a:solidFill>
                    <a:latin typeface="Roche Sans"/>
                    <a:ea typeface="Roche Sans"/>
                    <a:cs typeface="Roche Sans"/>
                  </a:rPr>
                  <a:t>decoder only</a:t>
                </a:r>
              </a:p>
            </p:txBody>
          </p:sp>
        </p:grpSp>
        <p:sp>
          <p:nvSpPr>
            <p:cNvPr id="61" name="Line 61"/>
            <p:cNvSpPr/>
            <p:nvPr/>
          </p:nvSpPr>
          <p:spPr>
            <a:xfrm>
              <a:off x="9791700" y="3829050"/>
              <a:ext cx="266700" cy="1"/>
            </a:xfrm>
            <a:prstGeom prst="line">
              <a:avLst/>
            </a:prstGeom>
            <a:noFill/>
            <a:ln w="14288">
              <a:solidFill>
                <a:srgbClr val="0B41CD"/>
              </a:solidFill>
              <a:tailEnd type="triangle" w="lg" len="lg"/>
            </a:ln>
          </p:spPr>
        </p:sp>
        <p:grpSp>
          <p:nvGrpSpPr>
            <p:cNvPr id="65" name="Group 65"/>
            <p:cNvGrpSpPr/>
            <p:nvPr/>
          </p:nvGrpSpPr>
          <p:grpSpPr>
            <a:xfrm>
              <a:off x="8686800" y="4438650"/>
              <a:ext cx="1752600" cy="533400"/>
              <a:chOff x="8686800" y="4438650"/>
              <a:chExt cx="1752600" cy="533400"/>
            </a:xfrm>
          </p:grpSpPr>
          <p:sp>
            <p:nvSpPr>
              <p:cNvPr id="62" name="Rectangle 62"/>
              <p:cNvSpPr/>
              <p:nvPr/>
            </p:nvSpPr>
            <p:spPr>
              <a:xfrm>
                <a:off x="8686800" y="4438650"/>
                <a:ext cx="1752600" cy="533400"/>
              </a:xfrm>
              <a:prstGeom prst="roundRect">
                <a:avLst>
                  <a:gd name="adj" fmla="val 14286"/>
                </a:avLst>
              </a:prstGeom>
              <a:solidFill>
                <a:srgbClr val="1482FA"/>
              </a:solidFill>
              <a:ln>
                <a:noFill/>
              </a:ln>
            </p:spPr>
          </p:sp>
          <p:sp>
            <p:nvSpPr>
              <p:cNvPr id="63" name="TextBox 63"/>
              <p:cNvSpPr txBox="1"/>
              <p:nvPr/>
            </p:nvSpPr>
            <p:spPr>
              <a:xfrm>
                <a:off x="9266901" y="4553902"/>
                <a:ext cx="592398" cy="205359"/>
              </a:xfrm>
              <a:prstGeom prst="rect">
                <a:avLst/>
              </a:prstGeom>
              <a:noFill/>
              <a:ln>
                <a:noFill/>
              </a:ln>
            </p:spPr>
            <p:txBody>
              <a:bodyPr wrap="none" lIns="0" tIns="0" rIns="0" bIns="0" anchor="t" anchorCtr="0">
                <a:spAutoFit/>
              </a:bodyPr>
              <a:lstStyle/>
              <a:p>
                <a:pPr algn="ctr"/>
                <a:r>
                  <a:rPr lang="en-US" sz="1050" dirty="0">
                    <a:solidFill>
                      <a:srgbClr val="FFFFFF"/>
                    </a:solidFill>
                    <a:latin typeface="Roche Sans Medium"/>
                    <a:ea typeface="Roche Sans Medium"/>
                    <a:cs typeface="Roche Sans Medium"/>
                  </a:rPr>
                  <a:t>SoftMax</a:t>
                </a:r>
              </a:p>
            </p:txBody>
          </p:sp>
          <p:sp>
            <p:nvSpPr>
              <p:cNvPr id="64" name="TextBox 64"/>
              <p:cNvSpPr txBox="1"/>
              <p:nvPr/>
            </p:nvSpPr>
            <p:spPr>
              <a:xfrm>
                <a:off x="9030795" y="4787741"/>
                <a:ext cx="1064609" cy="161925"/>
              </a:xfrm>
              <a:prstGeom prst="rect">
                <a:avLst/>
              </a:prstGeom>
              <a:noFill/>
              <a:ln>
                <a:noFill/>
              </a:ln>
            </p:spPr>
            <p:txBody>
              <a:bodyPr wrap="none" lIns="0" tIns="0" rIns="0" bIns="0" anchor="t" anchorCtr="0">
                <a:spAutoFit/>
              </a:bodyPr>
              <a:lstStyle/>
              <a:p>
                <a:pPr algn="ctr"/>
                <a:r>
                  <a:rPr lang="en-US" sz="820" dirty="0">
                    <a:solidFill>
                      <a:srgbClr val="FFFFFF">
                        <a:alphaMod val="92000"/>
                      </a:srgbClr>
                    </a:solidFill>
                    <a:latin typeface="Roche Sans"/>
                    <a:ea typeface="Roche Sans"/>
                    <a:cs typeface="Roche Sans"/>
                  </a:rPr>
                  <a:t>row-wise normalize</a:t>
                </a:r>
              </a:p>
            </p:txBody>
          </p:sp>
        </p:grpSp>
        <p:sp>
          <p:nvSpPr>
            <p:cNvPr id="66" name="Line 66"/>
            <p:cNvSpPr/>
            <p:nvPr/>
          </p:nvSpPr>
          <p:spPr>
            <a:xfrm flipH="1">
              <a:off x="10001250" y="4114800"/>
              <a:ext cx="723900" cy="323850"/>
            </a:xfrm>
            <a:prstGeom prst="line">
              <a:avLst/>
            </a:prstGeom>
            <a:noFill/>
            <a:ln w="14288">
              <a:solidFill>
                <a:srgbClr val="0B41CD"/>
              </a:solidFill>
              <a:tailEnd type="triangle" w="lg" len="lg"/>
            </a:ln>
          </p:spPr>
        </p:sp>
        <p:grpSp>
          <p:nvGrpSpPr>
            <p:cNvPr id="70" name="Group 70"/>
            <p:cNvGrpSpPr/>
            <p:nvPr/>
          </p:nvGrpSpPr>
          <p:grpSpPr>
            <a:xfrm>
              <a:off x="8686800" y="5353050"/>
              <a:ext cx="1752600" cy="533400"/>
              <a:chOff x="8686800" y="5353050"/>
              <a:chExt cx="1752600" cy="533400"/>
            </a:xfrm>
          </p:grpSpPr>
          <p:sp>
            <p:nvSpPr>
              <p:cNvPr id="67" name="Rectangle 67"/>
              <p:cNvSpPr/>
              <p:nvPr/>
            </p:nvSpPr>
            <p:spPr>
              <a:xfrm>
                <a:off x="8686800" y="5353050"/>
                <a:ext cx="1752600" cy="533400"/>
              </a:xfrm>
              <a:prstGeom prst="roundRect">
                <a:avLst>
                  <a:gd name="adj" fmla="val 14286"/>
                </a:avLst>
              </a:prstGeom>
              <a:gradFill>
                <a:gsLst>
                  <a:gs pos="0">
                    <a:srgbClr val="0B41CD"/>
                  </a:gs>
                  <a:gs pos="100000">
                    <a:srgbClr val="0F5EE1"/>
                  </a:gs>
                </a:gsLst>
                <a:lin ang="0" scaled="1"/>
              </a:gradFill>
              <a:ln>
                <a:noFill/>
              </a:ln>
            </p:spPr>
          </p:sp>
          <p:sp>
            <p:nvSpPr>
              <p:cNvPr id="68" name="TextBox 68"/>
              <p:cNvSpPr txBox="1"/>
              <p:nvPr/>
            </p:nvSpPr>
            <p:spPr>
              <a:xfrm>
                <a:off x="9309335" y="5468302"/>
                <a:ext cx="507530" cy="205359"/>
              </a:xfrm>
              <a:prstGeom prst="rect">
                <a:avLst/>
              </a:prstGeom>
              <a:noFill/>
              <a:ln>
                <a:noFill/>
              </a:ln>
            </p:spPr>
            <p:txBody>
              <a:bodyPr wrap="none" lIns="0" tIns="0" rIns="0" bIns="0" anchor="t" anchorCtr="0">
                <a:spAutoFit/>
              </a:bodyPr>
              <a:lstStyle/>
              <a:p>
                <a:pPr algn="ctr"/>
                <a:r>
                  <a:rPr lang="en-US" sz="1050" dirty="0">
                    <a:solidFill>
                      <a:srgbClr val="FFFFFF"/>
                    </a:solidFill>
                    <a:latin typeface="Roche Sans Medium"/>
                    <a:ea typeface="Roche Sans Medium"/>
                    <a:cs typeface="Roche Sans Medium"/>
                  </a:rPr>
                  <a:t>MatMul</a:t>
                </a:r>
              </a:p>
            </p:txBody>
          </p:sp>
          <p:sp>
            <p:nvSpPr>
              <p:cNvPr id="69" name="TextBox 69"/>
              <p:cNvSpPr txBox="1"/>
              <p:nvPr/>
            </p:nvSpPr>
            <p:spPr>
              <a:xfrm>
                <a:off x="9230856" y="5702141"/>
                <a:ext cx="664488" cy="161925"/>
              </a:xfrm>
              <a:prstGeom prst="rect">
                <a:avLst/>
              </a:prstGeom>
              <a:noFill/>
              <a:ln>
                <a:noFill/>
              </a:ln>
            </p:spPr>
            <p:txBody>
              <a:bodyPr wrap="none" lIns="0" tIns="0" rIns="0" bIns="0" anchor="t" anchorCtr="0">
                <a:spAutoFit/>
              </a:bodyPr>
              <a:lstStyle/>
              <a:p>
                <a:pPr algn="ctr"/>
                <a:r>
                  <a:rPr lang="en-US" sz="820" dirty="0">
                    <a:solidFill>
                      <a:srgbClr val="FFFFFF">
                        <a:alphaMod val="92000"/>
                      </a:srgbClr>
                    </a:solidFill>
                    <a:latin typeface="Consolas"/>
                    <a:ea typeface="Consolas"/>
                    <a:cs typeface="Consolas"/>
                  </a:rPr>
                  <a:t>× V → output</a:t>
                </a:r>
              </a:p>
            </p:txBody>
          </p:sp>
        </p:grpSp>
        <p:sp>
          <p:nvSpPr>
            <p:cNvPr id="71" name="Line 71"/>
            <p:cNvSpPr/>
            <p:nvPr/>
          </p:nvSpPr>
          <p:spPr>
            <a:xfrm>
              <a:off x="9563100" y="4972050"/>
              <a:ext cx="1" cy="381000"/>
            </a:xfrm>
            <a:prstGeom prst="line">
              <a:avLst/>
            </a:prstGeom>
            <a:noFill/>
            <a:ln w="14288">
              <a:solidFill>
                <a:srgbClr val="0B41CD"/>
              </a:solidFill>
              <a:tailEnd type="triangle" w="lg" len="lg"/>
            </a:ln>
          </p:spPr>
        </p:sp>
        <p:sp>
          <p:nvSpPr>
            <p:cNvPr id="72" name="Line 72"/>
            <p:cNvSpPr/>
            <p:nvPr/>
          </p:nvSpPr>
          <p:spPr>
            <a:xfrm flipV="1">
              <a:off x="7258050" y="5638800"/>
              <a:ext cx="1428750" cy="152400"/>
            </a:xfrm>
            <a:prstGeom prst="line">
              <a:avLst/>
            </a:prstGeom>
            <a:noFill/>
            <a:ln w="14288">
              <a:solidFill>
                <a:srgbClr val="0B41CD"/>
              </a:solidFill>
              <a:tailEnd type="triangle" w="lg" len="lg"/>
            </a:ln>
          </p:spPr>
        </p:sp>
      </p:grpSp>
      <p:grpSp>
        <p:nvGrpSpPr>
          <p:cNvPr id="76" name="Group 76"/>
          <p:cNvGrpSpPr/>
          <p:nvPr/>
        </p:nvGrpSpPr>
        <p:grpSpPr>
          <a:xfrm>
            <a:off x="566738" y="6521291"/>
            <a:ext cx="11058525" cy="161925"/>
            <a:chOff x="566738" y="6521291"/>
            <a:chExt cx="11058525" cy="161925"/>
          </a:xfrm>
        </p:grpSpPr>
        <p:sp>
          <p:nvSpPr>
            <p:cNvPr id="74" name="TextBox 74"/>
            <p:cNvSpPr txBox="1"/>
            <p:nvPr/>
          </p:nvSpPr>
          <p:spPr>
            <a:xfrm>
              <a:off x="566738" y="6521291"/>
              <a:ext cx="5007314"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§3.2.1 · block formula rendered via LaTeX (Computer Modern)</a:t>
              </a:r>
            </a:p>
          </p:txBody>
        </p:sp>
        <p:sp>
          <p:nvSpPr>
            <p:cNvPr id="75" name="TextBox 7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400"/>
                                        <p:tgtEl>
                                          <p:spTgt spid="1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slide(fromBottom)">
                                      <p:cBhvr>
                                        <p:cTn id="11" dur="400"/>
                                        <p:tgtEl>
                                          <p:spTgt spid="34"/>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image">
                                      <p:cBhvr>
                                        <p:cTn id="15"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7021354" cy="666464"/>
            <a:chOff x="571500" y="533400"/>
            <a:chExt cx="7021354" cy="666464"/>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6805708"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h parallel projections, then concatenate</a:t>
              </a:r>
            </a:p>
          </p:txBody>
        </p:sp>
        <p:sp>
          <p:nvSpPr>
            <p:cNvPr id="5" name="TextBox 5"/>
            <p:cNvSpPr txBox="1"/>
            <p:nvPr/>
          </p:nvSpPr>
          <p:spPr>
            <a:xfrm>
              <a:off x="795147" y="1009174"/>
              <a:ext cx="2552090"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MULTI-HEAD ATTENTION · §3.2.2</a:t>
              </a:r>
            </a:p>
          </p:txBody>
        </p:sp>
      </p:grpSp>
      <p:grpSp>
        <p:nvGrpSpPr>
          <p:cNvPr id="12" name="Group 12"/>
          <p:cNvGrpSpPr/>
          <p:nvPr/>
        </p:nvGrpSpPr>
        <p:grpSpPr>
          <a:xfrm>
            <a:off x="571500" y="1428750"/>
            <a:ext cx="11049000" cy="1295400"/>
            <a:chOff x="571500" y="1428750"/>
            <a:chExt cx="11049000" cy="1295400"/>
          </a:xfrm>
        </p:grpSpPr>
        <p:sp>
          <p:nvSpPr>
            <p:cNvPr id="7" name="Rectangle 7"/>
            <p:cNvSpPr/>
            <p:nvPr/>
          </p:nvSpPr>
          <p:spPr>
            <a:xfrm>
              <a:off x="571500" y="1428750"/>
              <a:ext cx="11049000" cy="1295400"/>
            </a:xfrm>
            <a:prstGeom prst="roundRect">
              <a:avLst>
                <a:gd name="adj" fmla="val 8824"/>
              </a:avLst>
            </a:prstGeom>
            <a:gradFill>
              <a:gsLst>
                <a:gs pos="0">
                  <a:srgbClr val="F8FAFF"/>
                </a:gs>
                <a:gs pos="100000">
                  <a:srgbClr val="E9EEFA"/>
                </a:gs>
              </a:gsLst>
              <a:lin ang="2700000" scaled="1"/>
            </a:gradFill>
            <a:ln w="14288">
              <a:solidFill>
                <a:srgbClr val="E0E0E0"/>
              </a:solidFill>
            </a:ln>
          </p:spPr>
        </p:sp>
        <p:sp>
          <p:nvSpPr>
            <p:cNvPr id="8" name="Rectangle 8"/>
            <p:cNvSpPr/>
            <p:nvPr/>
          </p:nvSpPr>
          <p:spPr>
            <a:xfrm>
              <a:off x="571500" y="1428750"/>
              <a:ext cx="57150" cy="1295400"/>
            </a:xfrm>
            <a:prstGeom prst="roundRect">
              <a:avLst>
                <a:gd name="adj" fmla="val 50000"/>
              </a:avLst>
            </a:prstGeom>
            <a:gradFill>
              <a:gsLst>
                <a:gs pos="0">
                  <a:srgbClr val="0B41CD"/>
                </a:gs>
                <a:gs pos="100000">
                  <a:srgbClr val="1482FA"/>
                </a:gs>
              </a:gsLst>
              <a:lin ang="5400000" scaled="1"/>
            </a:gradFill>
            <a:ln>
              <a:noFill/>
            </a:ln>
          </p:spPr>
        </p:sp>
        <p:sp>
          <p:nvSpPr>
            <p:cNvPr id="9" name="TextBox 9"/>
            <p:cNvSpPr txBox="1"/>
            <p:nvPr/>
          </p:nvSpPr>
          <p:spPr>
            <a:xfrm>
              <a:off x="947738" y="1579245"/>
              <a:ext cx="2838481"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EQUATIONS · §3.2.2 · LaTeX-rendered</a:t>
              </a:r>
            </a:p>
          </p:txBody>
        </p:sp>
        <p:pic>
          <p:nvPicPr>
            <p:cNvPr id="10" name="Image 10"/>
            <p:cNvPicPr>
              <a:picLocks noChangeAspect="1"/>
            </p:cNvPicPr>
            <p:nvPr/>
          </p:nvPicPr>
          <p:blipFill>
            <a:blip r:embed="rId3"/>
            <a:stretch>
              <a:fillRect/>
            </a:stretch>
          </p:blipFill>
          <p:spPr>
            <a:xfrm>
              <a:off x="3409950" y="1809750"/>
              <a:ext cx="5372100" cy="400050"/>
            </a:xfrm>
            <a:prstGeom prst="rect">
              <a:avLst/>
            </a:prstGeom>
          </p:spPr>
        </p:pic>
        <p:pic>
          <p:nvPicPr>
            <p:cNvPr id="11" name="Image 11"/>
            <p:cNvPicPr>
              <a:picLocks noChangeAspect="1"/>
            </p:cNvPicPr>
            <p:nvPr/>
          </p:nvPicPr>
          <p:blipFill>
            <a:blip r:embed="rId4"/>
            <a:stretch>
              <a:fillRect/>
            </a:stretch>
          </p:blipFill>
          <p:spPr>
            <a:xfrm>
              <a:off x="4351587" y="2266950"/>
              <a:ext cx="3488826" cy="381000"/>
            </a:xfrm>
            <a:prstGeom prst="rect">
              <a:avLst/>
            </a:prstGeom>
          </p:spPr>
        </p:pic>
      </p:grpSp>
      <p:grpSp>
        <p:nvGrpSpPr>
          <p:cNvPr id="34" name="Group 34"/>
          <p:cNvGrpSpPr/>
          <p:nvPr/>
        </p:nvGrpSpPr>
        <p:grpSpPr>
          <a:xfrm>
            <a:off x="781050" y="2961799"/>
            <a:ext cx="5182152" cy="2794635"/>
            <a:chOff x="781050" y="2961799"/>
            <a:chExt cx="5182152" cy="2794635"/>
          </a:xfrm>
        </p:grpSpPr>
        <p:sp>
          <p:nvSpPr>
            <p:cNvPr id="13" name="TextBox 13"/>
            <p:cNvSpPr txBox="1"/>
            <p:nvPr/>
          </p:nvSpPr>
          <p:spPr>
            <a:xfrm>
              <a:off x="795147" y="2961799"/>
              <a:ext cx="1052703"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HOW IT READS</a:t>
              </a:r>
            </a:p>
          </p:txBody>
        </p:sp>
        <p:grpSp>
          <p:nvGrpSpPr>
            <p:cNvPr id="18" name="Group 18"/>
            <p:cNvGrpSpPr/>
            <p:nvPr/>
          </p:nvGrpSpPr>
          <p:grpSpPr>
            <a:xfrm>
              <a:off x="781050" y="3283268"/>
              <a:ext cx="4759052" cy="472916"/>
              <a:chOff x="781050" y="3283268"/>
              <a:chExt cx="4759052" cy="472916"/>
            </a:xfrm>
          </p:grpSpPr>
          <p:sp>
            <p:nvSpPr>
              <p:cNvPr id="14" name="Ellipse 14"/>
              <p:cNvSpPr/>
              <p:nvPr/>
            </p:nvSpPr>
            <p:spPr>
              <a:xfrm>
                <a:off x="781050" y="3314700"/>
                <a:ext cx="342900" cy="342900"/>
              </a:xfrm>
              <a:prstGeom prst="ellipse">
                <a:avLst/>
              </a:prstGeom>
              <a:solidFill>
                <a:srgbClr val="0B41CD"/>
              </a:solidFill>
              <a:ln>
                <a:noFill/>
              </a:ln>
            </p:spPr>
          </p:sp>
          <p:sp>
            <p:nvSpPr>
              <p:cNvPr id="15" name="TextBox 15"/>
              <p:cNvSpPr txBox="1"/>
              <p:nvPr/>
            </p:nvSpPr>
            <p:spPr>
              <a:xfrm>
                <a:off x="901979" y="341376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1</a:t>
                </a:r>
              </a:p>
            </p:txBody>
          </p:sp>
          <p:sp>
            <p:nvSpPr>
              <p:cNvPr id="16" name="TextBox 16"/>
              <p:cNvSpPr txBox="1"/>
              <p:nvPr/>
            </p:nvSpPr>
            <p:spPr>
              <a:xfrm>
                <a:off x="1250442" y="3283268"/>
                <a:ext cx="3209648"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Project into h = 8 independent heads</a:t>
                </a:r>
              </a:p>
            </p:txBody>
          </p:sp>
          <p:sp>
            <p:nvSpPr>
              <p:cNvPr id="17" name="TextBox 17"/>
              <p:cNvSpPr txBox="1"/>
              <p:nvPr/>
            </p:nvSpPr>
            <p:spPr>
              <a:xfrm>
                <a:off x="1251585" y="3536156"/>
                <a:ext cx="4288517"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Learned linear projections split Q, K, V into 8 subspaces.</a:t>
                </a:r>
              </a:p>
            </p:txBody>
          </p:sp>
        </p:grpSp>
        <p:grpSp>
          <p:nvGrpSpPr>
            <p:cNvPr id="23" name="Group 23"/>
            <p:cNvGrpSpPr/>
            <p:nvPr/>
          </p:nvGrpSpPr>
          <p:grpSpPr>
            <a:xfrm>
              <a:off x="781050" y="3950018"/>
              <a:ext cx="4773705" cy="472916"/>
              <a:chOff x="781050" y="3950018"/>
              <a:chExt cx="4773705" cy="472916"/>
            </a:xfrm>
          </p:grpSpPr>
          <p:sp>
            <p:nvSpPr>
              <p:cNvPr id="19" name="Ellipse 19"/>
              <p:cNvSpPr/>
              <p:nvPr/>
            </p:nvSpPr>
            <p:spPr>
              <a:xfrm>
                <a:off x="781050" y="3981450"/>
                <a:ext cx="342900" cy="342900"/>
              </a:xfrm>
              <a:prstGeom prst="ellipse">
                <a:avLst/>
              </a:prstGeom>
              <a:solidFill>
                <a:srgbClr val="0F5EE1"/>
              </a:solidFill>
              <a:ln>
                <a:noFill/>
              </a:ln>
            </p:spPr>
          </p:sp>
          <p:sp>
            <p:nvSpPr>
              <p:cNvPr id="20" name="TextBox 20"/>
              <p:cNvSpPr txBox="1"/>
              <p:nvPr/>
            </p:nvSpPr>
            <p:spPr>
              <a:xfrm>
                <a:off x="901979" y="408051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2</a:t>
                </a:r>
              </a:p>
            </p:txBody>
          </p:sp>
          <p:sp>
            <p:nvSpPr>
              <p:cNvPr id="21" name="TextBox 21"/>
              <p:cNvSpPr txBox="1"/>
              <p:nvPr/>
            </p:nvSpPr>
            <p:spPr>
              <a:xfrm>
                <a:off x="1250442" y="3950018"/>
                <a:ext cx="2993968"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 xml:space="preserve">Each head works at </a:t>
                </a:r>
                <a:r>
                  <a:rPr lang="en-US" sz="1350" dirty="0">
                    <a:solidFill>
                      <a:srgbClr val="1482FA"/>
                    </a:solidFill>
                    <a:latin typeface="Consolas"/>
                    <a:ea typeface="Consolas"/>
                    <a:cs typeface="Consolas"/>
                  </a:rPr>
                  <a:t>d_k = d_v = 64</a:t>
                </a:r>
              </a:p>
            </p:txBody>
          </p:sp>
          <p:sp>
            <p:nvSpPr>
              <p:cNvPr id="22" name="TextBox 22"/>
              <p:cNvSpPr txBox="1"/>
              <p:nvPr/>
            </p:nvSpPr>
            <p:spPr>
              <a:xfrm>
                <a:off x="1251585" y="4202906"/>
                <a:ext cx="4303170"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 d_model / h. Total compute stays close to one full head.</a:t>
                </a:r>
              </a:p>
            </p:txBody>
          </p:sp>
        </p:grpSp>
        <p:grpSp>
          <p:nvGrpSpPr>
            <p:cNvPr id="28" name="Group 28"/>
            <p:cNvGrpSpPr/>
            <p:nvPr/>
          </p:nvGrpSpPr>
          <p:grpSpPr>
            <a:xfrm>
              <a:off x="781050" y="4616768"/>
              <a:ext cx="5182152" cy="472916"/>
              <a:chOff x="781050" y="4616768"/>
              <a:chExt cx="5182152" cy="472916"/>
            </a:xfrm>
          </p:grpSpPr>
          <p:sp>
            <p:nvSpPr>
              <p:cNvPr id="24" name="Ellipse 24"/>
              <p:cNvSpPr/>
              <p:nvPr/>
            </p:nvSpPr>
            <p:spPr>
              <a:xfrm>
                <a:off x="781050" y="4648200"/>
                <a:ext cx="342900" cy="342900"/>
              </a:xfrm>
              <a:prstGeom prst="ellipse">
                <a:avLst/>
              </a:prstGeom>
              <a:solidFill>
                <a:srgbClr val="1482FA"/>
              </a:solidFill>
              <a:ln>
                <a:noFill/>
              </a:ln>
            </p:spPr>
          </p:sp>
          <p:sp>
            <p:nvSpPr>
              <p:cNvPr id="25" name="TextBox 25"/>
              <p:cNvSpPr txBox="1"/>
              <p:nvPr/>
            </p:nvSpPr>
            <p:spPr>
              <a:xfrm>
                <a:off x="901979" y="474726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3</a:t>
                </a:r>
              </a:p>
            </p:txBody>
          </p:sp>
          <p:sp>
            <p:nvSpPr>
              <p:cNvPr id="26" name="TextBox 26"/>
              <p:cNvSpPr txBox="1"/>
              <p:nvPr/>
            </p:nvSpPr>
            <p:spPr>
              <a:xfrm>
                <a:off x="1250442" y="4616768"/>
                <a:ext cx="3917781"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Run scaled dot-product attention in parallel</a:t>
                </a:r>
              </a:p>
            </p:txBody>
          </p:sp>
          <p:sp>
            <p:nvSpPr>
              <p:cNvPr id="27" name="TextBox 27"/>
              <p:cNvSpPr txBox="1"/>
              <p:nvPr/>
            </p:nvSpPr>
            <p:spPr>
              <a:xfrm>
                <a:off x="1251585" y="4869656"/>
                <a:ext cx="4711617"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All heads run at once — no sequential dependency between them.</a:t>
                </a:r>
              </a:p>
            </p:txBody>
          </p:sp>
        </p:grpSp>
        <p:grpSp>
          <p:nvGrpSpPr>
            <p:cNvPr id="33" name="Group 33"/>
            <p:cNvGrpSpPr/>
            <p:nvPr/>
          </p:nvGrpSpPr>
          <p:grpSpPr>
            <a:xfrm>
              <a:off x="781050" y="5283518"/>
              <a:ext cx="5060756" cy="472916"/>
              <a:chOff x="781050" y="5283518"/>
              <a:chExt cx="5060756" cy="472916"/>
            </a:xfrm>
          </p:grpSpPr>
          <p:sp>
            <p:nvSpPr>
              <p:cNvPr id="29" name="Ellipse 29"/>
              <p:cNvSpPr/>
              <p:nvPr/>
            </p:nvSpPr>
            <p:spPr>
              <a:xfrm>
                <a:off x="781050" y="5314950"/>
                <a:ext cx="342900" cy="342900"/>
              </a:xfrm>
              <a:prstGeom prst="ellipse">
                <a:avLst/>
              </a:prstGeom>
              <a:solidFill>
                <a:srgbClr val="5FAAFC"/>
              </a:solidFill>
              <a:ln>
                <a:noFill/>
              </a:ln>
            </p:spPr>
          </p:sp>
          <p:sp>
            <p:nvSpPr>
              <p:cNvPr id="30" name="TextBox 30"/>
              <p:cNvSpPr txBox="1"/>
              <p:nvPr/>
            </p:nvSpPr>
            <p:spPr>
              <a:xfrm>
                <a:off x="901979" y="5414010"/>
                <a:ext cx="101041"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4</a:t>
                </a:r>
              </a:p>
            </p:txBody>
          </p:sp>
          <p:sp>
            <p:nvSpPr>
              <p:cNvPr id="31" name="TextBox 31"/>
              <p:cNvSpPr txBox="1"/>
              <p:nvPr/>
            </p:nvSpPr>
            <p:spPr>
              <a:xfrm>
                <a:off x="1250442" y="5283518"/>
                <a:ext cx="3268253"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 xml:space="preserve">Concatenate, then project with </a:t>
                </a:r>
                <a:r>
                  <a:rPr lang="en-US" sz="1350" dirty="0">
                    <a:solidFill>
                      <a:srgbClr val="1482FA"/>
                    </a:solidFill>
                    <a:latin typeface="Consolas"/>
                    <a:ea typeface="Consolas"/>
                    <a:cs typeface="Consolas"/>
                  </a:rPr>
                  <a:t>W^O</a:t>
                </a:r>
              </a:p>
            </p:txBody>
          </p:sp>
          <p:sp>
            <p:nvSpPr>
              <p:cNvPr id="32" name="TextBox 32"/>
              <p:cNvSpPr txBox="1"/>
              <p:nvPr/>
            </p:nvSpPr>
            <p:spPr>
              <a:xfrm>
                <a:off x="1251585" y="5536406"/>
                <a:ext cx="4590221"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Heads attend to different representation subspaces at once.</a:t>
                </a:r>
              </a:p>
            </p:txBody>
          </p:sp>
        </p:grpSp>
      </p:grpSp>
      <p:grpSp>
        <p:nvGrpSpPr>
          <p:cNvPr id="66" name="Group 66"/>
          <p:cNvGrpSpPr/>
          <p:nvPr/>
        </p:nvGrpSpPr>
        <p:grpSpPr>
          <a:xfrm>
            <a:off x="6667500" y="2857500"/>
            <a:ext cx="4953000" cy="3200400"/>
            <a:chOff x="6667500" y="2857500"/>
            <a:chExt cx="4953000" cy="3200400"/>
          </a:xfrm>
        </p:grpSpPr>
        <p:sp>
          <p:nvSpPr>
            <p:cNvPr id="35" name="Rectangle 35"/>
            <p:cNvSpPr/>
            <p:nvPr/>
          </p:nvSpPr>
          <p:spPr>
            <a:xfrm>
              <a:off x="6667500" y="2857500"/>
              <a:ext cx="4953000" cy="3200400"/>
            </a:xfrm>
            <a:prstGeom prst="roundRect">
              <a:avLst>
                <a:gd name="adj" fmla="val 3571"/>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36" name="TextBox 36"/>
            <p:cNvSpPr txBox="1"/>
            <p:nvPr/>
          </p:nvSpPr>
          <p:spPr>
            <a:xfrm>
              <a:off x="6891338" y="3027045"/>
              <a:ext cx="2439593"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DATAFLOW · h HEADS IN PARALLEL</a:t>
              </a:r>
            </a:p>
          </p:txBody>
        </p:sp>
        <p:sp>
          <p:nvSpPr>
            <p:cNvPr id="37" name="TextBox 37"/>
            <p:cNvSpPr txBox="1"/>
            <p:nvPr/>
          </p:nvSpPr>
          <p:spPr>
            <a:xfrm>
              <a:off x="8955986" y="3168491"/>
              <a:ext cx="376028"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output</a:t>
              </a:r>
            </a:p>
          </p:txBody>
        </p:sp>
        <p:sp>
          <p:nvSpPr>
            <p:cNvPr id="38" name="Line 38"/>
            <p:cNvSpPr/>
            <p:nvPr/>
          </p:nvSpPr>
          <p:spPr>
            <a:xfrm flipV="1">
              <a:off x="9144000" y="3286125"/>
              <a:ext cx="1" cy="104775"/>
            </a:xfrm>
            <a:prstGeom prst="line">
              <a:avLst/>
            </a:prstGeom>
            <a:noFill/>
            <a:ln w="15240">
              <a:solidFill>
                <a:srgbClr val="0B41CD"/>
              </a:solidFill>
              <a:tailEnd type="triangle" w="lg" len="lg"/>
            </a:ln>
          </p:spPr>
        </p:sp>
        <p:sp>
          <p:nvSpPr>
            <p:cNvPr id="39" name="Rectangle 39"/>
            <p:cNvSpPr/>
            <p:nvPr/>
          </p:nvSpPr>
          <p:spPr>
            <a:xfrm>
              <a:off x="8382000" y="3409950"/>
              <a:ext cx="1524000" cy="304800"/>
            </a:xfrm>
            <a:prstGeom prst="roundRect">
              <a:avLst>
                <a:gd name="adj" fmla="val 25000"/>
              </a:avLst>
            </a:prstGeom>
            <a:gradFill>
              <a:gsLst>
                <a:gs pos="0">
                  <a:srgbClr val="0B41CD"/>
                </a:gs>
                <a:gs pos="100000">
                  <a:srgbClr val="0F5EE1"/>
                </a:gs>
              </a:gsLst>
              <a:lin ang="0" scaled="1"/>
            </a:gradFill>
            <a:ln>
              <a:noFill/>
            </a:ln>
          </p:spPr>
        </p:sp>
        <p:sp>
          <p:nvSpPr>
            <p:cNvPr id="40" name="TextBox 40"/>
            <p:cNvSpPr txBox="1"/>
            <p:nvPr/>
          </p:nvSpPr>
          <p:spPr>
            <a:xfrm>
              <a:off x="8748917" y="3496628"/>
              <a:ext cx="790165" cy="205359"/>
            </a:xfrm>
            <a:prstGeom prst="rect">
              <a:avLst/>
            </a:prstGeom>
            <a:noFill/>
            <a:ln>
              <a:noFill/>
            </a:ln>
          </p:spPr>
          <p:txBody>
            <a:bodyPr wrap="none" lIns="0" tIns="0" rIns="0" bIns="0" anchor="t" anchorCtr="0">
              <a:spAutoFit/>
            </a:bodyPr>
            <a:lstStyle/>
            <a:p>
              <a:pPr algn="ctr"/>
              <a:r>
                <a:rPr lang="en-US" sz="1050" dirty="0">
                  <a:solidFill>
                    <a:srgbClr val="FFFFFF"/>
                  </a:solidFill>
                  <a:latin typeface="Roche Sans Medium"/>
                  <a:ea typeface="Roche Sans Medium"/>
                  <a:cs typeface="Roche Sans Medium"/>
                </a:rPr>
                <a:t xml:space="preserve">Linear </a:t>
              </a:r>
              <a:r>
                <a:rPr lang="en-US" sz="1050" dirty="0">
                  <a:solidFill>
                    <a:srgbClr val="FFFFFF"/>
                  </a:solidFill>
                  <a:latin typeface="Consolas"/>
                  <a:ea typeface="Consolas"/>
                  <a:cs typeface="Consolas"/>
                </a:rPr>
                <a:t>W^O</a:t>
              </a:r>
            </a:p>
          </p:txBody>
        </p:sp>
        <p:sp>
          <p:nvSpPr>
            <p:cNvPr id="41" name="Line 41"/>
            <p:cNvSpPr/>
            <p:nvPr/>
          </p:nvSpPr>
          <p:spPr>
            <a:xfrm flipV="1">
              <a:off x="9144000" y="3743325"/>
              <a:ext cx="1" cy="161925"/>
            </a:xfrm>
            <a:prstGeom prst="line">
              <a:avLst/>
            </a:prstGeom>
            <a:noFill/>
            <a:ln w="15240">
              <a:solidFill>
                <a:srgbClr val="0B41CD"/>
              </a:solidFill>
              <a:tailEnd type="triangle" w="lg" len="lg"/>
            </a:ln>
          </p:spPr>
        </p:sp>
        <p:sp>
          <p:nvSpPr>
            <p:cNvPr id="42" name="Rectangle 42"/>
            <p:cNvSpPr/>
            <p:nvPr/>
          </p:nvSpPr>
          <p:spPr>
            <a:xfrm>
              <a:off x="8334375" y="3924300"/>
              <a:ext cx="1619250" cy="285750"/>
            </a:xfrm>
            <a:prstGeom prst="roundRect">
              <a:avLst>
                <a:gd name="adj" fmla="val 26667"/>
              </a:avLst>
            </a:prstGeom>
            <a:solidFill>
              <a:srgbClr val="1482FA"/>
            </a:solidFill>
            <a:ln>
              <a:noFill/>
            </a:ln>
          </p:spPr>
        </p:sp>
        <p:sp>
          <p:nvSpPr>
            <p:cNvPr id="43" name="TextBox 43"/>
            <p:cNvSpPr txBox="1"/>
            <p:nvPr/>
          </p:nvSpPr>
          <p:spPr>
            <a:xfrm>
              <a:off x="8903237" y="4001452"/>
              <a:ext cx="481527" cy="205359"/>
            </a:xfrm>
            <a:prstGeom prst="rect">
              <a:avLst/>
            </a:prstGeom>
            <a:noFill/>
            <a:ln>
              <a:noFill/>
            </a:ln>
          </p:spPr>
          <p:txBody>
            <a:bodyPr wrap="none" lIns="0" tIns="0" rIns="0" bIns="0" anchor="t" anchorCtr="0">
              <a:spAutoFit/>
            </a:bodyPr>
            <a:lstStyle/>
            <a:p>
              <a:pPr algn="ctr"/>
              <a:r>
                <a:rPr lang="en-US" sz="1050" dirty="0">
                  <a:solidFill>
                    <a:srgbClr val="FFFFFF"/>
                  </a:solidFill>
                  <a:latin typeface="Roche Sans Medium"/>
                  <a:ea typeface="Roche Sans Medium"/>
                  <a:cs typeface="Roche Sans Medium"/>
                </a:rPr>
                <a:t>Concat</a:t>
              </a:r>
            </a:p>
          </p:txBody>
        </p:sp>
        <p:sp>
          <p:nvSpPr>
            <p:cNvPr id="44" name="Line 44"/>
            <p:cNvSpPr/>
            <p:nvPr/>
          </p:nvSpPr>
          <p:spPr>
            <a:xfrm flipV="1">
              <a:off x="9144000" y="4238625"/>
              <a:ext cx="1" cy="219075"/>
            </a:xfrm>
            <a:prstGeom prst="line">
              <a:avLst/>
            </a:prstGeom>
            <a:noFill/>
            <a:ln w="15240">
              <a:solidFill>
                <a:srgbClr val="0B41CD"/>
              </a:solidFill>
              <a:tailEnd type="triangle" w="lg" len="lg"/>
            </a:ln>
          </p:spPr>
        </p:sp>
        <p:sp>
          <p:nvSpPr>
            <p:cNvPr id="45" name="Rectangle 45"/>
            <p:cNvSpPr/>
            <p:nvPr/>
          </p:nvSpPr>
          <p:spPr>
            <a:xfrm>
              <a:off x="7886700" y="4457700"/>
              <a:ext cx="2514600" cy="476250"/>
            </a:xfrm>
            <a:prstGeom prst="roundRect">
              <a:avLst>
                <a:gd name="adj" fmla="val 16000"/>
              </a:avLst>
            </a:prstGeom>
            <a:solidFill>
              <a:srgbClr val="E9EEFA"/>
            </a:solidFill>
            <a:ln w="14288">
              <a:solidFill>
                <a:srgbClr val="1482FA"/>
              </a:solidFill>
            </a:ln>
          </p:spPr>
        </p:sp>
        <p:sp>
          <p:nvSpPr>
            <p:cNvPr id="46" name="Line 46"/>
            <p:cNvSpPr/>
            <p:nvPr/>
          </p:nvSpPr>
          <p:spPr>
            <a:xfrm>
              <a:off x="8515350" y="4476750"/>
              <a:ext cx="9525" cy="438150"/>
            </a:xfrm>
            <a:custGeom>
              <a:avLst/>
              <a:gdLst/>
              <a:ahLst/>
              <a:cxnLst/>
              <a:rect l="l" t="t" r="r" b="b"/>
              <a:pathLst>
                <a:path w="9525" h="438150">
                  <a:moveTo>
                    <a:pt x="0" y="0"/>
                  </a:moveTo>
                  <a:lnTo>
                    <a:pt x="0" y="438150"/>
                  </a:lnTo>
                </a:path>
              </a:pathLst>
            </a:custGeom>
            <a:noFill/>
            <a:ln w="9525">
              <a:solidFill>
                <a:srgbClr val="95C7FD"/>
              </a:solidFill>
              <a:custDash>
                <a:ds d="300000" sp="300000"/>
              </a:custDash>
            </a:ln>
          </p:spPr>
        </p:sp>
        <p:sp>
          <p:nvSpPr>
            <p:cNvPr id="47" name="Line 47"/>
            <p:cNvSpPr/>
            <p:nvPr/>
          </p:nvSpPr>
          <p:spPr>
            <a:xfrm>
              <a:off x="9144000" y="4476750"/>
              <a:ext cx="9525" cy="438150"/>
            </a:xfrm>
            <a:custGeom>
              <a:avLst/>
              <a:gdLst/>
              <a:ahLst/>
              <a:cxnLst/>
              <a:rect l="l" t="t" r="r" b="b"/>
              <a:pathLst>
                <a:path w="9525" h="438150">
                  <a:moveTo>
                    <a:pt x="0" y="0"/>
                  </a:moveTo>
                  <a:lnTo>
                    <a:pt x="0" y="438150"/>
                  </a:lnTo>
                </a:path>
              </a:pathLst>
            </a:custGeom>
            <a:noFill/>
            <a:ln w="9525">
              <a:solidFill>
                <a:srgbClr val="95C7FD"/>
              </a:solidFill>
              <a:custDash>
                <a:ds d="300000" sp="300000"/>
              </a:custDash>
            </a:ln>
          </p:spPr>
        </p:sp>
        <p:sp>
          <p:nvSpPr>
            <p:cNvPr id="48" name="Line 48"/>
            <p:cNvSpPr/>
            <p:nvPr/>
          </p:nvSpPr>
          <p:spPr>
            <a:xfrm>
              <a:off x="9772650" y="4476750"/>
              <a:ext cx="9525" cy="438150"/>
            </a:xfrm>
            <a:custGeom>
              <a:avLst/>
              <a:gdLst/>
              <a:ahLst/>
              <a:cxnLst/>
              <a:rect l="l" t="t" r="r" b="b"/>
              <a:pathLst>
                <a:path w="9525" h="438150">
                  <a:moveTo>
                    <a:pt x="0" y="0"/>
                  </a:moveTo>
                  <a:lnTo>
                    <a:pt x="0" y="438150"/>
                  </a:lnTo>
                </a:path>
              </a:pathLst>
            </a:custGeom>
            <a:noFill/>
            <a:ln w="9525">
              <a:solidFill>
                <a:srgbClr val="95C7FD"/>
              </a:solidFill>
              <a:custDash>
                <a:ds d="300000" sp="300000"/>
              </a:custDash>
            </a:ln>
          </p:spPr>
        </p:sp>
        <p:sp>
          <p:nvSpPr>
            <p:cNvPr id="49" name="TextBox 49"/>
            <p:cNvSpPr txBox="1"/>
            <p:nvPr/>
          </p:nvSpPr>
          <p:spPr>
            <a:xfrm>
              <a:off x="8185456" y="4561999"/>
              <a:ext cx="1917088" cy="190690"/>
            </a:xfrm>
            <a:prstGeom prst="rect">
              <a:avLst/>
            </a:prstGeom>
            <a:noFill/>
            <a:ln>
              <a:noFill/>
            </a:ln>
          </p:spPr>
          <p:txBody>
            <a:bodyPr wrap="none" lIns="0" tIns="0" rIns="0" bIns="0" anchor="t" anchorCtr="0">
              <a:spAutoFit/>
            </a:bodyPr>
            <a:lstStyle/>
            <a:p>
              <a:pPr algn="ctr"/>
              <a:r>
                <a:rPr lang="en-US" sz="980" dirty="0">
                  <a:solidFill>
                    <a:srgbClr val="0B41CD"/>
                  </a:solidFill>
                  <a:latin typeface="Roche Sans Medium"/>
                  <a:ea typeface="Roche Sans Medium"/>
                  <a:cs typeface="Roche Sans Medium"/>
                </a:rPr>
                <a:t>Scaled Dot-Product Attention</a:t>
              </a:r>
            </a:p>
          </p:txBody>
        </p:sp>
        <p:sp>
          <p:nvSpPr>
            <p:cNvPr id="50" name="TextBox 50"/>
            <p:cNvSpPr txBox="1"/>
            <p:nvPr/>
          </p:nvSpPr>
          <p:spPr>
            <a:xfrm>
              <a:off x="8658897" y="4749641"/>
              <a:ext cx="970207" cy="161925"/>
            </a:xfrm>
            <a:prstGeom prst="rect">
              <a:avLst/>
            </a:prstGeom>
            <a:noFill/>
            <a:ln>
              <a:noFill/>
            </a:ln>
          </p:spPr>
          <p:txBody>
            <a:bodyPr wrap="none" lIns="0" tIns="0" rIns="0" bIns="0" anchor="t" anchorCtr="0">
              <a:spAutoFit/>
            </a:bodyPr>
            <a:lstStyle/>
            <a:p>
              <a:pPr algn="ctr"/>
              <a:r>
                <a:rPr lang="en-US" sz="820" dirty="0">
                  <a:solidFill>
                    <a:srgbClr val="706B69"/>
                  </a:solidFill>
                  <a:latin typeface="Roche Sans"/>
                  <a:ea typeface="Roche Sans"/>
                  <a:cs typeface="Roche Sans"/>
                </a:rPr>
                <a:t>one per head · × 8</a:t>
              </a:r>
            </a:p>
          </p:txBody>
        </p:sp>
        <p:sp>
          <p:nvSpPr>
            <p:cNvPr id="51" name="Line 51"/>
            <p:cNvSpPr/>
            <p:nvPr/>
          </p:nvSpPr>
          <p:spPr>
            <a:xfrm flipV="1">
              <a:off x="9144000" y="4962525"/>
              <a:ext cx="1" cy="123825"/>
            </a:xfrm>
            <a:prstGeom prst="line">
              <a:avLst/>
            </a:prstGeom>
            <a:noFill/>
            <a:ln w="15240">
              <a:solidFill>
                <a:srgbClr val="0B41CD"/>
              </a:solidFill>
              <a:tailEnd type="triangle" w="lg" len="lg"/>
            </a:ln>
          </p:spPr>
        </p:sp>
        <p:sp>
          <p:nvSpPr>
            <p:cNvPr id="52" name="Rectangle 52"/>
            <p:cNvSpPr/>
            <p:nvPr/>
          </p:nvSpPr>
          <p:spPr>
            <a:xfrm>
              <a:off x="7886700" y="5086350"/>
              <a:ext cx="2514600" cy="361950"/>
            </a:xfrm>
            <a:prstGeom prst="roundRect">
              <a:avLst>
                <a:gd name="adj" fmla="val 21053"/>
              </a:avLst>
            </a:prstGeom>
            <a:solidFill>
              <a:srgbClr val="F0F4FC"/>
            </a:solidFill>
            <a:ln w="14288">
              <a:solidFill>
                <a:srgbClr val="5FAAFC"/>
              </a:solidFill>
            </a:ln>
          </p:spPr>
        </p:sp>
        <p:sp>
          <p:nvSpPr>
            <p:cNvPr id="53" name="Line 53"/>
            <p:cNvSpPr/>
            <p:nvPr/>
          </p:nvSpPr>
          <p:spPr>
            <a:xfrm>
              <a:off x="8515350" y="5105400"/>
              <a:ext cx="9525" cy="323850"/>
            </a:xfrm>
            <a:custGeom>
              <a:avLst/>
              <a:gdLst/>
              <a:ahLst/>
              <a:cxnLst/>
              <a:rect l="l" t="t" r="r" b="b"/>
              <a:pathLst>
                <a:path w="9525" h="323850">
                  <a:moveTo>
                    <a:pt x="0" y="0"/>
                  </a:moveTo>
                  <a:lnTo>
                    <a:pt x="0" y="323850"/>
                  </a:lnTo>
                </a:path>
              </a:pathLst>
            </a:custGeom>
            <a:noFill/>
            <a:ln w="9525">
              <a:solidFill>
                <a:srgbClr val="95C7FD"/>
              </a:solidFill>
              <a:custDash>
                <a:ds d="300000" sp="300000"/>
              </a:custDash>
            </a:ln>
          </p:spPr>
        </p:sp>
        <p:sp>
          <p:nvSpPr>
            <p:cNvPr id="54" name="Line 54"/>
            <p:cNvSpPr/>
            <p:nvPr/>
          </p:nvSpPr>
          <p:spPr>
            <a:xfrm>
              <a:off x="9144000" y="5105400"/>
              <a:ext cx="9525" cy="323850"/>
            </a:xfrm>
            <a:custGeom>
              <a:avLst/>
              <a:gdLst/>
              <a:ahLst/>
              <a:cxnLst/>
              <a:rect l="l" t="t" r="r" b="b"/>
              <a:pathLst>
                <a:path w="9525" h="323850">
                  <a:moveTo>
                    <a:pt x="0" y="0"/>
                  </a:moveTo>
                  <a:lnTo>
                    <a:pt x="0" y="323850"/>
                  </a:lnTo>
                </a:path>
              </a:pathLst>
            </a:custGeom>
            <a:noFill/>
            <a:ln w="9525">
              <a:solidFill>
                <a:srgbClr val="95C7FD"/>
              </a:solidFill>
              <a:custDash>
                <a:ds d="300000" sp="300000"/>
              </a:custDash>
            </a:ln>
          </p:spPr>
        </p:sp>
        <p:sp>
          <p:nvSpPr>
            <p:cNvPr id="55" name="Line 55"/>
            <p:cNvSpPr/>
            <p:nvPr/>
          </p:nvSpPr>
          <p:spPr>
            <a:xfrm>
              <a:off x="9772650" y="5105400"/>
              <a:ext cx="9525" cy="323850"/>
            </a:xfrm>
            <a:custGeom>
              <a:avLst/>
              <a:gdLst/>
              <a:ahLst/>
              <a:cxnLst/>
              <a:rect l="l" t="t" r="r" b="b"/>
              <a:pathLst>
                <a:path w="9525" h="323850">
                  <a:moveTo>
                    <a:pt x="0" y="0"/>
                  </a:moveTo>
                  <a:lnTo>
                    <a:pt x="0" y="323850"/>
                  </a:lnTo>
                </a:path>
              </a:pathLst>
            </a:custGeom>
            <a:noFill/>
            <a:ln w="9525">
              <a:solidFill>
                <a:srgbClr val="95C7FD"/>
              </a:solidFill>
              <a:custDash>
                <a:ds d="300000" sp="300000"/>
              </a:custDash>
            </a:ln>
          </p:spPr>
        </p:sp>
        <p:sp>
          <p:nvSpPr>
            <p:cNvPr id="56" name="TextBox 56"/>
            <p:cNvSpPr txBox="1"/>
            <p:nvPr/>
          </p:nvSpPr>
          <p:spPr>
            <a:xfrm>
              <a:off x="8441211" y="5209699"/>
              <a:ext cx="1405579" cy="190690"/>
            </a:xfrm>
            <a:prstGeom prst="rect">
              <a:avLst/>
            </a:prstGeom>
            <a:noFill/>
            <a:ln>
              <a:noFill/>
            </a:ln>
          </p:spPr>
          <p:txBody>
            <a:bodyPr wrap="none" lIns="0" tIns="0" rIns="0" bIns="0" anchor="t" anchorCtr="0">
              <a:spAutoFit/>
            </a:bodyPr>
            <a:lstStyle/>
            <a:p>
              <a:pPr algn="ctr"/>
              <a:r>
                <a:rPr lang="en-US" sz="980" dirty="0">
                  <a:solidFill>
                    <a:srgbClr val="0F5EE1"/>
                  </a:solidFill>
                  <a:latin typeface="Roche Sans Medium"/>
                  <a:ea typeface="Roche Sans Medium"/>
                  <a:cs typeface="Roche Sans Medium"/>
                </a:rPr>
                <a:t>Linear projections × h</a:t>
              </a:r>
            </a:p>
          </p:txBody>
        </p:sp>
        <p:sp>
          <p:nvSpPr>
            <p:cNvPr id="57" name="Line 57"/>
            <p:cNvSpPr/>
            <p:nvPr/>
          </p:nvSpPr>
          <p:spPr>
            <a:xfrm flipV="1">
              <a:off x="8382000" y="5476875"/>
              <a:ext cx="95250" cy="219075"/>
            </a:xfrm>
            <a:prstGeom prst="line">
              <a:avLst/>
            </a:prstGeom>
            <a:noFill/>
            <a:ln w="15240">
              <a:solidFill>
                <a:srgbClr val="0B41CD"/>
              </a:solidFill>
              <a:tailEnd type="triangle" w="lg" len="lg"/>
            </a:ln>
          </p:spPr>
        </p:sp>
        <p:sp>
          <p:nvSpPr>
            <p:cNvPr id="58" name="Line 58"/>
            <p:cNvSpPr/>
            <p:nvPr/>
          </p:nvSpPr>
          <p:spPr>
            <a:xfrm flipV="1">
              <a:off x="9144000" y="5476875"/>
              <a:ext cx="1" cy="219075"/>
            </a:xfrm>
            <a:prstGeom prst="line">
              <a:avLst/>
            </a:prstGeom>
            <a:noFill/>
            <a:ln w="15240">
              <a:solidFill>
                <a:srgbClr val="0B41CD"/>
              </a:solidFill>
              <a:tailEnd type="triangle" w="lg" len="lg"/>
            </a:ln>
          </p:spPr>
        </p:sp>
        <p:sp>
          <p:nvSpPr>
            <p:cNvPr id="59" name="Line 59"/>
            <p:cNvSpPr/>
            <p:nvPr/>
          </p:nvSpPr>
          <p:spPr>
            <a:xfrm flipH="1" flipV="1">
              <a:off x="9810750" y="5476875"/>
              <a:ext cx="95250" cy="219075"/>
            </a:xfrm>
            <a:prstGeom prst="line">
              <a:avLst/>
            </a:prstGeom>
            <a:noFill/>
            <a:ln w="15240">
              <a:solidFill>
                <a:srgbClr val="0B41CD"/>
              </a:solidFill>
              <a:tailEnd type="triangle" w="lg" len="lg"/>
            </a:ln>
          </p:spPr>
        </p:sp>
        <p:sp>
          <p:nvSpPr>
            <p:cNvPr id="60" name="TextBox 60"/>
            <p:cNvSpPr txBox="1"/>
            <p:nvPr/>
          </p:nvSpPr>
          <p:spPr>
            <a:xfrm>
              <a:off x="8319695" y="5645468"/>
              <a:ext cx="124610"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V</a:t>
              </a:r>
            </a:p>
          </p:txBody>
        </p:sp>
        <p:sp>
          <p:nvSpPr>
            <p:cNvPr id="61" name="TextBox 61"/>
            <p:cNvSpPr txBox="1"/>
            <p:nvPr/>
          </p:nvSpPr>
          <p:spPr>
            <a:xfrm>
              <a:off x="9081695" y="5645468"/>
              <a:ext cx="124610"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K</a:t>
              </a:r>
            </a:p>
          </p:txBody>
        </p:sp>
        <p:sp>
          <p:nvSpPr>
            <p:cNvPr id="62" name="TextBox 62"/>
            <p:cNvSpPr txBox="1"/>
            <p:nvPr/>
          </p:nvSpPr>
          <p:spPr>
            <a:xfrm>
              <a:off x="9823533" y="5645468"/>
              <a:ext cx="164935"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Q</a:t>
              </a:r>
            </a:p>
          </p:txBody>
        </p:sp>
        <p:sp>
          <p:nvSpPr>
            <p:cNvPr id="63" name="TextBox 63"/>
            <p:cNvSpPr txBox="1"/>
            <p:nvPr/>
          </p:nvSpPr>
          <p:spPr>
            <a:xfrm>
              <a:off x="8223266" y="5862638"/>
              <a:ext cx="317468" cy="147638"/>
            </a:xfrm>
            <a:prstGeom prst="rect">
              <a:avLst/>
            </a:prstGeom>
            <a:noFill/>
            <a:ln>
              <a:noFill/>
            </a:ln>
          </p:spPr>
          <p:txBody>
            <a:bodyPr wrap="none" lIns="0" tIns="0" rIns="0" bIns="0" anchor="t" anchorCtr="0">
              <a:spAutoFit/>
            </a:bodyPr>
            <a:lstStyle/>
            <a:p>
              <a:pPr algn="ctr"/>
              <a:r>
                <a:rPr lang="en-US" sz="750" dirty="0">
                  <a:solidFill>
                    <a:srgbClr val="706B69"/>
                  </a:solidFill>
                  <a:latin typeface="Roche Sans"/>
                  <a:ea typeface="Roche Sans"/>
                  <a:cs typeface="Roche Sans"/>
                </a:rPr>
                <a:t>values</a:t>
              </a:r>
            </a:p>
          </p:txBody>
        </p:sp>
        <p:sp>
          <p:nvSpPr>
            <p:cNvPr id="64" name="TextBox 64"/>
            <p:cNvSpPr txBox="1"/>
            <p:nvPr/>
          </p:nvSpPr>
          <p:spPr>
            <a:xfrm>
              <a:off x="9028176" y="5862638"/>
              <a:ext cx="231648" cy="147638"/>
            </a:xfrm>
            <a:prstGeom prst="rect">
              <a:avLst/>
            </a:prstGeom>
            <a:noFill/>
            <a:ln>
              <a:noFill/>
            </a:ln>
          </p:spPr>
          <p:txBody>
            <a:bodyPr wrap="none" lIns="0" tIns="0" rIns="0" bIns="0" anchor="t" anchorCtr="0">
              <a:spAutoFit/>
            </a:bodyPr>
            <a:lstStyle/>
            <a:p>
              <a:pPr algn="ctr"/>
              <a:r>
                <a:rPr lang="en-US" sz="750" dirty="0">
                  <a:solidFill>
                    <a:srgbClr val="706B69"/>
                  </a:solidFill>
                  <a:latin typeface="Roche Sans"/>
                  <a:ea typeface="Roche Sans"/>
                  <a:cs typeface="Roche Sans"/>
                </a:rPr>
                <a:t>keys</a:t>
              </a:r>
            </a:p>
          </p:txBody>
        </p:sp>
        <p:sp>
          <p:nvSpPr>
            <p:cNvPr id="65" name="TextBox 65"/>
            <p:cNvSpPr txBox="1"/>
            <p:nvPr/>
          </p:nvSpPr>
          <p:spPr>
            <a:xfrm>
              <a:off x="9719500" y="5862638"/>
              <a:ext cx="372999" cy="147638"/>
            </a:xfrm>
            <a:prstGeom prst="rect">
              <a:avLst/>
            </a:prstGeom>
            <a:noFill/>
            <a:ln>
              <a:noFill/>
            </a:ln>
          </p:spPr>
          <p:txBody>
            <a:bodyPr wrap="none" lIns="0" tIns="0" rIns="0" bIns="0" anchor="t" anchorCtr="0">
              <a:spAutoFit/>
            </a:bodyPr>
            <a:lstStyle/>
            <a:p>
              <a:pPr algn="ctr"/>
              <a:r>
                <a:rPr lang="en-US" sz="750" dirty="0">
                  <a:solidFill>
                    <a:srgbClr val="706B69"/>
                  </a:solidFill>
                  <a:latin typeface="Roche Sans"/>
                  <a:ea typeface="Roche Sans"/>
                  <a:cs typeface="Roche Sans"/>
                </a:rPr>
                <a:t>queries</a:t>
              </a:r>
            </a:p>
          </p:txBody>
        </p:sp>
      </p:grpSp>
      <p:grpSp>
        <p:nvGrpSpPr>
          <p:cNvPr id="69" name="Group 69"/>
          <p:cNvGrpSpPr/>
          <p:nvPr/>
        </p:nvGrpSpPr>
        <p:grpSpPr>
          <a:xfrm>
            <a:off x="566738" y="6521291"/>
            <a:ext cx="11058525" cy="161925"/>
            <a:chOff x="566738" y="6521291"/>
            <a:chExt cx="11058525" cy="161925"/>
          </a:xfrm>
        </p:grpSpPr>
        <p:sp>
          <p:nvSpPr>
            <p:cNvPr id="67" name="TextBox 67"/>
            <p:cNvSpPr txBox="1"/>
            <p:nvPr/>
          </p:nvSpPr>
          <p:spPr>
            <a:xfrm>
              <a:off x="566738" y="6521291"/>
              <a:ext cx="5486000"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§3.2.2 · Figure 2 (right) redrawn as native vector · formula via LaTeX</a:t>
              </a:r>
            </a:p>
          </p:txBody>
        </p:sp>
        <p:sp>
          <p:nvSpPr>
            <p:cNvPr id="68" name="TextBox 68"/>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400"/>
                                        <p:tgtEl>
                                          <p:spTgt spid="3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slide(fromBottom)">
                                      <p:cBhvr>
                                        <p:cTn id="15"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8263830" cy="656939"/>
            <a:chOff x="571500" y="533400"/>
            <a:chExt cx="8263830"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8048184"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One mechanism, three roles in the Transformer</a:t>
              </a:r>
            </a:p>
          </p:txBody>
        </p:sp>
        <p:sp>
          <p:nvSpPr>
            <p:cNvPr id="5" name="TextBox 5"/>
            <p:cNvSpPr txBox="1"/>
            <p:nvPr/>
          </p:nvSpPr>
          <p:spPr>
            <a:xfrm>
              <a:off x="795147" y="999649"/>
              <a:ext cx="4614215"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WHERE ATTENTION SHOWS UP IN THE ARCHITECTURE · §3.2.3</a:t>
              </a:r>
            </a:p>
          </p:txBody>
        </p:sp>
      </p:grpSp>
      <p:grpSp>
        <p:nvGrpSpPr>
          <p:cNvPr id="27" name="Group 27"/>
          <p:cNvGrpSpPr/>
          <p:nvPr/>
        </p:nvGrpSpPr>
        <p:grpSpPr>
          <a:xfrm>
            <a:off x="571500" y="1524000"/>
            <a:ext cx="3619500" cy="4762500"/>
            <a:chOff x="571500" y="1524000"/>
            <a:chExt cx="3619500" cy="4762500"/>
          </a:xfrm>
        </p:grpSpPr>
        <p:sp>
          <p:nvSpPr>
            <p:cNvPr id="7" name="Rectangle 7"/>
            <p:cNvSpPr/>
            <p:nvPr/>
          </p:nvSpPr>
          <p:spPr>
            <a:xfrm>
              <a:off x="571500" y="1524000"/>
              <a:ext cx="3619500" cy="4762500"/>
            </a:xfrm>
            <a:prstGeom prst="roundRect">
              <a:avLst>
                <a:gd name="adj" fmla="val 3684"/>
              </a:avLst>
            </a:prstGeom>
            <a:solidFill>
              <a:srgbClr val="FFFFFF"/>
            </a:solidFill>
            <a:ln w="14288">
              <a:solidFill>
                <a:srgbClr val="E0E0E0"/>
              </a:solidFill>
            </a:ln>
            <a:effectLst>
              <a:outerShdw blurRad="114300" dist="28575" dir="5400000" algn="ctr" rotWithShape="0">
                <a:srgbClr val="0B41CD">
                  <a:alpha val="5250"/>
                </a:srgbClr>
              </a:outerShdw>
            </a:effectLst>
          </p:spPr>
        </p:sp>
        <p:sp>
          <p:nvSpPr>
            <p:cNvPr id="8" name="Freeform 8"/>
            <p:cNvSpPr/>
            <p:nvPr/>
          </p:nvSpPr>
          <p:spPr>
            <a:xfrm>
              <a:off x="571500" y="1524000"/>
              <a:ext cx="3619500" cy="1085850"/>
            </a:xfrm>
            <a:custGeom>
              <a:avLst/>
              <a:gdLst/>
              <a:ahLst/>
              <a:cxnLst/>
              <a:rect l="l" t="t" r="r" b="b"/>
              <a:pathLst>
                <a:path w="3619500" h="1085850">
                  <a:moveTo>
                    <a:pt x="133350" y="0"/>
                  </a:moveTo>
                  <a:lnTo>
                    <a:pt x="3486150" y="0"/>
                  </a:lnTo>
                  <a:cubicBezTo>
                    <a:pt x="3559797" y="0"/>
                    <a:pt x="3619500" y="59703"/>
                    <a:pt x="3619500" y="133350"/>
                  </a:cubicBezTo>
                  <a:lnTo>
                    <a:pt x="3619500" y="1085850"/>
                  </a:lnTo>
                  <a:lnTo>
                    <a:pt x="0" y="1085850"/>
                  </a:lnTo>
                  <a:lnTo>
                    <a:pt x="0" y="133350"/>
                  </a:lnTo>
                  <a:cubicBezTo>
                    <a:pt x="0" y="59703"/>
                    <a:pt x="59703" y="0"/>
                    <a:pt x="133350" y="0"/>
                  </a:cubicBezTo>
                  <a:close/>
                </a:path>
              </a:pathLst>
            </a:custGeom>
            <a:solidFill>
              <a:srgbClr val="0B41CD"/>
            </a:solidFill>
            <a:ln>
              <a:noFill/>
            </a:ln>
          </p:spPr>
        </p:sp>
        <p:grpSp>
          <p:nvGrpSpPr>
            <p:cNvPr id="11" name="Group 11"/>
            <p:cNvGrpSpPr/>
            <p:nvPr/>
          </p:nvGrpSpPr>
          <p:grpSpPr>
            <a:xfrm>
              <a:off x="825341" y="1790510"/>
              <a:ext cx="190024" cy="152018"/>
              <a:chOff x="825341" y="1790510"/>
              <a:chExt cx="190024" cy="152018"/>
            </a:xfrm>
          </p:grpSpPr>
          <p:sp>
            <p:nvSpPr>
              <p:cNvPr id="9" name="Freeform 9"/>
              <p:cNvSpPr/>
              <p:nvPr/>
            </p:nvSpPr>
            <p:spPr>
              <a:xfrm>
                <a:off x="825341" y="1790510"/>
                <a:ext cx="50673" cy="101346"/>
              </a:xfrm>
              <a:custGeom>
                <a:avLst/>
                <a:gdLst/>
                <a:ahLst/>
                <a:cxnLst/>
                <a:rect l="l" t="t" r="r" b="b"/>
                <a:pathLst>
                  <a:path w="50673" h="101346">
                    <a:moveTo>
                      <a:pt x="50673" y="101346"/>
                    </a:moveTo>
                    <a:lnTo>
                      <a:pt x="0" y="50673"/>
                    </a:lnTo>
                    <a:lnTo>
                      <a:pt x="50673" y="0"/>
                    </a:lnTo>
                  </a:path>
                </a:pathLst>
              </a:custGeom>
              <a:noFill/>
              <a:ln w="25336">
                <a:solidFill>
                  <a:srgbClr val="FFFFFF"/>
                </a:solidFill>
              </a:ln>
            </p:spPr>
          </p:sp>
          <p:sp>
            <p:nvSpPr>
              <p:cNvPr id="10" name="Freeform 10"/>
              <p:cNvSpPr/>
              <p:nvPr/>
            </p:nvSpPr>
            <p:spPr>
              <a:xfrm>
                <a:off x="825341" y="1841182"/>
                <a:ext cx="190024" cy="101346"/>
              </a:xfrm>
              <a:custGeom>
                <a:avLst/>
                <a:gdLst/>
                <a:ahLst/>
                <a:cxnLst/>
                <a:rect l="l" t="t" r="r" b="b"/>
                <a:pathLst>
                  <a:path w="190024" h="101346">
                    <a:moveTo>
                      <a:pt x="0" y="0"/>
                    </a:moveTo>
                    <a:lnTo>
                      <a:pt x="139351" y="0"/>
                    </a:lnTo>
                    <a:cubicBezTo>
                      <a:pt x="167337" y="0"/>
                      <a:pt x="190024" y="22687"/>
                      <a:pt x="190024" y="50673"/>
                    </a:cubicBezTo>
                    <a:cubicBezTo>
                      <a:pt x="190024" y="78659"/>
                      <a:pt x="167337" y="101346"/>
                      <a:pt x="139351" y="101346"/>
                    </a:cubicBezTo>
                    <a:lnTo>
                      <a:pt x="126682" y="101346"/>
                    </a:lnTo>
                  </a:path>
                </a:pathLst>
              </a:custGeom>
              <a:noFill/>
              <a:ln w="25336">
                <a:solidFill>
                  <a:srgbClr val="FFFFFF"/>
                </a:solidFill>
              </a:ln>
            </p:spPr>
          </p:sp>
        </p:grpSp>
        <p:sp>
          <p:nvSpPr>
            <p:cNvPr id="12" name="TextBox 12"/>
            <p:cNvSpPr txBox="1"/>
            <p:nvPr/>
          </p:nvSpPr>
          <p:spPr>
            <a:xfrm>
              <a:off x="2009470" y="1867852"/>
              <a:ext cx="743560" cy="205359"/>
            </a:xfrm>
            <a:prstGeom prst="rect">
              <a:avLst/>
            </a:prstGeom>
            <a:noFill/>
            <a:ln>
              <a:noFill/>
            </a:ln>
          </p:spPr>
          <p:txBody>
            <a:bodyPr wrap="none" lIns="0" tIns="0" rIns="0" bIns="0" anchor="t" anchorCtr="0">
              <a:spAutoFit/>
            </a:bodyPr>
            <a:lstStyle/>
            <a:p>
              <a:pPr algn="ctr"/>
              <a:r>
                <a:rPr lang="en-US" sz="1050" spc="150" dirty="0">
                  <a:solidFill>
                    <a:srgbClr val="95C7FD"/>
                  </a:solidFill>
                  <a:latin typeface="Roche Sans Medium"/>
                  <a:ea typeface="Roche Sans Medium"/>
                  <a:cs typeface="Roche Sans Medium"/>
                </a:rPr>
                <a:t>ENCODER</a:t>
              </a:r>
            </a:p>
          </p:txBody>
        </p:sp>
        <p:sp>
          <p:nvSpPr>
            <p:cNvPr id="13" name="TextBox 13"/>
            <p:cNvSpPr txBox="1"/>
            <p:nvPr/>
          </p:nvSpPr>
          <p:spPr>
            <a:xfrm>
              <a:off x="1566262" y="2107882"/>
              <a:ext cx="1629977"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Roche Sans Light"/>
                  <a:ea typeface="Roche Sans Light"/>
                  <a:cs typeface="Roche Sans Light"/>
                </a:rPr>
                <a:t>Self-Attention</a:t>
              </a:r>
            </a:p>
          </p:txBody>
        </p:sp>
        <p:sp>
          <p:nvSpPr>
            <p:cNvPr id="14" name="TextBox 14"/>
            <p:cNvSpPr txBox="1"/>
            <p:nvPr/>
          </p:nvSpPr>
          <p:spPr>
            <a:xfrm>
              <a:off x="757238" y="2874645"/>
              <a:ext cx="1267282"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Q · K · V SOURCE</a:t>
              </a:r>
            </a:p>
          </p:txBody>
        </p:sp>
        <p:sp>
          <p:nvSpPr>
            <p:cNvPr id="15" name="Rectangle 15"/>
            <p:cNvSpPr/>
            <p:nvPr/>
          </p:nvSpPr>
          <p:spPr>
            <a:xfrm>
              <a:off x="762000" y="3086100"/>
              <a:ext cx="3238500" cy="457200"/>
            </a:xfrm>
            <a:prstGeom prst="roundRect">
              <a:avLst>
                <a:gd name="adj" fmla="val 12500"/>
              </a:avLst>
            </a:prstGeom>
            <a:solidFill>
              <a:srgbClr val="F5F7FA"/>
            </a:solidFill>
            <a:ln>
              <a:noFill/>
            </a:ln>
          </p:spPr>
        </p:sp>
        <p:sp>
          <p:nvSpPr>
            <p:cNvPr id="16" name="TextBox 16"/>
            <p:cNvSpPr txBox="1"/>
            <p:nvPr/>
          </p:nvSpPr>
          <p:spPr>
            <a:xfrm>
              <a:off x="928116" y="3258502"/>
              <a:ext cx="2260503"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Consolas"/>
                  <a:ea typeface="Consolas"/>
                  <a:cs typeface="Consolas"/>
                </a:rPr>
                <a:t>Q, K, V ← previous encoder layer</a:t>
              </a:r>
            </a:p>
          </p:txBody>
        </p:sp>
        <p:sp>
          <p:nvSpPr>
            <p:cNvPr id="17" name="TextBox 17"/>
            <p:cNvSpPr txBox="1"/>
            <p:nvPr/>
          </p:nvSpPr>
          <p:spPr>
            <a:xfrm>
              <a:off x="755142" y="3721418"/>
              <a:ext cx="2554687"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Every position attends to all</a:t>
              </a:r>
            </a:p>
          </p:txBody>
        </p:sp>
        <p:sp>
          <p:nvSpPr>
            <p:cNvPr id="18" name="TextBox 18"/>
            <p:cNvSpPr txBox="1"/>
            <p:nvPr/>
          </p:nvSpPr>
          <p:spPr>
            <a:xfrm>
              <a:off x="756285" y="4088606"/>
              <a:ext cx="2916780"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Every token in the source sequence can</a:t>
              </a:r>
            </a:p>
          </p:txBody>
        </p:sp>
        <p:sp>
          <p:nvSpPr>
            <p:cNvPr id="19" name="TextBox 19"/>
            <p:cNvSpPr txBox="1"/>
            <p:nvPr/>
          </p:nvSpPr>
          <p:spPr>
            <a:xfrm>
              <a:off x="756285" y="4298156"/>
              <a:ext cx="2919222"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attend to every other token — including</a:t>
              </a:r>
            </a:p>
          </p:txBody>
        </p:sp>
        <p:sp>
          <p:nvSpPr>
            <p:cNvPr id="20" name="TextBox 20"/>
            <p:cNvSpPr txBox="1"/>
            <p:nvPr/>
          </p:nvSpPr>
          <p:spPr>
            <a:xfrm>
              <a:off x="756285" y="4507706"/>
              <a:ext cx="518779"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itself.</a:t>
              </a:r>
            </a:p>
          </p:txBody>
        </p:sp>
        <p:sp>
          <p:nvSpPr>
            <p:cNvPr id="21" name="TextBox 21"/>
            <p:cNvSpPr txBox="1"/>
            <p:nvPr/>
          </p:nvSpPr>
          <p:spPr>
            <a:xfrm>
              <a:off x="757238" y="4989195"/>
              <a:ext cx="1072058"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WHAT IT'S FOR</a:t>
              </a:r>
            </a:p>
          </p:txBody>
        </p:sp>
        <p:sp>
          <p:nvSpPr>
            <p:cNvPr id="22" name="TextBox 22"/>
            <p:cNvSpPr txBox="1"/>
            <p:nvPr/>
          </p:nvSpPr>
          <p:spPr>
            <a:xfrm>
              <a:off x="756285" y="5212556"/>
              <a:ext cx="1833273"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Build rich contextualized</a:t>
              </a:r>
            </a:p>
          </p:txBody>
        </p:sp>
        <p:sp>
          <p:nvSpPr>
            <p:cNvPr id="23" name="TextBox 23"/>
            <p:cNvSpPr txBox="1"/>
            <p:nvPr/>
          </p:nvSpPr>
          <p:spPr>
            <a:xfrm>
              <a:off x="756285" y="5422106"/>
              <a:ext cx="2358866"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representations of each source</a:t>
              </a:r>
            </a:p>
          </p:txBody>
        </p:sp>
        <p:sp>
          <p:nvSpPr>
            <p:cNvPr id="24" name="TextBox 24"/>
            <p:cNvSpPr txBox="1"/>
            <p:nvPr/>
          </p:nvSpPr>
          <p:spPr>
            <a:xfrm>
              <a:off x="756285" y="5631656"/>
              <a:ext cx="2184702"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token from its surroundings.</a:t>
              </a:r>
            </a:p>
          </p:txBody>
        </p:sp>
        <p:sp>
          <p:nvSpPr>
            <p:cNvPr id="25" name="Rectangle 25"/>
            <p:cNvSpPr/>
            <p:nvPr/>
          </p:nvSpPr>
          <p:spPr>
            <a:xfrm>
              <a:off x="762000" y="5943600"/>
              <a:ext cx="3238500" cy="190500"/>
            </a:xfrm>
            <a:prstGeom prst="roundRect">
              <a:avLst>
                <a:gd name="adj" fmla="val 20000"/>
              </a:avLst>
            </a:prstGeom>
            <a:solidFill>
              <a:srgbClr val="0B41CD">
                <a:alpha val="8000"/>
              </a:srgbClr>
            </a:solidFill>
            <a:ln>
              <a:noFill/>
            </a:ln>
          </p:spPr>
        </p:sp>
        <p:sp>
          <p:nvSpPr>
            <p:cNvPr id="26" name="TextBox 26"/>
            <p:cNvSpPr txBox="1"/>
            <p:nvPr/>
          </p:nvSpPr>
          <p:spPr>
            <a:xfrm>
              <a:off x="871538" y="5998845"/>
              <a:ext cx="1342263" cy="176212"/>
            </a:xfrm>
            <a:prstGeom prst="rect">
              <a:avLst/>
            </a:prstGeom>
            <a:noFill/>
            <a:ln>
              <a:noFill/>
            </a:ln>
          </p:spPr>
          <p:txBody>
            <a:bodyPr wrap="none" lIns="0" tIns="0" rIns="0" bIns="0" anchor="t" anchorCtr="0">
              <a:spAutoFit/>
            </a:bodyPr>
            <a:lstStyle/>
            <a:p>
              <a:pPr algn="l"/>
              <a:r>
                <a:rPr lang="en-US" sz="900" dirty="0">
                  <a:solidFill>
                    <a:srgbClr val="0B41CD"/>
                  </a:solidFill>
                  <a:latin typeface="Consolas"/>
                  <a:ea typeface="Consolas"/>
                  <a:cs typeface="Consolas"/>
                </a:rPr>
                <a:t>attention_mask = none</a:t>
              </a:r>
            </a:p>
          </p:txBody>
        </p:sp>
      </p:grpSp>
      <p:grpSp>
        <p:nvGrpSpPr>
          <p:cNvPr id="49" name="Group 49"/>
          <p:cNvGrpSpPr/>
          <p:nvPr/>
        </p:nvGrpSpPr>
        <p:grpSpPr>
          <a:xfrm>
            <a:off x="4286250" y="1524000"/>
            <a:ext cx="3619500" cy="4762500"/>
            <a:chOff x="4286250" y="1524000"/>
            <a:chExt cx="3619500" cy="4762500"/>
          </a:xfrm>
        </p:grpSpPr>
        <p:sp>
          <p:nvSpPr>
            <p:cNvPr id="28" name="Rectangle 28"/>
            <p:cNvSpPr/>
            <p:nvPr/>
          </p:nvSpPr>
          <p:spPr>
            <a:xfrm>
              <a:off x="4286250" y="1524000"/>
              <a:ext cx="3619500" cy="4762500"/>
            </a:xfrm>
            <a:prstGeom prst="roundRect">
              <a:avLst>
                <a:gd name="adj" fmla="val 3684"/>
              </a:avLst>
            </a:prstGeom>
            <a:solidFill>
              <a:srgbClr val="FFFFFF"/>
            </a:solidFill>
            <a:ln w="14288">
              <a:solidFill>
                <a:srgbClr val="E0E0E0"/>
              </a:solidFill>
            </a:ln>
            <a:effectLst>
              <a:outerShdw blurRad="114300" dist="28575" dir="5400000" algn="ctr" rotWithShape="0">
                <a:srgbClr val="0B41CD">
                  <a:alpha val="5250"/>
                </a:srgbClr>
              </a:outerShdw>
            </a:effectLst>
          </p:spPr>
        </p:sp>
        <p:sp>
          <p:nvSpPr>
            <p:cNvPr id="29" name="Freeform 29"/>
            <p:cNvSpPr/>
            <p:nvPr/>
          </p:nvSpPr>
          <p:spPr>
            <a:xfrm>
              <a:off x="4286250" y="1524000"/>
              <a:ext cx="3619500" cy="1085850"/>
            </a:xfrm>
            <a:custGeom>
              <a:avLst/>
              <a:gdLst/>
              <a:ahLst/>
              <a:cxnLst/>
              <a:rect l="l" t="t" r="r" b="b"/>
              <a:pathLst>
                <a:path w="3619500" h="1085850">
                  <a:moveTo>
                    <a:pt x="133350" y="0"/>
                  </a:moveTo>
                  <a:lnTo>
                    <a:pt x="3486150" y="0"/>
                  </a:lnTo>
                  <a:cubicBezTo>
                    <a:pt x="3559797" y="0"/>
                    <a:pt x="3619500" y="59703"/>
                    <a:pt x="3619500" y="133350"/>
                  </a:cubicBezTo>
                  <a:lnTo>
                    <a:pt x="3619500" y="1085850"/>
                  </a:lnTo>
                  <a:lnTo>
                    <a:pt x="0" y="1085850"/>
                  </a:lnTo>
                  <a:lnTo>
                    <a:pt x="0" y="133350"/>
                  </a:lnTo>
                  <a:cubicBezTo>
                    <a:pt x="0" y="59703"/>
                    <a:pt x="59703" y="0"/>
                    <a:pt x="133350" y="0"/>
                  </a:cubicBezTo>
                  <a:close/>
                </a:path>
              </a:pathLst>
            </a:custGeom>
            <a:solidFill>
              <a:srgbClr val="1482FA"/>
            </a:solidFill>
            <a:ln>
              <a:noFill/>
            </a:ln>
          </p:spPr>
        </p:sp>
        <p:grpSp>
          <p:nvGrpSpPr>
            <p:cNvPr id="33" name="Group 33"/>
            <p:cNvGrpSpPr/>
            <p:nvPr/>
          </p:nvGrpSpPr>
          <p:grpSpPr>
            <a:xfrm>
              <a:off x="4540091" y="1752505"/>
              <a:ext cx="177356" cy="228029"/>
              <a:chOff x="4540091" y="1752505"/>
              <a:chExt cx="177356" cy="228029"/>
            </a:xfrm>
          </p:grpSpPr>
          <p:sp>
            <p:nvSpPr>
              <p:cNvPr id="30" name="Freeform 30"/>
              <p:cNvSpPr/>
              <p:nvPr/>
            </p:nvSpPr>
            <p:spPr>
              <a:xfrm>
                <a:off x="4540091" y="1853851"/>
                <a:ext cx="177356" cy="126683"/>
              </a:xfrm>
              <a:custGeom>
                <a:avLst/>
                <a:gdLst/>
                <a:ahLst/>
                <a:cxnLst/>
                <a:rect l="l" t="t" r="r" b="b"/>
                <a:pathLst>
                  <a:path w="177356" h="126683">
                    <a:moveTo>
                      <a:pt x="0" y="25336"/>
                    </a:moveTo>
                    <a:cubicBezTo>
                      <a:pt x="0" y="11344"/>
                      <a:pt x="11344" y="0"/>
                      <a:pt x="25337" y="0"/>
                    </a:cubicBezTo>
                    <a:lnTo>
                      <a:pt x="152019" y="0"/>
                    </a:lnTo>
                    <a:cubicBezTo>
                      <a:pt x="166012" y="0"/>
                      <a:pt x="177356" y="11344"/>
                      <a:pt x="177356" y="25336"/>
                    </a:cubicBezTo>
                    <a:lnTo>
                      <a:pt x="177356" y="101346"/>
                    </a:lnTo>
                    <a:cubicBezTo>
                      <a:pt x="177356" y="115339"/>
                      <a:pt x="166012" y="126683"/>
                      <a:pt x="152019" y="126683"/>
                    </a:cubicBezTo>
                    <a:lnTo>
                      <a:pt x="25337" y="126683"/>
                    </a:lnTo>
                    <a:cubicBezTo>
                      <a:pt x="11344" y="126683"/>
                      <a:pt x="0" y="115339"/>
                      <a:pt x="0" y="101346"/>
                    </a:cubicBezTo>
                    <a:close/>
                  </a:path>
                </a:pathLst>
              </a:custGeom>
              <a:noFill/>
              <a:ln w="25336">
                <a:solidFill>
                  <a:srgbClr val="FFFFFF"/>
                </a:solidFill>
              </a:ln>
            </p:spPr>
          </p:sp>
          <p:sp>
            <p:nvSpPr>
              <p:cNvPr id="31" name="Freeform 31"/>
              <p:cNvSpPr/>
              <p:nvPr/>
            </p:nvSpPr>
            <p:spPr>
              <a:xfrm>
                <a:off x="4616101" y="1904524"/>
                <a:ext cx="25337" cy="25337"/>
              </a:xfrm>
              <a:custGeom>
                <a:avLst/>
                <a:gdLst/>
                <a:ahLst/>
                <a:cxnLst/>
                <a:rect l="l" t="t" r="r" b="b"/>
                <a:pathLst>
                  <a:path w="25337" h="25337">
                    <a:moveTo>
                      <a:pt x="0" y="12668"/>
                    </a:moveTo>
                    <a:cubicBezTo>
                      <a:pt x="0" y="19665"/>
                      <a:pt x="5672" y="25337"/>
                      <a:pt x="12668" y="25337"/>
                    </a:cubicBezTo>
                    <a:cubicBezTo>
                      <a:pt x="19665" y="25337"/>
                      <a:pt x="25337" y="19665"/>
                      <a:pt x="25337" y="12668"/>
                    </a:cubicBezTo>
                    <a:cubicBezTo>
                      <a:pt x="25337" y="5672"/>
                      <a:pt x="19665" y="0"/>
                      <a:pt x="12668" y="0"/>
                    </a:cubicBezTo>
                    <a:cubicBezTo>
                      <a:pt x="5672" y="0"/>
                      <a:pt x="0" y="5672"/>
                      <a:pt x="0" y="12668"/>
                    </a:cubicBezTo>
                  </a:path>
                </a:pathLst>
              </a:custGeom>
              <a:noFill/>
              <a:ln w="25336">
                <a:solidFill>
                  <a:srgbClr val="FFFFFF"/>
                </a:solidFill>
              </a:ln>
            </p:spPr>
          </p:sp>
          <p:sp>
            <p:nvSpPr>
              <p:cNvPr id="32" name="Freeform 32"/>
              <p:cNvSpPr/>
              <p:nvPr/>
            </p:nvSpPr>
            <p:spPr>
              <a:xfrm>
                <a:off x="4578096" y="1752505"/>
                <a:ext cx="101346" cy="101346"/>
              </a:xfrm>
              <a:custGeom>
                <a:avLst/>
                <a:gdLst/>
                <a:ahLst/>
                <a:cxnLst/>
                <a:rect l="l" t="t" r="r" b="b"/>
                <a:pathLst>
                  <a:path w="101346" h="101346">
                    <a:moveTo>
                      <a:pt x="0" y="101346"/>
                    </a:moveTo>
                    <a:lnTo>
                      <a:pt x="0" y="50673"/>
                    </a:lnTo>
                    <a:cubicBezTo>
                      <a:pt x="0" y="22687"/>
                      <a:pt x="22687" y="0"/>
                      <a:pt x="50673" y="0"/>
                    </a:cubicBezTo>
                    <a:cubicBezTo>
                      <a:pt x="78659" y="0"/>
                      <a:pt x="101346" y="22687"/>
                      <a:pt x="101346" y="50673"/>
                    </a:cubicBezTo>
                    <a:lnTo>
                      <a:pt x="101346" y="101346"/>
                    </a:lnTo>
                  </a:path>
                </a:pathLst>
              </a:custGeom>
              <a:noFill/>
              <a:ln w="25336">
                <a:solidFill>
                  <a:srgbClr val="FFFFFF"/>
                </a:solidFill>
              </a:ln>
            </p:spPr>
          </p:sp>
        </p:grpSp>
        <p:sp>
          <p:nvSpPr>
            <p:cNvPr id="34" name="TextBox 34"/>
            <p:cNvSpPr txBox="1"/>
            <p:nvPr/>
          </p:nvSpPr>
          <p:spPr>
            <a:xfrm>
              <a:off x="5724220" y="1867852"/>
              <a:ext cx="743560" cy="205359"/>
            </a:xfrm>
            <a:prstGeom prst="rect">
              <a:avLst/>
            </a:prstGeom>
            <a:noFill/>
            <a:ln>
              <a:noFill/>
            </a:ln>
          </p:spPr>
          <p:txBody>
            <a:bodyPr wrap="none" lIns="0" tIns="0" rIns="0" bIns="0" anchor="t" anchorCtr="0">
              <a:spAutoFit/>
            </a:bodyPr>
            <a:lstStyle/>
            <a:p>
              <a:pPr algn="ctr"/>
              <a:r>
                <a:rPr lang="en-US" sz="1050" spc="150" dirty="0">
                  <a:solidFill>
                    <a:srgbClr val="FFFFFF">
                      <a:alphaMod val="92000"/>
                    </a:srgbClr>
                  </a:solidFill>
                  <a:latin typeface="Roche Sans Medium"/>
                  <a:ea typeface="Roche Sans Medium"/>
                  <a:cs typeface="Roche Sans Medium"/>
                </a:rPr>
                <a:t>DECODER</a:t>
              </a:r>
            </a:p>
          </p:txBody>
        </p:sp>
        <p:sp>
          <p:nvSpPr>
            <p:cNvPr id="35" name="TextBox 35"/>
            <p:cNvSpPr txBox="1"/>
            <p:nvPr/>
          </p:nvSpPr>
          <p:spPr>
            <a:xfrm>
              <a:off x="4855023" y="2107882"/>
              <a:ext cx="2481954"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Roche Sans Light"/>
                  <a:ea typeface="Roche Sans Light"/>
                  <a:cs typeface="Roche Sans Light"/>
                </a:rPr>
                <a:t>Masked Self-Attention</a:t>
              </a:r>
            </a:p>
          </p:txBody>
        </p:sp>
        <p:sp>
          <p:nvSpPr>
            <p:cNvPr id="36" name="TextBox 36"/>
            <p:cNvSpPr txBox="1"/>
            <p:nvPr/>
          </p:nvSpPr>
          <p:spPr>
            <a:xfrm>
              <a:off x="4471988" y="2874645"/>
              <a:ext cx="1267282"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Q · K · V SOURCE</a:t>
              </a:r>
            </a:p>
          </p:txBody>
        </p:sp>
        <p:sp>
          <p:nvSpPr>
            <p:cNvPr id="37" name="Rectangle 37"/>
            <p:cNvSpPr/>
            <p:nvPr/>
          </p:nvSpPr>
          <p:spPr>
            <a:xfrm>
              <a:off x="4476750" y="3086100"/>
              <a:ext cx="3238500" cy="457200"/>
            </a:xfrm>
            <a:prstGeom prst="roundRect">
              <a:avLst>
                <a:gd name="adj" fmla="val 12500"/>
              </a:avLst>
            </a:prstGeom>
            <a:solidFill>
              <a:srgbClr val="F5F7FA"/>
            </a:solidFill>
            <a:ln>
              <a:noFill/>
            </a:ln>
          </p:spPr>
        </p:sp>
        <p:sp>
          <p:nvSpPr>
            <p:cNvPr id="38" name="TextBox 38"/>
            <p:cNvSpPr txBox="1"/>
            <p:nvPr/>
          </p:nvSpPr>
          <p:spPr>
            <a:xfrm>
              <a:off x="4642866" y="3258502"/>
              <a:ext cx="2260503"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Consolas"/>
                  <a:ea typeface="Consolas"/>
                  <a:cs typeface="Consolas"/>
                </a:rPr>
                <a:t>Q, K, V ← previous decoder layer</a:t>
              </a:r>
            </a:p>
          </p:txBody>
        </p:sp>
        <p:sp>
          <p:nvSpPr>
            <p:cNvPr id="39" name="TextBox 39"/>
            <p:cNvSpPr txBox="1"/>
            <p:nvPr/>
          </p:nvSpPr>
          <p:spPr>
            <a:xfrm>
              <a:off x="4469892" y="3721418"/>
              <a:ext cx="2173715"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Only past, never future</a:t>
              </a:r>
            </a:p>
          </p:txBody>
        </p:sp>
        <p:sp>
          <p:nvSpPr>
            <p:cNvPr id="40" name="TextBox 40"/>
            <p:cNvSpPr txBox="1"/>
            <p:nvPr/>
          </p:nvSpPr>
          <p:spPr>
            <a:xfrm>
              <a:off x="4471035" y="4088606"/>
              <a:ext cx="2901608"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Position i attends only to positions ≤ i.</a:t>
              </a:r>
            </a:p>
          </p:txBody>
        </p:sp>
        <p:sp>
          <p:nvSpPr>
            <p:cNvPr id="41" name="TextBox 41"/>
            <p:cNvSpPr txBox="1"/>
            <p:nvPr/>
          </p:nvSpPr>
          <p:spPr>
            <a:xfrm>
              <a:off x="4471035" y="4298156"/>
              <a:ext cx="2855663"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Achieved by setting illegal positions to</a:t>
              </a:r>
            </a:p>
          </p:txBody>
        </p:sp>
        <p:sp>
          <p:nvSpPr>
            <p:cNvPr id="42" name="TextBox 42"/>
            <p:cNvSpPr txBox="1"/>
            <p:nvPr/>
          </p:nvSpPr>
          <p:spPr>
            <a:xfrm>
              <a:off x="4471416" y="4515802"/>
              <a:ext cx="164327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Consolas"/>
                  <a:ea typeface="Consolas"/>
                  <a:cs typeface="Consolas"/>
                </a:rPr>
                <a:t>−∞ before the softmax.</a:t>
              </a:r>
            </a:p>
          </p:txBody>
        </p:sp>
        <p:sp>
          <p:nvSpPr>
            <p:cNvPr id="43" name="TextBox 43"/>
            <p:cNvSpPr txBox="1"/>
            <p:nvPr/>
          </p:nvSpPr>
          <p:spPr>
            <a:xfrm>
              <a:off x="4471988" y="4989195"/>
              <a:ext cx="1072058"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WHAT IT'S FOR</a:t>
              </a:r>
            </a:p>
          </p:txBody>
        </p:sp>
        <p:sp>
          <p:nvSpPr>
            <p:cNvPr id="44" name="TextBox 44"/>
            <p:cNvSpPr txBox="1"/>
            <p:nvPr/>
          </p:nvSpPr>
          <p:spPr>
            <a:xfrm>
              <a:off x="4471035" y="5212556"/>
              <a:ext cx="2364181"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Preserve auto-regression — the</a:t>
              </a:r>
            </a:p>
          </p:txBody>
        </p:sp>
        <p:sp>
          <p:nvSpPr>
            <p:cNvPr id="45" name="TextBox 45"/>
            <p:cNvSpPr txBox="1"/>
            <p:nvPr/>
          </p:nvSpPr>
          <p:spPr>
            <a:xfrm>
              <a:off x="4471035" y="5422106"/>
              <a:ext cx="2275570"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model cannot peek at tokens it</a:t>
              </a:r>
            </a:p>
          </p:txBody>
        </p:sp>
        <p:sp>
          <p:nvSpPr>
            <p:cNvPr id="46" name="TextBox 46"/>
            <p:cNvSpPr txBox="1"/>
            <p:nvPr/>
          </p:nvSpPr>
          <p:spPr>
            <a:xfrm>
              <a:off x="4471035" y="5631656"/>
              <a:ext cx="1601629"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hasn't produced yet.</a:t>
              </a:r>
            </a:p>
          </p:txBody>
        </p:sp>
        <p:sp>
          <p:nvSpPr>
            <p:cNvPr id="47" name="Rectangle 47"/>
            <p:cNvSpPr/>
            <p:nvPr/>
          </p:nvSpPr>
          <p:spPr>
            <a:xfrm>
              <a:off x="4476750" y="5943600"/>
              <a:ext cx="3238500" cy="190500"/>
            </a:xfrm>
            <a:prstGeom prst="roundRect">
              <a:avLst>
                <a:gd name="adj" fmla="val 20000"/>
              </a:avLst>
            </a:prstGeom>
            <a:solidFill>
              <a:srgbClr val="1482FA">
                <a:alpha val="10000"/>
              </a:srgbClr>
            </a:solidFill>
            <a:ln>
              <a:noFill/>
            </a:ln>
          </p:spPr>
        </p:sp>
        <p:sp>
          <p:nvSpPr>
            <p:cNvPr id="48" name="TextBox 48"/>
            <p:cNvSpPr txBox="1"/>
            <p:nvPr/>
          </p:nvSpPr>
          <p:spPr>
            <a:xfrm>
              <a:off x="4586288" y="5998845"/>
              <a:ext cx="2087385" cy="176212"/>
            </a:xfrm>
            <a:prstGeom prst="rect">
              <a:avLst/>
            </a:prstGeom>
            <a:noFill/>
            <a:ln>
              <a:noFill/>
            </a:ln>
          </p:spPr>
          <p:txBody>
            <a:bodyPr wrap="none" lIns="0" tIns="0" rIns="0" bIns="0" anchor="t" anchorCtr="0">
              <a:spAutoFit/>
            </a:bodyPr>
            <a:lstStyle/>
            <a:p>
              <a:pPr algn="l"/>
              <a:r>
                <a:rPr lang="en-US" sz="900" dirty="0">
                  <a:solidFill>
                    <a:srgbClr val="1482FA"/>
                  </a:solidFill>
                  <a:latin typeface="Consolas"/>
                  <a:ea typeface="Consolas"/>
                  <a:cs typeface="Consolas"/>
                </a:rPr>
                <a:t>attention_mask = causal triangular</a:t>
              </a:r>
            </a:p>
          </p:txBody>
        </p:sp>
      </p:grpSp>
      <p:grpSp>
        <p:nvGrpSpPr>
          <p:cNvPr id="73" name="Group 73"/>
          <p:cNvGrpSpPr/>
          <p:nvPr/>
        </p:nvGrpSpPr>
        <p:grpSpPr>
          <a:xfrm>
            <a:off x="8001000" y="1524000"/>
            <a:ext cx="3619500" cy="4762500"/>
            <a:chOff x="8001000" y="1524000"/>
            <a:chExt cx="3619500" cy="4762500"/>
          </a:xfrm>
        </p:grpSpPr>
        <p:sp>
          <p:nvSpPr>
            <p:cNvPr id="50" name="Rectangle 50"/>
            <p:cNvSpPr/>
            <p:nvPr/>
          </p:nvSpPr>
          <p:spPr>
            <a:xfrm>
              <a:off x="8001000" y="1524000"/>
              <a:ext cx="3619500" cy="4762500"/>
            </a:xfrm>
            <a:prstGeom prst="roundRect">
              <a:avLst>
                <a:gd name="adj" fmla="val 3684"/>
              </a:avLst>
            </a:prstGeom>
            <a:solidFill>
              <a:srgbClr val="FFFFFF"/>
            </a:solidFill>
            <a:ln w="14288">
              <a:solidFill>
                <a:srgbClr val="E0E0E0"/>
              </a:solidFill>
            </a:ln>
            <a:effectLst>
              <a:outerShdw blurRad="114300" dist="28575" dir="5400000" algn="ctr" rotWithShape="0">
                <a:srgbClr val="0B41CD">
                  <a:alpha val="5250"/>
                </a:srgbClr>
              </a:outerShdw>
            </a:effectLst>
          </p:spPr>
        </p:sp>
        <p:sp>
          <p:nvSpPr>
            <p:cNvPr id="51" name="Freeform 51"/>
            <p:cNvSpPr/>
            <p:nvPr/>
          </p:nvSpPr>
          <p:spPr>
            <a:xfrm>
              <a:off x="8001000" y="1524000"/>
              <a:ext cx="3619500" cy="1085850"/>
            </a:xfrm>
            <a:custGeom>
              <a:avLst/>
              <a:gdLst/>
              <a:ahLst/>
              <a:cxnLst/>
              <a:rect l="l" t="t" r="r" b="b"/>
              <a:pathLst>
                <a:path w="3619500" h="1085850">
                  <a:moveTo>
                    <a:pt x="133350" y="0"/>
                  </a:moveTo>
                  <a:lnTo>
                    <a:pt x="3486150" y="0"/>
                  </a:lnTo>
                  <a:cubicBezTo>
                    <a:pt x="3559797" y="0"/>
                    <a:pt x="3619500" y="59703"/>
                    <a:pt x="3619500" y="133350"/>
                  </a:cubicBezTo>
                  <a:lnTo>
                    <a:pt x="3619500" y="1085850"/>
                  </a:lnTo>
                  <a:lnTo>
                    <a:pt x="0" y="1085850"/>
                  </a:lnTo>
                  <a:lnTo>
                    <a:pt x="0" y="133350"/>
                  </a:lnTo>
                  <a:cubicBezTo>
                    <a:pt x="0" y="59703"/>
                    <a:pt x="59703" y="0"/>
                    <a:pt x="133350" y="0"/>
                  </a:cubicBezTo>
                  <a:close/>
                </a:path>
              </a:pathLst>
            </a:custGeom>
            <a:solidFill>
              <a:srgbClr val="0B41CD"/>
            </a:solidFill>
            <a:ln>
              <a:noFill/>
            </a:ln>
          </p:spPr>
        </p:sp>
        <p:grpSp>
          <p:nvGrpSpPr>
            <p:cNvPr id="56" name="Group 56"/>
            <p:cNvGrpSpPr/>
            <p:nvPr/>
          </p:nvGrpSpPr>
          <p:grpSpPr>
            <a:xfrm>
              <a:off x="8229505" y="1765173"/>
              <a:ext cx="228028" cy="202692"/>
              <a:chOff x="8229505" y="1765173"/>
              <a:chExt cx="228028" cy="202692"/>
            </a:xfrm>
          </p:grpSpPr>
          <p:sp>
            <p:nvSpPr>
              <p:cNvPr id="52" name="Freeform 52"/>
              <p:cNvSpPr/>
              <p:nvPr/>
            </p:nvSpPr>
            <p:spPr>
              <a:xfrm>
                <a:off x="8229505" y="1929860"/>
                <a:ext cx="228028" cy="9525"/>
              </a:xfrm>
              <a:custGeom>
                <a:avLst/>
                <a:gdLst/>
                <a:ahLst/>
                <a:cxnLst/>
                <a:rect l="l" t="t" r="r" b="b"/>
                <a:pathLst>
                  <a:path w="228028" h="9525">
                    <a:moveTo>
                      <a:pt x="228028" y="0"/>
                    </a:moveTo>
                    <a:lnTo>
                      <a:pt x="0" y="0"/>
                    </a:lnTo>
                  </a:path>
                </a:pathLst>
              </a:custGeom>
              <a:noFill/>
              <a:ln w="25336">
                <a:solidFill>
                  <a:srgbClr val="FFFFFF"/>
                </a:solidFill>
              </a:ln>
            </p:spPr>
          </p:sp>
          <p:sp>
            <p:nvSpPr>
              <p:cNvPr id="53" name="Freeform 53"/>
              <p:cNvSpPr/>
              <p:nvPr/>
            </p:nvSpPr>
            <p:spPr>
              <a:xfrm>
                <a:off x="8229505" y="1891856"/>
                <a:ext cx="38005" cy="76009"/>
              </a:xfrm>
              <a:custGeom>
                <a:avLst/>
                <a:gdLst/>
                <a:ahLst/>
                <a:cxnLst/>
                <a:rect l="l" t="t" r="r" b="b"/>
                <a:pathLst>
                  <a:path w="38005" h="76009">
                    <a:moveTo>
                      <a:pt x="38005" y="76009"/>
                    </a:moveTo>
                    <a:lnTo>
                      <a:pt x="0" y="38005"/>
                    </a:lnTo>
                    <a:lnTo>
                      <a:pt x="38005" y="0"/>
                    </a:lnTo>
                  </a:path>
                </a:pathLst>
              </a:custGeom>
              <a:noFill/>
              <a:ln w="25336">
                <a:solidFill>
                  <a:srgbClr val="FFFFFF"/>
                </a:solidFill>
              </a:ln>
            </p:spPr>
          </p:sp>
          <p:sp>
            <p:nvSpPr>
              <p:cNvPr id="54" name="Freeform 54"/>
              <p:cNvSpPr/>
              <p:nvPr/>
            </p:nvSpPr>
            <p:spPr>
              <a:xfrm>
                <a:off x="8229505" y="1803178"/>
                <a:ext cx="228028" cy="9525"/>
              </a:xfrm>
              <a:custGeom>
                <a:avLst/>
                <a:gdLst/>
                <a:ahLst/>
                <a:cxnLst/>
                <a:rect l="l" t="t" r="r" b="b"/>
                <a:pathLst>
                  <a:path w="228028" h="9525">
                    <a:moveTo>
                      <a:pt x="0" y="0"/>
                    </a:moveTo>
                    <a:lnTo>
                      <a:pt x="228028" y="0"/>
                    </a:lnTo>
                  </a:path>
                </a:pathLst>
              </a:custGeom>
              <a:noFill/>
              <a:ln w="25336">
                <a:solidFill>
                  <a:srgbClr val="FFFFFF"/>
                </a:solidFill>
              </a:ln>
            </p:spPr>
          </p:sp>
          <p:sp>
            <p:nvSpPr>
              <p:cNvPr id="55" name="Freeform 55"/>
              <p:cNvSpPr/>
              <p:nvPr/>
            </p:nvSpPr>
            <p:spPr>
              <a:xfrm>
                <a:off x="8419528" y="1765173"/>
                <a:ext cx="38005" cy="76010"/>
              </a:xfrm>
              <a:custGeom>
                <a:avLst/>
                <a:gdLst/>
                <a:ahLst/>
                <a:cxnLst/>
                <a:rect l="l" t="t" r="r" b="b"/>
                <a:pathLst>
                  <a:path w="38005" h="76010">
                    <a:moveTo>
                      <a:pt x="0" y="76010"/>
                    </a:moveTo>
                    <a:lnTo>
                      <a:pt x="38005" y="38005"/>
                    </a:lnTo>
                    <a:lnTo>
                      <a:pt x="0" y="0"/>
                    </a:lnTo>
                  </a:path>
                </a:pathLst>
              </a:custGeom>
              <a:noFill/>
              <a:ln w="25336">
                <a:solidFill>
                  <a:srgbClr val="FFFFFF"/>
                </a:solidFill>
              </a:ln>
            </p:spPr>
          </p:sp>
        </p:grpSp>
        <p:sp>
          <p:nvSpPr>
            <p:cNvPr id="57" name="TextBox 57"/>
            <p:cNvSpPr txBox="1"/>
            <p:nvPr/>
          </p:nvSpPr>
          <p:spPr>
            <a:xfrm>
              <a:off x="8943975" y="1867852"/>
              <a:ext cx="1733550" cy="205359"/>
            </a:xfrm>
            <a:prstGeom prst="rect">
              <a:avLst/>
            </a:prstGeom>
            <a:noFill/>
            <a:ln>
              <a:noFill/>
            </a:ln>
          </p:spPr>
          <p:txBody>
            <a:bodyPr wrap="none" lIns="0" tIns="0" rIns="0" bIns="0" anchor="t" anchorCtr="0">
              <a:spAutoFit/>
            </a:bodyPr>
            <a:lstStyle/>
            <a:p>
              <a:pPr algn="ctr"/>
              <a:r>
                <a:rPr lang="en-US" sz="1050" spc="150" dirty="0">
                  <a:solidFill>
                    <a:srgbClr val="95C7FD"/>
                  </a:solidFill>
                  <a:latin typeface="Roche Sans Medium"/>
                  <a:ea typeface="Roche Sans Medium"/>
                  <a:cs typeface="Roche Sans Medium"/>
                </a:rPr>
                <a:t>ENCODER · DECODER</a:t>
              </a:r>
            </a:p>
          </p:txBody>
        </p:sp>
        <p:sp>
          <p:nvSpPr>
            <p:cNvPr id="58" name="TextBox 58"/>
            <p:cNvSpPr txBox="1"/>
            <p:nvPr/>
          </p:nvSpPr>
          <p:spPr>
            <a:xfrm>
              <a:off x="8906691" y="2107882"/>
              <a:ext cx="1808117"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Roche Sans Light"/>
                  <a:ea typeface="Roche Sans Light"/>
                  <a:cs typeface="Roche Sans Light"/>
                </a:rPr>
                <a:t>Cross-Attention</a:t>
              </a:r>
            </a:p>
          </p:txBody>
        </p:sp>
        <p:sp>
          <p:nvSpPr>
            <p:cNvPr id="59" name="TextBox 59"/>
            <p:cNvSpPr txBox="1"/>
            <p:nvPr/>
          </p:nvSpPr>
          <p:spPr>
            <a:xfrm>
              <a:off x="8186738" y="2874645"/>
              <a:ext cx="1267282"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Q · K · V SOURCE</a:t>
              </a:r>
            </a:p>
          </p:txBody>
        </p:sp>
        <p:sp>
          <p:nvSpPr>
            <p:cNvPr id="60" name="Rectangle 60"/>
            <p:cNvSpPr/>
            <p:nvPr/>
          </p:nvSpPr>
          <p:spPr>
            <a:xfrm>
              <a:off x="8191500" y="3086100"/>
              <a:ext cx="3238500" cy="457200"/>
            </a:xfrm>
            <a:prstGeom prst="roundRect">
              <a:avLst>
                <a:gd name="adj" fmla="val 12500"/>
              </a:avLst>
            </a:prstGeom>
            <a:solidFill>
              <a:srgbClr val="F5F7FA"/>
            </a:solidFill>
            <a:ln>
              <a:noFill/>
            </a:ln>
          </p:spPr>
        </p:sp>
        <p:sp>
          <p:nvSpPr>
            <p:cNvPr id="61" name="TextBox 61"/>
            <p:cNvSpPr txBox="1"/>
            <p:nvPr/>
          </p:nvSpPr>
          <p:spPr>
            <a:xfrm>
              <a:off x="8357997" y="3190399"/>
              <a:ext cx="1720814" cy="190690"/>
            </a:xfrm>
            <a:prstGeom prst="rect">
              <a:avLst/>
            </a:prstGeom>
            <a:noFill/>
            <a:ln>
              <a:noFill/>
            </a:ln>
          </p:spPr>
          <p:txBody>
            <a:bodyPr wrap="none" lIns="0" tIns="0" rIns="0" bIns="0" anchor="t" anchorCtr="0">
              <a:spAutoFit/>
            </a:bodyPr>
            <a:lstStyle/>
            <a:p>
              <a:pPr algn="l"/>
              <a:r>
                <a:rPr lang="en-US" sz="980" dirty="0">
                  <a:solidFill>
                    <a:srgbClr val="333333"/>
                  </a:solidFill>
                  <a:latin typeface="Consolas"/>
                  <a:ea typeface="Consolas"/>
                  <a:cs typeface="Consolas"/>
                </a:rPr>
                <a:t>Q ← previous decoder layer</a:t>
              </a:r>
            </a:p>
          </p:txBody>
        </p:sp>
        <p:sp>
          <p:nvSpPr>
            <p:cNvPr id="62" name="TextBox 62"/>
            <p:cNvSpPr txBox="1"/>
            <p:nvPr/>
          </p:nvSpPr>
          <p:spPr>
            <a:xfrm>
              <a:off x="8357997" y="3361849"/>
              <a:ext cx="1405092" cy="190690"/>
            </a:xfrm>
            <a:prstGeom prst="rect">
              <a:avLst/>
            </a:prstGeom>
            <a:noFill/>
            <a:ln>
              <a:noFill/>
            </a:ln>
          </p:spPr>
          <p:txBody>
            <a:bodyPr wrap="none" lIns="0" tIns="0" rIns="0" bIns="0" anchor="t" anchorCtr="0">
              <a:spAutoFit/>
            </a:bodyPr>
            <a:lstStyle/>
            <a:p>
              <a:pPr algn="l"/>
              <a:r>
                <a:rPr lang="en-US" sz="980" dirty="0">
                  <a:solidFill>
                    <a:srgbClr val="1482FA"/>
                  </a:solidFill>
                  <a:latin typeface="Consolas"/>
                  <a:ea typeface="Consolas"/>
                  <a:cs typeface="Consolas"/>
                </a:rPr>
                <a:t>K, V ← encoder output</a:t>
              </a:r>
            </a:p>
          </p:txBody>
        </p:sp>
        <p:sp>
          <p:nvSpPr>
            <p:cNvPr id="63" name="TextBox 63"/>
            <p:cNvSpPr txBox="1"/>
            <p:nvPr/>
          </p:nvSpPr>
          <p:spPr>
            <a:xfrm>
              <a:off x="8184642" y="3721418"/>
              <a:ext cx="1991763"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Look back at the input</a:t>
              </a:r>
            </a:p>
          </p:txBody>
        </p:sp>
        <p:sp>
          <p:nvSpPr>
            <p:cNvPr id="64" name="TextBox 64"/>
            <p:cNvSpPr txBox="1"/>
            <p:nvPr/>
          </p:nvSpPr>
          <p:spPr>
            <a:xfrm>
              <a:off x="8185785" y="4088606"/>
              <a:ext cx="2916624"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Every decoder position can attend over</a:t>
              </a:r>
            </a:p>
          </p:txBody>
        </p:sp>
        <p:sp>
          <p:nvSpPr>
            <p:cNvPr id="65" name="TextBox 65"/>
            <p:cNvSpPr txBox="1"/>
            <p:nvPr/>
          </p:nvSpPr>
          <p:spPr>
            <a:xfrm>
              <a:off x="8185785" y="4298156"/>
              <a:ext cx="2676906"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all positions of the input sequence —</a:t>
              </a:r>
            </a:p>
          </p:txBody>
        </p:sp>
        <p:sp>
          <p:nvSpPr>
            <p:cNvPr id="66" name="TextBox 66"/>
            <p:cNvSpPr txBox="1"/>
            <p:nvPr/>
          </p:nvSpPr>
          <p:spPr>
            <a:xfrm>
              <a:off x="8185785" y="4507706"/>
              <a:ext cx="2623899"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the classic seq2seq attention role.</a:t>
              </a:r>
            </a:p>
          </p:txBody>
        </p:sp>
        <p:sp>
          <p:nvSpPr>
            <p:cNvPr id="67" name="TextBox 67"/>
            <p:cNvSpPr txBox="1"/>
            <p:nvPr/>
          </p:nvSpPr>
          <p:spPr>
            <a:xfrm>
              <a:off x="8186738" y="4989195"/>
              <a:ext cx="1072058"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WHAT IT'S FOR</a:t>
              </a:r>
            </a:p>
          </p:txBody>
        </p:sp>
        <p:sp>
          <p:nvSpPr>
            <p:cNvPr id="68" name="TextBox 68"/>
            <p:cNvSpPr txBox="1"/>
            <p:nvPr/>
          </p:nvSpPr>
          <p:spPr>
            <a:xfrm>
              <a:off x="8185785" y="5212556"/>
              <a:ext cx="2326032"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Let each output token retrieve</a:t>
              </a:r>
            </a:p>
          </p:txBody>
        </p:sp>
        <p:sp>
          <p:nvSpPr>
            <p:cNvPr id="69" name="TextBox 69"/>
            <p:cNvSpPr txBox="1"/>
            <p:nvPr/>
          </p:nvSpPr>
          <p:spPr>
            <a:xfrm>
              <a:off x="8185785" y="5422106"/>
              <a:ext cx="2480024"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the relevant source information,</a:t>
              </a:r>
            </a:p>
          </p:txBody>
        </p:sp>
        <p:sp>
          <p:nvSpPr>
            <p:cNvPr id="70" name="TextBox 70"/>
            <p:cNvSpPr txBox="1"/>
            <p:nvPr/>
          </p:nvSpPr>
          <p:spPr>
            <a:xfrm>
              <a:off x="8185785" y="5631656"/>
              <a:ext cx="1843945"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no matter where it sits.</a:t>
              </a:r>
            </a:p>
          </p:txBody>
        </p:sp>
        <p:sp>
          <p:nvSpPr>
            <p:cNvPr id="71" name="Rectangle 71"/>
            <p:cNvSpPr/>
            <p:nvPr/>
          </p:nvSpPr>
          <p:spPr>
            <a:xfrm>
              <a:off x="8191500" y="5943600"/>
              <a:ext cx="3238500" cy="190500"/>
            </a:xfrm>
            <a:prstGeom prst="roundRect">
              <a:avLst>
                <a:gd name="adj" fmla="val 20000"/>
              </a:avLst>
            </a:prstGeom>
            <a:solidFill>
              <a:srgbClr val="0B41CD">
                <a:alpha val="8000"/>
              </a:srgbClr>
            </a:solidFill>
            <a:ln>
              <a:noFill/>
            </a:ln>
          </p:spPr>
        </p:sp>
        <p:sp>
          <p:nvSpPr>
            <p:cNvPr id="72" name="TextBox 72"/>
            <p:cNvSpPr txBox="1"/>
            <p:nvPr/>
          </p:nvSpPr>
          <p:spPr>
            <a:xfrm>
              <a:off x="8301038" y="5998845"/>
              <a:ext cx="1342263" cy="176212"/>
            </a:xfrm>
            <a:prstGeom prst="rect">
              <a:avLst/>
            </a:prstGeom>
            <a:noFill/>
            <a:ln>
              <a:noFill/>
            </a:ln>
          </p:spPr>
          <p:txBody>
            <a:bodyPr wrap="none" lIns="0" tIns="0" rIns="0" bIns="0" anchor="t" anchorCtr="0">
              <a:spAutoFit/>
            </a:bodyPr>
            <a:lstStyle/>
            <a:p>
              <a:pPr algn="l"/>
              <a:r>
                <a:rPr lang="en-US" sz="900" dirty="0">
                  <a:solidFill>
                    <a:srgbClr val="0B41CD"/>
                  </a:solidFill>
                  <a:latin typeface="Consolas"/>
                  <a:ea typeface="Consolas"/>
                  <a:cs typeface="Consolas"/>
                </a:rPr>
                <a:t>attention_mask = none</a:t>
              </a:r>
            </a:p>
          </p:txBody>
        </p:sp>
      </p:grpSp>
      <p:grpSp>
        <p:nvGrpSpPr>
          <p:cNvPr id="76" name="Group 76"/>
          <p:cNvGrpSpPr/>
          <p:nvPr/>
        </p:nvGrpSpPr>
        <p:grpSpPr>
          <a:xfrm>
            <a:off x="566738" y="6521291"/>
            <a:ext cx="11058525" cy="161925"/>
            <a:chOff x="566738" y="6521291"/>
            <a:chExt cx="11058525" cy="161925"/>
          </a:xfrm>
        </p:grpSpPr>
        <p:sp>
          <p:nvSpPr>
            <p:cNvPr id="74" name="TextBox 74"/>
            <p:cNvSpPr txBox="1"/>
            <p:nvPr/>
          </p:nvSpPr>
          <p:spPr>
            <a:xfrm>
              <a:off x="566738" y="6521291"/>
              <a:ext cx="3388152"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§3.2.3 Applications of Attention</a:t>
              </a:r>
            </a:p>
          </p:txBody>
        </p:sp>
        <p:sp>
          <p:nvSpPr>
            <p:cNvPr id="75" name="TextBox 7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Bottom)">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lide(fromBottom)">
                                      <p:cBhvr>
                                        <p:cTn id="11" dur="400"/>
                                        <p:tgtEl>
                                          <p:spTgt spid="4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slide(fromBottom)">
                                      <p:cBhvr>
                                        <p:cTn id="15"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6654726" cy="656939"/>
            <a:chOff x="571500" y="533400"/>
            <a:chExt cx="6654726"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6439080"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The supporting cast inside every layer</a:t>
              </a:r>
            </a:p>
          </p:txBody>
        </p:sp>
        <p:sp>
          <p:nvSpPr>
            <p:cNvPr id="5" name="TextBox 5"/>
            <p:cNvSpPr txBox="1"/>
            <p:nvPr/>
          </p:nvSpPr>
          <p:spPr>
            <a:xfrm>
              <a:off x="795147" y="999649"/>
              <a:ext cx="5089474"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POSITION-WISE FFN · RESIDUAL CONNECTION · LAYERNORM · §3.3</a:t>
              </a:r>
            </a:p>
          </p:txBody>
        </p:sp>
      </p:grpSp>
      <p:grpSp>
        <p:nvGrpSpPr>
          <p:cNvPr id="22" name="Group 22"/>
          <p:cNvGrpSpPr/>
          <p:nvPr/>
        </p:nvGrpSpPr>
        <p:grpSpPr>
          <a:xfrm>
            <a:off x="416611" y="1524000"/>
            <a:ext cx="3548278" cy="4762500"/>
            <a:chOff x="416611" y="1524000"/>
            <a:chExt cx="3548278" cy="4762500"/>
          </a:xfrm>
        </p:grpSpPr>
        <p:sp>
          <p:nvSpPr>
            <p:cNvPr id="7" name="Rectangle 7"/>
            <p:cNvSpPr/>
            <p:nvPr/>
          </p:nvSpPr>
          <p:spPr>
            <a:xfrm>
              <a:off x="571500" y="1524000"/>
              <a:ext cx="3238500" cy="4762500"/>
            </a:xfrm>
            <a:prstGeom prst="roundRect">
              <a:avLst>
                <a:gd name="adj" fmla="val 4118"/>
              </a:avLst>
            </a:prstGeom>
            <a:solidFill>
              <a:srgbClr val="F8FAFF"/>
            </a:solidFill>
            <a:ln w="14288">
              <a:solidFill>
                <a:srgbClr val="E0E0E0"/>
              </a:solidFill>
            </a:ln>
            <a:effectLst>
              <a:outerShdw blurRad="76200" dist="28575" dir="5400000" algn="ctr" rotWithShape="0">
                <a:srgbClr val="0B41CD">
                  <a:alpha val="5250"/>
                </a:srgbClr>
              </a:outerShdw>
            </a:effectLst>
          </p:spPr>
        </p:sp>
        <p:sp>
          <p:nvSpPr>
            <p:cNvPr id="8" name="TextBox 8"/>
            <p:cNvSpPr txBox="1"/>
            <p:nvPr/>
          </p:nvSpPr>
          <p:spPr>
            <a:xfrm>
              <a:off x="833438" y="1769745"/>
              <a:ext cx="1968170"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SUB-LAYER CROSS-SECTION</a:t>
              </a:r>
            </a:p>
          </p:txBody>
        </p:sp>
        <p:sp>
          <p:nvSpPr>
            <p:cNvPr id="9" name="Rectangle 9"/>
            <p:cNvSpPr/>
            <p:nvPr/>
          </p:nvSpPr>
          <p:spPr>
            <a:xfrm>
              <a:off x="1000125" y="2114550"/>
              <a:ext cx="2190750" cy="3505200"/>
            </a:xfrm>
            <a:prstGeom prst="roundRect">
              <a:avLst>
                <a:gd name="adj" fmla="val 5217"/>
              </a:avLst>
            </a:prstGeom>
            <a:solidFill>
              <a:srgbClr val="FFFFFF"/>
            </a:solidFill>
            <a:ln w="14288">
              <a:solidFill>
                <a:srgbClr val="0B41CD"/>
              </a:solidFill>
            </a:ln>
          </p:spPr>
        </p:sp>
        <p:sp>
          <p:nvSpPr>
            <p:cNvPr id="10" name="TextBox 10"/>
            <p:cNvSpPr txBox="1"/>
            <p:nvPr/>
          </p:nvSpPr>
          <p:spPr>
            <a:xfrm>
              <a:off x="1157288" y="2265045"/>
              <a:ext cx="887920" cy="176212"/>
            </a:xfrm>
            <a:prstGeom prst="rect">
              <a:avLst/>
            </a:prstGeom>
            <a:noFill/>
            <a:ln>
              <a:noFill/>
            </a:ln>
          </p:spPr>
          <p:txBody>
            <a:bodyPr wrap="none" lIns="0" tIns="0" rIns="0" bIns="0" anchor="t" anchorCtr="0">
              <a:spAutoFit/>
            </a:bodyPr>
            <a:lstStyle/>
            <a:p>
              <a:pPr algn="l"/>
              <a:r>
                <a:rPr lang="en-US" sz="900" dirty="0">
                  <a:solidFill>
                    <a:srgbClr val="0B41CD"/>
                  </a:solidFill>
                  <a:latin typeface="Roche Sans Medium"/>
                  <a:ea typeface="Roche Sans Medium"/>
                  <a:cs typeface="Roche Sans Medium"/>
                </a:rPr>
                <a:t>one layer block</a:t>
              </a:r>
            </a:p>
          </p:txBody>
        </p:sp>
        <p:sp>
          <p:nvSpPr>
            <p:cNvPr id="11" name="Rectangle 11"/>
            <p:cNvSpPr/>
            <p:nvPr/>
          </p:nvSpPr>
          <p:spPr>
            <a:xfrm>
              <a:off x="1314450" y="2590800"/>
              <a:ext cx="1619250" cy="628650"/>
            </a:xfrm>
            <a:prstGeom prst="roundRect">
              <a:avLst>
                <a:gd name="adj" fmla="val 12121"/>
              </a:avLst>
            </a:prstGeom>
            <a:solidFill>
              <a:srgbClr val="E9EEFA"/>
            </a:solidFill>
            <a:ln w="14288">
              <a:solidFill>
                <a:srgbClr val="1482FA"/>
              </a:solidFill>
            </a:ln>
          </p:spPr>
        </p:sp>
        <p:sp>
          <p:nvSpPr>
            <p:cNvPr id="12" name="TextBox 12"/>
            <p:cNvSpPr txBox="1"/>
            <p:nvPr/>
          </p:nvSpPr>
          <p:spPr>
            <a:xfrm>
              <a:off x="1568401" y="2840831"/>
              <a:ext cx="1111348" cy="220028"/>
            </a:xfrm>
            <a:prstGeom prst="rect">
              <a:avLst/>
            </a:prstGeom>
            <a:noFill/>
            <a:ln>
              <a:noFill/>
            </a:ln>
          </p:spPr>
          <p:txBody>
            <a:bodyPr wrap="none" lIns="0" tIns="0" rIns="0" bIns="0" anchor="t" anchorCtr="0">
              <a:spAutoFit/>
            </a:bodyPr>
            <a:lstStyle/>
            <a:p>
              <a:pPr algn="ctr"/>
              <a:r>
                <a:rPr lang="en-US" sz="1120" dirty="0">
                  <a:solidFill>
                    <a:srgbClr val="0B41CD"/>
                  </a:solidFill>
                  <a:latin typeface="Roche Sans Medium"/>
                  <a:ea typeface="Roche Sans Medium"/>
                  <a:cs typeface="Roche Sans Medium"/>
                </a:rPr>
                <a:t>Self-Attention</a:t>
              </a:r>
            </a:p>
          </p:txBody>
        </p:sp>
        <p:sp>
          <p:nvSpPr>
            <p:cNvPr id="13" name="Rectangle 13"/>
            <p:cNvSpPr/>
            <p:nvPr/>
          </p:nvSpPr>
          <p:spPr>
            <a:xfrm>
              <a:off x="1314450" y="3295650"/>
              <a:ext cx="1619250" cy="209550"/>
            </a:xfrm>
            <a:prstGeom prst="roundRect">
              <a:avLst>
                <a:gd name="adj" fmla="val 22727"/>
              </a:avLst>
            </a:prstGeom>
            <a:solidFill>
              <a:srgbClr val="0B41CD"/>
            </a:solidFill>
            <a:ln>
              <a:noFill/>
            </a:ln>
          </p:spPr>
        </p:sp>
        <p:sp>
          <p:nvSpPr>
            <p:cNvPr id="14" name="TextBox 14"/>
            <p:cNvSpPr txBox="1"/>
            <p:nvPr/>
          </p:nvSpPr>
          <p:spPr>
            <a:xfrm>
              <a:off x="1825883" y="3349466"/>
              <a:ext cx="596385" cy="161925"/>
            </a:xfrm>
            <a:prstGeom prst="rect">
              <a:avLst/>
            </a:prstGeom>
            <a:noFill/>
            <a:ln>
              <a:noFill/>
            </a:ln>
          </p:spPr>
          <p:txBody>
            <a:bodyPr wrap="none" lIns="0" tIns="0" rIns="0" bIns="0" anchor="t" anchorCtr="0">
              <a:spAutoFit/>
            </a:bodyPr>
            <a:lstStyle/>
            <a:p>
              <a:pPr algn="ctr"/>
              <a:r>
                <a:rPr lang="en-US" sz="820" dirty="0">
                  <a:solidFill>
                    <a:srgbClr val="FFFFFF"/>
                  </a:solidFill>
                  <a:latin typeface="Roche Sans Medium"/>
                  <a:ea typeface="Roche Sans Medium"/>
                  <a:cs typeface="Roche Sans Medium"/>
                </a:rPr>
                <a:t>Add &amp; Norm</a:t>
              </a:r>
            </a:p>
          </p:txBody>
        </p:sp>
        <p:sp>
          <p:nvSpPr>
            <p:cNvPr id="15" name="Rectangle 15"/>
            <p:cNvSpPr/>
            <p:nvPr/>
          </p:nvSpPr>
          <p:spPr>
            <a:xfrm>
              <a:off x="1314450" y="3810000"/>
              <a:ext cx="1619250" cy="628650"/>
            </a:xfrm>
            <a:prstGeom prst="roundRect">
              <a:avLst>
                <a:gd name="adj" fmla="val 12121"/>
              </a:avLst>
            </a:prstGeom>
            <a:solidFill>
              <a:srgbClr val="E9EEFA"/>
            </a:solidFill>
            <a:ln w="14288">
              <a:solidFill>
                <a:srgbClr val="1482FA"/>
              </a:solidFill>
            </a:ln>
          </p:spPr>
        </p:sp>
        <p:sp>
          <p:nvSpPr>
            <p:cNvPr id="16" name="TextBox 16"/>
            <p:cNvSpPr txBox="1"/>
            <p:nvPr/>
          </p:nvSpPr>
          <p:spPr>
            <a:xfrm>
              <a:off x="1617265" y="4060031"/>
              <a:ext cx="1013620" cy="220028"/>
            </a:xfrm>
            <a:prstGeom prst="rect">
              <a:avLst/>
            </a:prstGeom>
            <a:noFill/>
            <a:ln>
              <a:noFill/>
            </a:ln>
          </p:spPr>
          <p:txBody>
            <a:bodyPr wrap="none" lIns="0" tIns="0" rIns="0" bIns="0" anchor="t" anchorCtr="0">
              <a:spAutoFit/>
            </a:bodyPr>
            <a:lstStyle/>
            <a:p>
              <a:pPr algn="ctr"/>
              <a:r>
                <a:rPr lang="en-US" sz="1120" dirty="0">
                  <a:solidFill>
                    <a:srgbClr val="0B41CD"/>
                  </a:solidFill>
                  <a:latin typeface="Roche Sans Medium"/>
                  <a:ea typeface="Roche Sans Medium"/>
                  <a:cs typeface="Roche Sans Medium"/>
                </a:rPr>
                <a:t>Feed Forward</a:t>
              </a:r>
            </a:p>
          </p:txBody>
        </p:sp>
        <p:sp>
          <p:nvSpPr>
            <p:cNvPr id="17" name="Rectangle 17"/>
            <p:cNvSpPr/>
            <p:nvPr/>
          </p:nvSpPr>
          <p:spPr>
            <a:xfrm>
              <a:off x="1314450" y="4514850"/>
              <a:ext cx="1619250" cy="209550"/>
            </a:xfrm>
            <a:prstGeom prst="roundRect">
              <a:avLst>
                <a:gd name="adj" fmla="val 22727"/>
              </a:avLst>
            </a:prstGeom>
            <a:solidFill>
              <a:srgbClr val="0B41CD"/>
            </a:solidFill>
            <a:ln>
              <a:noFill/>
            </a:ln>
          </p:spPr>
        </p:sp>
        <p:sp>
          <p:nvSpPr>
            <p:cNvPr id="18" name="TextBox 18"/>
            <p:cNvSpPr txBox="1"/>
            <p:nvPr/>
          </p:nvSpPr>
          <p:spPr>
            <a:xfrm>
              <a:off x="1825883" y="4568666"/>
              <a:ext cx="596385" cy="161925"/>
            </a:xfrm>
            <a:prstGeom prst="rect">
              <a:avLst/>
            </a:prstGeom>
            <a:noFill/>
            <a:ln>
              <a:noFill/>
            </a:ln>
          </p:spPr>
          <p:txBody>
            <a:bodyPr wrap="none" lIns="0" tIns="0" rIns="0" bIns="0" anchor="t" anchorCtr="0">
              <a:spAutoFit/>
            </a:bodyPr>
            <a:lstStyle/>
            <a:p>
              <a:pPr algn="ctr"/>
              <a:r>
                <a:rPr lang="en-US" sz="820" dirty="0">
                  <a:solidFill>
                    <a:srgbClr val="FFFFFF"/>
                  </a:solidFill>
                  <a:latin typeface="Roche Sans Medium"/>
                  <a:ea typeface="Roche Sans Medium"/>
                  <a:cs typeface="Roche Sans Medium"/>
                </a:rPr>
                <a:t>Add &amp; Norm</a:t>
              </a:r>
            </a:p>
          </p:txBody>
        </p:sp>
        <p:sp>
          <p:nvSpPr>
            <p:cNvPr id="19" name="Freeform 19"/>
            <p:cNvSpPr/>
            <p:nvPr/>
          </p:nvSpPr>
          <p:spPr>
            <a:xfrm>
              <a:off x="2990850" y="2647950"/>
              <a:ext cx="285750" cy="790575"/>
            </a:xfrm>
            <a:custGeom>
              <a:avLst/>
              <a:gdLst/>
              <a:ahLst/>
              <a:cxnLst/>
              <a:rect l="l" t="t" r="r" b="b"/>
              <a:pathLst>
                <a:path w="285750" h="790575">
                  <a:moveTo>
                    <a:pt x="0" y="790575"/>
                  </a:moveTo>
                  <a:cubicBezTo>
                    <a:pt x="285750" y="790575"/>
                    <a:pt x="285750" y="0"/>
                    <a:pt x="0" y="0"/>
                  </a:cubicBezTo>
                </a:path>
              </a:pathLst>
            </a:custGeom>
            <a:noFill/>
            <a:ln w="17145">
              <a:solidFill>
                <a:srgbClr val="95C7FD"/>
              </a:solidFill>
              <a:tailEnd type="triangle" w="lg" len="lg"/>
            </a:ln>
          </p:spPr>
        </p:sp>
        <p:sp>
          <p:nvSpPr>
            <p:cNvPr id="20" name="Freeform 20"/>
            <p:cNvSpPr/>
            <p:nvPr/>
          </p:nvSpPr>
          <p:spPr>
            <a:xfrm>
              <a:off x="2990850" y="3867150"/>
              <a:ext cx="285750" cy="790575"/>
            </a:xfrm>
            <a:custGeom>
              <a:avLst/>
              <a:gdLst/>
              <a:ahLst/>
              <a:cxnLst/>
              <a:rect l="l" t="t" r="r" b="b"/>
              <a:pathLst>
                <a:path w="285750" h="790575">
                  <a:moveTo>
                    <a:pt x="0" y="790575"/>
                  </a:moveTo>
                  <a:cubicBezTo>
                    <a:pt x="285750" y="790575"/>
                    <a:pt x="285750" y="0"/>
                    <a:pt x="0" y="0"/>
                  </a:cubicBezTo>
                </a:path>
              </a:pathLst>
            </a:custGeom>
            <a:noFill/>
            <a:ln w="17145">
              <a:solidFill>
                <a:srgbClr val="95C7FD"/>
              </a:solidFill>
              <a:tailEnd type="triangle" w="lg" len="lg"/>
            </a:ln>
          </p:spPr>
        </p:sp>
        <p:sp>
          <p:nvSpPr>
            <p:cNvPr id="21" name="TextBox 21"/>
            <p:cNvSpPr txBox="1"/>
            <p:nvPr/>
          </p:nvSpPr>
          <p:spPr>
            <a:xfrm>
              <a:off x="416611" y="5868352"/>
              <a:ext cx="3548278" cy="205359"/>
            </a:xfrm>
            <a:prstGeom prst="rect">
              <a:avLst/>
            </a:prstGeom>
            <a:noFill/>
            <a:ln>
              <a:noFill/>
            </a:ln>
          </p:spPr>
          <p:txBody>
            <a:bodyPr wrap="none" lIns="0" tIns="0" rIns="0" bIns="0" anchor="t" anchorCtr="0">
              <a:spAutoFit/>
            </a:bodyPr>
            <a:lstStyle/>
            <a:p>
              <a:pPr algn="ctr"/>
              <a:r>
                <a:rPr lang="en-US" sz="1050" i="1" dirty="0">
                  <a:solidFill>
                    <a:srgbClr val="706B69"/>
                  </a:solidFill>
                  <a:latin typeface="Roche Serif Light"/>
                  <a:ea typeface="Roche Serif Light"/>
                  <a:cs typeface="Roche Serif Light"/>
                </a:rPr>
                <a:t>One layer block · two sub-layers · residual arcs</a:t>
              </a:r>
            </a:p>
          </p:txBody>
        </p:sp>
      </p:grpSp>
      <p:grpSp>
        <p:nvGrpSpPr>
          <p:cNvPr id="25" name="Group 25"/>
          <p:cNvGrpSpPr/>
          <p:nvPr/>
        </p:nvGrpSpPr>
        <p:grpSpPr>
          <a:xfrm>
            <a:off x="4095750" y="1524000"/>
            <a:ext cx="7524750" cy="4762500"/>
            <a:chOff x="4095750" y="1524000"/>
            <a:chExt cx="7524750" cy="4762500"/>
          </a:xfrm>
        </p:grpSpPr>
        <p:sp>
          <p:nvSpPr>
            <p:cNvPr id="23" name="Rectangle 23"/>
            <p:cNvSpPr/>
            <p:nvPr/>
          </p:nvSpPr>
          <p:spPr>
            <a:xfrm>
              <a:off x="4095750" y="1524000"/>
              <a:ext cx="7524750" cy="4762500"/>
            </a:xfrm>
            <a:prstGeom prst="roundRect">
              <a:avLst>
                <a:gd name="adj" fmla="val 2400"/>
              </a:avLst>
            </a:prstGeom>
            <a:solidFill>
              <a:srgbClr val="F5F7FA">
                <a:alpha val="50000"/>
              </a:srgbClr>
            </a:solidFill>
            <a:ln w="14288">
              <a:solidFill>
                <a:srgbClr val="1482FA"/>
              </a:solidFill>
              <a:custDash>
                <a:ds d="400000" sp="266666"/>
              </a:custDash>
            </a:ln>
          </p:spPr>
        </p:sp>
        <p:sp>
          <p:nvSpPr>
            <p:cNvPr id="24" name="TextBox 24"/>
            <p:cNvSpPr txBox="1"/>
            <p:nvPr/>
          </p:nvSpPr>
          <p:spPr>
            <a:xfrm>
              <a:off x="6065939" y="1674495"/>
              <a:ext cx="3584372" cy="176212"/>
            </a:xfrm>
            <a:prstGeom prst="rect">
              <a:avLst/>
            </a:prstGeom>
            <a:noFill/>
            <a:ln>
              <a:noFill/>
            </a:ln>
          </p:spPr>
          <p:txBody>
            <a:bodyPr wrap="none" lIns="0" tIns="0" rIns="0" bIns="0" anchor="t" anchorCtr="0">
              <a:spAutoFit/>
            </a:bodyPr>
            <a:lstStyle/>
            <a:p>
              <a:pPr algn="ctr"/>
              <a:r>
                <a:rPr lang="en-US" sz="900" spc="112" dirty="0">
                  <a:solidFill>
                    <a:srgbClr val="1482FA"/>
                  </a:solidFill>
                  <a:latin typeface="Roche Sans Medium"/>
                  <a:ea typeface="Roche Sans Medium"/>
                  <a:cs typeface="Roche Sans Medium"/>
                </a:rPr>
                <a:t>ONE TRANSFORMER LAYER · ENCODER OR DECODER</a:t>
              </a:r>
            </a:p>
          </p:txBody>
        </p:sp>
      </p:grpSp>
      <p:grpSp>
        <p:nvGrpSpPr>
          <p:cNvPr id="39" name="Group 39"/>
          <p:cNvGrpSpPr/>
          <p:nvPr/>
        </p:nvGrpSpPr>
        <p:grpSpPr>
          <a:xfrm>
            <a:off x="4286250" y="1981200"/>
            <a:ext cx="2286000" cy="1905000"/>
            <a:chOff x="4286250" y="1981200"/>
            <a:chExt cx="2286000" cy="1905000"/>
          </a:xfrm>
        </p:grpSpPr>
        <p:sp>
          <p:nvSpPr>
            <p:cNvPr id="26" name="Rectangle 26"/>
            <p:cNvSpPr/>
            <p:nvPr/>
          </p:nvSpPr>
          <p:spPr>
            <a:xfrm>
              <a:off x="4286250" y="1981200"/>
              <a:ext cx="2286000" cy="1905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27" name="Rectangle 27"/>
            <p:cNvSpPr/>
            <p:nvPr/>
          </p:nvSpPr>
          <p:spPr>
            <a:xfrm>
              <a:off x="4286250" y="1981200"/>
              <a:ext cx="57150" cy="1905000"/>
            </a:xfrm>
            <a:prstGeom prst="roundRect">
              <a:avLst>
                <a:gd name="adj" fmla="val 50000"/>
              </a:avLst>
            </a:prstGeom>
            <a:solidFill>
              <a:srgbClr val="0B41CD"/>
            </a:solidFill>
            <a:ln>
              <a:noFill/>
            </a:ln>
          </p:spPr>
        </p:sp>
        <p:grpSp>
          <p:nvGrpSpPr>
            <p:cNvPr id="31" name="Group 31"/>
            <p:cNvGrpSpPr/>
            <p:nvPr/>
          </p:nvGrpSpPr>
          <p:grpSpPr>
            <a:xfrm>
              <a:off x="4522470" y="2198370"/>
              <a:ext cx="182880" cy="182880"/>
              <a:chOff x="4522470" y="2198370"/>
              <a:chExt cx="182880" cy="182880"/>
            </a:xfrm>
          </p:grpSpPr>
          <p:sp>
            <p:nvSpPr>
              <p:cNvPr id="28" name="Freeform 28"/>
              <p:cNvSpPr/>
              <p:nvPr/>
            </p:nvSpPr>
            <p:spPr>
              <a:xfrm>
                <a:off x="4522470" y="2198370"/>
                <a:ext cx="182880" cy="91440"/>
              </a:xfrm>
              <a:custGeom>
                <a:avLst/>
                <a:gdLst/>
                <a:ahLst/>
                <a:cxnLst/>
                <a:rect l="l" t="t" r="r" b="b"/>
                <a:pathLst>
                  <a:path w="182880" h="91440">
                    <a:moveTo>
                      <a:pt x="91440" y="0"/>
                    </a:moveTo>
                    <a:lnTo>
                      <a:pt x="0" y="45720"/>
                    </a:lnTo>
                    <a:lnTo>
                      <a:pt x="91440" y="91440"/>
                    </a:lnTo>
                    <a:lnTo>
                      <a:pt x="182880" y="45720"/>
                    </a:lnTo>
                    <a:lnTo>
                      <a:pt x="91440" y="0"/>
                    </a:lnTo>
                    <a:close/>
                  </a:path>
                </a:pathLst>
              </a:custGeom>
              <a:noFill/>
              <a:ln w="22860">
                <a:solidFill>
                  <a:srgbClr val="0B41CD"/>
                </a:solidFill>
              </a:ln>
            </p:spPr>
          </p:sp>
          <p:sp>
            <p:nvSpPr>
              <p:cNvPr id="29" name="Freeform 29"/>
              <p:cNvSpPr/>
              <p:nvPr/>
            </p:nvSpPr>
            <p:spPr>
              <a:xfrm>
                <a:off x="4522470" y="2289810"/>
                <a:ext cx="182880" cy="45720"/>
              </a:xfrm>
              <a:custGeom>
                <a:avLst/>
                <a:gdLst/>
                <a:ahLst/>
                <a:cxnLst/>
                <a:rect l="l" t="t" r="r" b="b"/>
                <a:pathLst>
                  <a:path w="182880" h="45720">
                    <a:moveTo>
                      <a:pt x="0" y="0"/>
                    </a:moveTo>
                    <a:lnTo>
                      <a:pt x="91440" y="45720"/>
                    </a:lnTo>
                    <a:lnTo>
                      <a:pt x="182880" y="0"/>
                    </a:lnTo>
                  </a:path>
                </a:pathLst>
              </a:custGeom>
              <a:noFill/>
              <a:ln w="22860">
                <a:solidFill>
                  <a:srgbClr val="0B41CD"/>
                </a:solidFill>
              </a:ln>
            </p:spPr>
          </p:sp>
          <p:sp>
            <p:nvSpPr>
              <p:cNvPr id="30" name="Freeform 30"/>
              <p:cNvSpPr/>
              <p:nvPr/>
            </p:nvSpPr>
            <p:spPr>
              <a:xfrm>
                <a:off x="4522470" y="2335530"/>
                <a:ext cx="182880" cy="45720"/>
              </a:xfrm>
              <a:custGeom>
                <a:avLst/>
                <a:gdLst/>
                <a:ahLst/>
                <a:cxnLst/>
                <a:rect l="l" t="t" r="r" b="b"/>
                <a:pathLst>
                  <a:path w="182880" h="45720">
                    <a:moveTo>
                      <a:pt x="0" y="0"/>
                    </a:moveTo>
                    <a:lnTo>
                      <a:pt x="91440" y="45720"/>
                    </a:lnTo>
                    <a:lnTo>
                      <a:pt x="182880" y="0"/>
                    </a:lnTo>
                  </a:path>
                </a:pathLst>
              </a:custGeom>
              <a:noFill/>
              <a:ln w="22860">
                <a:solidFill>
                  <a:srgbClr val="0B41CD"/>
                </a:solidFill>
              </a:ln>
            </p:spPr>
          </p:sp>
        </p:grpSp>
        <p:sp>
          <p:nvSpPr>
            <p:cNvPr id="32" name="TextBox 32"/>
            <p:cNvSpPr txBox="1"/>
            <p:nvPr/>
          </p:nvSpPr>
          <p:spPr>
            <a:xfrm>
              <a:off x="4812411" y="2227421"/>
              <a:ext cx="1679412"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Position-wise FFN</a:t>
              </a:r>
            </a:p>
          </p:txBody>
        </p:sp>
        <p:sp>
          <p:nvSpPr>
            <p:cNvPr id="33" name="TextBox 33"/>
            <p:cNvSpPr txBox="1"/>
            <p:nvPr/>
          </p:nvSpPr>
          <p:spPr>
            <a:xfrm>
              <a:off x="4471416" y="2591752"/>
              <a:ext cx="1902006"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Two linear layers with ReLU</a:t>
              </a:r>
            </a:p>
          </p:txBody>
        </p:sp>
        <p:sp>
          <p:nvSpPr>
            <p:cNvPr id="34" name="TextBox 34"/>
            <p:cNvSpPr txBox="1"/>
            <p:nvPr/>
          </p:nvSpPr>
          <p:spPr>
            <a:xfrm>
              <a:off x="4471416" y="2782252"/>
              <a:ext cx="193304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between, applied identically</a:t>
              </a:r>
            </a:p>
          </p:txBody>
        </p:sp>
        <p:sp>
          <p:nvSpPr>
            <p:cNvPr id="35" name="TextBox 35"/>
            <p:cNvSpPr txBox="1"/>
            <p:nvPr/>
          </p:nvSpPr>
          <p:spPr>
            <a:xfrm>
              <a:off x="4471416" y="2972752"/>
              <a:ext cx="1268692"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at every position.</a:t>
              </a:r>
            </a:p>
          </p:txBody>
        </p:sp>
        <p:sp>
          <p:nvSpPr>
            <p:cNvPr id="36" name="Rectangle 36"/>
            <p:cNvSpPr/>
            <p:nvPr/>
          </p:nvSpPr>
          <p:spPr>
            <a:xfrm>
              <a:off x="4476750" y="3295650"/>
              <a:ext cx="1962150" cy="457200"/>
            </a:xfrm>
            <a:prstGeom prst="roundRect">
              <a:avLst>
                <a:gd name="adj" fmla="val 12500"/>
              </a:avLst>
            </a:prstGeom>
            <a:solidFill>
              <a:srgbClr val="F5F7FA"/>
            </a:solidFill>
            <a:ln>
              <a:noFill/>
            </a:ln>
          </p:spPr>
        </p:sp>
        <p:sp>
          <p:nvSpPr>
            <p:cNvPr id="37" name="TextBox 37"/>
            <p:cNvSpPr txBox="1"/>
            <p:nvPr/>
          </p:nvSpPr>
          <p:spPr>
            <a:xfrm>
              <a:off x="4586288" y="3406616"/>
              <a:ext cx="1777263" cy="161925"/>
            </a:xfrm>
            <a:prstGeom prst="rect">
              <a:avLst/>
            </a:prstGeom>
            <a:noFill/>
            <a:ln>
              <a:noFill/>
            </a:ln>
          </p:spPr>
          <p:txBody>
            <a:bodyPr wrap="none" lIns="0" tIns="0" rIns="0" bIns="0" anchor="t" anchorCtr="0">
              <a:spAutoFit/>
            </a:bodyPr>
            <a:lstStyle/>
            <a:p>
              <a:pPr algn="l"/>
              <a:r>
                <a:rPr lang="en-US" sz="820" dirty="0">
                  <a:solidFill>
                    <a:srgbClr val="333333"/>
                  </a:solidFill>
                  <a:latin typeface="Consolas"/>
                  <a:ea typeface="Consolas"/>
                  <a:cs typeface="Consolas"/>
                </a:rPr>
                <a:t>FFN(x) = max(0, xW₁+b₁) W₂+b₂</a:t>
              </a:r>
            </a:p>
          </p:txBody>
        </p:sp>
        <p:sp>
          <p:nvSpPr>
            <p:cNvPr id="38" name="TextBox 38"/>
            <p:cNvSpPr txBox="1"/>
            <p:nvPr/>
          </p:nvSpPr>
          <p:spPr>
            <a:xfrm>
              <a:off x="4586288" y="3597116"/>
              <a:ext cx="1614364" cy="161925"/>
            </a:xfrm>
            <a:prstGeom prst="rect">
              <a:avLst/>
            </a:prstGeom>
            <a:noFill/>
            <a:ln>
              <a:noFill/>
            </a:ln>
          </p:spPr>
          <p:txBody>
            <a:bodyPr wrap="none" lIns="0" tIns="0" rIns="0" bIns="0" anchor="t" anchorCtr="0">
              <a:spAutoFit/>
            </a:bodyPr>
            <a:lstStyle/>
            <a:p>
              <a:pPr algn="l"/>
              <a:r>
                <a:rPr lang="en-US" sz="820" dirty="0">
                  <a:solidFill>
                    <a:srgbClr val="1482FA"/>
                  </a:solidFill>
                  <a:latin typeface="Consolas"/>
                  <a:ea typeface="Consolas"/>
                  <a:cs typeface="Consolas"/>
                </a:rPr>
                <a:t>inner dim = 2048 · outer = 512</a:t>
              </a:r>
            </a:p>
          </p:txBody>
        </p:sp>
      </p:grpSp>
      <p:grpSp>
        <p:nvGrpSpPr>
          <p:cNvPr id="53" name="Group 53"/>
          <p:cNvGrpSpPr/>
          <p:nvPr/>
        </p:nvGrpSpPr>
        <p:grpSpPr>
          <a:xfrm>
            <a:off x="6762750" y="1981200"/>
            <a:ext cx="2575446" cy="1905000"/>
            <a:chOff x="6762750" y="1981200"/>
            <a:chExt cx="2575446" cy="1905000"/>
          </a:xfrm>
        </p:grpSpPr>
        <p:sp>
          <p:nvSpPr>
            <p:cNvPr id="40" name="Rectangle 40"/>
            <p:cNvSpPr/>
            <p:nvPr/>
          </p:nvSpPr>
          <p:spPr>
            <a:xfrm>
              <a:off x="6762750" y="1981200"/>
              <a:ext cx="2286000" cy="1905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41" name="Rectangle 41"/>
            <p:cNvSpPr/>
            <p:nvPr/>
          </p:nvSpPr>
          <p:spPr>
            <a:xfrm>
              <a:off x="6762750" y="1981200"/>
              <a:ext cx="57150" cy="1905000"/>
            </a:xfrm>
            <a:prstGeom prst="roundRect">
              <a:avLst>
                <a:gd name="adj" fmla="val 50000"/>
              </a:avLst>
            </a:prstGeom>
            <a:solidFill>
              <a:srgbClr val="1482FA"/>
            </a:solidFill>
            <a:ln>
              <a:noFill/>
            </a:ln>
          </p:spPr>
        </p:sp>
        <p:grpSp>
          <p:nvGrpSpPr>
            <p:cNvPr id="45" name="Group 45"/>
            <p:cNvGrpSpPr/>
            <p:nvPr/>
          </p:nvGrpSpPr>
          <p:grpSpPr>
            <a:xfrm>
              <a:off x="6998970" y="2198370"/>
              <a:ext cx="182880" cy="182880"/>
              <a:chOff x="6998970" y="2198370"/>
              <a:chExt cx="182880" cy="182880"/>
            </a:xfrm>
          </p:grpSpPr>
          <p:sp>
            <p:nvSpPr>
              <p:cNvPr id="42" name="Freeform 42"/>
              <p:cNvSpPr/>
              <p:nvPr/>
            </p:nvSpPr>
            <p:spPr>
              <a:xfrm>
                <a:off x="6998970" y="2289810"/>
                <a:ext cx="114300" cy="91440"/>
              </a:xfrm>
              <a:custGeom>
                <a:avLst/>
                <a:gdLst/>
                <a:ahLst/>
                <a:cxnLst/>
                <a:rect l="l" t="t" r="r" b="b"/>
                <a:pathLst>
                  <a:path w="114300" h="91440">
                    <a:moveTo>
                      <a:pt x="0" y="0"/>
                    </a:moveTo>
                    <a:lnTo>
                      <a:pt x="68580" y="0"/>
                    </a:lnTo>
                    <a:cubicBezTo>
                      <a:pt x="93830" y="0"/>
                      <a:pt x="114300" y="20470"/>
                      <a:pt x="114300" y="45720"/>
                    </a:cubicBezTo>
                    <a:cubicBezTo>
                      <a:pt x="114300" y="70970"/>
                      <a:pt x="93830" y="91440"/>
                      <a:pt x="68580" y="91440"/>
                    </a:cubicBezTo>
                    <a:lnTo>
                      <a:pt x="0" y="91440"/>
                    </a:lnTo>
                  </a:path>
                </a:pathLst>
              </a:custGeom>
              <a:noFill/>
              <a:ln w="22860">
                <a:solidFill>
                  <a:srgbClr val="1482FA"/>
                </a:solidFill>
              </a:ln>
            </p:spPr>
          </p:sp>
          <p:sp>
            <p:nvSpPr>
              <p:cNvPr id="43" name="Freeform 43"/>
              <p:cNvSpPr/>
              <p:nvPr/>
            </p:nvSpPr>
            <p:spPr>
              <a:xfrm>
                <a:off x="6998970" y="2289810"/>
                <a:ext cx="9525" cy="91440"/>
              </a:xfrm>
              <a:custGeom>
                <a:avLst/>
                <a:gdLst/>
                <a:ahLst/>
                <a:cxnLst/>
                <a:rect l="l" t="t" r="r" b="b"/>
                <a:pathLst>
                  <a:path w="9525" h="91440">
                    <a:moveTo>
                      <a:pt x="0" y="0"/>
                    </a:moveTo>
                    <a:lnTo>
                      <a:pt x="0" y="91440"/>
                    </a:lnTo>
                  </a:path>
                </a:pathLst>
              </a:custGeom>
              <a:noFill/>
              <a:ln w="22860">
                <a:solidFill>
                  <a:srgbClr val="1482FA"/>
                </a:solidFill>
              </a:ln>
            </p:spPr>
          </p:sp>
          <p:sp>
            <p:nvSpPr>
              <p:cNvPr id="44" name="Freeform 44"/>
              <p:cNvSpPr/>
              <p:nvPr/>
            </p:nvSpPr>
            <p:spPr>
              <a:xfrm>
                <a:off x="7113270" y="2198370"/>
                <a:ext cx="68580" cy="182880"/>
              </a:xfrm>
              <a:custGeom>
                <a:avLst/>
                <a:gdLst/>
                <a:ahLst/>
                <a:cxnLst/>
                <a:rect l="l" t="t" r="r" b="b"/>
                <a:pathLst>
                  <a:path w="68580" h="182880">
                    <a:moveTo>
                      <a:pt x="0" y="0"/>
                    </a:moveTo>
                    <a:lnTo>
                      <a:pt x="68580" y="91440"/>
                    </a:lnTo>
                    <a:lnTo>
                      <a:pt x="0" y="182880"/>
                    </a:lnTo>
                  </a:path>
                </a:pathLst>
              </a:custGeom>
              <a:noFill/>
              <a:ln w="22860">
                <a:solidFill>
                  <a:srgbClr val="1482FA"/>
                </a:solidFill>
              </a:ln>
            </p:spPr>
          </p:sp>
        </p:grpSp>
        <p:sp>
          <p:nvSpPr>
            <p:cNvPr id="46" name="TextBox 46"/>
            <p:cNvSpPr txBox="1"/>
            <p:nvPr/>
          </p:nvSpPr>
          <p:spPr>
            <a:xfrm>
              <a:off x="7288911" y="2227421"/>
              <a:ext cx="767922"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Residual</a:t>
              </a:r>
            </a:p>
          </p:txBody>
        </p:sp>
        <p:sp>
          <p:nvSpPr>
            <p:cNvPr id="47" name="TextBox 47"/>
            <p:cNvSpPr txBox="1"/>
            <p:nvPr/>
          </p:nvSpPr>
          <p:spPr>
            <a:xfrm>
              <a:off x="6947916" y="2591752"/>
              <a:ext cx="1902790"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Skip the sub-layer, add the</a:t>
              </a:r>
            </a:p>
          </p:txBody>
        </p:sp>
        <p:sp>
          <p:nvSpPr>
            <p:cNvPr id="48" name="TextBox 48"/>
            <p:cNvSpPr txBox="1"/>
            <p:nvPr/>
          </p:nvSpPr>
          <p:spPr>
            <a:xfrm>
              <a:off x="6947916" y="2782252"/>
              <a:ext cx="1777555"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input back to the output.</a:t>
              </a:r>
            </a:p>
          </p:txBody>
        </p:sp>
        <p:sp>
          <p:nvSpPr>
            <p:cNvPr id="49" name="TextBox 49"/>
            <p:cNvSpPr txBox="1"/>
            <p:nvPr/>
          </p:nvSpPr>
          <p:spPr>
            <a:xfrm>
              <a:off x="6947916" y="2972752"/>
              <a:ext cx="1464340"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Enables deep stacks.</a:t>
              </a:r>
            </a:p>
          </p:txBody>
        </p:sp>
        <p:sp>
          <p:nvSpPr>
            <p:cNvPr id="50" name="Rectangle 50"/>
            <p:cNvSpPr/>
            <p:nvPr/>
          </p:nvSpPr>
          <p:spPr>
            <a:xfrm>
              <a:off x="6953250" y="3295650"/>
              <a:ext cx="1962150" cy="457200"/>
            </a:xfrm>
            <a:prstGeom prst="roundRect">
              <a:avLst>
                <a:gd name="adj" fmla="val 12500"/>
              </a:avLst>
            </a:prstGeom>
            <a:solidFill>
              <a:srgbClr val="E9EEFA"/>
            </a:solidFill>
            <a:ln>
              <a:noFill/>
            </a:ln>
          </p:spPr>
        </p:sp>
        <p:sp>
          <p:nvSpPr>
            <p:cNvPr id="51" name="TextBox 51"/>
            <p:cNvSpPr txBox="1"/>
            <p:nvPr/>
          </p:nvSpPr>
          <p:spPr>
            <a:xfrm>
              <a:off x="7062597" y="3399949"/>
              <a:ext cx="1223661" cy="190690"/>
            </a:xfrm>
            <a:prstGeom prst="rect">
              <a:avLst/>
            </a:prstGeom>
            <a:noFill/>
            <a:ln>
              <a:noFill/>
            </a:ln>
          </p:spPr>
          <p:txBody>
            <a:bodyPr wrap="none" lIns="0" tIns="0" rIns="0" bIns="0" anchor="t" anchorCtr="0">
              <a:spAutoFit/>
            </a:bodyPr>
            <a:lstStyle/>
            <a:p>
              <a:pPr algn="l"/>
              <a:r>
                <a:rPr lang="en-US" sz="980" dirty="0">
                  <a:solidFill>
                    <a:srgbClr val="333333"/>
                  </a:solidFill>
                  <a:latin typeface="Consolas"/>
                  <a:ea typeface="Consolas"/>
                  <a:cs typeface="Consolas"/>
                </a:rPr>
                <a:t>y = x + Sublayer(x)</a:t>
              </a:r>
            </a:p>
          </p:txBody>
        </p:sp>
        <p:sp>
          <p:nvSpPr>
            <p:cNvPr id="52" name="TextBox 52"/>
            <p:cNvSpPr txBox="1"/>
            <p:nvPr/>
          </p:nvSpPr>
          <p:spPr>
            <a:xfrm>
              <a:off x="7062788" y="3598545"/>
              <a:ext cx="2275408" cy="176212"/>
            </a:xfrm>
            <a:prstGeom prst="rect">
              <a:avLst/>
            </a:prstGeom>
            <a:noFill/>
            <a:ln>
              <a:noFill/>
            </a:ln>
          </p:spPr>
          <p:txBody>
            <a:bodyPr wrap="none" lIns="0" tIns="0" rIns="0" bIns="0" anchor="t" anchorCtr="0">
              <a:spAutoFit/>
            </a:bodyPr>
            <a:lstStyle/>
            <a:p>
              <a:pPr algn="l"/>
              <a:r>
                <a:rPr lang="en-US" sz="900" i="1" dirty="0">
                  <a:solidFill>
                    <a:srgbClr val="1482FA"/>
                  </a:solidFill>
                  <a:latin typeface="Roche Serif Light"/>
                  <a:ea typeface="Roche Serif Light"/>
                  <a:cs typeface="Roche Serif Light"/>
                </a:rPr>
                <a:t xml:space="preserve">straight gradient path top </a:t>
              </a:r>
              <a:r>
                <a:rPr lang="en-US" sz="900" dirty="0">
                  <a:solidFill>
                    <a:srgbClr val="1482FA"/>
                  </a:solidFill>
                  <a:latin typeface="Consolas"/>
                  <a:ea typeface="Consolas"/>
                  <a:cs typeface="Consolas"/>
                </a:rPr>
                <a:t>→</a:t>
              </a:r>
              <a:r>
                <a:rPr lang="en-US" sz="900" i="1" dirty="0">
                  <a:solidFill>
                    <a:srgbClr val="1482FA"/>
                  </a:solidFill>
                  <a:latin typeface="Roche Serif Light"/>
                  <a:ea typeface="Roche Serif Light"/>
                  <a:cs typeface="Roche Serif Light"/>
                </a:rPr>
                <a:t xml:space="preserve"> bottom</a:t>
              </a:r>
            </a:p>
          </p:txBody>
        </p:sp>
      </p:grpSp>
      <p:grpSp>
        <p:nvGrpSpPr>
          <p:cNvPr id="66" name="Group 66"/>
          <p:cNvGrpSpPr/>
          <p:nvPr/>
        </p:nvGrpSpPr>
        <p:grpSpPr>
          <a:xfrm>
            <a:off x="9239250" y="1981200"/>
            <a:ext cx="2339683" cy="1905000"/>
            <a:chOff x="9239250" y="1981200"/>
            <a:chExt cx="2339683" cy="1905000"/>
          </a:xfrm>
        </p:grpSpPr>
        <p:sp>
          <p:nvSpPr>
            <p:cNvPr id="54" name="Rectangle 54"/>
            <p:cNvSpPr/>
            <p:nvPr/>
          </p:nvSpPr>
          <p:spPr>
            <a:xfrm>
              <a:off x="9239250" y="1981200"/>
              <a:ext cx="2286000" cy="1905000"/>
            </a:xfrm>
            <a:prstGeom prst="roundRect">
              <a:avLst>
                <a:gd name="adj" fmla="val 5000"/>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55" name="Rectangle 55"/>
            <p:cNvSpPr/>
            <p:nvPr/>
          </p:nvSpPr>
          <p:spPr>
            <a:xfrm>
              <a:off x="9239250" y="1981200"/>
              <a:ext cx="57150" cy="1905000"/>
            </a:xfrm>
            <a:prstGeom prst="roundRect">
              <a:avLst>
                <a:gd name="adj" fmla="val 50000"/>
              </a:avLst>
            </a:prstGeom>
            <a:solidFill>
              <a:srgbClr val="0F5EE1"/>
            </a:solidFill>
            <a:ln>
              <a:noFill/>
            </a:ln>
          </p:spPr>
        </p:sp>
        <p:grpSp>
          <p:nvGrpSpPr>
            <p:cNvPr id="58" name="Group 58"/>
            <p:cNvGrpSpPr/>
            <p:nvPr/>
          </p:nvGrpSpPr>
          <p:grpSpPr>
            <a:xfrm>
              <a:off x="9464040" y="2209800"/>
              <a:ext cx="203835" cy="160020"/>
              <a:chOff x="9464040" y="2209800"/>
              <a:chExt cx="203835" cy="160020"/>
            </a:xfrm>
          </p:grpSpPr>
          <p:sp>
            <p:nvSpPr>
              <p:cNvPr id="56" name="Freeform 56"/>
              <p:cNvSpPr/>
              <p:nvPr/>
            </p:nvSpPr>
            <p:spPr>
              <a:xfrm>
                <a:off x="9464040" y="2209800"/>
                <a:ext cx="160020" cy="160020"/>
              </a:xfrm>
              <a:custGeom>
                <a:avLst/>
                <a:gdLst/>
                <a:ahLst/>
                <a:cxnLst/>
                <a:rect l="l" t="t" r="r" b="b"/>
                <a:pathLst>
                  <a:path w="160020" h="160020">
                    <a:moveTo>
                      <a:pt x="0" y="80010"/>
                    </a:moveTo>
                    <a:lnTo>
                      <a:pt x="34290" y="80010"/>
                    </a:lnTo>
                    <a:lnTo>
                      <a:pt x="57150" y="0"/>
                    </a:lnTo>
                    <a:lnTo>
                      <a:pt x="102870" y="160020"/>
                    </a:lnTo>
                    <a:lnTo>
                      <a:pt x="125730" y="80010"/>
                    </a:lnTo>
                    <a:lnTo>
                      <a:pt x="160020" y="80010"/>
                    </a:lnTo>
                  </a:path>
                </a:pathLst>
              </a:custGeom>
              <a:noFill/>
              <a:ln w="22860">
                <a:solidFill>
                  <a:srgbClr val="0F5EE1"/>
                </a:solidFill>
              </a:ln>
            </p:spPr>
          </p:sp>
          <p:sp>
            <p:nvSpPr>
              <p:cNvPr id="57" name="Freeform 57"/>
              <p:cNvSpPr/>
              <p:nvPr/>
            </p:nvSpPr>
            <p:spPr>
              <a:xfrm>
                <a:off x="9658350" y="2209800"/>
                <a:ext cx="9525" cy="160020"/>
              </a:xfrm>
              <a:custGeom>
                <a:avLst/>
                <a:gdLst/>
                <a:ahLst/>
                <a:cxnLst/>
                <a:rect l="l" t="t" r="r" b="b"/>
                <a:pathLst>
                  <a:path w="9525" h="160020">
                    <a:moveTo>
                      <a:pt x="0" y="0"/>
                    </a:moveTo>
                    <a:lnTo>
                      <a:pt x="0" y="160020"/>
                    </a:lnTo>
                  </a:path>
                </a:pathLst>
              </a:custGeom>
              <a:noFill/>
              <a:ln w="22860">
                <a:solidFill>
                  <a:srgbClr val="0F5EE1"/>
                </a:solidFill>
              </a:ln>
            </p:spPr>
          </p:sp>
        </p:grpSp>
        <p:sp>
          <p:nvSpPr>
            <p:cNvPr id="59" name="TextBox 59"/>
            <p:cNvSpPr txBox="1"/>
            <p:nvPr/>
          </p:nvSpPr>
          <p:spPr>
            <a:xfrm>
              <a:off x="9765411" y="2227421"/>
              <a:ext cx="1014847" cy="278702"/>
            </a:xfrm>
            <a:prstGeom prst="rect">
              <a:avLst/>
            </a:prstGeom>
            <a:noFill/>
            <a:ln>
              <a:noFill/>
            </a:ln>
          </p:spPr>
          <p:txBody>
            <a:bodyPr wrap="none" lIns="0" tIns="0" rIns="0" bIns="0" anchor="t" anchorCtr="0">
              <a:spAutoFit/>
            </a:bodyPr>
            <a:lstStyle/>
            <a:p>
              <a:pPr algn="l"/>
              <a:r>
                <a:rPr lang="en-US" sz="1420" dirty="0">
                  <a:solidFill>
                    <a:srgbClr val="0B41CD"/>
                  </a:solidFill>
                  <a:latin typeface="Roche Sans Light"/>
                  <a:ea typeface="Roche Sans Light"/>
                  <a:cs typeface="Roche Sans Light"/>
                </a:rPr>
                <a:t>LayerNorm</a:t>
              </a:r>
            </a:p>
          </p:txBody>
        </p:sp>
        <p:sp>
          <p:nvSpPr>
            <p:cNvPr id="60" name="TextBox 60"/>
            <p:cNvSpPr txBox="1"/>
            <p:nvPr/>
          </p:nvSpPr>
          <p:spPr>
            <a:xfrm>
              <a:off x="9424416" y="2591752"/>
              <a:ext cx="1767930"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Normalize across feature</a:t>
              </a:r>
            </a:p>
          </p:txBody>
        </p:sp>
        <p:sp>
          <p:nvSpPr>
            <p:cNvPr id="61" name="TextBox 61"/>
            <p:cNvSpPr txBox="1"/>
            <p:nvPr/>
          </p:nvSpPr>
          <p:spPr>
            <a:xfrm>
              <a:off x="9424416" y="2782252"/>
              <a:ext cx="1968379"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dimension after the residual</a:t>
              </a:r>
            </a:p>
          </p:txBody>
        </p:sp>
        <p:sp>
          <p:nvSpPr>
            <p:cNvPr id="62" name="TextBox 62"/>
            <p:cNvSpPr txBox="1"/>
            <p:nvPr/>
          </p:nvSpPr>
          <p:spPr>
            <a:xfrm>
              <a:off x="9424416" y="2972752"/>
              <a:ext cx="639680"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addition.</a:t>
              </a:r>
            </a:p>
          </p:txBody>
        </p:sp>
        <p:sp>
          <p:nvSpPr>
            <p:cNvPr id="63" name="Rectangle 63"/>
            <p:cNvSpPr/>
            <p:nvPr/>
          </p:nvSpPr>
          <p:spPr>
            <a:xfrm>
              <a:off x="9429750" y="3295650"/>
              <a:ext cx="1962150" cy="457200"/>
            </a:xfrm>
            <a:prstGeom prst="roundRect">
              <a:avLst>
                <a:gd name="adj" fmla="val 12500"/>
              </a:avLst>
            </a:prstGeom>
            <a:solidFill>
              <a:srgbClr val="F5F7FA"/>
            </a:solidFill>
            <a:ln>
              <a:noFill/>
            </a:ln>
          </p:spPr>
        </p:sp>
        <p:sp>
          <p:nvSpPr>
            <p:cNvPr id="64" name="TextBox 64"/>
            <p:cNvSpPr txBox="1"/>
            <p:nvPr/>
          </p:nvSpPr>
          <p:spPr>
            <a:xfrm>
              <a:off x="9539288" y="3406616"/>
              <a:ext cx="1550269" cy="161925"/>
            </a:xfrm>
            <a:prstGeom prst="rect">
              <a:avLst/>
            </a:prstGeom>
            <a:noFill/>
            <a:ln>
              <a:noFill/>
            </a:ln>
          </p:spPr>
          <p:txBody>
            <a:bodyPr wrap="none" lIns="0" tIns="0" rIns="0" bIns="0" anchor="t" anchorCtr="0">
              <a:spAutoFit/>
            </a:bodyPr>
            <a:lstStyle/>
            <a:p>
              <a:pPr algn="l"/>
              <a:r>
                <a:rPr lang="en-US" sz="820" dirty="0">
                  <a:solidFill>
                    <a:srgbClr val="333333"/>
                  </a:solidFill>
                  <a:latin typeface="Consolas"/>
                  <a:ea typeface="Consolas"/>
                  <a:cs typeface="Consolas"/>
                </a:rPr>
                <a:t>LayerNorm(x + Sublayer(x))</a:t>
              </a:r>
            </a:p>
          </p:txBody>
        </p:sp>
        <p:sp>
          <p:nvSpPr>
            <p:cNvPr id="65" name="TextBox 65"/>
            <p:cNvSpPr txBox="1"/>
            <p:nvPr/>
          </p:nvSpPr>
          <p:spPr>
            <a:xfrm>
              <a:off x="9539288" y="3597116"/>
              <a:ext cx="2039645" cy="161925"/>
            </a:xfrm>
            <a:prstGeom prst="rect">
              <a:avLst/>
            </a:prstGeom>
            <a:noFill/>
            <a:ln>
              <a:noFill/>
            </a:ln>
          </p:spPr>
          <p:txBody>
            <a:bodyPr wrap="none" lIns="0" tIns="0" rIns="0" bIns="0" anchor="t" anchorCtr="0">
              <a:spAutoFit/>
            </a:bodyPr>
            <a:lstStyle/>
            <a:p>
              <a:pPr algn="l"/>
              <a:r>
                <a:rPr lang="en-US" sz="820" i="1" dirty="0">
                  <a:solidFill>
                    <a:srgbClr val="1482FA"/>
                  </a:solidFill>
                  <a:latin typeface="Roche Serif Light"/>
                  <a:ea typeface="Roche Serif Light"/>
                  <a:cs typeface="Roche Serif Light"/>
                </a:rPr>
                <a:t>stabilizes training, scale-invariant</a:t>
              </a:r>
            </a:p>
          </p:txBody>
        </p:sp>
      </p:grpSp>
      <p:grpSp>
        <p:nvGrpSpPr>
          <p:cNvPr id="83" name="Group 83"/>
          <p:cNvGrpSpPr/>
          <p:nvPr/>
        </p:nvGrpSpPr>
        <p:grpSpPr>
          <a:xfrm>
            <a:off x="4286250" y="4152900"/>
            <a:ext cx="7239000" cy="1905000"/>
            <a:chOff x="4286250" y="4152900"/>
            <a:chExt cx="7239000" cy="1905000"/>
          </a:xfrm>
        </p:grpSpPr>
        <p:sp>
          <p:nvSpPr>
            <p:cNvPr id="67" name="Rectangle 67"/>
            <p:cNvSpPr/>
            <p:nvPr/>
          </p:nvSpPr>
          <p:spPr>
            <a:xfrm>
              <a:off x="4286250" y="4152900"/>
              <a:ext cx="7239000" cy="1905000"/>
            </a:xfrm>
            <a:prstGeom prst="roundRect">
              <a:avLst>
                <a:gd name="adj" fmla="val 6000"/>
              </a:avLst>
            </a:prstGeom>
            <a:solidFill>
              <a:srgbClr val="FFFFFF"/>
            </a:solidFill>
            <a:ln w="14288">
              <a:solidFill>
                <a:srgbClr val="E0E0E0"/>
              </a:solidFill>
            </a:ln>
          </p:spPr>
        </p:sp>
        <p:sp>
          <p:nvSpPr>
            <p:cNvPr id="68" name="Rectangle 68"/>
            <p:cNvSpPr/>
            <p:nvPr/>
          </p:nvSpPr>
          <p:spPr>
            <a:xfrm>
              <a:off x="4286250" y="4152900"/>
              <a:ext cx="57150" cy="1905000"/>
            </a:xfrm>
            <a:prstGeom prst="roundRect">
              <a:avLst>
                <a:gd name="adj" fmla="val 50000"/>
              </a:avLst>
            </a:prstGeom>
            <a:solidFill>
              <a:srgbClr val="1482FA"/>
            </a:solidFill>
            <a:ln>
              <a:noFill/>
            </a:ln>
          </p:spPr>
        </p:sp>
        <p:sp>
          <p:nvSpPr>
            <p:cNvPr id="69" name="TextBox 69"/>
            <p:cNvSpPr txBox="1"/>
            <p:nvPr/>
          </p:nvSpPr>
          <p:spPr>
            <a:xfrm>
              <a:off x="4471988" y="4322445"/>
              <a:ext cx="3779596"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HOW THEY COMPOSE — APPLIED TO EVERY SUB-LAYER</a:t>
              </a:r>
            </a:p>
          </p:txBody>
        </p:sp>
        <p:sp>
          <p:nvSpPr>
            <p:cNvPr id="70" name="Rectangle 70"/>
            <p:cNvSpPr/>
            <p:nvPr/>
          </p:nvSpPr>
          <p:spPr>
            <a:xfrm>
              <a:off x="4552950" y="4705350"/>
              <a:ext cx="1524000" cy="457200"/>
            </a:xfrm>
            <a:prstGeom prst="roundRect">
              <a:avLst>
                <a:gd name="adj" fmla="val 12500"/>
              </a:avLst>
            </a:prstGeom>
            <a:solidFill>
              <a:srgbClr val="F5F7FA"/>
            </a:solidFill>
            <a:ln w="14288">
              <a:solidFill>
                <a:srgbClr val="0B41CD"/>
              </a:solidFill>
            </a:ln>
          </p:spPr>
        </p:sp>
        <p:sp>
          <p:nvSpPr>
            <p:cNvPr id="71" name="TextBox 71"/>
            <p:cNvSpPr txBox="1"/>
            <p:nvPr/>
          </p:nvSpPr>
          <p:spPr>
            <a:xfrm>
              <a:off x="4837430" y="4861560"/>
              <a:ext cx="955040" cy="234696"/>
            </a:xfrm>
            <a:prstGeom prst="rect">
              <a:avLst/>
            </a:prstGeom>
            <a:noFill/>
            <a:ln>
              <a:noFill/>
            </a:ln>
          </p:spPr>
          <p:txBody>
            <a:bodyPr wrap="none" lIns="0" tIns="0" rIns="0" bIns="0" anchor="t" anchorCtr="0">
              <a:spAutoFit/>
            </a:bodyPr>
            <a:lstStyle/>
            <a:p>
              <a:pPr algn="ctr"/>
              <a:r>
                <a:rPr lang="en-US" sz="1200" dirty="0">
                  <a:solidFill>
                    <a:srgbClr val="0B41CD"/>
                  </a:solidFill>
                  <a:latin typeface="Roche Sans Medium"/>
                  <a:ea typeface="Roche Sans Medium"/>
                  <a:cs typeface="Roche Sans Medium"/>
                </a:rPr>
                <a:t>Sublayer(x)</a:t>
              </a:r>
            </a:p>
          </p:txBody>
        </p:sp>
        <p:sp>
          <p:nvSpPr>
            <p:cNvPr id="72" name="TextBox 72"/>
            <p:cNvSpPr txBox="1"/>
            <p:nvPr/>
          </p:nvSpPr>
          <p:spPr>
            <a:xfrm>
              <a:off x="6220573" y="4838700"/>
              <a:ext cx="131855" cy="293370"/>
            </a:xfrm>
            <a:prstGeom prst="rect">
              <a:avLst/>
            </a:prstGeom>
            <a:noFill/>
            <a:ln>
              <a:noFill/>
            </a:ln>
          </p:spPr>
          <p:txBody>
            <a:bodyPr wrap="none" lIns="0" tIns="0" rIns="0" bIns="0" anchor="t" anchorCtr="0">
              <a:spAutoFit/>
            </a:bodyPr>
            <a:lstStyle/>
            <a:p>
              <a:pPr algn="ctr"/>
              <a:r>
                <a:rPr lang="en-US" sz="1500" b="1" dirty="0">
                  <a:solidFill>
                    <a:srgbClr val="1482FA"/>
                  </a:solidFill>
                  <a:latin typeface="Consolas"/>
                  <a:ea typeface="Consolas"/>
                  <a:cs typeface="Consolas"/>
                </a:rPr>
                <a:t>+</a:t>
              </a:r>
            </a:p>
          </p:txBody>
        </p:sp>
        <p:sp>
          <p:nvSpPr>
            <p:cNvPr id="73" name="Rectangle 73"/>
            <p:cNvSpPr/>
            <p:nvPr/>
          </p:nvSpPr>
          <p:spPr>
            <a:xfrm>
              <a:off x="6572250" y="4705350"/>
              <a:ext cx="762000" cy="457200"/>
            </a:xfrm>
            <a:prstGeom prst="roundRect">
              <a:avLst>
                <a:gd name="adj" fmla="val 12500"/>
              </a:avLst>
            </a:prstGeom>
            <a:solidFill>
              <a:srgbClr val="E9EEFA"/>
            </a:solidFill>
            <a:ln w="14288">
              <a:solidFill>
                <a:srgbClr val="1482FA"/>
              </a:solidFill>
            </a:ln>
          </p:spPr>
        </p:sp>
        <p:sp>
          <p:nvSpPr>
            <p:cNvPr id="74" name="TextBox 74"/>
            <p:cNvSpPr txBox="1"/>
            <p:nvPr/>
          </p:nvSpPr>
          <p:spPr>
            <a:xfrm>
              <a:off x="6902729" y="4861560"/>
              <a:ext cx="101041" cy="234696"/>
            </a:xfrm>
            <a:prstGeom prst="rect">
              <a:avLst/>
            </a:prstGeom>
            <a:noFill/>
            <a:ln>
              <a:noFill/>
            </a:ln>
          </p:spPr>
          <p:txBody>
            <a:bodyPr wrap="none" lIns="0" tIns="0" rIns="0" bIns="0" anchor="t" anchorCtr="0">
              <a:spAutoFit/>
            </a:bodyPr>
            <a:lstStyle/>
            <a:p>
              <a:pPr algn="ctr"/>
              <a:r>
                <a:rPr lang="en-US" sz="1200" dirty="0">
                  <a:solidFill>
                    <a:srgbClr val="1482FA"/>
                  </a:solidFill>
                  <a:latin typeface="Roche Sans Medium"/>
                  <a:ea typeface="Roche Sans Medium"/>
                  <a:cs typeface="Roche Sans Medium"/>
                </a:rPr>
                <a:t>x</a:t>
              </a:r>
            </a:p>
          </p:txBody>
        </p:sp>
        <p:sp>
          <p:nvSpPr>
            <p:cNvPr id="75" name="TextBox 75"/>
            <p:cNvSpPr txBox="1"/>
            <p:nvPr/>
          </p:nvSpPr>
          <p:spPr>
            <a:xfrm>
              <a:off x="7560665" y="4845368"/>
              <a:ext cx="118669"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a:t>
              </a:r>
            </a:p>
          </p:txBody>
        </p:sp>
        <p:sp>
          <p:nvSpPr>
            <p:cNvPr id="76" name="Rectangle 76"/>
            <p:cNvSpPr/>
            <p:nvPr/>
          </p:nvSpPr>
          <p:spPr>
            <a:xfrm>
              <a:off x="7905750" y="4629150"/>
              <a:ext cx="2095500" cy="609600"/>
            </a:xfrm>
            <a:prstGeom prst="roundRect">
              <a:avLst>
                <a:gd name="adj" fmla="val 9375"/>
              </a:avLst>
            </a:prstGeom>
            <a:solidFill>
              <a:srgbClr val="0B41CD"/>
            </a:solidFill>
            <a:ln>
              <a:noFill/>
            </a:ln>
          </p:spPr>
        </p:sp>
        <p:sp>
          <p:nvSpPr>
            <p:cNvPr id="77" name="TextBox 77"/>
            <p:cNvSpPr txBox="1"/>
            <p:nvPr/>
          </p:nvSpPr>
          <p:spPr>
            <a:xfrm>
              <a:off x="8526196" y="4766310"/>
              <a:ext cx="854608"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LayerNorm</a:t>
              </a:r>
            </a:p>
          </p:txBody>
        </p:sp>
        <p:sp>
          <p:nvSpPr>
            <p:cNvPr id="78" name="TextBox 78"/>
            <p:cNvSpPr txBox="1"/>
            <p:nvPr/>
          </p:nvSpPr>
          <p:spPr>
            <a:xfrm>
              <a:off x="8291455" y="5008245"/>
              <a:ext cx="1324089" cy="176212"/>
            </a:xfrm>
            <a:prstGeom prst="rect">
              <a:avLst/>
            </a:prstGeom>
            <a:noFill/>
            <a:ln>
              <a:noFill/>
            </a:ln>
          </p:spPr>
          <p:txBody>
            <a:bodyPr wrap="none" lIns="0" tIns="0" rIns="0" bIns="0" anchor="t" anchorCtr="0">
              <a:spAutoFit/>
            </a:bodyPr>
            <a:lstStyle/>
            <a:p>
              <a:pPr algn="ctr"/>
              <a:r>
                <a:rPr lang="en-US" sz="900" dirty="0">
                  <a:solidFill>
                    <a:srgbClr val="FFFFFF">
                      <a:alphaMod val="90000"/>
                    </a:srgbClr>
                  </a:solidFill>
                  <a:latin typeface="Roche Sans"/>
                  <a:ea typeface="Roche Sans"/>
                  <a:cs typeface="Roche Sans"/>
                </a:rPr>
                <a:t>final sub-layer output</a:t>
              </a:r>
            </a:p>
          </p:txBody>
        </p:sp>
        <p:sp>
          <p:nvSpPr>
            <p:cNvPr id="79" name="TextBox 79"/>
            <p:cNvSpPr txBox="1"/>
            <p:nvPr/>
          </p:nvSpPr>
          <p:spPr>
            <a:xfrm>
              <a:off x="10227665" y="4845368"/>
              <a:ext cx="118669"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a:t>
              </a:r>
            </a:p>
          </p:txBody>
        </p:sp>
        <p:sp>
          <p:nvSpPr>
            <p:cNvPr id="80" name="TextBox 80"/>
            <p:cNvSpPr txBox="1"/>
            <p:nvPr/>
          </p:nvSpPr>
          <p:spPr>
            <a:xfrm>
              <a:off x="10643616" y="4925378"/>
              <a:ext cx="337189" cy="205359"/>
            </a:xfrm>
            <a:prstGeom prst="rect">
              <a:avLst/>
            </a:prstGeom>
            <a:noFill/>
            <a:ln>
              <a:noFill/>
            </a:ln>
          </p:spPr>
          <p:txBody>
            <a:bodyPr wrap="none" lIns="0" tIns="0" rIns="0" bIns="0" anchor="t" anchorCtr="0">
              <a:spAutoFit/>
            </a:bodyPr>
            <a:lstStyle/>
            <a:p>
              <a:pPr algn="l"/>
              <a:r>
                <a:rPr lang="en-US" sz="1050" b="1" dirty="0">
                  <a:solidFill>
                    <a:srgbClr val="0B41CD"/>
                  </a:solidFill>
                  <a:latin typeface="Consolas"/>
                  <a:ea typeface="Consolas"/>
                  <a:cs typeface="Consolas"/>
                </a:rPr>
                <a:t>next</a:t>
              </a:r>
            </a:p>
          </p:txBody>
        </p:sp>
        <p:sp>
          <p:nvSpPr>
            <p:cNvPr id="81" name="TextBox 81"/>
            <p:cNvSpPr txBox="1"/>
            <p:nvPr/>
          </p:nvSpPr>
          <p:spPr>
            <a:xfrm>
              <a:off x="4471988" y="5484495"/>
              <a:ext cx="1196873"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SHAPE CONTRACT</a:t>
              </a:r>
            </a:p>
          </p:txBody>
        </p:sp>
        <p:sp>
          <p:nvSpPr>
            <p:cNvPr id="82" name="TextBox 82"/>
            <p:cNvSpPr txBox="1"/>
            <p:nvPr/>
          </p:nvSpPr>
          <p:spPr>
            <a:xfrm>
              <a:off x="4471416" y="5696902"/>
              <a:ext cx="6871166"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All sub-layers and embeddings emit dimension </a:t>
              </a:r>
              <a:r>
                <a:rPr lang="en-US" sz="1050" dirty="0">
                  <a:solidFill>
                    <a:srgbClr val="1482FA"/>
                  </a:solidFill>
                  <a:latin typeface="Consolas"/>
                  <a:ea typeface="Consolas"/>
                  <a:cs typeface="Consolas"/>
                </a:rPr>
                <a:t>d_model = 512</a:t>
              </a:r>
              <a:r>
                <a:rPr lang="en-US" sz="1050" dirty="0">
                  <a:solidFill>
                    <a:srgbClr val="333333"/>
                  </a:solidFill>
                  <a:latin typeface="Roche Sans"/>
                  <a:ea typeface="Roche Sans"/>
                  <a:cs typeface="Roche Sans"/>
                </a:rPr>
                <a:t xml:space="preserve"> so the residual addition is well-defined.</a:t>
              </a:r>
            </a:p>
          </p:txBody>
        </p:sp>
      </p:grpSp>
      <p:grpSp>
        <p:nvGrpSpPr>
          <p:cNvPr id="86" name="Group 86"/>
          <p:cNvGrpSpPr/>
          <p:nvPr/>
        </p:nvGrpSpPr>
        <p:grpSpPr>
          <a:xfrm>
            <a:off x="566738" y="6521291"/>
            <a:ext cx="11058525" cy="161925"/>
            <a:chOff x="566738" y="6521291"/>
            <a:chExt cx="11058525" cy="161925"/>
          </a:xfrm>
        </p:grpSpPr>
        <p:sp>
          <p:nvSpPr>
            <p:cNvPr id="84" name="TextBox 84"/>
            <p:cNvSpPr txBox="1"/>
            <p:nvPr/>
          </p:nvSpPr>
          <p:spPr>
            <a:xfrm>
              <a:off x="566738" y="6521291"/>
              <a:ext cx="5980561"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§3.1 + §3.3 (Position-wise Feed-Forward Networks) — redrawn as native vector</a:t>
              </a:r>
            </a:p>
          </p:txBody>
        </p:sp>
        <p:sp>
          <p:nvSpPr>
            <p:cNvPr id="85" name="TextBox 8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image">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slide(fromBottom)">
                                      <p:cBhvr>
                                        <p:cTn id="19" dur="400"/>
                                        <p:tgtEl>
                                          <p:spTgt spid="5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slide(fromBottom)">
                                      <p:cBhvr>
                                        <p:cTn id="23" dur="400"/>
                                        <p:tgtEl>
                                          <p:spTgt spid="66"/>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image">
                                      <p:cBhvr>
                                        <p:cTn id="27"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6500320" cy="656939"/>
            <a:chOff x="571500" y="533400"/>
            <a:chExt cx="6500320"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6284674"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Recovering order without recurrence</a:t>
              </a:r>
            </a:p>
          </p:txBody>
        </p:sp>
        <p:sp>
          <p:nvSpPr>
            <p:cNvPr id="5" name="TextBox 5"/>
            <p:cNvSpPr txBox="1"/>
            <p:nvPr/>
          </p:nvSpPr>
          <p:spPr>
            <a:xfrm>
              <a:off x="795147" y="999649"/>
              <a:ext cx="5453786"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POSITIONAL ENCODING · SINUSOIDS OF DIFFERENT FREQUENCIES · §3.5</a:t>
              </a:r>
            </a:p>
          </p:txBody>
        </p:sp>
      </p:grpSp>
      <p:grpSp>
        <p:nvGrpSpPr>
          <p:cNvPr id="12" name="Group 12"/>
          <p:cNvGrpSpPr/>
          <p:nvPr/>
        </p:nvGrpSpPr>
        <p:grpSpPr>
          <a:xfrm>
            <a:off x="571500" y="1409700"/>
            <a:ext cx="11049000" cy="1143000"/>
            <a:chOff x="571500" y="1409700"/>
            <a:chExt cx="11049000" cy="1143000"/>
          </a:xfrm>
        </p:grpSpPr>
        <p:sp>
          <p:nvSpPr>
            <p:cNvPr id="7" name="Rectangle 7"/>
            <p:cNvSpPr/>
            <p:nvPr/>
          </p:nvSpPr>
          <p:spPr>
            <a:xfrm>
              <a:off x="571500" y="1409700"/>
              <a:ext cx="11049000" cy="1143000"/>
            </a:xfrm>
            <a:prstGeom prst="roundRect">
              <a:avLst>
                <a:gd name="adj" fmla="val 10000"/>
              </a:avLst>
            </a:prstGeom>
            <a:gradFill>
              <a:gsLst>
                <a:gs pos="0">
                  <a:srgbClr val="F8FAFF"/>
                </a:gs>
                <a:gs pos="100000">
                  <a:srgbClr val="E9EEFA"/>
                </a:gs>
              </a:gsLst>
              <a:lin ang="2700000" scaled="1"/>
            </a:gradFill>
            <a:ln w="14288">
              <a:solidFill>
                <a:srgbClr val="E0E0E0"/>
              </a:solidFill>
            </a:ln>
          </p:spPr>
        </p:sp>
        <p:sp>
          <p:nvSpPr>
            <p:cNvPr id="8" name="Rectangle 8"/>
            <p:cNvSpPr/>
            <p:nvPr/>
          </p:nvSpPr>
          <p:spPr>
            <a:xfrm>
              <a:off x="571500" y="1409700"/>
              <a:ext cx="57150" cy="1143000"/>
            </a:xfrm>
            <a:prstGeom prst="roundRect">
              <a:avLst>
                <a:gd name="adj" fmla="val 50000"/>
              </a:avLst>
            </a:prstGeom>
            <a:gradFill>
              <a:gsLst>
                <a:gs pos="0">
                  <a:srgbClr val="0B41CD"/>
                </a:gs>
                <a:gs pos="100000">
                  <a:srgbClr val="1482FA"/>
                </a:gs>
              </a:gsLst>
              <a:lin ang="5400000" scaled="1"/>
            </a:gradFill>
            <a:ln>
              <a:noFill/>
            </a:ln>
          </p:spPr>
        </p:sp>
        <p:sp>
          <p:nvSpPr>
            <p:cNvPr id="9" name="TextBox 9"/>
            <p:cNvSpPr txBox="1"/>
            <p:nvPr/>
          </p:nvSpPr>
          <p:spPr>
            <a:xfrm>
              <a:off x="947738" y="1560195"/>
              <a:ext cx="2582500"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EQUATION · §3.5 · LaTeX-rendered</a:t>
              </a:r>
            </a:p>
          </p:txBody>
        </p:sp>
        <p:pic>
          <p:nvPicPr>
            <p:cNvPr id="10" name="Image 10"/>
            <p:cNvPicPr>
              <a:picLocks noChangeAspect="1"/>
            </p:cNvPicPr>
            <p:nvPr/>
          </p:nvPicPr>
          <p:blipFill>
            <a:blip r:embed="rId3"/>
            <a:stretch>
              <a:fillRect/>
            </a:stretch>
          </p:blipFill>
          <p:spPr>
            <a:xfrm>
              <a:off x="4706809" y="1771650"/>
              <a:ext cx="2683132" cy="323850"/>
            </a:xfrm>
            <a:prstGeom prst="rect">
              <a:avLst/>
            </a:prstGeom>
          </p:spPr>
        </p:pic>
        <p:pic>
          <p:nvPicPr>
            <p:cNvPr id="11" name="Image 11"/>
            <p:cNvPicPr>
              <a:picLocks noChangeAspect="1"/>
            </p:cNvPicPr>
            <p:nvPr/>
          </p:nvPicPr>
          <p:blipFill>
            <a:blip r:embed="rId4"/>
            <a:stretch>
              <a:fillRect/>
            </a:stretch>
          </p:blipFill>
          <p:spPr>
            <a:xfrm>
              <a:off x="4681963" y="2171700"/>
              <a:ext cx="2732824" cy="304800"/>
            </a:xfrm>
            <a:prstGeom prst="rect">
              <a:avLst/>
            </a:prstGeom>
          </p:spPr>
        </p:pic>
      </p:grpSp>
      <p:grpSp>
        <p:nvGrpSpPr>
          <p:cNvPr id="40" name="Group 40"/>
          <p:cNvGrpSpPr/>
          <p:nvPr/>
        </p:nvGrpSpPr>
        <p:grpSpPr>
          <a:xfrm>
            <a:off x="571500" y="2743200"/>
            <a:ext cx="11093882" cy="2190750"/>
            <a:chOff x="571500" y="2743200"/>
            <a:chExt cx="11093882" cy="2190750"/>
          </a:xfrm>
        </p:grpSpPr>
        <p:sp>
          <p:nvSpPr>
            <p:cNvPr id="13" name="Rectangle 13"/>
            <p:cNvSpPr/>
            <p:nvPr/>
          </p:nvSpPr>
          <p:spPr>
            <a:xfrm>
              <a:off x="571500" y="2743200"/>
              <a:ext cx="11049000" cy="2190750"/>
            </a:xfrm>
            <a:prstGeom prst="roundRect">
              <a:avLst>
                <a:gd name="adj" fmla="val 5217"/>
              </a:avLst>
            </a:prstGeom>
            <a:solidFill>
              <a:srgbClr val="FFFFFF"/>
            </a:solidFill>
            <a:ln w="14288">
              <a:solidFill>
                <a:srgbClr val="E0E0E0"/>
              </a:solidFill>
            </a:ln>
          </p:spPr>
        </p:sp>
        <p:sp>
          <p:nvSpPr>
            <p:cNvPr id="14" name="TextBox 14"/>
            <p:cNvSpPr txBox="1"/>
            <p:nvPr/>
          </p:nvSpPr>
          <p:spPr>
            <a:xfrm>
              <a:off x="871538" y="2950845"/>
              <a:ext cx="5126965" cy="176212"/>
            </a:xfrm>
            <a:prstGeom prst="rect">
              <a:avLst/>
            </a:prstGeom>
            <a:noFill/>
            <a:ln>
              <a:noFill/>
            </a:ln>
          </p:spPr>
          <p:txBody>
            <a:bodyPr wrap="none" lIns="0" tIns="0" rIns="0" bIns="0" anchor="t" anchorCtr="0">
              <a:spAutoFit/>
            </a:bodyPr>
            <a:lstStyle/>
            <a:p>
              <a:pPr algn="l"/>
              <a:r>
                <a:rPr lang="en-US" sz="900" spc="112" dirty="0">
                  <a:solidFill>
                    <a:srgbClr val="1482FA"/>
                  </a:solidFill>
                  <a:latin typeface="Roche Sans Medium"/>
                  <a:ea typeface="Roche Sans Medium"/>
                  <a:cs typeface="Roche Sans Medium"/>
                </a:rPr>
                <a:t>TWO SUPERIMPOSED SINUSOIDS, GEOMETRICALLY-SPACED WAVELENGTHS</a:t>
              </a:r>
            </a:p>
          </p:txBody>
        </p:sp>
        <p:grpSp>
          <p:nvGrpSpPr>
            <p:cNvPr id="19" name="Group 19"/>
            <p:cNvGrpSpPr/>
            <p:nvPr/>
          </p:nvGrpSpPr>
          <p:grpSpPr>
            <a:xfrm>
              <a:off x="9144000" y="2912745"/>
              <a:ext cx="2521382" cy="176212"/>
              <a:chOff x="9144000" y="2912745"/>
              <a:chExt cx="2521382" cy="176212"/>
            </a:xfrm>
          </p:grpSpPr>
          <p:sp>
            <p:nvSpPr>
              <p:cNvPr id="15" name="Rectangle 15"/>
              <p:cNvSpPr/>
              <p:nvPr/>
            </p:nvSpPr>
            <p:spPr>
              <a:xfrm>
                <a:off x="9144000" y="2933700"/>
                <a:ext cx="171450" cy="38100"/>
              </a:xfrm>
              <a:prstGeom prst="roundRect">
                <a:avLst>
                  <a:gd name="adj" fmla="val 50000"/>
                </a:avLst>
              </a:prstGeom>
              <a:solidFill>
                <a:srgbClr val="0B41CD"/>
              </a:solidFill>
              <a:ln>
                <a:noFill/>
              </a:ln>
            </p:spPr>
          </p:sp>
          <p:sp>
            <p:nvSpPr>
              <p:cNvPr id="16" name="TextBox 16"/>
              <p:cNvSpPr txBox="1"/>
              <p:nvPr/>
            </p:nvSpPr>
            <p:spPr>
              <a:xfrm>
                <a:off x="9386888" y="2912745"/>
                <a:ext cx="815226" cy="176212"/>
              </a:xfrm>
              <a:prstGeom prst="rect">
                <a:avLst/>
              </a:prstGeom>
              <a:noFill/>
              <a:ln>
                <a:noFill/>
              </a:ln>
            </p:spPr>
            <p:txBody>
              <a:bodyPr wrap="none" lIns="0" tIns="0" rIns="0" bIns="0" anchor="t" anchorCtr="0">
                <a:spAutoFit/>
              </a:bodyPr>
              <a:lstStyle/>
              <a:p>
                <a:pPr algn="l"/>
                <a:r>
                  <a:rPr lang="en-US" sz="900" dirty="0">
                    <a:solidFill>
                      <a:srgbClr val="706B69"/>
                    </a:solidFill>
                    <a:latin typeface="Roche Sans"/>
                    <a:ea typeface="Roche Sans"/>
                    <a:cs typeface="Roche Sans"/>
                  </a:rPr>
                  <a:t>sin · low freq</a:t>
                </a:r>
              </a:p>
            </p:txBody>
          </p:sp>
          <p:sp>
            <p:nvSpPr>
              <p:cNvPr id="17" name="Rectangle 17"/>
              <p:cNvSpPr/>
              <p:nvPr/>
            </p:nvSpPr>
            <p:spPr>
              <a:xfrm>
                <a:off x="10401300" y="2933700"/>
                <a:ext cx="171450" cy="38100"/>
              </a:xfrm>
              <a:prstGeom prst="roundRect">
                <a:avLst>
                  <a:gd name="adj" fmla="val 50000"/>
                </a:avLst>
              </a:prstGeom>
              <a:solidFill>
                <a:srgbClr val="1482FA"/>
              </a:solidFill>
              <a:ln>
                <a:noFill/>
              </a:ln>
            </p:spPr>
          </p:sp>
          <p:sp>
            <p:nvSpPr>
              <p:cNvPr id="18" name="TextBox 18"/>
              <p:cNvSpPr txBox="1"/>
              <p:nvPr/>
            </p:nvSpPr>
            <p:spPr>
              <a:xfrm>
                <a:off x="10644188" y="2912745"/>
                <a:ext cx="1021194" cy="176212"/>
              </a:xfrm>
              <a:prstGeom prst="rect">
                <a:avLst/>
              </a:prstGeom>
              <a:noFill/>
              <a:ln>
                <a:noFill/>
              </a:ln>
            </p:spPr>
            <p:txBody>
              <a:bodyPr wrap="none" lIns="0" tIns="0" rIns="0" bIns="0" anchor="t" anchorCtr="0">
                <a:spAutoFit/>
              </a:bodyPr>
              <a:lstStyle/>
              <a:p>
                <a:pPr algn="l"/>
                <a:r>
                  <a:rPr lang="en-US" sz="900" dirty="0">
                    <a:solidFill>
                      <a:srgbClr val="706B69"/>
                    </a:solidFill>
                    <a:latin typeface="Roche Sans"/>
                    <a:ea typeface="Roche Sans"/>
                    <a:cs typeface="Roche Sans"/>
                  </a:rPr>
                  <a:t>cos · higher freq</a:t>
                </a:r>
              </a:p>
            </p:txBody>
          </p:sp>
        </p:grpSp>
        <p:sp>
          <p:nvSpPr>
            <p:cNvPr id="20" name="Line 20"/>
            <p:cNvSpPr/>
            <p:nvPr/>
          </p:nvSpPr>
          <p:spPr>
            <a:xfrm>
              <a:off x="3619500" y="3429000"/>
              <a:ext cx="9525" cy="1200150"/>
            </a:xfrm>
            <a:custGeom>
              <a:avLst/>
              <a:gdLst/>
              <a:ahLst/>
              <a:cxnLst/>
              <a:rect l="l" t="t" r="r" b="b"/>
              <a:pathLst>
                <a:path w="9525" h="1200150">
                  <a:moveTo>
                    <a:pt x="0" y="0"/>
                  </a:moveTo>
                  <a:lnTo>
                    <a:pt x="0" y="1200150"/>
                  </a:lnTo>
                </a:path>
              </a:pathLst>
            </a:custGeom>
            <a:noFill/>
            <a:ln w="9525">
              <a:solidFill>
                <a:srgbClr val="95C7FD"/>
              </a:solidFill>
              <a:custDash>
                <a:ds d="400000" sp="300000"/>
              </a:custDash>
            </a:ln>
          </p:spPr>
        </p:sp>
        <p:sp>
          <p:nvSpPr>
            <p:cNvPr id="21" name="Line 21"/>
            <p:cNvSpPr/>
            <p:nvPr/>
          </p:nvSpPr>
          <p:spPr>
            <a:xfrm>
              <a:off x="6096000" y="4305300"/>
              <a:ext cx="9525" cy="323850"/>
            </a:xfrm>
            <a:custGeom>
              <a:avLst/>
              <a:gdLst/>
              <a:ahLst/>
              <a:cxnLst/>
              <a:rect l="l" t="t" r="r" b="b"/>
              <a:pathLst>
                <a:path w="9525" h="323850">
                  <a:moveTo>
                    <a:pt x="0" y="0"/>
                  </a:moveTo>
                  <a:lnTo>
                    <a:pt x="0" y="323850"/>
                  </a:lnTo>
                </a:path>
              </a:pathLst>
            </a:custGeom>
            <a:noFill/>
            <a:ln w="9525">
              <a:solidFill>
                <a:srgbClr val="95C7FD"/>
              </a:solidFill>
              <a:custDash>
                <a:ds d="400000" sp="300000"/>
              </a:custDash>
            </a:ln>
          </p:spPr>
        </p:sp>
        <p:sp>
          <p:nvSpPr>
            <p:cNvPr id="22" name="Line 22"/>
            <p:cNvSpPr/>
            <p:nvPr/>
          </p:nvSpPr>
          <p:spPr>
            <a:xfrm>
              <a:off x="8572500" y="3810000"/>
              <a:ext cx="9525" cy="819150"/>
            </a:xfrm>
            <a:custGeom>
              <a:avLst/>
              <a:gdLst/>
              <a:ahLst/>
              <a:cxnLst/>
              <a:rect l="l" t="t" r="r" b="b"/>
              <a:pathLst>
                <a:path w="9525" h="819150">
                  <a:moveTo>
                    <a:pt x="0" y="0"/>
                  </a:moveTo>
                  <a:lnTo>
                    <a:pt x="0" y="819150"/>
                  </a:lnTo>
                </a:path>
              </a:pathLst>
            </a:custGeom>
            <a:noFill/>
            <a:ln w="9525">
              <a:solidFill>
                <a:srgbClr val="95C7FD"/>
              </a:solidFill>
              <a:custDash>
                <a:ds d="400000" sp="300000"/>
              </a:custDash>
            </a:ln>
          </p:spPr>
        </p:sp>
        <p:sp>
          <p:nvSpPr>
            <p:cNvPr id="23" name="Polyline 23"/>
            <p:cNvSpPr/>
            <p:nvPr/>
          </p:nvSpPr>
          <p:spPr>
            <a:xfrm>
              <a:off x="1143000" y="3314700"/>
              <a:ext cx="9906000" cy="990600"/>
            </a:xfrm>
            <a:custGeom>
              <a:avLst/>
              <a:gdLst/>
              <a:ahLst/>
              <a:cxnLst/>
              <a:rect l="l" t="t" r="r" b="b"/>
              <a:pathLst>
                <a:path w="9906000" h="990600">
                  <a:moveTo>
                    <a:pt x="0" y="495300"/>
                  </a:moveTo>
                  <a:lnTo>
                    <a:pt x="44768" y="474345"/>
                  </a:lnTo>
                  <a:lnTo>
                    <a:pt x="90488" y="453390"/>
                  </a:lnTo>
                  <a:lnTo>
                    <a:pt x="135255" y="431483"/>
                  </a:lnTo>
                  <a:lnTo>
                    <a:pt x="180023" y="410528"/>
                  </a:lnTo>
                  <a:lnTo>
                    <a:pt x="224790" y="389572"/>
                  </a:lnTo>
                  <a:lnTo>
                    <a:pt x="270510" y="369570"/>
                  </a:lnTo>
                  <a:lnTo>
                    <a:pt x="315277" y="348615"/>
                  </a:lnTo>
                  <a:lnTo>
                    <a:pt x="360045" y="328612"/>
                  </a:lnTo>
                  <a:lnTo>
                    <a:pt x="404812" y="308610"/>
                  </a:lnTo>
                  <a:lnTo>
                    <a:pt x="450533" y="289560"/>
                  </a:lnTo>
                  <a:lnTo>
                    <a:pt x="495300" y="270510"/>
                  </a:lnTo>
                  <a:lnTo>
                    <a:pt x="540067" y="251460"/>
                  </a:lnTo>
                  <a:lnTo>
                    <a:pt x="585788" y="233362"/>
                  </a:lnTo>
                  <a:lnTo>
                    <a:pt x="630555" y="215265"/>
                  </a:lnTo>
                  <a:lnTo>
                    <a:pt x="675322" y="198120"/>
                  </a:lnTo>
                  <a:lnTo>
                    <a:pt x="720090" y="181928"/>
                  </a:lnTo>
                  <a:lnTo>
                    <a:pt x="765810" y="165735"/>
                  </a:lnTo>
                  <a:lnTo>
                    <a:pt x="810578" y="150495"/>
                  </a:lnTo>
                  <a:lnTo>
                    <a:pt x="855345" y="135255"/>
                  </a:lnTo>
                  <a:lnTo>
                    <a:pt x="900112" y="120967"/>
                  </a:lnTo>
                  <a:lnTo>
                    <a:pt x="945833" y="107633"/>
                  </a:lnTo>
                  <a:lnTo>
                    <a:pt x="990600" y="94297"/>
                  </a:lnTo>
                  <a:lnTo>
                    <a:pt x="1035367" y="82867"/>
                  </a:lnTo>
                  <a:lnTo>
                    <a:pt x="1081088" y="71438"/>
                  </a:lnTo>
                  <a:lnTo>
                    <a:pt x="1125855" y="60960"/>
                  </a:lnTo>
                  <a:lnTo>
                    <a:pt x="1170622" y="50483"/>
                  </a:lnTo>
                  <a:lnTo>
                    <a:pt x="1215390" y="41910"/>
                  </a:lnTo>
                  <a:lnTo>
                    <a:pt x="1261110" y="33338"/>
                  </a:lnTo>
                  <a:lnTo>
                    <a:pt x="1305878" y="26670"/>
                  </a:lnTo>
                  <a:lnTo>
                    <a:pt x="1350645" y="20003"/>
                  </a:lnTo>
                  <a:lnTo>
                    <a:pt x="1395412" y="14288"/>
                  </a:lnTo>
                  <a:lnTo>
                    <a:pt x="1441132" y="9525"/>
                  </a:lnTo>
                  <a:lnTo>
                    <a:pt x="1485900" y="5715"/>
                  </a:lnTo>
                  <a:lnTo>
                    <a:pt x="1530668" y="2858"/>
                  </a:lnTo>
                  <a:lnTo>
                    <a:pt x="1576388" y="953"/>
                  </a:lnTo>
                  <a:lnTo>
                    <a:pt x="1621155" y="0"/>
                  </a:lnTo>
                  <a:lnTo>
                    <a:pt x="1665922" y="0"/>
                  </a:lnTo>
                  <a:lnTo>
                    <a:pt x="1710690" y="953"/>
                  </a:lnTo>
                  <a:lnTo>
                    <a:pt x="1756410" y="2858"/>
                  </a:lnTo>
                  <a:lnTo>
                    <a:pt x="1801178" y="4762"/>
                  </a:lnTo>
                  <a:lnTo>
                    <a:pt x="1845945" y="8572"/>
                  </a:lnTo>
                  <a:lnTo>
                    <a:pt x="1890712" y="13335"/>
                  </a:lnTo>
                  <a:lnTo>
                    <a:pt x="1936432" y="18097"/>
                  </a:lnTo>
                  <a:lnTo>
                    <a:pt x="1981200" y="23812"/>
                  </a:lnTo>
                  <a:lnTo>
                    <a:pt x="2025968" y="31433"/>
                  </a:lnTo>
                  <a:lnTo>
                    <a:pt x="2071688" y="39053"/>
                  </a:lnTo>
                  <a:lnTo>
                    <a:pt x="2116455" y="47625"/>
                  </a:lnTo>
                  <a:lnTo>
                    <a:pt x="2161222" y="57150"/>
                  </a:lnTo>
                  <a:lnTo>
                    <a:pt x="2205990" y="67628"/>
                  </a:lnTo>
                  <a:lnTo>
                    <a:pt x="2251710" y="79058"/>
                  </a:lnTo>
                  <a:lnTo>
                    <a:pt x="2296478" y="90488"/>
                  </a:lnTo>
                  <a:lnTo>
                    <a:pt x="2341245" y="102870"/>
                  </a:lnTo>
                  <a:lnTo>
                    <a:pt x="2386012" y="116205"/>
                  </a:lnTo>
                  <a:lnTo>
                    <a:pt x="2431732" y="130492"/>
                  </a:lnTo>
                  <a:lnTo>
                    <a:pt x="2476500" y="144780"/>
                  </a:lnTo>
                  <a:lnTo>
                    <a:pt x="2521268" y="160020"/>
                  </a:lnTo>
                  <a:lnTo>
                    <a:pt x="2566988" y="176212"/>
                  </a:lnTo>
                  <a:lnTo>
                    <a:pt x="2611755" y="192405"/>
                  </a:lnTo>
                  <a:lnTo>
                    <a:pt x="2656522" y="209550"/>
                  </a:lnTo>
                  <a:lnTo>
                    <a:pt x="2701290" y="227647"/>
                  </a:lnTo>
                  <a:lnTo>
                    <a:pt x="2747010" y="245745"/>
                  </a:lnTo>
                  <a:lnTo>
                    <a:pt x="2791778" y="263842"/>
                  </a:lnTo>
                  <a:lnTo>
                    <a:pt x="2836545" y="282892"/>
                  </a:lnTo>
                  <a:lnTo>
                    <a:pt x="2881312" y="302895"/>
                  </a:lnTo>
                  <a:lnTo>
                    <a:pt x="2927032" y="321945"/>
                  </a:lnTo>
                  <a:lnTo>
                    <a:pt x="2971800" y="341947"/>
                  </a:lnTo>
                  <a:lnTo>
                    <a:pt x="3016568" y="362903"/>
                  </a:lnTo>
                  <a:lnTo>
                    <a:pt x="3062288" y="382905"/>
                  </a:lnTo>
                  <a:lnTo>
                    <a:pt x="3107055" y="403860"/>
                  </a:lnTo>
                  <a:lnTo>
                    <a:pt x="3151822" y="424815"/>
                  </a:lnTo>
                  <a:lnTo>
                    <a:pt x="3196590" y="445770"/>
                  </a:lnTo>
                  <a:lnTo>
                    <a:pt x="3242310" y="466725"/>
                  </a:lnTo>
                  <a:lnTo>
                    <a:pt x="3287078" y="488633"/>
                  </a:lnTo>
                  <a:lnTo>
                    <a:pt x="3331845" y="509588"/>
                  </a:lnTo>
                  <a:lnTo>
                    <a:pt x="3376612" y="530542"/>
                  </a:lnTo>
                  <a:lnTo>
                    <a:pt x="3422332" y="551497"/>
                  </a:lnTo>
                  <a:lnTo>
                    <a:pt x="3467100" y="572453"/>
                  </a:lnTo>
                  <a:lnTo>
                    <a:pt x="3511868" y="593408"/>
                  </a:lnTo>
                  <a:lnTo>
                    <a:pt x="3557588" y="614362"/>
                  </a:lnTo>
                  <a:lnTo>
                    <a:pt x="3602355" y="635317"/>
                  </a:lnTo>
                  <a:lnTo>
                    <a:pt x="3647122" y="655320"/>
                  </a:lnTo>
                  <a:lnTo>
                    <a:pt x="3691890" y="675322"/>
                  </a:lnTo>
                  <a:lnTo>
                    <a:pt x="3737610" y="694372"/>
                  </a:lnTo>
                  <a:lnTo>
                    <a:pt x="3782378" y="713422"/>
                  </a:lnTo>
                  <a:lnTo>
                    <a:pt x="3827145" y="732472"/>
                  </a:lnTo>
                  <a:lnTo>
                    <a:pt x="3871912" y="751522"/>
                  </a:lnTo>
                  <a:lnTo>
                    <a:pt x="3917632" y="768667"/>
                  </a:lnTo>
                  <a:lnTo>
                    <a:pt x="3962400" y="786765"/>
                  </a:lnTo>
                  <a:lnTo>
                    <a:pt x="4007168" y="802958"/>
                  </a:lnTo>
                  <a:lnTo>
                    <a:pt x="4052888" y="820103"/>
                  </a:lnTo>
                  <a:lnTo>
                    <a:pt x="4097655" y="835342"/>
                  </a:lnTo>
                  <a:lnTo>
                    <a:pt x="4142422" y="850583"/>
                  </a:lnTo>
                  <a:lnTo>
                    <a:pt x="4187190" y="864870"/>
                  </a:lnTo>
                  <a:lnTo>
                    <a:pt x="4232910" y="879158"/>
                  </a:lnTo>
                  <a:lnTo>
                    <a:pt x="4277678" y="891540"/>
                  </a:lnTo>
                  <a:lnTo>
                    <a:pt x="4322445" y="903922"/>
                  </a:lnTo>
                  <a:lnTo>
                    <a:pt x="4367212" y="915353"/>
                  </a:lnTo>
                  <a:lnTo>
                    <a:pt x="4412932" y="926783"/>
                  </a:lnTo>
                  <a:lnTo>
                    <a:pt x="4457700" y="936308"/>
                  </a:lnTo>
                  <a:lnTo>
                    <a:pt x="4502468" y="945833"/>
                  </a:lnTo>
                  <a:lnTo>
                    <a:pt x="4548188" y="954405"/>
                  </a:lnTo>
                  <a:lnTo>
                    <a:pt x="4592955" y="962025"/>
                  </a:lnTo>
                  <a:lnTo>
                    <a:pt x="4637722" y="968692"/>
                  </a:lnTo>
                  <a:lnTo>
                    <a:pt x="4682490" y="974408"/>
                  </a:lnTo>
                  <a:lnTo>
                    <a:pt x="4728210" y="979170"/>
                  </a:lnTo>
                  <a:lnTo>
                    <a:pt x="4772978" y="982980"/>
                  </a:lnTo>
                  <a:lnTo>
                    <a:pt x="4817745" y="986790"/>
                  </a:lnTo>
                  <a:lnTo>
                    <a:pt x="4862512" y="988695"/>
                  </a:lnTo>
                  <a:lnTo>
                    <a:pt x="4908232" y="990600"/>
                  </a:lnTo>
                  <a:lnTo>
                    <a:pt x="4953000" y="990600"/>
                  </a:lnTo>
                  <a:lnTo>
                    <a:pt x="4997768" y="990600"/>
                  </a:lnTo>
                  <a:lnTo>
                    <a:pt x="5043488" y="988695"/>
                  </a:lnTo>
                  <a:lnTo>
                    <a:pt x="5088255" y="986790"/>
                  </a:lnTo>
                  <a:lnTo>
                    <a:pt x="5133022" y="982980"/>
                  </a:lnTo>
                  <a:lnTo>
                    <a:pt x="5177790" y="979170"/>
                  </a:lnTo>
                  <a:lnTo>
                    <a:pt x="5223510" y="974408"/>
                  </a:lnTo>
                  <a:lnTo>
                    <a:pt x="5268278" y="968692"/>
                  </a:lnTo>
                  <a:lnTo>
                    <a:pt x="5313045" y="962025"/>
                  </a:lnTo>
                  <a:lnTo>
                    <a:pt x="5357812" y="954405"/>
                  </a:lnTo>
                  <a:lnTo>
                    <a:pt x="5403532" y="945833"/>
                  </a:lnTo>
                  <a:lnTo>
                    <a:pt x="5448300" y="936308"/>
                  </a:lnTo>
                  <a:lnTo>
                    <a:pt x="5493068" y="926783"/>
                  </a:lnTo>
                  <a:lnTo>
                    <a:pt x="5538788" y="915353"/>
                  </a:lnTo>
                  <a:lnTo>
                    <a:pt x="5583555" y="903922"/>
                  </a:lnTo>
                  <a:lnTo>
                    <a:pt x="5628322" y="891540"/>
                  </a:lnTo>
                  <a:lnTo>
                    <a:pt x="5673090" y="879158"/>
                  </a:lnTo>
                  <a:lnTo>
                    <a:pt x="5718810" y="864870"/>
                  </a:lnTo>
                  <a:lnTo>
                    <a:pt x="5763578" y="850583"/>
                  </a:lnTo>
                  <a:lnTo>
                    <a:pt x="5808345" y="835342"/>
                  </a:lnTo>
                  <a:lnTo>
                    <a:pt x="5853112" y="820103"/>
                  </a:lnTo>
                  <a:lnTo>
                    <a:pt x="5898832" y="802958"/>
                  </a:lnTo>
                  <a:lnTo>
                    <a:pt x="5943600" y="786765"/>
                  </a:lnTo>
                  <a:lnTo>
                    <a:pt x="5988368" y="768667"/>
                  </a:lnTo>
                  <a:lnTo>
                    <a:pt x="6034088" y="751522"/>
                  </a:lnTo>
                  <a:lnTo>
                    <a:pt x="6078855" y="732472"/>
                  </a:lnTo>
                  <a:lnTo>
                    <a:pt x="6123622" y="713422"/>
                  </a:lnTo>
                  <a:lnTo>
                    <a:pt x="6168390" y="694372"/>
                  </a:lnTo>
                  <a:lnTo>
                    <a:pt x="6214110" y="675322"/>
                  </a:lnTo>
                  <a:lnTo>
                    <a:pt x="6258878" y="655320"/>
                  </a:lnTo>
                  <a:lnTo>
                    <a:pt x="6303645" y="635317"/>
                  </a:lnTo>
                  <a:lnTo>
                    <a:pt x="6348412" y="614362"/>
                  </a:lnTo>
                  <a:lnTo>
                    <a:pt x="6394132" y="593408"/>
                  </a:lnTo>
                  <a:lnTo>
                    <a:pt x="6438900" y="572453"/>
                  </a:lnTo>
                  <a:lnTo>
                    <a:pt x="6483668" y="551497"/>
                  </a:lnTo>
                  <a:lnTo>
                    <a:pt x="6529388" y="530542"/>
                  </a:lnTo>
                  <a:lnTo>
                    <a:pt x="6574155" y="509588"/>
                  </a:lnTo>
                  <a:lnTo>
                    <a:pt x="6618922" y="488633"/>
                  </a:lnTo>
                  <a:lnTo>
                    <a:pt x="6663690" y="466725"/>
                  </a:lnTo>
                  <a:lnTo>
                    <a:pt x="6709410" y="445770"/>
                  </a:lnTo>
                  <a:lnTo>
                    <a:pt x="6754178" y="424815"/>
                  </a:lnTo>
                  <a:lnTo>
                    <a:pt x="6798945" y="403860"/>
                  </a:lnTo>
                  <a:lnTo>
                    <a:pt x="6843712" y="382905"/>
                  </a:lnTo>
                  <a:lnTo>
                    <a:pt x="6889432" y="362903"/>
                  </a:lnTo>
                  <a:lnTo>
                    <a:pt x="6934200" y="341947"/>
                  </a:lnTo>
                  <a:lnTo>
                    <a:pt x="6978968" y="321945"/>
                  </a:lnTo>
                  <a:lnTo>
                    <a:pt x="7024688" y="302895"/>
                  </a:lnTo>
                  <a:lnTo>
                    <a:pt x="7069455" y="282892"/>
                  </a:lnTo>
                  <a:lnTo>
                    <a:pt x="7114222" y="263842"/>
                  </a:lnTo>
                  <a:lnTo>
                    <a:pt x="7158990" y="245745"/>
                  </a:lnTo>
                  <a:lnTo>
                    <a:pt x="7204710" y="227647"/>
                  </a:lnTo>
                  <a:lnTo>
                    <a:pt x="7249478" y="209550"/>
                  </a:lnTo>
                  <a:lnTo>
                    <a:pt x="7294245" y="192405"/>
                  </a:lnTo>
                  <a:lnTo>
                    <a:pt x="7339012" y="176212"/>
                  </a:lnTo>
                  <a:lnTo>
                    <a:pt x="7384732" y="160020"/>
                  </a:lnTo>
                  <a:lnTo>
                    <a:pt x="7429500" y="144780"/>
                  </a:lnTo>
                  <a:lnTo>
                    <a:pt x="7474268" y="130492"/>
                  </a:lnTo>
                  <a:lnTo>
                    <a:pt x="7519988" y="116205"/>
                  </a:lnTo>
                  <a:lnTo>
                    <a:pt x="7564755" y="102870"/>
                  </a:lnTo>
                  <a:lnTo>
                    <a:pt x="7609522" y="90488"/>
                  </a:lnTo>
                  <a:lnTo>
                    <a:pt x="7654290" y="79058"/>
                  </a:lnTo>
                  <a:lnTo>
                    <a:pt x="7700010" y="67628"/>
                  </a:lnTo>
                  <a:lnTo>
                    <a:pt x="7744778" y="57150"/>
                  </a:lnTo>
                  <a:lnTo>
                    <a:pt x="7789545" y="47625"/>
                  </a:lnTo>
                  <a:lnTo>
                    <a:pt x="7834312" y="39053"/>
                  </a:lnTo>
                  <a:lnTo>
                    <a:pt x="7880032" y="31433"/>
                  </a:lnTo>
                  <a:lnTo>
                    <a:pt x="7924800" y="23812"/>
                  </a:lnTo>
                  <a:lnTo>
                    <a:pt x="7969568" y="18097"/>
                  </a:lnTo>
                  <a:lnTo>
                    <a:pt x="8015288" y="13335"/>
                  </a:lnTo>
                  <a:lnTo>
                    <a:pt x="8060055" y="8572"/>
                  </a:lnTo>
                  <a:lnTo>
                    <a:pt x="8104822" y="4762"/>
                  </a:lnTo>
                  <a:lnTo>
                    <a:pt x="8149590" y="2858"/>
                  </a:lnTo>
                  <a:lnTo>
                    <a:pt x="8195310" y="953"/>
                  </a:lnTo>
                  <a:lnTo>
                    <a:pt x="8240078" y="0"/>
                  </a:lnTo>
                  <a:lnTo>
                    <a:pt x="8284845" y="0"/>
                  </a:lnTo>
                  <a:lnTo>
                    <a:pt x="8329612" y="953"/>
                  </a:lnTo>
                  <a:lnTo>
                    <a:pt x="8375332" y="2858"/>
                  </a:lnTo>
                  <a:lnTo>
                    <a:pt x="8420100" y="5715"/>
                  </a:lnTo>
                  <a:lnTo>
                    <a:pt x="8464868" y="9525"/>
                  </a:lnTo>
                  <a:lnTo>
                    <a:pt x="8510588" y="14288"/>
                  </a:lnTo>
                  <a:lnTo>
                    <a:pt x="8555355" y="20003"/>
                  </a:lnTo>
                  <a:lnTo>
                    <a:pt x="8600122" y="26670"/>
                  </a:lnTo>
                  <a:lnTo>
                    <a:pt x="8644890" y="33338"/>
                  </a:lnTo>
                  <a:lnTo>
                    <a:pt x="8690610" y="41910"/>
                  </a:lnTo>
                  <a:lnTo>
                    <a:pt x="8735378" y="50483"/>
                  </a:lnTo>
                  <a:lnTo>
                    <a:pt x="8780145" y="60960"/>
                  </a:lnTo>
                  <a:lnTo>
                    <a:pt x="8824912" y="71438"/>
                  </a:lnTo>
                  <a:lnTo>
                    <a:pt x="8870632" y="82867"/>
                  </a:lnTo>
                  <a:lnTo>
                    <a:pt x="8915400" y="94297"/>
                  </a:lnTo>
                  <a:lnTo>
                    <a:pt x="8960168" y="107633"/>
                  </a:lnTo>
                  <a:lnTo>
                    <a:pt x="9005888" y="120967"/>
                  </a:lnTo>
                  <a:lnTo>
                    <a:pt x="9050655" y="135255"/>
                  </a:lnTo>
                  <a:lnTo>
                    <a:pt x="9095422" y="150495"/>
                  </a:lnTo>
                  <a:lnTo>
                    <a:pt x="9140190" y="165735"/>
                  </a:lnTo>
                  <a:lnTo>
                    <a:pt x="9185910" y="181928"/>
                  </a:lnTo>
                  <a:lnTo>
                    <a:pt x="9230678" y="198120"/>
                  </a:lnTo>
                  <a:lnTo>
                    <a:pt x="9275445" y="215265"/>
                  </a:lnTo>
                  <a:lnTo>
                    <a:pt x="9320212" y="233362"/>
                  </a:lnTo>
                  <a:lnTo>
                    <a:pt x="9365932" y="251460"/>
                  </a:lnTo>
                  <a:lnTo>
                    <a:pt x="9410700" y="270510"/>
                  </a:lnTo>
                  <a:lnTo>
                    <a:pt x="9455468" y="289560"/>
                  </a:lnTo>
                  <a:lnTo>
                    <a:pt x="9501188" y="308610"/>
                  </a:lnTo>
                  <a:lnTo>
                    <a:pt x="9545955" y="328612"/>
                  </a:lnTo>
                  <a:lnTo>
                    <a:pt x="9590722" y="348615"/>
                  </a:lnTo>
                  <a:lnTo>
                    <a:pt x="9635490" y="369570"/>
                  </a:lnTo>
                  <a:lnTo>
                    <a:pt x="9681210" y="389572"/>
                  </a:lnTo>
                  <a:lnTo>
                    <a:pt x="9725978" y="410528"/>
                  </a:lnTo>
                  <a:lnTo>
                    <a:pt x="9770745" y="431483"/>
                  </a:lnTo>
                  <a:lnTo>
                    <a:pt x="9815512" y="453390"/>
                  </a:lnTo>
                  <a:lnTo>
                    <a:pt x="9861232" y="474345"/>
                  </a:lnTo>
                  <a:lnTo>
                    <a:pt x="9906000" y="495300"/>
                  </a:lnTo>
                </a:path>
              </a:pathLst>
            </a:custGeom>
            <a:noFill/>
            <a:ln w="22860">
              <a:solidFill>
                <a:srgbClr val="0B41CD"/>
              </a:solidFill>
            </a:ln>
          </p:spPr>
        </p:sp>
        <p:sp>
          <p:nvSpPr>
            <p:cNvPr id="24" name="Polyline 24"/>
            <p:cNvSpPr/>
            <p:nvPr/>
          </p:nvSpPr>
          <p:spPr>
            <a:xfrm>
              <a:off x="1143000" y="3448050"/>
              <a:ext cx="9906000" cy="723900"/>
            </a:xfrm>
            <a:custGeom>
              <a:avLst/>
              <a:gdLst/>
              <a:ahLst/>
              <a:cxnLst/>
              <a:rect l="l" t="t" r="r" b="b"/>
              <a:pathLst>
                <a:path w="9906000" h="723900">
                  <a:moveTo>
                    <a:pt x="0" y="0"/>
                  </a:moveTo>
                  <a:lnTo>
                    <a:pt x="44768" y="953"/>
                  </a:lnTo>
                  <a:lnTo>
                    <a:pt x="90488" y="5715"/>
                  </a:lnTo>
                  <a:lnTo>
                    <a:pt x="135255" y="11430"/>
                  </a:lnTo>
                  <a:lnTo>
                    <a:pt x="180023" y="20955"/>
                  </a:lnTo>
                  <a:lnTo>
                    <a:pt x="224790" y="32385"/>
                  </a:lnTo>
                  <a:lnTo>
                    <a:pt x="270510" y="46672"/>
                  </a:lnTo>
                  <a:lnTo>
                    <a:pt x="315277" y="62865"/>
                  </a:lnTo>
                  <a:lnTo>
                    <a:pt x="360045" y="81915"/>
                  </a:lnTo>
                  <a:lnTo>
                    <a:pt x="404812" y="101917"/>
                  </a:lnTo>
                  <a:lnTo>
                    <a:pt x="450533" y="124778"/>
                  </a:lnTo>
                  <a:lnTo>
                    <a:pt x="495300" y="149542"/>
                  </a:lnTo>
                  <a:lnTo>
                    <a:pt x="540067" y="175260"/>
                  </a:lnTo>
                  <a:lnTo>
                    <a:pt x="585788" y="201930"/>
                  </a:lnTo>
                  <a:lnTo>
                    <a:pt x="630555" y="230505"/>
                  </a:lnTo>
                  <a:lnTo>
                    <a:pt x="675322" y="260033"/>
                  </a:lnTo>
                  <a:lnTo>
                    <a:pt x="720090" y="290512"/>
                  </a:lnTo>
                  <a:lnTo>
                    <a:pt x="765810" y="320992"/>
                  </a:lnTo>
                  <a:lnTo>
                    <a:pt x="810578" y="351472"/>
                  </a:lnTo>
                  <a:lnTo>
                    <a:pt x="855345" y="382905"/>
                  </a:lnTo>
                  <a:lnTo>
                    <a:pt x="900112" y="413385"/>
                  </a:lnTo>
                  <a:lnTo>
                    <a:pt x="945833" y="443865"/>
                  </a:lnTo>
                  <a:lnTo>
                    <a:pt x="990600" y="473392"/>
                  </a:lnTo>
                  <a:lnTo>
                    <a:pt x="1035367" y="502920"/>
                  </a:lnTo>
                  <a:lnTo>
                    <a:pt x="1081088" y="530542"/>
                  </a:lnTo>
                  <a:lnTo>
                    <a:pt x="1125855" y="557212"/>
                  </a:lnTo>
                  <a:lnTo>
                    <a:pt x="1170622" y="582930"/>
                  </a:lnTo>
                  <a:lnTo>
                    <a:pt x="1215390" y="606742"/>
                  </a:lnTo>
                  <a:lnTo>
                    <a:pt x="1261110" y="628650"/>
                  </a:lnTo>
                  <a:lnTo>
                    <a:pt x="1305878" y="648653"/>
                  </a:lnTo>
                  <a:lnTo>
                    <a:pt x="1350645" y="666750"/>
                  </a:lnTo>
                  <a:lnTo>
                    <a:pt x="1395412" y="681990"/>
                  </a:lnTo>
                  <a:lnTo>
                    <a:pt x="1441132" y="695325"/>
                  </a:lnTo>
                  <a:lnTo>
                    <a:pt x="1485900" y="705803"/>
                  </a:lnTo>
                  <a:lnTo>
                    <a:pt x="1530668" y="714375"/>
                  </a:lnTo>
                  <a:lnTo>
                    <a:pt x="1576388" y="720090"/>
                  </a:lnTo>
                  <a:lnTo>
                    <a:pt x="1621155" y="722947"/>
                  </a:lnTo>
                  <a:lnTo>
                    <a:pt x="1665922" y="723900"/>
                  </a:lnTo>
                  <a:lnTo>
                    <a:pt x="1710690" y="721995"/>
                  </a:lnTo>
                  <a:lnTo>
                    <a:pt x="1756410" y="716280"/>
                  </a:lnTo>
                  <a:lnTo>
                    <a:pt x="1801178" y="709612"/>
                  </a:lnTo>
                  <a:lnTo>
                    <a:pt x="1845945" y="699135"/>
                  </a:lnTo>
                  <a:lnTo>
                    <a:pt x="1890712" y="686753"/>
                  </a:lnTo>
                  <a:lnTo>
                    <a:pt x="1936432" y="671512"/>
                  </a:lnTo>
                  <a:lnTo>
                    <a:pt x="1981200" y="654367"/>
                  </a:lnTo>
                  <a:lnTo>
                    <a:pt x="2025968" y="635317"/>
                  </a:lnTo>
                  <a:lnTo>
                    <a:pt x="2071688" y="614362"/>
                  </a:lnTo>
                  <a:lnTo>
                    <a:pt x="2116455" y="591503"/>
                  </a:lnTo>
                  <a:lnTo>
                    <a:pt x="2161222" y="565785"/>
                  </a:lnTo>
                  <a:lnTo>
                    <a:pt x="2205990" y="540067"/>
                  </a:lnTo>
                  <a:lnTo>
                    <a:pt x="2251710" y="512445"/>
                  </a:lnTo>
                  <a:lnTo>
                    <a:pt x="2296478" y="483870"/>
                  </a:lnTo>
                  <a:lnTo>
                    <a:pt x="2341245" y="454342"/>
                  </a:lnTo>
                  <a:lnTo>
                    <a:pt x="2386012" y="423862"/>
                  </a:lnTo>
                  <a:lnTo>
                    <a:pt x="2431732" y="393383"/>
                  </a:lnTo>
                  <a:lnTo>
                    <a:pt x="2476500" y="361950"/>
                  </a:lnTo>
                  <a:lnTo>
                    <a:pt x="2521268" y="330517"/>
                  </a:lnTo>
                  <a:lnTo>
                    <a:pt x="2566988" y="300038"/>
                  </a:lnTo>
                  <a:lnTo>
                    <a:pt x="2611755" y="269558"/>
                  </a:lnTo>
                  <a:lnTo>
                    <a:pt x="2656522" y="240030"/>
                  </a:lnTo>
                  <a:lnTo>
                    <a:pt x="2701290" y="211455"/>
                  </a:lnTo>
                  <a:lnTo>
                    <a:pt x="2747010" y="183833"/>
                  </a:lnTo>
                  <a:lnTo>
                    <a:pt x="2791778" y="158115"/>
                  </a:lnTo>
                  <a:lnTo>
                    <a:pt x="2836545" y="132397"/>
                  </a:lnTo>
                  <a:lnTo>
                    <a:pt x="2881312" y="109538"/>
                  </a:lnTo>
                  <a:lnTo>
                    <a:pt x="2927032" y="88583"/>
                  </a:lnTo>
                  <a:lnTo>
                    <a:pt x="2971800" y="69533"/>
                  </a:lnTo>
                  <a:lnTo>
                    <a:pt x="3016568" y="52388"/>
                  </a:lnTo>
                  <a:lnTo>
                    <a:pt x="3062288" y="37147"/>
                  </a:lnTo>
                  <a:lnTo>
                    <a:pt x="3107055" y="24765"/>
                  </a:lnTo>
                  <a:lnTo>
                    <a:pt x="3151822" y="14288"/>
                  </a:lnTo>
                  <a:lnTo>
                    <a:pt x="3196590" y="7620"/>
                  </a:lnTo>
                  <a:lnTo>
                    <a:pt x="3242310" y="1905"/>
                  </a:lnTo>
                  <a:lnTo>
                    <a:pt x="3287078" y="0"/>
                  </a:lnTo>
                  <a:lnTo>
                    <a:pt x="3331845" y="953"/>
                  </a:lnTo>
                  <a:lnTo>
                    <a:pt x="3376612" y="3810"/>
                  </a:lnTo>
                  <a:lnTo>
                    <a:pt x="3422332" y="9525"/>
                  </a:lnTo>
                  <a:lnTo>
                    <a:pt x="3467100" y="18097"/>
                  </a:lnTo>
                  <a:lnTo>
                    <a:pt x="3511868" y="28575"/>
                  </a:lnTo>
                  <a:lnTo>
                    <a:pt x="3557588" y="41910"/>
                  </a:lnTo>
                  <a:lnTo>
                    <a:pt x="3602355" y="57150"/>
                  </a:lnTo>
                  <a:lnTo>
                    <a:pt x="3647122" y="75247"/>
                  </a:lnTo>
                  <a:lnTo>
                    <a:pt x="3691890" y="95250"/>
                  </a:lnTo>
                  <a:lnTo>
                    <a:pt x="3737610" y="117158"/>
                  </a:lnTo>
                  <a:lnTo>
                    <a:pt x="3782378" y="140970"/>
                  </a:lnTo>
                  <a:lnTo>
                    <a:pt x="3827145" y="166688"/>
                  </a:lnTo>
                  <a:lnTo>
                    <a:pt x="3871912" y="193358"/>
                  </a:lnTo>
                  <a:lnTo>
                    <a:pt x="3917632" y="220980"/>
                  </a:lnTo>
                  <a:lnTo>
                    <a:pt x="3962400" y="250508"/>
                  </a:lnTo>
                  <a:lnTo>
                    <a:pt x="4007168" y="280035"/>
                  </a:lnTo>
                  <a:lnTo>
                    <a:pt x="4052888" y="310515"/>
                  </a:lnTo>
                  <a:lnTo>
                    <a:pt x="4097655" y="340995"/>
                  </a:lnTo>
                  <a:lnTo>
                    <a:pt x="4142422" y="372428"/>
                  </a:lnTo>
                  <a:lnTo>
                    <a:pt x="4187190" y="402908"/>
                  </a:lnTo>
                  <a:lnTo>
                    <a:pt x="4232910" y="433388"/>
                  </a:lnTo>
                  <a:lnTo>
                    <a:pt x="4277678" y="463867"/>
                  </a:lnTo>
                  <a:lnTo>
                    <a:pt x="4322445" y="493395"/>
                  </a:lnTo>
                  <a:lnTo>
                    <a:pt x="4367212" y="521970"/>
                  </a:lnTo>
                  <a:lnTo>
                    <a:pt x="4412932" y="548640"/>
                  </a:lnTo>
                  <a:lnTo>
                    <a:pt x="4457700" y="574358"/>
                  </a:lnTo>
                  <a:lnTo>
                    <a:pt x="4502468" y="599122"/>
                  </a:lnTo>
                  <a:lnTo>
                    <a:pt x="4548188" y="621983"/>
                  </a:lnTo>
                  <a:lnTo>
                    <a:pt x="4592955" y="641985"/>
                  </a:lnTo>
                  <a:lnTo>
                    <a:pt x="4637722" y="661035"/>
                  </a:lnTo>
                  <a:lnTo>
                    <a:pt x="4682490" y="677228"/>
                  </a:lnTo>
                  <a:lnTo>
                    <a:pt x="4728210" y="691515"/>
                  </a:lnTo>
                  <a:lnTo>
                    <a:pt x="4772978" y="702945"/>
                  </a:lnTo>
                  <a:lnTo>
                    <a:pt x="4817745" y="712470"/>
                  </a:lnTo>
                  <a:lnTo>
                    <a:pt x="4862512" y="718185"/>
                  </a:lnTo>
                  <a:lnTo>
                    <a:pt x="4908232" y="722947"/>
                  </a:lnTo>
                  <a:lnTo>
                    <a:pt x="4953000" y="723900"/>
                  </a:lnTo>
                  <a:lnTo>
                    <a:pt x="4997768" y="722947"/>
                  </a:lnTo>
                  <a:lnTo>
                    <a:pt x="5043488" y="718185"/>
                  </a:lnTo>
                  <a:lnTo>
                    <a:pt x="5088255" y="712470"/>
                  </a:lnTo>
                  <a:lnTo>
                    <a:pt x="5133022" y="702945"/>
                  </a:lnTo>
                  <a:lnTo>
                    <a:pt x="5177790" y="691515"/>
                  </a:lnTo>
                  <a:lnTo>
                    <a:pt x="5223510" y="677228"/>
                  </a:lnTo>
                  <a:lnTo>
                    <a:pt x="5268278" y="661035"/>
                  </a:lnTo>
                  <a:lnTo>
                    <a:pt x="5313045" y="641985"/>
                  </a:lnTo>
                  <a:lnTo>
                    <a:pt x="5357812" y="621983"/>
                  </a:lnTo>
                  <a:lnTo>
                    <a:pt x="5403532" y="599122"/>
                  </a:lnTo>
                  <a:lnTo>
                    <a:pt x="5448300" y="574358"/>
                  </a:lnTo>
                  <a:lnTo>
                    <a:pt x="5493068" y="548640"/>
                  </a:lnTo>
                  <a:lnTo>
                    <a:pt x="5538788" y="521970"/>
                  </a:lnTo>
                  <a:lnTo>
                    <a:pt x="5583555" y="493395"/>
                  </a:lnTo>
                  <a:lnTo>
                    <a:pt x="5628322" y="463867"/>
                  </a:lnTo>
                  <a:lnTo>
                    <a:pt x="5673090" y="433388"/>
                  </a:lnTo>
                  <a:lnTo>
                    <a:pt x="5718810" y="402908"/>
                  </a:lnTo>
                  <a:lnTo>
                    <a:pt x="5763578" y="372428"/>
                  </a:lnTo>
                  <a:lnTo>
                    <a:pt x="5808345" y="340995"/>
                  </a:lnTo>
                  <a:lnTo>
                    <a:pt x="5853112" y="310515"/>
                  </a:lnTo>
                  <a:lnTo>
                    <a:pt x="5898832" y="280035"/>
                  </a:lnTo>
                  <a:lnTo>
                    <a:pt x="5943600" y="250508"/>
                  </a:lnTo>
                  <a:lnTo>
                    <a:pt x="5988368" y="220980"/>
                  </a:lnTo>
                  <a:lnTo>
                    <a:pt x="6034088" y="193358"/>
                  </a:lnTo>
                  <a:lnTo>
                    <a:pt x="6078855" y="166688"/>
                  </a:lnTo>
                  <a:lnTo>
                    <a:pt x="6123622" y="140970"/>
                  </a:lnTo>
                  <a:lnTo>
                    <a:pt x="6168390" y="117158"/>
                  </a:lnTo>
                  <a:lnTo>
                    <a:pt x="6214110" y="95250"/>
                  </a:lnTo>
                  <a:lnTo>
                    <a:pt x="6258878" y="75247"/>
                  </a:lnTo>
                  <a:lnTo>
                    <a:pt x="6303645" y="57150"/>
                  </a:lnTo>
                  <a:lnTo>
                    <a:pt x="6348412" y="41910"/>
                  </a:lnTo>
                  <a:lnTo>
                    <a:pt x="6394132" y="28575"/>
                  </a:lnTo>
                  <a:lnTo>
                    <a:pt x="6438900" y="18097"/>
                  </a:lnTo>
                  <a:lnTo>
                    <a:pt x="6483668" y="9525"/>
                  </a:lnTo>
                  <a:lnTo>
                    <a:pt x="6529388" y="3810"/>
                  </a:lnTo>
                  <a:lnTo>
                    <a:pt x="6574155" y="953"/>
                  </a:lnTo>
                  <a:lnTo>
                    <a:pt x="6618922" y="0"/>
                  </a:lnTo>
                  <a:lnTo>
                    <a:pt x="6663690" y="1905"/>
                  </a:lnTo>
                  <a:lnTo>
                    <a:pt x="6709410" y="7620"/>
                  </a:lnTo>
                  <a:lnTo>
                    <a:pt x="6754178" y="14288"/>
                  </a:lnTo>
                  <a:lnTo>
                    <a:pt x="6798945" y="24765"/>
                  </a:lnTo>
                  <a:lnTo>
                    <a:pt x="6843712" y="37147"/>
                  </a:lnTo>
                  <a:lnTo>
                    <a:pt x="6889432" y="52388"/>
                  </a:lnTo>
                  <a:lnTo>
                    <a:pt x="6934200" y="69533"/>
                  </a:lnTo>
                  <a:lnTo>
                    <a:pt x="6978968" y="88583"/>
                  </a:lnTo>
                  <a:lnTo>
                    <a:pt x="7024688" y="109538"/>
                  </a:lnTo>
                  <a:lnTo>
                    <a:pt x="7069455" y="132397"/>
                  </a:lnTo>
                  <a:lnTo>
                    <a:pt x="7114222" y="158115"/>
                  </a:lnTo>
                  <a:lnTo>
                    <a:pt x="7158990" y="183833"/>
                  </a:lnTo>
                  <a:lnTo>
                    <a:pt x="7204710" y="211455"/>
                  </a:lnTo>
                  <a:lnTo>
                    <a:pt x="7249478" y="240030"/>
                  </a:lnTo>
                  <a:lnTo>
                    <a:pt x="7294245" y="269558"/>
                  </a:lnTo>
                  <a:lnTo>
                    <a:pt x="7339012" y="300038"/>
                  </a:lnTo>
                  <a:lnTo>
                    <a:pt x="7384732" y="330517"/>
                  </a:lnTo>
                  <a:lnTo>
                    <a:pt x="7429500" y="361950"/>
                  </a:lnTo>
                  <a:lnTo>
                    <a:pt x="7474268" y="393383"/>
                  </a:lnTo>
                  <a:lnTo>
                    <a:pt x="7519988" y="423862"/>
                  </a:lnTo>
                  <a:lnTo>
                    <a:pt x="7564755" y="454342"/>
                  </a:lnTo>
                  <a:lnTo>
                    <a:pt x="7609522" y="483870"/>
                  </a:lnTo>
                  <a:lnTo>
                    <a:pt x="7654290" y="512445"/>
                  </a:lnTo>
                  <a:lnTo>
                    <a:pt x="7700010" y="540067"/>
                  </a:lnTo>
                  <a:lnTo>
                    <a:pt x="7744778" y="565785"/>
                  </a:lnTo>
                  <a:lnTo>
                    <a:pt x="7789545" y="591503"/>
                  </a:lnTo>
                  <a:lnTo>
                    <a:pt x="7834312" y="614362"/>
                  </a:lnTo>
                  <a:lnTo>
                    <a:pt x="7880032" y="635317"/>
                  </a:lnTo>
                  <a:lnTo>
                    <a:pt x="7924800" y="654367"/>
                  </a:lnTo>
                  <a:lnTo>
                    <a:pt x="7969568" y="671512"/>
                  </a:lnTo>
                  <a:lnTo>
                    <a:pt x="8015288" y="686753"/>
                  </a:lnTo>
                  <a:lnTo>
                    <a:pt x="8060055" y="699135"/>
                  </a:lnTo>
                  <a:lnTo>
                    <a:pt x="8104822" y="709612"/>
                  </a:lnTo>
                  <a:lnTo>
                    <a:pt x="8149590" y="716280"/>
                  </a:lnTo>
                  <a:lnTo>
                    <a:pt x="8195310" y="721995"/>
                  </a:lnTo>
                  <a:lnTo>
                    <a:pt x="8240078" y="723900"/>
                  </a:lnTo>
                  <a:lnTo>
                    <a:pt x="8284845" y="722947"/>
                  </a:lnTo>
                  <a:lnTo>
                    <a:pt x="8329612" y="720090"/>
                  </a:lnTo>
                  <a:lnTo>
                    <a:pt x="8375332" y="714375"/>
                  </a:lnTo>
                  <a:lnTo>
                    <a:pt x="8420100" y="705803"/>
                  </a:lnTo>
                  <a:lnTo>
                    <a:pt x="8464868" y="695325"/>
                  </a:lnTo>
                  <a:lnTo>
                    <a:pt x="8510588" y="681990"/>
                  </a:lnTo>
                  <a:lnTo>
                    <a:pt x="8555355" y="666750"/>
                  </a:lnTo>
                  <a:lnTo>
                    <a:pt x="8600122" y="648653"/>
                  </a:lnTo>
                  <a:lnTo>
                    <a:pt x="8644890" y="628650"/>
                  </a:lnTo>
                  <a:lnTo>
                    <a:pt x="8690610" y="606742"/>
                  </a:lnTo>
                  <a:lnTo>
                    <a:pt x="8735378" y="582930"/>
                  </a:lnTo>
                  <a:lnTo>
                    <a:pt x="8780145" y="557212"/>
                  </a:lnTo>
                  <a:lnTo>
                    <a:pt x="8824912" y="530542"/>
                  </a:lnTo>
                  <a:lnTo>
                    <a:pt x="8870632" y="502920"/>
                  </a:lnTo>
                  <a:lnTo>
                    <a:pt x="8915400" y="473392"/>
                  </a:lnTo>
                  <a:lnTo>
                    <a:pt x="8960168" y="443865"/>
                  </a:lnTo>
                  <a:lnTo>
                    <a:pt x="9005888" y="413385"/>
                  </a:lnTo>
                  <a:lnTo>
                    <a:pt x="9050655" y="382905"/>
                  </a:lnTo>
                  <a:lnTo>
                    <a:pt x="9095422" y="351472"/>
                  </a:lnTo>
                  <a:lnTo>
                    <a:pt x="9140190" y="320992"/>
                  </a:lnTo>
                  <a:lnTo>
                    <a:pt x="9185910" y="290512"/>
                  </a:lnTo>
                  <a:lnTo>
                    <a:pt x="9230678" y="260033"/>
                  </a:lnTo>
                  <a:lnTo>
                    <a:pt x="9275445" y="230505"/>
                  </a:lnTo>
                  <a:lnTo>
                    <a:pt x="9320212" y="201930"/>
                  </a:lnTo>
                  <a:lnTo>
                    <a:pt x="9365932" y="175260"/>
                  </a:lnTo>
                  <a:lnTo>
                    <a:pt x="9410700" y="149542"/>
                  </a:lnTo>
                  <a:lnTo>
                    <a:pt x="9455468" y="124778"/>
                  </a:lnTo>
                  <a:lnTo>
                    <a:pt x="9501188" y="101917"/>
                  </a:lnTo>
                  <a:lnTo>
                    <a:pt x="9545955" y="81915"/>
                  </a:lnTo>
                  <a:lnTo>
                    <a:pt x="9590722" y="62865"/>
                  </a:lnTo>
                  <a:lnTo>
                    <a:pt x="9635490" y="46672"/>
                  </a:lnTo>
                  <a:lnTo>
                    <a:pt x="9681210" y="32385"/>
                  </a:lnTo>
                  <a:lnTo>
                    <a:pt x="9725978" y="20955"/>
                  </a:lnTo>
                  <a:lnTo>
                    <a:pt x="9770745" y="11430"/>
                  </a:lnTo>
                  <a:lnTo>
                    <a:pt x="9815512" y="5715"/>
                  </a:lnTo>
                  <a:lnTo>
                    <a:pt x="9861232" y="953"/>
                  </a:lnTo>
                  <a:lnTo>
                    <a:pt x="9906000" y="0"/>
                  </a:lnTo>
                </a:path>
              </a:pathLst>
            </a:custGeom>
            <a:noFill/>
            <a:ln w="22860">
              <a:solidFill>
                <a:srgbClr val="1482FA"/>
              </a:solidFill>
            </a:ln>
          </p:spPr>
        </p:sp>
        <p:sp>
          <p:nvSpPr>
            <p:cNvPr id="25" name="Line 25"/>
            <p:cNvSpPr/>
            <p:nvPr/>
          </p:nvSpPr>
          <p:spPr>
            <a:xfrm>
              <a:off x="1143000" y="4629150"/>
              <a:ext cx="9906000" cy="9525"/>
            </a:xfrm>
            <a:custGeom>
              <a:avLst/>
              <a:gdLst/>
              <a:ahLst/>
              <a:cxnLst/>
              <a:rect l="l" t="t" r="r" b="b"/>
              <a:pathLst>
                <a:path w="9906000" h="9525">
                  <a:moveTo>
                    <a:pt x="0" y="0"/>
                  </a:moveTo>
                  <a:lnTo>
                    <a:pt x="9906000" y="0"/>
                  </a:lnTo>
                </a:path>
              </a:pathLst>
            </a:custGeom>
            <a:noFill/>
            <a:ln w="11430">
              <a:solidFill>
                <a:srgbClr val="A39F9C"/>
              </a:solidFill>
            </a:ln>
          </p:spPr>
        </p:sp>
        <p:grpSp>
          <p:nvGrpSpPr>
            <p:cNvPr id="36" name="Group 36"/>
            <p:cNvGrpSpPr/>
            <p:nvPr/>
          </p:nvGrpSpPr>
          <p:grpSpPr>
            <a:xfrm>
              <a:off x="1905000" y="4629150"/>
              <a:ext cx="8410575" cy="66675"/>
              <a:chOff x="1905000" y="4629150"/>
              <a:chExt cx="8410575" cy="66675"/>
            </a:xfrm>
          </p:grpSpPr>
          <p:sp>
            <p:nvSpPr>
              <p:cNvPr id="26" name="Line 26"/>
              <p:cNvSpPr/>
              <p:nvPr/>
            </p:nvSpPr>
            <p:spPr>
              <a:xfrm>
                <a:off x="190500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27" name="Line 27"/>
              <p:cNvSpPr/>
              <p:nvPr/>
            </p:nvSpPr>
            <p:spPr>
              <a:xfrm>
                <a:off x="283845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28" name="Line 28"/>
              <p:cNvSpPr/>
              <p:nvPr/>
            </p:nvSpPr>
            <p:spPr>
              <a:xfrm>
                <a:off x="377190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29" name="Line 29"/>
              <p:cNvSpPr/>
              <p:nvPr/>
            </p:nvSpPr>
            <p:spPr>
              <a:xfrm>
                <a:off x="470535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0" name="Line 30"/>
              <p:cNvSpPr/>
              <p:nvPr/>
            </p:nvSpPr>
            <p:spPr>
              <a:xfrm>
                <a:off x="563880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1" name="Line 31"/>
              <p:cNvSpPr/>
              <p:nvPr/>
            </p:nvSpPr>
            <p:spPr>
              <a:xfrm>
                <a:off x="657225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2" name="Line 32"/>
              <p:cNvSpPr/>
              <p:nvPr/>
            </p:nvSpPr>
            <p:spPr>
              <a:xfrm>
                <a:off x="750570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3" name="Line 33"/>
              <p:cNvSpPr/>
              <p:nvPr/>
            </p:nvSpPr>
            <p:spPr>
              <a:xfrm>
                <a:off x="843915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4" name="Line 34"/>
              <p:cNvSpPr/>
              <p:nvPr/>
            </p:nvSpPr>
            <p:spPr>
              <a:xfrm>
                <a:off x="9372600" y="4629150"/>
                <a:ext cx="9525" cy="66675"/>
              </a:xfrm>
              <a:custGeom>
                <a:avLst/>
                <a:gdLst/>
                <a:ahLst/>
                <a:cxnLst/>
                <a:rect l="l" t="t" r="r" b="b"/>
                <a:pathLst>
                  <a:path w="9525" h="66675">
                    <a:moveTo>
                      <a:pt x="0" y="0"/>
                    </a:moveTo>
                    <a:lnTo>
                      <a:pt x="0" y="66675"/>
                    </a:lnTo>
                  </a:path>
                </a:pathLst>
              </a:custGeom>
              <a:noFill/>
              <a:ln w="11430">
                <a:solidFill>
                  <a:srgbClr val="A39F9C"/>
                </a:solidFill>
              </a:ln>
            </p:spPr>
          </p:sp>
          <p:sp>
            <p:nvSpPr>
              <p:cNvPr id="35" name="Line 35"/>
              <p:cNvSpPr/>
              <p:nvPr/>
            </p:nvSpPr>
            <p:spPr>
              <a:xfrm>
                <a:off x="10306050" y="4629150"/>
                <a:ext cx="9525" cy="66675"/>
              </a:xfrm>
              <a:custGeom>
                <a:avLst/>
                <a:gdLst/>
                <a:ahLst/>
                <a:cxnLst/>
                <a:rect l="l" t="t" r="r" b="b"/>
                <a:pathLst>
                  <a:path w="9525" h="66675">
                    <a:moveTo>
                      <a:pt x="0" y="0"/>
                    </a:moveTo>
                    <a:lnTo>
                      <a:pt x="0" y="66675"/>
                    </a:lnTo>
                  </a:path>
                </a:pathLst>
              </a:custGeom>
              <a:noFill/>
              <a:ln w="11430">
                <a:solidFill>
                  <a:srgbClr val="A39F9C"/>
                </a:solidFill>
              </a:ln>
            </p:spPr>
          </p:sp>
        </p:grpSp>
        <p:sp>
          <p:nvSpPr>
            <p:cNvPr id="37" name="TextBox 37"/>
            <p:cNvSpPr txBox="1"/>
            <p:nvPr/>
          </p:nvSpPr>
          <p:spPr>
            <a:xfrm>
              <a:off x="1138238" y="4749641"/>
              <a:ext cx="875805" cy="161925"/>
            </a:xfrm>
            <a:prstGeom prst="rect">
              <a:avLst/>
            </a:prstGeom>
            <a:noFill/>
            <a:ln>
              <a:noFill/>
            </a:ln>
          </p:spPr>
          <p:txBody>
            <a:bodyPr wrap="none" lIns="0" tIns="0" rIns="0" bIns="0" anchor="t" anchorCtr="0">
              <a:spAutoFit/>
            </a:bodyPr>
            <a:lstStyle/>
            <a:p>
              <a:pPr algn="l"/>
              <a:r>
                <a:rPr lang="en-US" sz="820" dirty="0">
                  <a:solidFill>
                    <a:srgbClr val="706B69"/>
                  </a:solidFill>
                  <a:latin typeface="Roche Sans"/>
                  <a:ea typeface="Roche Sans"/>
                  <a:cs typeface="Roche Sans"/>
                </a:rPr>
                <a:t xml:space="preserve">token position </a:t>
              </a:r>
              <a:r>
                <a:rPr lang="en-US" sz="820" dirty="0">
                  <a:solidFill>
                    <a:srgbClr val="706B69"/>
                  </a:solidFill>
                  <a:latin typeface="Consolas"/>
                  <a:ea typeface="Consolas"/>
                  <a:cs typeface="Consolas"/>
                </a:rPr>
                <a:t>→</a:t>
              </a:r>
            </a:p>
          </p:txBody>
        </p:sp>
        <p:sp>
          <p:nvSpPr>
            <p:cNvPr id="38" name="TextBox 38"/>
            <p:cNvSpPr txBox="1"/>
            <p:nvPr/>
          </p:nvSpPr>
          <p:spPr>
            <a:xfrm>
              <a:off x="11139488" y="3398520"/>
              <a:ext cx="179146" cy="176212"/>
            </a:xfrm>
            <a:prstGeom prst="rect">
              <a:avLst/>
            </a:prstGeom>
            <a:noFill/>
            <a:ln>
              <a:noFill/>
            </a:ln>
          </p:spPr>
          <p:txBody>
            <a:bodyPr wrap="none" lIns="0" tIns="0" rIns="0" bIns="0" anchor="t" anchorCtr="0">
              <a:spAutoFit/>
            </a:bodyPr>
            <a:lstStyle/>
            <a:p>
              <a:pPr algn="l"/>
              <a:r>
                <a:rPr lang="en-US" sz="900" dirty="0">
                  <a:solidFill>
                    <a:srgbClr val="0B41CD"/>
                  </a:solidFill>
                  <a:latin typeface="Consolas"/>
                  <a:ea typeface="Consolas"/>
                  <a:cs typeface="Consolas"/>
                </a:rPr>
                <a:t>sin</a:t>
              </a:r>
            </a:p>
          </p:txBody>
        </p:sp>
        <p:sp>
          <p:nvSpPr>
            <p:cNvPr id="39" name="TextBox 39"/>
            <p:cNvSpPr txBox="1"/>
            <p:nvPr/>
          </p:nvSpPr>
          <p:spPr>
            <a:xfrm>
              <a:off x="11139488" y="3712845"/>
              <a:ext cx="209436" cy="176212"/>
            </a:xfrm>
            <a:prstGeom prst="rect">
              <a:avLst/>
            </a:prstGeom>
            <a:noFill/>
            <a:ln>
              <a:noFill/>
            </a:ln>
          </p:spPr>
          <p:txBody>
            <a:bodyPr wrap="none" lIns="0" tIns="0" rIns="0" bIns="0" anchor="t" anchorCtr="0">
              <a:spAutoFit/>
            </a:bodyPr>
            <a:lstStyle/>
            <a:p>
              <a:pPr algn="l"/>
              <a:r>
                <a:rPr lang="en-US" sz="900" dirty="0">
                  <a:solidFill>
                    <a:srgbClr val="1482FA"/>
                  </a:solidFill>
                  <a:latin typeface="Consolas"/>
                  <a:ea typeface="Consolas"/>
                  <a:cs typeface="Consolas"/>
                </a:rPr>
                <a:t>cos</a:t>
              </a:r>
            </a:p>
          </p:txBody>
        </p:sp>
      </p:grpSp>
      <p:grpSp>
        <p:nvGrpSpPr>
          <p:cNvPr id="47" name="Group 47"/>
          <p:cNvGrpSpPr/>
          <p:nvPr/>
        </p:nvGrpSpPr>
        <p:grpSpPr>
          <a:xfrm>
            <a:off x="571500" y="5086350"/>
            <a:ext cx="11049000" cy="1200150"/>
            <a:chOff x="571500" y="5086350"/>
            <a:chExt cx="11049000" cy="1200150"/>
          </a:xfrm>
        </p:grpSpPr>
        <p:sp>
          <p:nvSpPr>
            <p:cNvPr id="41" name="Rectangle 41"/>
            <p:cNvSpPr/>
            <p:nvPr/>
          </p:nvSpPr>
          <p:spPr>
            <a:xfrm>
              <a:off x="571500" y="5086350"/>
              <a:ext cx="11049000" cy="1200150"/>
            </a:xfrm>
            <a:prstGeom prst="roundRect">
              <a:avLst>
                <a:gd name="adj" fmla="val 9524"/>
              </a:avLst>
            </a:prstGeom>
            <a:solidFill>
              <a:srgbClr val="F5F7FA"/>
            </a:solidFill>
            <a:ln w="9525">
              <a:solidFill>
                <a:srgbClr val="E0E0E0"/>
              </a:solidFill>
            </a:ln>
          </p:spPr>
        </p:sp>
        <p:sp>
          <p:nvSpPr>
            <p:cNvPr id="42" name="Rectangle 42"/>
            <p:cNvSpPr/>
            <p:nvPr/>
          </p:nvSpPr>
          <p:spPr>
            <a:xfrm>
              <a:off x="571500" y="5086350"/>
              <a:ext cx="47625" cy="1200150"/>
            </a:xfrm>
            <a:prstGeom prst="roundRect">
              <a:avLst>
                <a:gd name="adj" fmla="val 50000"/>
              </a:avLst>
            </a:prstGeom>
            <a:gradFill>
              <a:gsLst>
                <a:gs pos="0">
                  <a:srgbClr val="0B41CD"/>
                </a:gs>
                <a:gs pos="100000">
                  <a:srgbClr val="1482FA"/>
                </a:gs>
              </a:gsLst>
              <a:lin ang="5400000" scaled="1"/>
            </a:gradFill>
            <a:ln>
              <a:noFill/>
            </a:ln>
          </p:spPr>
        </p:sp>
        <p:sp>
          <p:nvSpPr>
            <p:cNvPr id="43" name="TextBox 43"/>
            <p:cNvSpPr txBox="1"/>
            <p:nvPr/>
          </p:nvSpPr>
          <p:spPr>
            <a:xfrm>
              <a:off x="947547" y="5247799"/>
              <a:ext cx="1144981"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WHY SINUSOIDS</a:t>
              </a:r>
            </a:p>
          </p:txBody>
        </p:sp>
        <p:sp>
          <p:nvSpPr>
            <p:cNvPr id="44" name="TextBox 44"/>
            <p:cNvSpPr txBox="1"/>
            <p:nvPr/>
          </p:nvSpPr>
          <p:spPr>
            <a:xfrm>
              <a:off x="946785" y="5498306"/>
              <a:ext cx="8437475"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333333"/>
                  </a:solidFill>
                  <a:latin typeface="Roche Sans"/>
                  <a:ea typeface="Roche Sans"/>
                  <a:cs typeface="Roche Sans"/>
                </a:rPr>
                <a:t xml:space="preserve">With no recurrence or convolution, the model has </a:t>
              </a:r>
              <a:r>
                <a:rPr lang="en-US" sz="1120" dirty="0">
                  <a:solidFill>
                    <a:srgbClr val="0B41CD"/>
                  </a:solidFill>
                  <a:latin typeface="Roche Sans Medium"/>
                  <a:ea typeface="Roche Sans Medium"/>
                  <a:cs typeface="Roche Sans Medium"/>
                </a:rPr>
                <a:t>no built-in notion of order</a:t>
              </a:r>
              <a:r>
                <a:rPr lang="en-US" sz="1120" dirty="0">
                  <a:solidFill>
                    <a:srgbClr val="333333"/>
                  </a:solidFill>
                  <a:latin typeface="Roche Sans"/>
                  <a:ea typeface="Roche Sans"/>
                  <a:cs typeface="Roche Sans"/>
                </a:rPr>
                <a:t xml:space="preserve"> — so order is injected, not learned.</a:t>
              </a:r>
            </a:p>
          </p:txBody>
        </p:sp>
        <p:sp>
          <p:nvSpPr>
            <p:cNvPr id="45" name="TextBox 45"/>
            <p:cNvSpPr txBox="1"/>
            <p:nvPr/>
          </p:nvSpPr>
          <p:spPr>
            <a:xfrm>
              <a:off x="946785" y="5726906"/>
              <a:ext cx="8294165"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333333"/>
                  </a:solidFill>
                  <a:latin typeface="Roche Sans"/>
                  <a:ea typeface="Roche Sans"/>
                  <a:cs typeface="Roche Sans"/>
                </a:rPr>
                <a:t xml:space="preserve">Even dimensions use a sine, odd use a cosine; wavelengths form a geometric progression from </a:t>
              </a:r>
              <a:r>
                <a:rPr lang="en-US" sz="1120" dirty="0">
                  <a:solidFill>
                    <a:srgbClr val="0B41CD"/>
                  </a:solidFill>
                  <a:latin typeface="Consolas"/>
                  <a:ea typeface="Consolas"/>
                  <a:cs typeface="Consolas"/>
                </a:rPr>
                <a:t>2π to 10000·2π</a:t>
              </a:r>
              <a:r>
                <a:rPr lang="en-US" sz="1120" dirty="0">
                  <a:solidFill>
                    <a:srgbClr val="333333"/>
                  </a:solidFill>
                  <a:latin typeface="Roche Sans"/>
                  <a:ea typeface="Roche Sans"/>
                  <a:cs typeface="Roche Sans"/>
                </a:rPr>
                <a:t>.</a:t>
              </a:r>
            </a:p>
          </p:txBody>
        </p:sp>
        <p:sp>
          <p:nvSpPr>
            <p:cNvPr id="46" name="TextBox 46"/>
            <p:cNvSpPr txBox="1"/>
            <p:nvPr/>
          </p:nvSpPr>
          <p:spPr>
            <a:xfrm>
              <a:off x="946785" y="5955506"/>
              <a:ext cx="8891278"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333333"/>
                  </a:solidFill>
                  <a:latin typeface="Roche Sans"/>
                  <a:ea typeface="Roche Sans"/>
                  <a:cs typeface="Roche Sans"/>
                </a:rPr>
                <a:t xml:space="preserve">For any fixed offset k, </a:t>
              </a:r>
              <a:r>
                <a:rPr lang="en-US" sz="1120" dirty="0">
                  <a:solidFill>
                    <a:srgbClr val="0B41CD"/>
                  </a:solidFill>
                  <a:latin typeface="Consolas"/>
                  <a:ea typeface="Consolas"/>
                  <a:cs typeface="Consolas"/>
                </a:rPr>
                <a:t>PE(pos+k)</a:t>
              </a:r>
              <a:r>
                <a:rPr lang="en-US" sz="1120" dirty="0">
                  <a:solidFill>
                    <a:srgbClr val="333333"/>
                  </a:solidFill>
                  <a:latin typeface="Roche Sans"/>
                  <a:ea typeface="Roche Sans"/>
                  <a:cs typeface="Roche Sans"/>
                </a:rPr>
                <a:t xml:space="preserve"> is a linear function of </a:t>
              </a:r>
              <a:r>
                <a:rPr lang="en-US" sz="1120" dirty="0">
                  <a:solidFill>
                    <a:srgbClr val="0B41CD"/>
                  </a:solidFill>
                  <a:latin typeface="Consolas"/>
                  <a:ea typeface="Consolas"/>
                  <a:cs typeface="Consolas"/>
                </a:rPr>
                <a:t>PE(pos)</a:t>
              </a:r>
              <a:r>
                <a:rPr lang="en-US" sz="1120" dirty="0">
                  <a:solidFill>
                    <a:srgbClr val="333333"/>
                  </a:solidFill>
                  <a:latin typeface="Roche Sans"/>
                  <a:ea typeface="Roche Sans"/>
                  <a:cs typeface="Roche Sans"/>
                </a:rPr>
                <a:t xml:space="preserve"> — so the model learns to attend by relative position.</a:t>
              </a:r>
            </a:p>
          </p:txBody>
        </p:sp>
      </p:grpSp>
      <p:grpSp>
        <p:nvGrpSpPr>
          <p:cNvPr id="50" name="Group 50"/>
          <p:cNvGrpSpPr/>
          <p:nvPr/>
        </p:nvGrpSpPr>
        <p:grpSpPr>
          <a:xfrm>
            <a:off x="566738" y="6521291"/>
            <a:ext cx="11058525" cy="161925"/>
            <a:chOff x="566738" y="6521291"/>
            <a:chExt cx="11058525" cy="161925"/>
          </a:xfrm>
        </p:grpSpPr>
        <p:sp>
          <p:nvSpPr>
            <p:cNvPr id="48" name="TextBox 48"/>
            <p:cNvSpPr txBox="1"/>
            <p:nvPr/>
          </p:nvSpPr>
          <p:spPr>
            <a:xfrm>
              <a:off x="566738" y="6521291"/>
              <a:ext cx="5982293"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§3.5 (Positional Encoding) · curve redrawn as native vector · formula via LaTeX</a:t>
              </a:r>
            </a:p>
          </p:txBody>
        </p:sp>
        <p:sp>
          <p:nvSpPr>
            <p:cNvPr id="49" name="TextBox 49"/>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400"/>
                                        <p:tgtEl>
                                          <p:spTgt spid="4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9281459" cy="656939"/>
            <a:chOff x="571500" y="533400"/>
            <a:chExt cx="9281459"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9065813"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Complexity per layer, sequential ops, max path length</a:t>
              </a:r>
            </a:p>
          </p:txBody>
        </p:sp>
        <p:sp>
          <p:nvSpPr>
            <p:cNvPr id="5" name="TextBox 5"/>
            <p:cNvSpPr txBox="1"/>
            <p:nvPr/>
          </p:nvSpPr>
          <p:spPr>
            <a:xfrm>
              <a:off x="795147" y="999649"/>
              <a:ext cx="6109835"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TABLE 1 · WHY SELF-ATTENTION · n = sequence length, d = representation dim</a:t>
              </a:r>
            </a:p>
          </p:txBody>
        </p:sp>
      </p:grpSp>
      <p:grpSp>
        <p:nvGrpSpPr>
          <p:cNvPr id="45" name="Group 45"/>
          <p:cNvGrpSpPr/>
          <p:nvPr/>
        </p:nvGrpSpPr>
        <p:grpSpPr>
          <a:xfrm>
            <a:off x="571500" y="1524000"/>
            <a:ext cx="11049000" cy="3524250"/>
            <a:chOff x="571500" y="1524000"/>
            <a:chExt cx="11049000" cy="3524250"/>
          </a:xfrm>
        </p:grpSpPr>
        <p:sp>
          <p:nvSpPr>
            <p:cNvPr id="7" name="Rectangle 7"/>
            <p:cNvSpPr/>
            <p:nvPr/>
          </p:nvSpPr>
          <p:spPr>
            <a:xfrm>
              <a:off x="571500" y="1524000"/>
              <a:ext cx="11049000" cy="3524250"/>
            </a:xfrm>
            <a:prstGeom prst="rect">
              <a:avLst/>
            </a:prstGeom>
            <a:noFill/>
            <a:ln w="19050">
              <a:solidFill>
                <a:srgbClr val="0B41CD"/>
              </a:solidFill>
            </a:ln>
          </p:spPr>
        </p:sp>
        <p:grpSp>
          <p:nvGrpSpPr>
            <p:cNvPr id="44" name="Group 44"/>
            <p:cNvGrpSpPr/>
            <p:nvPr/>
          </p:nvGrpSpPr>
          <p:grpSpPr>
            <a:xfrm>
              <a:off x="571500" y="1524000"/>
              <a:ext cx="11049000" cy="3524250"/>
              <a:chOff x="571500" y="1524000"/>
              <a:chExt cx="11049000" cy="3524250"/>
            </a:xfrm>
          </p:grpSpPr>
          <p:sp>
            <p:nvSpPr>
              <p:cNvPr id="8" name="Rectangle 8"/>
              <p:cNvSpPr/>
              <p:nvPr/>
            </p:nvSpPr>
            <p:spPr>
              <a:xfrm>
                <a:off x="571500" y="1524000"/>
                <a:ext cx="11049000" cy="571500"/>
              </a:xfrm>
              <a:prstGeom prst="rect">
                <a:avLst/>
              </a:prstGeom>
              <a:solidFill>
                <a:srgbClr val="0B41CD"/>
              </a:solidFill>
              <a:ln>
                <a:noFill/>
              </a:ln>
            </p:spPr>
          </p:sp>
          <p:sp>
            <p:nvSpPr>
              <p:cNvPr id="9" name="TextBox 9"/>
              <p:cNvSpPr txBox="1"/>
              <p:nvPr/>
            </p:nvSpPr>
            <p:spPr>
              <a:xfrm>
                <a:off x="795147" y="1771174"/>
                <a:ext cx="882015" cy="190690"/>
              </a:xfrm>
              <a:prstGeom prst="rect">
                <a:avLst/>
              </a:prstGeom>
              <a:noFill/>
              <a:ln>
                <a:noFill/>
              </a:ln>
            </p:spPr>
            <p:txBody>
              <a:bodyPr wrap="none" lIns="0" tIns="0" rIns="0" bIns="0" anchor="t" anchorCtr="0">
                <a:spAutoFit/>
              </a:bodyPr>
              <a:lstStyle/>
              <a:p>
                <a:pPr algn="l"/>
                <a:r>
                  <a:rPr lang="en-US" sz="980" spc="112" dirty="0">
                    <a:solidFill>
                      <a:srgbClr val="FFFFFF"/>
                    </a:solidFill>
                    <a:latin typeface="Roche Sans Medium"/>
                    <a:ea typeface="Roche Sans Medium"/>
                    <a:cs typeface="Roche Sans Medium"/>
                  </a:rPr>
                  <a:t>LAYER TYPE</a:t>
                </a:r>
              </a:p>
            </p:txBody>
          </p:sp>
          <p:sp>
            <p:nvSpPr>
              <p:cNvPr id="10" name="TextBox 10"/>
              <p:cNvSpPr txBox="1"/>
              <p:nvPr/>
            </p:nvSpPr>
            <p:spPr>
              <a:xfrm>
                <a:off x="4248036" y="1771174"/>
                <a:ext cx="1790929"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COMPLEXITY PER LAYER</a:t>
                </a:r>
              </a:p>
            </p:txBody>
          </p:sp>
          <p:sp>
            <p:nvSpPr>
              <p:cNvPr id="11" name="TextBox 11"/>
              <p:cNvSpPr txBox="1"/>
              <p:nvPr/>
            </p:nvSpPr>
            <p:spPr>
              <a:xfrm>
                <a:off x="7174535" y="1771174"/>
                <a:ext cx="1271930"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SEQUENTIAL OPS</a:t>
                </a:r>
              </a:p>
            </p:txBody>
          </p:sp>
          <p:sp>
            <p:nvSpPr>
              <p:cNvPr id="12" name="TextBox 12"/>
              <p:cNvSpPr txBox="1"/>
              <p:nvPr/>
            </p:nvSpPr>
            <p:spPr>
              <a:xfrm>
                <a:off x="9237764" y="1771174"/>
                <a:ext cx="1336472"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MAX PATH LENGTH</a:t>
                </a:r>
              </a:p>
            </p:txBody>
          </p:sp>
          <p:sp>
            <p:nvSpPr>
              <p:cNvPr id="13" name="Line 13"/>
              <p:cNvSpPr/>
              <p:nvPr/>
            </p:nvSpPr>
            <p:spPr>
              <a:xfrm>
                <a:off x="3429000" y="1524000"/>
                <a:ext cx="9525" cy="3524250"/>
              </a:xfrm>
              <a:custGeom>
                <a:avLst/>
                <a:gdLst/>
                <a:ahLst/>
                <a:cxnLst/>
                <a:rect l="l" t="t" r="r" b="b"/>
                <a:pathLst>
                  <a:path w="9525" h="3524250">
                    <a:moveTo>
                      <a:pt x="0" y="0"/>
                    </a:moveTo>
                    <a:lnTo>
                      <a:pt x="0" y="3524250"/>
                    </a:lnTo>
                  </a:path>
                </a:pathLst>
              </a:custGeom>
              <a:noFill/>
              <a:ln w="14288">
                <a:solidFill>
                  <a:srgbClr val="E0E0E0"/>
                </a:solidFill>
              </a:ln>
            </p:spPr>
          </p:sp>
          <p:sp>
            <p:nvSpPr>
              <p:cNvPr id="14" name="Line 14"/>
              <p:cNvSpPr/>
              <p:nvPr/>
            </p:nvSpPr>
            <p:spPr>
              <a:xfrm>
                <a:off x="6858000" y="1524000"/>
                <a:ext cx="9525" cy="3524250"/>
              </a:xfrm>
              <a:custGeom>
                <a:avLst/>
                <a:gdLst/>
                <a:ahLst/>
                <a:cxnLst/>
                <a:rect l="l" t="t" r="r" b="b"/>
                <a:pathLst>
                  <a:path w="9525" h="3524250">
                    <a:moveTo>
                      <a:pt x="0" y="0"/>
                    </a:moveTo>
                    <a:lnTo>
                      <a:pt x="0" y="3524250"/>
                    </a:lnTo>
                  </a:path>
                </a:pathLst>
              </a:custGeom>
              <a:noFill/>
              <a:ln w="14288">
                <a:solidFill>
                  <a:srgbClr val="E0E0E0"/>
                </a:solidFill>
              </a:ln>
            </p:spPr>
          </p:sp>
          <p:sp>
            <p:nvSpPr>
              <p:cNvPr id="15" name="Line 15"/>
              <p:cNvSpPr/>
              <p:nvPr/>
            </p:nvSpPr>
            <p:spPr>
              <a:xfrm>
                <a:off x="8763000" y="1524000"/>
                <a:ext cx="9525" cy="3524250"/>
              </a:xfrm>
              <a:custGeom>
                <a:avLst/>
                <a:gdLst/>
                <a:ahLst/>
                <a:cxnLst/>
                <a:rect l="l" t="t" r="r" b="b"/>
                <a:pathLst>
                  <a:path w="9525" h="3524250">
                    <a:moveTo>
                      <a:pt x="0" y="0"/>
                    </a:moveTo>
                    <a:lnTo>
                      <a:pt x="0" y="3524250"/>
                    </a:lnTo>
                  </a:path>
                </a:pathLst>
              </a:custGeom>
              <a:noFill/>
              <a:ln w="14288">
                <a:solidFill>
                  <a:srgbClr val="E0E0E0"/>
                </a:solidFill>
              </a:ln>
            </p:spPr>
          </p:sp>
          <p:grpSp>
            <p:nvGrpSpPr>
              <p:cNvPr id="22" name="Group 22"/>
              <p:cNvGrpSpPr/>
              <p:nvPr/>
            </p:nvGrpSpPr>
            <p:grpSpPr>
              <a:xfrm>
                <a:off x="571500" y="2095500"/>
                <a:ext cx="11049000" cy="647700"/>
                <a:chOff x="571500" y="2095500"/>
                <a:chExt cx="11049000" cy="647700"/>
              </a:xfrm>
            </p:grpSpPr>
            <p:sp>
              <p:nvSpPr>
                <p:cNvPr id="16" name="Rectangle 16"/>
                <p:cNvSpPr/>
                <p:nvPr/>
              </p:nvSpPr>
              <p:spPr>
                <a:xfrm>
                  <a:off x="571500" y="2095500"/>
                  <a:ext cx="11049000" cy="647700"/>
                </a:xfrm>
                <a:prstGeom prst="rect">
                  <a:avLst/>
                </a:prstGeom>
                <a:solidFill>
                  <a:srgbClr val="E9EEFA"/>
                </a:solidFill>
                <a:ln>
                  <a:noFill/>
                </a:ln>
              </p:spPr>
            </p:sp>
            <p:sp>
              <p:nvSpPr>
                <p:cNvPr id="17" name="TextBox 17"/>
                <p:cNvSpPr txBox="1"/>
                <p:nvPr/>
              </p:nvSpPr>
              <p:spPr>
                <a:xfrm>
                  <a:off x="793242" y="2273618"/>
                  <a:ext cx="1333617"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Medium"/>
                      <a:ea typeface="Roche Sans Medium"/>
                      <a:cs typeface="Roche Sans Medium"/>
                    </a:rPr>
                    <a:t>Self-Attention</a:t>
                  </a:r>
                </a:p>
              </p:txBody>
            </p:sp>
            <p:sp>
              <p:nvSpPr>
                <p:cNvPr id="18" name="TextBox 18"/>
                <p:cNvSpPr txBox="1"/>
                <p:nvPr/>
              </p:nvSpPr>
              <p:spPr>
                <a:xfrm>
                  <a:off x="795147" y="2523649"/>
                  <a:ext cx="1164521" cy="190690"/>
                </a:xfrm>
                <a:prstGeom prst="rect">
                  <a:avLst/>
                </a:prstGeom>
                <a:noFill/>
                <a:ln>
                  <a:noFill/>
                </a:ln>
              </p:spPr>
              <p:txBody>
                <a:bodyPr wrap="none" lIns="0" tIns="0" rIns="0" bIns="0" anchor="t" anchorCtr="0">
                  <a:spAutoFit/>
                </a:bodyPr>
                <a:lstStyle/>
                <a:p>
                  <a:pPr algn="l"/>
                  <a:r>
                    <a:rPr lang="en-US" sz="980" i="1" dirty="0">
                      <a:solidFill>
                        <a:srgbClr val="1482FA"/>
                      </a:solidFill>
                      <a:latin typeface="Roche Serif Light"/>
                      <a:ea typeface="Roche Serif Light"/>
                      <a:cs typeface="Roche Serif Light"/>
                    </a:rPr>
                    <a:t>the Transformer</a:t>
                  </a:r>
                </a:p>
              </p:txBody>
            </p:sp>
            <p:sp>
              <p:nvSpPr>
                <p:cNvPr id="19" name="TextBox 19"/>
                <p:cNvSpPr txBox="1"/>
                <p:nvPr/>
              </p:nvSpPr>
              <p:spPr>
                <a:xfrm>
                  <a:off x="4633617" y="2333625"/>
                  <a:ext cx="1019766" cy="293370"/>
                </a:xfrm>
                <a:prstGeom prst="rect">
                  <a:avLst/>
                </a:prstGeom>
                <a:noFill/>
                <a:ln>
                  <a:noFill/>
                </a:ln>
              </p:spPr>
              <p:txBody>
                <a:bodyPr wrap="none" lIns="0" tIns="0" rIns="0" bIns="0" anchor="t" anchorCtr="0">
                  <a:spAutoFit/>
                </a:bodyPr>
                <a:lstStyle/>
                <a:p>
                  <a:pPr algn="ctr"/>
                  <a:r>
                    <a:rPr lang="en-US" sz="1500" b="1" dirty="0">
                      <a:solidFill>
                        <a:srgbClr val="0B41CD"/>
                      </a:solidFill>
                      <a:latin typeface="Consolas"/>
                      <a:ea typeface="Consolas"/>
                      <a:cs typeface="Consolas"/>
                    </a:rPr>
                    <a:t>O(n² · d)</a:t>
                  </a:r>
                </a:p>
              </p:txBody>
            </p:sp>
            <p:sp>
              <p:nvSpPr>
                <p:cNvPr id="20" name="TextBox 20"/>
                <p:cNvSpPr txBox="1"/>
                <p:nvPr/>
              </p:nvSpPr>
              <p:spPr>
                <a:xfrm>
                  <a:off x="7506401" y="2317432"/>
                  <a:ext cx="608198" cy="322707"/>
                </a:xfrm>
                <a:prstGeom prst="rect">
                  <a:avLst/>
                </a:prstGeom>
                <a:noFill/>
                <a:ln>
                  <a:noFill/>
                </a:ln>
              </p:spPr>
              <p:txBody>
                <a:bodyPr wrap="none" lIns="0" tIns="0" rIns="0" bIns="0" anchor="t" anchorCtr="0">
                  <a:spAutoFit/>
                </a:bodyPr>
                <a:lstStyle/>
                <a:p>
                  <a:pPr algn="ctr"/>
                  <a:r>
                    <a:rPr lang="en-US" sz="1650" b="1" dirty="0">
                      <a:solidFill>
                        <a:srgbClr val="007A3B"/>
                      </a:solidFill>
                      <a:latin typeface="Consolas"/>
                      <a:ea typeface="Consolas"/>
                      <a:cs typeface="Consolas"/>
                    </a:rPr>
                    <a:t>O(1)</a:t>
                  </a:r>
                </a:p>
              </p:txBody>
            </p:sp>
            <p:sp>
              <p:nvSpPr>
                <p:cNvPr id="21" name="TextBox 21"/>
                <p:cNvSpPr txBox="1"/>
                <p:nvPr/>
              </p:nvSpPr>
              <p:spPr>
                <a:xfrm>
                  <a:off x="9601901" y="2317432"/>
                  <a:ext cx="608198" cy="322707"/>
                </a:xfrm>
                <a:prstGeom prst="rect">
                  <a:avLst/>
                </a:prstGeom>
                <a:noFill/>
                <a:ln>
                  <a:noFill/>
                </a:ln>
              </p:spPr>
              <p:txBody>
                <a:bodyPr wrap="none" lIns="0" tIns="0" rIns="0" bIns="0" anchor="t" anchorCtr="0">
                  <a:spAutoFit/>
                </a:bodyPr>
                <a:lstStyle/>
                <a:p>
                  <a:pPr algn="ctr"/>
                  <a:r>
                    <a:rPr lang="en-US" sz="1650" b="1" dirty="0">
                      <a:solidFill>
                        <a:srgbClr val="007A3B"/>
                      </a:solidFill>
                      <a:latin typeface="Consolas"/>
                      <a:ea typeface="Consolas"/>
                      <a:cs typeface="Consolas"/>
                    </a:rPr>
                    <a:t>O(1)</a:t>
                  </a:r>
                </a:p>
              </p:txBody>
            </p:sp>
          </p:grpSp>
          <p:grpSp>
            <p:nvGrpSpPr>
              <p:cNvPr id="29" name="Group 29"/>
              <p:cNvGrpSpPr/>
              <p:nvPr/>
            </p:nvGrpSpPr>
            <p:grpSpPr>
              <a:xfrm>
                <a:off x="571500" y="2743200"/>
                <a:ext cx="11049000" cy="618839"/>
                <a:chOff x="571500" y="2743200"/>
                <a:chExt cx="11049000" cy="618839"/>
              </a:xfrm>
            </p:grpSpPr>
            <p:sp>
              <p:nvSpPr>
                <p:cNvPr id="23" name="Line 23"/>
                <p:cNvSpPr/>
                <p:nvPr/>
              </p:nvSpPr>
              <p:spPr>
                <a:xfrm>
                  <a:off x="571500" y="27432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24" name="TextBox 24"/>
                <p:cNvSpPr txBox="1"/>
                <p:nvPr/>
              </p:nvSpPr>
              <p:spPr>
                <a:xfrm>
                  <a:off x="793242" y="2921318"/>
                  <a:ext cx="918972" cy="264033"/>
                </a:xfrm>
                <a:prstGeom prst="rect">
                  <a:avLst/>
                </a:prstGeom>
                <a:noFill/>
                <a:ln>
                  <a:noFill/>
                </a:ln>
              </p:spPr>
              <p:txBody>
                <a:bodyPr wrap="none" lIns="0" tIns="0" rIns="0" bIns="0" anchor="t" anchorCtr="0">
                  <a:spAutoFit/>
                </a:bodyPr>
                <a:lstStyle/>
                <a:p>
                  <a:pPr algn="l"/>
                  <a:r>
                    <a:rPr lang="en-US" sz="1350" dirty="0">
                      <a:solidFill>
                        <a:srgbClr val="333333"/>
                      </a:solidFill>
                      <a:latin typeface="Roche Sans Medium"/>
                      <a:ea typeface="Roche Sans Medium"/>
                      <a:cs typeface="Roche Sans Medium"/>
                    </a:rPr>
                    <a:t>Recurrent</a:t>
                  </a:r>
                </a:p>
              </p:txBody>
            </p:sp>
            <p:sp>
              <p:nvSpPr>
                <p:cNvPr id="25" name="TextBox 25"/>
                <p:cNvSpPr txBox="1"/>
                <p:nvPr/>
              </p:nvSpPr>
              <p:spPr>
                <a:xfrm>
                  <a:off x="795147" y="3171349"/>
                  <a:ext cx="1357122" cy="190690"/>
                </a:xfrm>
                <a:prstGeom prst="rect">
                  <a:avLst/>
                </a:prstGeom>
                <a:noFill/>
                <a:ln>
                  <a:noFill/>
                </a:ln>
              </p:spPr>
              <p:txBody>
                <a:bodyPr wrap="none" lIns="0" tIns="0" rIns="0" bIns="0" anchor="t" anchorCtr="0">
                  <a:spAutoFit/>
                </a:bodyPr>
                <a:lstStyle/>
                <a:p>
                  <a:pPr algn="l"/>
                  <a:r>
                    <a:rPr lang="en-US" sz="980" i="1" dirty="0">
                      <a:solidFill>
                        <a:srgbClr val="706B69"/>
                      </a:solidFill>
                      <a:latin typeface="Roche Serif Light"/>
                      <a:ea typeface="Roche Serif Light"/>
                      <a:cs typeface="Roche Serif Light"/>
                    </a:rPr>
                    <a:t>RNN / LSTM / GRU</a:t>
                  </a:r>
                </a:p>
              </p:txBody>
            </p:sp>
            <p:sp>
              <p:nvSpPr>
                <p:cNvPr id="26" name="TextBox 26"/>
                <p:cNvSpPr txBox="1"/>
                <p:nvPr/>
              </p:nvSpPr>
              <p:spPr>
                <a:xfrm>
                  <a:off x="4657534" y="2981325"/>
                  <a:ext cx="971931" cy="293370"/>
                </a:xfrm>
                <a:prstGeom prst="rect">
                  <a:avLst/>
                </a:prstGeom>
                <a:noFill/>
                <a:ln>
                  <a:noFill/>
                </a:ln>
              </p:spPr>
              <p:txBody>
                <a:bodyPr wrap="none" lIns="0" tIns="0" rIns="0" bIns="0" anchor="t" anchorCtr="0">
                  <a:spAutoFit/>
                </a:bodyPr>
                <a:lstStyle/>
                <a:p>
                  <a:pPr algn="ctr"/>
                  <a:r>
                    <a:rPr lang="en-US" sz="1500" dirty="0">
                      <a:solidFill>
                        <a:srgbClr val="333333"/>
                      </a:solidFill>
                      <a:latin typeface="Consolas"/>
                      <a:ea typeface="Consolas"/>
                      <a:cs typeface="Consolas"/>
                    </a:rPr>
                    <a:t>O(n · d²)</a:t>
                  </a:r>
                </a:p>
              </p:txBody>
            </p:sp>
            <p:sp>
              <p:nvSpPr>
                <p:cNvPr id="27" name="TextBox 27"/>
                <p:cNvSpPr txBox="1"/>
                <p:nvPr/>
              </p:nvSpPr>
              <p:spPr>
                <a:xfrm>
                  <a:off x="7528027" y="2965132"/>
                  <a:ext cx="564947" cy="322707"/>
                </a:xfrm>
                <a:prstGeom prst="rect">
                  <a:avLst/>
                </a:prstGeom>
                <a:noFill/>
                <a:ln>
                  <a:noFill/>
                </a:ln>
              </p:spPr>
              <p:txBody>
                <a:bodyPr wrap="none" lIns="0" tIns="0" rIns="0" bIns="0" anchor="t" anchorCtr="0">
                  <a:spAutoFit/>
                </a:bodyPr>
                <a:lstStyle/>
                <a:p>
                  <a:pPr algn="ctr"/>
                  <a:r>
                    <a:rPr lang="en-US" sz="1650" dirty="0">
                      <a:solidFill>
                        <a:srgbClr val="D0021B"/>
                      </a:solidFill>
                      <a:latin typeface="Consolas"/>
                      <a:ea typeface="Consolas"/>
                      <a:cs typeface="Consolas"/>
                    </a:rPr>
                    <a:t>O(n)</a:t>
                  </a:r>
                </a:p>
              </p:txBody>
            </p:sp>
            <p:sp>
              <p:nvSpPr>
                <p:cNvPr id="28" name="TextBox 28"/>
                <p:cNvSpPr txBox="1"/>
                <p:nvPr/>
              </p:nvSpPr>
              <p:spPr>
                <a:xfrm>
                  <a:off x="9623527" y="2965132"/>
                  <a:ext cx="564947" cy="322707"/>
                </a:xfrm>
                <a:prstGeom prst="rect">
                  <a:avLst/>
                </a:prstGeom>
                <a:noFill/>
                <a:ln>
                  <a:noFill/>
                </a:ln>
              </p:spPr>
              <p:txBody>
                <a:bodyPr wrap="none" lIns="0" tIns="0" rIns="0" bIns="0" anchor="t" anchorCtr="0">
                  <a:spAutoFit/>
                </a:bodyPr>
                <a:lstStyle/>
                <a:p>
                  <a:pPr algn="ctr"/>
                  <a:r>
                    <a:rPr lang="en-US" sz="1650" dirty="0">
                      <a:solidFill>
                        <a:srgbClr val="D0021B"/>
                      </a:solidFill>
                      <a:latin typeface="Consolas"/>
                      <a:ea typeface="Consolas"/>
                      <a:cs typeface="Consolas"/>
                    </a:rPr>
                    <a:t>O(n)</a:t>
                  </a:r>
                </a:p>
              </p:txBody>
            </p:sp>
          </p:grpSp>
          <p:grpSp>
            <p:nvGrpSpPr>
              <p:cNvPr id="36" name="Group 36"/>
              <p:cNvGrpSpPr/>
              <p:nvPr/>
            </p:nvGrpSpPr>
            <p:grpSpPr>
              <a:xfrm>
                <a:off x="571500" y="3390900"/>
                <a:ext cx="11049000" cy="618839"/>
                <a:chOff x="571500" y="3390900"/>
                <a:chExt cx="11049000" cy="618839"/>
              </a:xfrm>
            </p:grpSpPr>
            <p:sp>
              <p:nvSpPr>
                <p:cNvPr id="30" name="Line 30"/>
                <p:cNvSpPr/>
                <p:nvPr/>
              </p:nvSpPr>
              <p:spPr>
                <a:xfrm>
                  <a:off x="571500" y="33909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31" name="TextBox 31"/>
                <p:cNvSpPr txBox="1"/>
                <p:nvPr/>
              </p:nvSpPr>
              <p:spPr>
                <a:xfrm>
                  <a:off x="793242" y="3569018"/>
                  <a:ext cx="1181897" cy="264033"/>
                </a:xfrm>
                <a:prstGeom prst="rect">
                  <a:avLst/>
                </a:prstGeom>
                <a:noFill/>
                <a:ln>
                  <a:noFill/>
                </a:ln>
              </p:spPr>
              <p:txBody>
                <a:bodyPr wrap="none" lIns="0" tIns="0" rIns="0" bIns="0" anchor="t" anchorCtr="0">
                  <a:spAutoFit/>
                </a:bodyPr>
                <a:lstStyle/>
                <a:p>
                  <a:pPr algn="l"/>
                  <a:r>
                    <a:rPr lang="en-US" sz="1350" dirty="0">
                      <a:solidFill>
                        <a:srgbClr val="333333"/>
                      </a:solidFill>
                      <a:latin typeface="Roche Sans Medium"/>
                      <a:ea typeface="Roche Sans Medium"/>
                      <a:cs typeface="Roche Sans Medium"/>
                    </a:rPr>
                    <a:t>Convolutional</a:t>
                  </a:r>
                </a:p>
              </p:txBody>
            </p:sp>
            <p:sp>
              <p:nvSpPr>
                <p:cNvPr id="32" name="TextBox 32"/>
                <p:cNvSpPr txBox="1"/>
                <p:nvPr/>
              </p:nvSpPr>
              <p:spPr>
                <a:xfrm>
                  <a:off x="795147" y="3819049"/>
                  <a:ext cx="966826" cy="190690"/>
                </a:xfrm>
                <a:prstGeom prst="rect">
                  <a:avLst/>
                </a:prstGeom>
                <a:noFill/>
                <a:ln>
                  <a:noFill/>
                </a:ln>
              </p:spPr>
              <p:txBody>
                <a:bodyPr wrap="none" lIns="0" tIns="0" rIns="0" bIns="0" anchor="t" anchorCtr="0">
                  <a:spAutoFit/>
                </a:bodyPr>
                <a:lstStyle/>
                <a:p>
                  <a:pPr algn="l"/>
                  <a:r>
                    <a:rPr lang="en-US" sz="980" i="1" dirty="0">
                      <a:solidFill>
                        <a:srgbClr val="706B69"/>
                      </a:solidFill>
                      <a:latin typeface="Roche Serif Light"/>
                      <a:ea typeface="Roche Serif Light"/>
                      <a:cs typeface="Roche Serif Light"/>
                    </a:rPr>
                    <a:t>kernel width k</a:t>
                  </a:r>
                </a:p>
              </p:txBody>
            </p:sp>
            <p:sp>
              <p:nvSpPr>
                <p:cNvPr id="33" name="TextBox 33"/>
                <p:cNvSpPr txBox="1"/>
                <p:nvPr/>
              </p:nvSpPr>
              <p:spPr>
                <a:xfrm>
                  <a:off x="4485680" y="3629025"/>
                  <a:ext cx="1315641" cy="293370"/>
                </a:xfrm>
                <a:prstGeom prst="rect">
                  <a:avLst/>
                </a:prstGeom>
                <a:noFill/>
                <a:ln>
                  <a:noFill/>
                </a:ln>
              </p:spPr>
              <p:txBody>
                <a:bodyPr wrap="none" lIns="0" tIns="0" rIns="0" bIns="0" anchor="t" anchorCtr="0">
                  <a:spAutoFit/>
                </a:bodyPr>
                <a:lstStyle/>
                <a:p>
                  <a:pPr algn="ctr"/>
                  <a:r>
                    <a:rPr lang="en-US" sz="1500" dirty="0">
                      <a:solidFill>
                        <a:srgbClr val="333333"/>
                      </a:solidFill>
                      <a:latin typeface="Consolas"/>
                      <a:ea typeface="Consolas"/>
                      <a:cs typeface="Consolas"/>
                    </a:rPr>
                    <a:t>O(k · n · d²)</a:t>
                  </a:r>
                </a:p>
              </p:txBody>
            </p:sp>
            <p:sp>
              <p:nvSpPr>
                <p:cNvPr id="34" name="TextBox 34"/>
                <p:cNvSpPr txBox="1"/>
                <p:nvPr/>
              </p:nvSpPr>
              <p:spPr>
                <a:xfrm>
                  <a:off x="7520483" y="3612832"/>
                  <a:ext cx="580034" cy="322707"/>
                </a:xfrm>
                <a:prstGeom prst="rect">
                  <a:avLst/>
                </a:prstGeom>
                <a:noFill/>
                <a:ln>
                  <a:noFill/>
                </a:ln>
              </p:spPr>
              <p:txBody>
                <a:bodyPr wrap="none" lIns="0" tIns="0" rIns="0" bIns="0" anchor="t" anchorCtr="0">
                  <a:spAutoFit/>
                </a:bodyPr>
                <a:lstStyle/>
                <a:p>
                  <a:pPr algn="ctr"/>
                  <a:r>
                    <a:rPr lang="en-US" sz="1650" dirty="0">
                      <a:solidFill>
                        <a:srgbClr val="007A3B"/>
                      </a:solidFill>
                      <a:latin typeface="Consolas"/>
                      <a:ea typeface="Consolas"/>
                      <a:cs typeface="Consolas"/>
                    </a:rPr>
                    <a:t>O(1)</a:t>
                  </a:r>
                </a:p>
              </p:txBody>
            </p:sp>
            <p:sp>
              <p:nvSpPr>
                <p:cNvPr id="35" name="TextBox 35"/>
                <p:cNvSpPr txBox="1"/>
                <p:nvPr/>
              </p:nvSpPr>
              <p:spPr>
                <a:xfrm>
                  <a:off x="9368409" y="3629025"/>
                  <a:ext cx="1075182" cy="293370"/>
                </a:xfrm>
                <a:prstGeom prst="rect">
                  <a:avLst/>
                </a:prstGeom>
                <a:noFill/>
                <a:ln>
                  <a:noFill/>
                </a:ln>
              </p:spPr>
              <p:txBody>
                <a:bodyPr wrap="none" lIns="0" tIns="0" rIns="0" bIns="0" anchor="t" anchorCtr="0">
                  <a:spAutoFit/>
                </a:bodyPr>
                <a:lstStyle/>
                <a:p>
                  <a:pPr algn="ctr"/>
                  <a:r>
                    <a:rPr lang="en-US" sz="1500" dirty="0">
                      <a:solidFill>
                        <a:srgbClr val="706B69"/>
                      </a:solidFill>
                      <a:latin typeface="Consolas"/>
                      <a:ea typeface="Consolas"/>
                      <a:cs typeface="Consolas"/>
                    </a:rPr>
                    <a:t>O(log_k n)</a:t>
                  </a:r>
                </a:p>
              </p:txBody>
            </p:sp>
          </p:grpSp>
          <p:grpSp>
            <p:nvGrpSpPr>
              <p:cNvPr id="43" name="Group 43"/>
              <p:cNvGrpSpPr/>
              <p:nvPr/>
            </p:nvGrpSpPr>
            <p:grpSpPr>
              <a:xfrm>
                <a:off x="571500" y="4038600"/>
                <a:ext cx="11049000" cy="618839"/>
                <a:chOff x="571500" y="4038600"/>
                <a:chExt cx="11049000" cy="618839"/>
              </a:xfrm>
            </p:grpSpPr>
            <p:sp>
              <p:nvSpPr>
                <p:cNvPr id="37" name="Line 37"/>
                <p:cNvSpPr/>
                <p:nvPr/>
              </p:nvSpPr>
              <p:spPr>
                <a:xfrm>
                  <a:off x="571500" y="40386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38" name="TextBox 38"/>
                <p:cNvSpPr txBox="1"/>
                <p:nvPr/>
              </p:nvSpPr>
              <p:spPr>
                <a:xfrm>
                  <a:off x="793242" y="4216718"/>
                  <a:ext cx="2722805" cy="264033"/>
                </a:xfrm>
                <a:prstGeom prst="rect">
                  <a:avLst/>
                </a:prstGeom>
                <a:noFill/>
                <a:ln>
                  <a:noFill/>
                </a:ln>
              </p:spPr>
              <p:txBody>
                <a:bodyPr wrap="none" lIns="0" tIns="0" rIns="0" bIns="0" anchor="t" anchorCtr="0">
                  <a:spAutoFit/>
                </a:bodyPr>
                <a:lstStyle/>
                <a:p>
                  <a:pPr algn="l"/>
                  <a:r>
                    <a:rPr lang="en-US" sz="1350" dirty="0">
                      <a:solidFill>
                        <a:srgbClr val="333333"/>
                      </a:solidFill>
                      <a:latin typeface="Roche Sans Medium"/>
                      <a:ea typeface="Roche Sans Medium"/>
                      <a:cs typeface="Roche Sans Medium"/>
                    </a:rPr>
                    <a:t xml:space="preserve">Self-Attention </a:t>
                  </a:r>
                  <a:r>
                    <a:rPr lang="en-US" sz="1350" i="1" dirty="0">
                      <a:solidFill>
                        <a:srgbClr val="706B69"/>
                      </a:solidFill>
                      <a:latin typeface="Roche Serif Light"/>
                      <a:ea typeface="Roche Serif Light"/>
                      <a:cs typeface="Roche Serif Light"/>
                    </a:rPr>
                    <a:t>(restricted)</a:t>
                  </a:r>
                </a:p>
              </p:txBody>
            </p:sp>
            <p:sp>
              <p:nvSpPr>
                <p:cNvPr id="39" name="TextBox 39"/>
                <p:cNvSpPr txBox="1"/>
                <p:nvPr/>
              </p:nvSpPr>
              <p:spPr>
                <a:xfrm>
                  <a:off x="795147" y="4466749"/>
                  <a:ext cx="2034692" cy="190690"/>
                </a:xfrm>
                <a:prstGeom prst="rect">
                  <a:avLst/>
                </a:prstGeom>
                <a:noFill/>
                <a:ln>
                  <a:noFill/>
                </a:ln>
              </p:spPr>
              <p:txBody>
                <a:bodyPr wrap="none" lIns="0" tIns="0" rIns="0" bIns="0" anchor="t" anchorCtr="0">
                  <a:spAutoFit/>
                </a:bodyPr>
                <a:lstStyle/>
                <a:p>
                  <a:pPr algn="l"/>
                  <a:r>
                    <a:rPr lang="en-US" sz="980" i="1" dirty="0">
                      <a:solidFill>
                        <a:srgbClr val="706B69"/>
                      </a:solidFill>
                      <a:latin typeface="Roche Serif Light"/>
                      <a:ea typeface="Roche Serif Light"/>
                      <a:cs typeface="Roche Serif Light"/>
                    </a:rPr>
                    <a:t>window r around each position</a:t>
                  </a:r>
                </a:p>
              </p:txBody>
            </p:sp>
            <p:sp>
              <p:nvSpPr>
                <p:cNvPr id="40" name="TextBox 40"/>
                <p:cNvSpPr txBox="1"/>
                <p:nvPr/>
              </p:nvSpPr>
              <p:spPr>
                <a:xfrm>
                  <a:off x="4541996" y="4276725"/>
                  <a:ext cx="1203008" cy="293370"/>
                </a:xfrm>
                <a:prstGeom prst="rect">
                  <a:avLst/>
                </a:prstGeom>
                <a:noFill/>
                <a:ln>
                  <a:noFill/>
                </a:ln>
              </p:spPr>
              <p:txBody>
                <a:bodyPr wrap="none" lIns="0" tIns="0" rIns="0" bIns="0" anchor="t" anchorCtr="0">
                  <a:spAutoFit/>
                </a:bodyPr>
                <a:lstStyle/>
                <a:p>
                  <a:pPr algn="ctr"/>
                  <a:r>
                    <a:rPr lang="en-US" sz="1500" dirty="0">
                      <a:solidFill>
                        <a:srgbClr val="333333"/>
                      </a:solidFill>
                      <a:latin typeface="Consolas"/>
                      <a:ea typeface="Consolas"/>
                      <a:cs typeface="Consolas"/>
                    </a:rPr>
                    <a:t>O(r · n · d)</a:t>
                  </a:r>
                </a:p>
              </p:txBody>
            </p:sp>
            <p:sp>
              <p:nvSpPr>
                <p:cNvPr id="41" name="TextBox 41"/>
                <p:cNvSpPr txBox="1"/>
                <p:nvPr/>
              </p:nvSpPr>
              <p:spPr>
                <a:xfrm>
                  <a:off x="7520483" y="4260532"/>
                  <a:ext cx="580034" cy="322707"/>
                </a:xfrm>
                <a:prstGeom prst="rect">
                  <a:avLst/>
                </a:prstGeom>
                <a:noFill/>
                <a:ln>
                  <a:noFill/>
                </a:ln>
              </p:spPr>
              <p:txBody>
                <a:bodyPr wrap="none" lIns="0" tIns="0" rIns="0" bIns="0" anchor="t" anchorCtr="0">
                  <a:spAutoFit/>
                </a:bodyPr>
                <a:lstStyle/>
                <a:p>
                  <a:pPr algn="ctr"/>
                  <a:r>
                    <a:rPr lang="en-US" sz="1650" dirty="0">
                      <a:solidFill>
                        <a:srgbClr val="007A3B"/>
                      </a:solidFill>
                      <a:latin typeface="Consolas"/>
                      <a:ea typeface="Consolas"/>
                      <a:cs typeface="Consolas"/>
                    </a:rPr>
                    <a:t>O(1)</a:t>
                  </a:r>
                </a:p>
              </p:txBody>
            </p:sp>
            <p:sp>
              <p:nvSpPr>
                <p:cNvPr id="42" name="TextBox 42"/>
                <p:cNvSpPr txBox="1"/>
                <p:nvPr/>
              </p:nvSpPr>
              <p:spPr>
                <a:xfrm>
                  <a:off x="9476613" y="4276725"/>
                  <a:ext cx="858774" cy="293370"/>
                </a:xfrm>
                <a:prstGeom prst="rect">
                  <a:avLst/>
                </a:prstGeom>
                <a:noFill/>
                <a:ln>
                  <a:noFill/>
                </a:ln>
              </p:spPr>
              <p:txBody>
                <a:bodyPr wrap="none" lIns="0" tIns="0" rIns="0" bIns="0" anchor="t" anchorCtr="0">
                  <a:spAutoFit/>
                </a:bodyPr>
                <a:lstStyle/>
                <a:p>
                  <a:pPr algn="ctr"/>
                  <a:r>
                    <a:rPr lang="en-US" sz="1500" dirty="0">
                      <a:solidFill>
                        <a:srgbClr val="706B69"/>
                      </a:solidFill>
                      <a:latin typeface="Consolas"/>
                      <a:ea typeface="Consolas"/>
                      <a:cs typeface="Consolas"/>
                    </a:rPr>
                    <a:t>O(n / r)</a:t>
                  </a:r>
                </a:p>
              </p:txBody>
            </p:sp>
          </p:grpSp>
        </p:grpSp>
      </p:grpSp>
      <p:grpSp>
        <p:nvGrpSpPr>
          <p:cNvPr id="52" name="Group 52"/>
          <p:cNvGrpSpPr/>
          <p:nvPr/>
        </p:nvGrpSpPr>
        <p:grpSpPr>
          <a:xfrm>
            <a:off x="571500" y="5257800"/>
            <a:ext cx="11049000" cy="1143000"/>
            <a:chOff x="571500" y="5257800"/>
            <a:chExt cx="11049000" cy="1143000"/>
          </a:xfrm>
        </p:grpSpPr>
        <p:sp>
          <p:nvSpPr>
            <p:cNvPr id="46" name="Rectangle 46"/>
            <p:cNvSpPr/>
            <p:nvPr/>
          </p:nvSpPr>
          <p:spPr>
            <a:xfrm>
              <a:off x="571500" y="5257800"/>
              <a:ext cx="11049000" cy="1143000"/>
            </a:xfrm>
            <a:prstGeom prst="roundRect">
              <a:avLst>
                <a:gd name="adj" fmla="val 8333"/>
              </a:avLst>
            </a:prstGeom>
            <a:solidFill>
              <a:srgbClr val="F5F7FA"/>
            </a:solidFill>
            <a:ln w="9525">
              <a:solidFill>
                <a:srgbClr val="E0E0E0"/>
              </a:solidFill>
            </a:ln>
          </p:spPr>
        </p:sp>
        <p:sp>
          <p:nvSpPr>
            <p:cNvPr id="47" name="Rectangle 47"/>
            <p:cNvSpPr/>
            <p:nvPr/>
          </p:nvSpPr>
          <p:spPr>
            <a:xfrm>
              <a:off x="571500" y="5257800"/>
              <a:ext cx="47625" cy="1143000"/>
            </a:xfrm>
            <a:prstGeom prst="roundRect">
              <a:avLst>
                <a:gd name="adj" fmla="val 50000"/>
              </a:avLst>
            </a:prstGeom>
            <a:solidFill>
              <a:srgbClr val="1482FA"/>
            </a:solidFill>
            <a:ln>
              <a:noFill/>
            </a:ln>
          </p:spPr>
        </p:sp>
        <p:sp>
          <p:nvSpPr>
            <p:cNvPr id="48" name="TextBox 48"/>
            <p:cNvSpPr txBox="1"/>
            <p:nvPr/>
          </p:nvSpPr>
          <p:spPr>
            <a:xfrm>
              <a:off x="947547" y="5419249"/>
              <a:ext cx="2000555" cy="190690"/>
            </a:xfrm>
            <a:prstGeom prst="rect">
              <a:avLst/>
            </a:prstGeom>
            <a:noFill/>
            <a:ln>
              <a:noFill/>
            </a:ln>
          </p:spPr>
          <p:txBody>
            <a:bodyPr wrap="none" lIns="0" tIns="0" rIns="0" bIns="0" anchor="t" anchorCtr="0">
              <a:spAutoFit/>
            </a:bodyPr>
            <a:lstStyle/>
            <a:p>
              <a:pPr algn="l"/>
              <a:r>
                <a:rPr lang="en-US" sz="980" spc="112" dirty="0">
                  <a:solidFill>
                    <a:srgbClr val="1482FA"/>
                  </a:solidFill>
                  <a:latin typeface="Roche Sans Medium"/>
                  <a:ea typeface="Roche Sans Medium"/>
                  <a:cs typeface="Roche Sans Medium"/>
                </a:rPr>
                <a:t>READ THE TABLE LIKE THIS</a:t>
              </a:r>
            </a:p>
          </p:txBody>
        </p:sp>
        <p:sp>
          <p:nvSpPr>
            <p:cNvPr id="49" name="TextBox 49"/>
            <p:cNvSpPr txBox="1"/>
            <p:nvPr/>
          </p:nvSpPr>
          <p:spPr>
            <a:xfrm>
              <a:off x="945642" y="5664518"/>
              <a:ext cx="8014553"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 xml:space="preserve">Self-attention pays </a:t>
              </a:r>
              <a:r>
                <a:rPr lang="en-US" sz="1350" dirty="0">
                  <a:solidFill>
                    <a:srgbClr val="0B41CD"/>
                  </a:solidFill>
                  <a:latin typeface="Consolas"/>
                  <a:ea typeface="Consolas"/>
                  <a:cs typeface="Consolas"/>
                </a:rPr>
                <a:t>O(n²·d)</a:t>
              </a:r>
              <a:r>
                <a:rPr lang="en-US" sz="1350" dirty="0">
                  <a:solidFill>
                    <a:srgbClr val="0B41CD"/>
                  </a:solidFill>
                  <a:latin typeface="Roche Sans Light"/>
                  <a:ea typeface="Roche Sans Light"/>
                  <a:cs typeface="Roche Sans Light"/>
                </a:rPr>
                <a:t xml:space="preserve"> compute, but in return any two positions are </a:t>
              </a:r>
              <a:r>
                <a:rPr lang="en-US" sz="1350" dirty="0">
                  <a:solidFill>
                    <a:srgbClr val="007A3B"/>
                  </a:solidFill>
                  <a:latin typeface="Consolas"/>
                  <a:ea typeface="Consolas"/>
                  <a:cs typeface="Consolas"/>
                </a:rPr>
                <a:t>one hop apart</a:t>
              </a:r>
              <a:r>
                <a:rPr lang="en-US" sz="1350" dirty="0">
                  <a:solidFill>
                    <a:srgbClr val="0B41CD"/>
                  </a:solidFill>
                  <a:latin typeface="Roche Sans Light"/>
                  <a:ea typeface="Roche Sans Light"/>
                  <a:cs typeface="Roche Sans Light"/>
                </a:rPr>
                <a:t>.</a:t>
              </a:r>
            </a:p>
          </p:txBody>
        </p:sp>
        <p:sp>
          <p:nvSpPr>
            <p:cNvPr id="50" name="TextBox 50"/>
            <p:cNvSpPr txBox="1"/>
            <p:nvPr/>
          </p:nvSpPr>
          <p:spPr>
            <a:xfrm>
              <a:off x="947166" y="5963602"/>
              <a:ext cx="8108545"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 xml:space="preserve">For typical NLP where </a:t>
              </a:r>
              <a:r>
                <a:rPr lang="en-US" sz="1050" dirty="0">
                  <a:solidFill>
                    <a:srgbClr val="333333"/>
                  </a:solidFill>
                  <a:latin typeface="Consolas"/>
                  <a:ea typeface="Consolas"/>
                  <a:cs typeface="Consolas"/>
                </a:rPr>
                <a:t>n &lt; d</a:t>
              </a:r>
              <a:r>
                <a:rPr lang="en-US" sz="1050" dirty="0">
                  <a:solidFill>
                    <a:srgbClr val="706B69"/>
                  </a:solidFill>
                  <a:latin typeface="Roche Sans"/>
                  <a:ea typeface="Roche Sans"/>
                  <a:cs typeface="Roche Sans"/>
                </a:rPr>
                <a:t xml:space="preserve"> (sequence shorter than representation), self-attention is faster than recurrent layers</a:t>
              </a:r>
            </a:p>
          </p:txBody>
        </p:sp>
        <p:sp>
          <p:nvSpPr>
            <p:cNvPr id="51" name="TextBox 51"/>
            <p:cNvSpPr txBox="1"/>
            <p:nvPr/>
          </p:nvSpPr>
          <p:spPr>
            <a:xfrm>
              <a:off x="947166" y="6154102"/>
              <a:ext cx="3622186"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 and it learns long-range dependencies more easily.</a:t>
              </a:r>
            </a:p>
          </p:txBody>
        </p:sp>
      </p:grpSp>
      <p:grpSp>
        <p:nvGrpSpPr>
          <p:cNvPr id="55" name="Group 55"/>
          <p:cNvGrpSpPr/>
          <p:nvPr/>
        </p:nvGrpSpPr>
        <p:grpSpPr>
          <a:xfrm>
            <a:off x="566738" y="6578441"/>
            <a:ext cx="11058525" cy="161925"/>
            <a:chOff x="566738" y="6578441"/>
            <a:chExt cx="11058525" cy="161925"/>
          </a:xfrm>
        </p:grpSpPr>
        <p:sp>
          <p:nvSpPr>
            <p:cNvPr id="53" name="TextBox 53"/>
            <p:cNvSpPr txBox="1"/>
            <p:nvPr/>
          </p:nvSpPr>
          <p:spPr>
            <a:xfrm>
              <a:off x="566738" y="6578441"/>
              <a:ext cx="3359943"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Table 1 (§4 Why Self-Attention)</a:t>
              </a:r>
            </a:p>
          </p:txBody>
        </p:sp>
        <p:sp>
          <p:nvSpPr>
            <p:cNvPr id="54" name="TextBox 54"/>
            <p:cNvSpPr txBox="1"/>
            <p:nvPr/>
          </p:nvSpPr>
          <p:spPr>
            <a:xfrm>
              <a:off x="11493570" y="657844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400"/>
                                        <p:tgtEl>
                                          <p:spTgt spid="4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5421401" cy="656939"/>
            <a:chOff x="571500" y="533400"/>
            <a:chExt cx="5421401"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6384" y="565785"/>
              <a:ext cx="3456175" cy="528066"/>
            </a:xfrm>
            <a:prstGeom prst="rect">
              <a:avLst/>
            </a:prstGeom>
            <a:noFill/>
            <a:ln>
              <a:noFill/>
            </a:ln>
          </p:spPr>
          <p:txBody>
            <a:bodyPr wrap="none" lIns="0" tIns="0" rIns="0" bIns="0" anchor="t" anchorCtr="0">
              <a:spAutoFit/>
            </a:bodyPr>
            <a:lstStyle/>
            <a:p>
              <a:pPr algn="l"/>
              <a:r>
                <a:rPr lang="en-US" sz="2700" dirty="0">
                  <a:solidFill>
                    <a:srgbClr val="0B41CD"/>
                  </a:solidFill>
                  <a:latin typeface="Roche Sans Light"/>
                  <a:ea typeface="Roche Sans Light"/>
                  <a:cs typeface="Roche Sans Light"/>
                </a:rPr>
                <a:t>How they trained it</a:t>
              </a:r>
            </a:p>
          </p:txBody>
        </p:sp>
        <p:sp>
          <p:nvSpPr>
            <p:cNvPr id="5" name="TextBox 5"/>
            <p:cNvSpPr txBox="1"/>
            <p:nvPr/>
          </p:nvSpPr>
          <p:spPr>
            <a:xfrm>
              <a:off x="795147" y="999649"/>
              <a:ext cx="5197754"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TRAINING SETUP · §5 · WMT'14 ENGLISH-GERMAN &amp; ENGLISH-FRENCH</a:t>
              </a:r>
            </a:p>
          </p:txBody>
        </p:sp>
      </p:grpSp>
      <p:grpSp>
        <p:nvGrpSpPr>
          <p:cNvPr id="18" name="Group 18"/>
          <p:cNvGrpSpPr/>
          <p:nvPr/>
        </p:nvGrpSpPr>
        <p:grpSpPr>
          <a:xfrm>
            <a:off x="571500" y="1524000"/>
            <a:ext cx="5524500" cy="2286000"/>
            <a:chOff x="571500" y="1524000"/>
            <a:chExt cx="5524500" cy="2286000"/>
          </a:xfrm>
        </p:grpSpPr>
        <p:sp>
          <p:nvSpPr>
            <p:cNvPr id="7" name="Rectangle 7"/>
            <p:cNvSpPr/>
            <p:nvPr/>
          </p:nvSpPr>
          <p:spPr>
            <a:xfrm>
              <a:off x="571500" y="1524000"/>
              <a:ext cx="5524500" cy="2286000"/>
            </a:xfrm>
            <a:prstGeom prst="roundRect">
              <a:avLst>
                <a:gd name="adj" fmla="val 5833"/>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8" name="Rectangle 8"/>
            <p:cNvSpPr/>
            <p:nvPr/>
          </p:nvSpPr>
          <p:spPr>
            <a:xfrm>
              <a:off x="571500" y="1524000"/>
              <a:ext cx="57150" cy="2286000"/>
            </a:xfrm>
            <a:prstGeom prst="roundRect">
              <a:avLst>
                <a:gd name="adj" fmla="val 50000"/>
              </a:avLst>
            </a:prstGeom>
            <a:solidFill>
              <a:srgbClr val="0B41CD"/>
            </a:solidFill>
            <a:ln>
              <a:noFill/>
            </a:ln>
          </p:spPr>
        </p:sp>
        <p:grpSp>
          <p:nvGrpSpPr>
            <p:cNvPr id="12" name="Group 12"/>
            <p:cNvGrpSpPr/>
            <p:nvPr/>
          </p:nvGrpSpPr>
          <p:grpSpPr>
            <a:xfrm>
              <a:off x="838105" y="1752505"/>
              <a:ext cx="228029" cy="228028"/>
              <a:chOff x="838105" y="1752505"/>
              <a:chExt cx="228029" cy="228028"/>
            </a:xfrm>
          </p:grpSpPr>
          <p:sp>
            <p:nvSpPr>
              <p:cNvPr id="9" name="Freeform 9"/>
              <p:cNvSpPr/>
              <p:nvPr/>
            </p:nvSpPr>
            <p:spPr>
              <a:xfrm>
                <a:off x="863441" y="1777841"/>
                <a:ext cx="177356" cy="177356"/>
              </a:xfrm>
              <a:custGeom>
                <a:avLst/>
                <a:gdLst/>
                <a:ahLst/>
                <a:cxnLst/>
                <a:rect l="l" t="t" r="r" b="b"/>
                <a:pathLst>
                  <a:path w="177356" h="177356">
                    <a:moveTo>
                      <a:pt x="12668" y="0"/>
                    </a:moveTo>
                    <a:lnTo>
                      <a:pt x="164687" y="0"/>
                    </a:lnTo>
                    <a:cubicBezTo>
                      <a:pt x="171684" y="0"/>
                      <a:pt x="177356" y="5672"/>
                      <a:pt x="177356" y="12668"/>
                    </a:cubicBezTo>
                    <a:lnTo>
                      <a:pt x="177356" y="164687"/>
                    </a:lnTo>
                    <a:cubicBezTo>
                      <a:pt x="177356" y="171684"/>
                      <a:pt x="171684" y="177356"/>
                      <a:pt x="164687" y="177356"/>
                    </a:cubicBezTo>
                    <a:lnTo>
                      <a:pt x="12668" y="177356"/>
                    </a:lnTo>
                    <a:cubicBezTo>
                      <a:pt x="5672" y="177356"/>
                      <a:pt x="0" y="171684"/>
                      <a:pt x="0" y="164687"/>
                    </a:cubicBezTo>
                    <a:lnTo>
                      <a:pt x="0" y="12668"/>
                    </a:lnTo>
                    <a:cubicBezTo>
                      <a:pt x="0" y="5672"/>
                      <a:pt x="5672" y="0"/>
                      <a:pt x="12668" y="0"/>
                    </a:cubicBezTo>
                    <a:close/>
                  </a:path>
                </a:pathLst>
              </a:custGeom>
              <a:noFill/>
              <a:ln w="25336">
                <a:solidFill>
                  <a:srgbClr val="0B41CD"/>
                </a:solidFill>
              </a:ln>
            </p:spPr>
          </p:sp>
          <p:sp>
            <p:nvSpPr>
              <p:cNvPr id="10" name="Freeform 10"/>
              <p:cNvSpPr/>
              <p:nvPr/>
            </p:nvSpPr>
            <p:spPr>
              <a:xfrm>
                <a:off x="914114" y="1828514"/>
                <a:ext cx="76010" cy="76009"/>
              </a:xfrm>
              <a:custGeom>
                <a:avLst/>
                <a:gdLst/>
                <a:ahLst/>
                <a:cxnLst/>
                <a:rect l="l" t="t" r="r" b="b"/>
                <a:pathLst>
                  <a:path w="76010" h="76009">
                    <a:moveTo>
                      <a:pt x="0" y="0"/>
                    </a:moveTo>
                    <a:lnTo>
                      <a:pt x="76010" y="0"/>
                    </a:lnTo>
                    <a:lnTo>
                      <a:pt x="76010" y="76009"/>
                    </a:lnTo>
                    <a:lnTo>
                      <a:pt x="0" y="76009"/>
                    </a:lnTo>
                    <a:close/>
                  </a:path>
                </a:pathLst>
              </a:custGeom>
              <a:noFill/>
              <a:ln w="25336">
                <a:solidFill>
                  <a:srgbClr val="0B41CD"/>
                </a:solidFill>
              </a:ln>
            </p:spPr>
          </p:sp>
          <p:sp>
            <p:nvSpPr>
              <p:cNvPr id="11" name="Freeform 11"/>
              <p:cNvSpPr/>
              <p:nvPr/>
            </p:nvSpPr>
            <p:spPr>
              <a:xfrm>
                <a:off x="838105" y="1752505"/>
                <a:ext cx="228029" cy="228028"/>
              </a:xfrm>
              <a:custGeom>
                <a:avLst/>
                <a:gdLst/>
                <a:ahLst/>
                <a:cxnLst/>
                <a:rect l="l" t="t" r="r" b="b"/>
                <a:pathLst>
                  <a:path w="228029" h="228028">
                    <a:moveTo>
                      <a:pt x="0" y="88678"/>
                    </a:moveTo>
                    <a:lnTo>
                      <a:pt x="25337" y="88678"/>
                    </a:lnTo>
                    <a:moveTo>
                      <a:pt x="0" y="139351"/>
                    </a:moveTo>
                    <a:lnTo>
                      <a:pt x="25337" y="139351"/>
                    </a:lnTo>
                    <a:moveTo>
                      <a:pt x="88678" y="0"/>
                    </a:moveTo>
                    <a:lnTo>
                      <a:pt x="88678" y="25336"/>
                    </a:lnTo>
                    <a:moveTo>
                      <a:pt x="139351" y="0"/>
                    </a:moveTo>
                    <a:lnTo>
                      <a:pt x="139351" y="25336"/>
                    </a:lnTo>
                    <a:moveTo>
                      <a:pt x="202692" y="88678"/>
                    </a:moveTo>
                    <a:lnTo>
                      <a:pt x="228029" y="88678"/>
                    </a:lnTo>
                    <a:moveTo>
                      <a:pt x="202692" y="139351"/>
                    </a:moveTo>
                    <a:lnTo>
                      <a:pt x="228029" y="139351"/>
                    </a:lnTo>
                    <a:moveTo>
                      <a:pt x="88678" y="202692"/>
                    </a:moveTo>
                    <a:lnTo>
                      <a:pt x="88678" y="228028"/>
                    </a:lnTo>
                    <a:moveTo>
                      <a:pt x="139351" y="202692"/>
                    </a:moveTo>
                    <a:lnTo>
                      <a:pt x="139351" y="228028"/>
                    </a:lnTo>
                  </a:path>
                </a:pathLst>
              </a:custGeom>
              <a:noFill/>
              <a:ln w="25336">
                <a:solidFill>
                  <a:srgbClr val="0B41CD"/>
                </a:solidFill>
              </a:ln>
            </p:spPr>
          </p:sp>
        </p:grpSp>
        <p:sp>
          <p:nvSpPr>
            <p:cNvPr id="13" name="TextBox 13"/>
            <p:cNvSpPr txBox="1"/>
            <p:nvPr/>
          </p:nvSpPr>
          <p:spPr>
            <a:xfrm>
              <a:off x="795147" y="2180749"/>
              <a:ext cx="1428750"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HARDWARE &amp; SCALE</a:t>
              </a:r>
            </a:p>
          </p:txBody>
        </p:sp>
        <p:sp>
          <p:nvSpPr>
            <p:cNvPr id="14" name="TextBox 14"/>
            <p:cNvSpPr txBox="1"/>
            <p:nvPr/>
          </p:nvSpPr>
          <p:spPr>
            <a:xfrm>
              <a:off x="784860" y="2495550"/>
              <a:ext cx="3017520" cy="586740"/>
            </a:xfrm>
            <a:prstGeom prst="rect">
              <a:avLst/>
            </a:prstGeom>
            <a:noFill/>
            <a:ln>
              <a:noFill/>
            </a:ln>
          </p:spPr>
          <p:txBody>
            <a:bodyPr wrap="none" lIns="0" tIns="0" rIns="0" bIns="0" anchor="t" anchorCtr="0">
              <a:spAutoFit/>
            </a:bodyPr>
            <a:lstStyle/>
            <a:p>
              <a:pPr algn="l"/>
              <a:r>
                <a:rPr lang="en-US" sz="3000" dirty="0">
                  <a:solidFill>
                    <a:srgbClr val="0B41CD"/>
                  </a:solidFill>
                  <a:latin typeface="Roche Sans Light"/>
                  <a:ea typeface="Roche Sans Light"/>
                  <a:cs typeface="Roche Sans Light"/>
                </a:rPr>
                <a:t>8 × NVIDIA P100</a:t>
              </a:r>
            </a:p>
          </p:txBody>
        </p:sp>
        <p:sp>
          <p:nvSpPr>
            <p:cNvPr id="15" name="TextBox 15"/>
            <p:cNvSpPr txBox="1"/>
            <p:nvPr/>
          </p:nvSpPr>
          <p:spPr>
            <a:xfrm>
              <a:off x="794385" y="3040856"/>
              <a:ext cx="3509635"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One machine, eight GPUs — a single-node setup.</a:t>
              </a:r>
            </a:p>
          </p:txBody>
        </p:sp>
        <p:sp>
          <p:nvSpPr>
            <p:cNvPr id="16" name="TextBox 16"/>
            <p:cNvSpPr txBox="1"/>
            <p:nvPr/>
          </p:nvSpPr>
          <p:spPr>
            <a:xfrm>
              <a:off x="794385" y="3250406"/>
              <a:ext cx="3835908"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Batches of ~25,000 source + 25,000 target tokens,</a:t>
              </a:r>
            </a:p>
          </p:txBody>
        </p:sp>
        <p:sp>
          <p:nvSpPr>
            <p:cNvPr id="17" name="TextBox 17"/>
            <p:cNvSpPr txBox="1"/>
            <p:nvPr/>
          </p:nvSpPr>
          <p:spPr>
            <a:xfrm>
              <a:off x="794385" y="3459956"/>
              <a:ext cx="3752183" cy="220028"/>
            </a:xfrm>
            <a:prstGeom prst="rect">
              <a:avLst/>
            </a:prstGeom>
            <a:noFill/>
            <a:ln>
              <a:noFill/>
            </a:ln>
          </p:spPr>
          <p:txBody>
            <a:bodyPr wrap="none" lIns="0" tIns="0" rIns="0" bIns="0" anchor="t" anchorCtr="0">
              <a:spAutoFit/>
            </a:bodyPr>
            <a:lstStyle/>
            <a:p>
              <a:pPr algn="l"/>
              <a:r>
                <a:rPr lang="en-US" sz="1120" dirty="0">
                  <a:solidFill>
                    <a:srgbClr val="706B69"/>
                  </a:solidFill>
                  <a:latin typeface="Roche Sans"/>
                  <a:ea typeface="Roche Sans"/>
                  <a:cs typeface="Roche Sans"/>
                </a:rPr>
                <a:t>grouped by similar sequence length for efficiency.</a:t>
              </a:r>
            </a:p>
          </p:txBody>
        </p:sp>
      </p:grpSp>
      <p:grpSp>
        <p:nvGrpSpPr>
          <p:cNvPr id="30" name="Group 30"/>
          <p:cNvGrpSpPr/>
          <p:nvPr/>
        </p:nvGrpSpPr>
        <p:grpSpPr>
          <a:xfrm>
            <a:off x="6286500" y="1524000"/>
            <a:ext cx="5334000" cy="2286000"/>
            <a:chOff x="6286500" y="1524000"/>
            <a:chExt cx="5334000" cy="2286000"/>
          </a:xfrm>
        </p:grpSpPr>
        <p:sp>
          <p:nvSpPr>
            <p:cNvPr id="19" name="Rectangle 19"/>
            <p:cNvSpPr/>
            <p:nvPr/>
          </p:nvSpPr>
          <p:spPr>
            <a:xfrm>
              <a:off x="6286500" y="1524000"/>
              <a:ext cx="5334000" cy="2286000"/>
            </a:xfrm>
            <a:prstGeom prst="roundRect">
              <a:avLst>
                <a:gd name="adj" fmla="val 5833"/>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20" name="Rectangle 20"/>
            <p:cNvSpPr/>
            <p:nvPr/>
          </p:nvSpPr>
          <p:spPr>
            <a:xfrm>
              <a:off x="6286500" y="1524000"/>
              <a:ext cx="57150" cy="2286000"/>
            </a:xfrm>
            <a:prstGeom prst="roundRect">
              <a:avLst>
                <a:gd name="adj" fmla="val 50000"/>
              </a:avLst>
            </a:prstGeom>
            <a:solidFill>
              <a:srgbClr val="1482FA"/>
            </a:solidFill>
            <a:ln>
              <a:noFill/>
            </a:ln>
          </p:spPr>
        </p:sp>
        <p:sp>
          <p:nvSpPr>
            <p:cNvPr id="21" name="Freeform 21"/>
            <p:cNvSpPr/>
            <p:nvPr/>
          </p:nvSpPr>
          <p:spPr>
            <a:xfrm>
              <a:off x="6578441" y="1752505"/>
              <a:ext cx="177356" cy="228028"/>
            </a:xfrm>
            <a:custGeom>
              <a:avLst/>
              <a:gdLst/>
              <a:ahLst/>
              <a:cxnLst/>
              <a:rect l="l" t="t" r="r" b="b"/>
              <a:pathLst>
                <a:path w="177356" h="228028">
                  <a:moveTo>
                    <a:pt x="101346" y="0"/>
                  </a:moveTo>
                  <a:lnTo>
                    <a:pt x="101346" y="88678"/>
                  </a:lnTo>
                  <a:lnTo>
                    <a:pt x="177356" y="88678"/>
                  </a:lnTo>
                  <a:lnTo>
                    <a:pt x="76010" y="228028"/>
                  </a:lnTo>
                  <a:lnTo>
                    <a:pt x="76010" y="139351"/>
                  </a:lnTo>
                  <a:lnTo>
                    <a:pt x="0" y="139351"/>
                  </a:lnTo>
                  <a:lnTo>
                    <a:pt x="101346" y="0"/>
                  </a:lnTo>
                </a:path>
              </a:pathLst>
            </a:custGeom>
            <a:noFill/>
            <a:ln w="25336">
              <a:solidFill>
                <a:srgbClr val="1482FA"/>
              </a:solidFill>
            </a:ln>
          </p:spPr>
        </p:sp>
        <p:sp>
          <p:nvSpPr>
            <p:cNvPr id="22" name="TextBox 22"/>
            <p:cNvSpPr txBox="1"/>
            <p:nvPr/>
          </p:nvSpPr>
          <p:spPr>
            <a:xfrm>
              <a:off x="6510147" y="2180749"/>
              <a:ext cx="1082573"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TRAINING TIME</a:t>
              </a:r>
            </a:p>
          </p:txBody>
        </p:sp>
        <p:sp>
          <p:nvSpPr>
            <p:cNvPr id="23" name="TextBox 23"/>
            <p:cNvSpPr txBox="1"/>
            <p:nvPr/>
          </p:nvSpPr>
          <p:spPr>
            <a:xfrm>
              <a:off x="6502908" y="2560320"/>
              <a:ext cx="735178" cy="469392"/>
            </a:xfrm>
            <a:prstGeom prst="rect">
              <a:avLst/>
            </a:prstGeom>
            <a:noFill/>
            <a:ln>
              <a:noFill/>
            </a:ln>
          </p:spPr>
          <p:txBody>
            <a:bodyPr wrap="none" lIns="0" tIns="0" rIns="0" bIns="0" anchor="t" anchorCtr="0">
              <a:spAutoFit/>
            </a:bodyPr>
            <a:lstStyle/>
            <a:p>
              <a:pPr algn="l"/>
              <a:r>
                <a:rPr lang="en-US" sz="2400" dirty="0">
                  <a:solidFill>
                    <a:srgbClr val="0B41CD"/>
                  </a:solidFill>
                  <a:latin typeface="Roche Sans Light"/>
                  <a:ea typeface="Roche Sans Light"/>
                  <a:cs typeface="Roche Sans Light"/>
                </a:rPr>
                <a:t>base</a:t>
              </a:r>
            </a:p>
          </p:txBody>
        </p:sp>
        <p:sp>
          <p:nvSpPr>
            <p:cNvPr id="24" name="TextBox 24"/>
            <p:cNvSpPr txBox="1"/>
            <p:nvPr/>
          </p:nvSpPr>
          <p:spPr>
            <a:xfrm>
              <a:off x="7798308" y="2560320"/>
              <a:ext cx="654406" cy="469392"/>
            </a:xfrm>
            <a:prstGeom prst="rect">
              <a:avLst/>
            </a:prstGeom>
            <a:noFill/>
            <a:ln>
              <a:noFill/>
            </a:ln>
          </p:spPr>
          <p:txBody>
            <a:bodyPr wrap="none" lIns="0" tIns="0" rIns="0" bIns="0" anchor="t" anchorCtr="0">
              <a:spAutoFit/>
            </a:bodyPr>
            <a:lstStyle/>
            <a:p>
              <a:pPr algn="l"/>
              <a:r>
                <a:rPr lang="en-US" sz="2400" dirty="0">
                  <a:solidFill>
                    <a:srgbClr val="1482FA"/>
                  </a:solidFill>
                  <a:latin typeface="Roche Sans Light"/>
                  <a:ea typeface="Roche Sans Light"/>
                  <a:cs typeface="Roche Sans Light"/>
                </a:rPr>
                <a:t>12 h</a:t>
              </a:r>
            </a:p>
          </p:txBody>
        </p:sp>
        <p:sp>
          <p:nvSpPr>
            <p:cNvPr id="25" name="TextBox 25"/>
            <p:cNvSpPr txBox="1"/>
            <p:nvPr/>
          </p:nvSpPr>
          <p:spPr>
            <a:xfrm>
              <a:off x="8947785" y="2697956"/>
              <a:ext cx="927973" cy="220028"/>
            </a:xfrm>
            <a:prstGeom prst="rect">
              <a:avLst/>
            </a:prstGeom>
            <a:noFill/>
            <a:ln>
              <a:noFill/>
            </a:ln>
          </p:spPr>
          <p:txBody>
            <a:bodyPr wrap="none" lIns="0" tIns="0" rIns="0" bIns="0" anchor="t" anchorCtr="0">
              <a:spAutoFit/>
            </a:bodyPr>
            <a:lstStyle/>
            <a:p>
              <a:pPr algn="l" marL="121444" indent="-121444">
                <a:buClr>
                  <a:srgbClr val="706B69"/>
                </a:buClr>
                <a:buSzTx/>
                <a:buFontTx/>
                <a:buChar char="•"/>
              </a:pPr>
              <a:r>
                <a:rPr lang="en-US" sz="1120" dirty="0">
                  <a:solidFill>
                    <a:srgbClr val="706B69"/>
                  </a:solidFill>
                  <a:latin typeface="Roche Sans"/>
                  <a:ea typeface="Roche Sans"/>
                  <a:cs typeface="Roche Sans"/>
                </a:rPr>
                <a:t>100k steps</a:t>
              </a:r>
            </a:p>
          </p:txBody>
        </p:sp>
        <p:sp>
          <p:nvSpPr>
            <p:cNvPr id="26" name="TextBox 26"/>
            <p:cNvSpPr txBox="1"/>
            <p:nvPr/>
          </p:nvSpPr>
          <p:spPr>
            <a:xfrm>
              <a:off x="6502908" y="3036570"/>
              <a:ext cx="476707" cy="469392"/>
            </a:xfrm>
            <a:prstGeom prst="rect">
              <a:avLst/>
            </a:prstGeom>
            <a:noFill/>
            <a:ln>
              <a:noFill/>
            </a:ln>
          </p:spPr>
          <p:txBody>
            <a:bodyPr wrap="none" lIns="0" tIns="0" rIns="0" bIns="0" anchor="t" anchorCtr="0">
              <a:spAutoFit/>
            </a:bodyPr>
            <a:lstStyle/>
            <a:p>
              <a:pPr algn="l"/>
              <a:r>
                <a:rPr lang="en-US" sz="2400" dirty="0">
                  <a:solidFill>
                    <a:srgbClr val="0B41CD"/>
                  </a:solidFill>
                  <a:latin typeface="Roche Sans Light"/>
                  <a:ea typeface="Roche Sans Light"/>
                  <a:cs typeface="Roche Sans Light"/>
                </a:rPr>
                <a:t>big</a:t>
              </a:r>
            </a:p>
          </p:txBody>
        </p:sp>
        <p:sp>
          <p:nvSpPr>
            <p:cNvPr id="27" name="TextBox 27"/>
            <p:cNvSpPr txBox="1"/>
            <p:nvPr/>
          </p:nvSpPr>
          <p:spPr>
            <a:xfrm>
              <a:off x="7798308" y="3036570"/>
              <a:ext cx="832104" cy="469392"/>
            </a:xfrm>
            <a:prstGeom prst="rect">
              <a:avLst/>
            </a:prstGeom>
            <a:noFill/>
            <a:ln>
              <a:noFill/>
            </a:ln>
          </p:spPr>
          <p:txBody>
            <a:bodyPr wrap="none" lIns="0" tIns="0" rIns="0" bIns="0" anchor="t" anchorCtr="0">
              <a:spAutoFit/>
            </a:bodyPr>
            <a:lstStyle/>
            <a:p>
              <a:pPr algn="l"/>
              <a:r>
                <a:rPr lang="en-US" sz="2400" dirty="0">
                  <a:solidFill>
                    <a:srgbClr val="1482FA"/>
                  </a:solidFill>
                  <a:latin typeface="Roche Sans Light"/>
                  <a:ea typeface="Roche Sans Light"/>
                  <a:cs typeface="Roche Sans Light"/>
                </a:rPr>
                <a:t>3.5 d</a:t>
              </a:r>
            </a:p>
          </p:txBody>
        </p:sp>
        <p:sp>
          <p:nvSpPr>
            <p:cNvPr id="28" name="TextBox 28"/>
            <p:cNvSpPr txBox="1"/>
            <p:nvPr/>
          </p:nvSpPr>
          <p:spPr>
            <a:xfrm>
              <a:off x="8947785" y="3174206"/>
              <a:ext cx="927973" cy="220028"/>
            </a:xfrm>
            <a:prstGeom prst="rect">
              <a:avLst/>
            </a:prstGeom>
            <a:noFill/>
            <a:ln>
              <a:noFill/>
            </a:ln>
          </p:spPr>
          <p:txBody>
            <a:bodyPr wrap="none" lIns="0" tIns="0" rIns="0" bIns="0" anchor="t" anchorCtr="0">
              <a:spAutoFit/>
            </a:bodyPr>
            <a:lstStyle/>
            <a:p>
              <a:pPr algn="l" marL="121444" indent="-121444">
                <a:buClr>
                  <a:srgbClr val="706B69"/>
                </a:buClr>
                <a:buSzTx/>
                <a:buFontTx/>
                <a:buChar char="•"/>
              </a:pPr>
              <a:r>
                <a:rPr lang="en-US" sz="1120" dirty="0">
                  <a:solidFill>
                    <a:srgbClr val="706B69"/>
                  </a:solidFill>
                  <a:latin typeface="Roche Sans"/>
                  <a:ea typeface="Roche Sans"/>
                  <a:cs typeface="Roche Sans"/>
                </a:rPr>
                <a:t>300k steps</a:t>
              </a:r>
            </a:p>
          </p:txBody>
        </p:sp>
        <p:sp>
          <p:nvSpPr>
            <p:cNvPr id="29" name="TextBox 29"/>
            <p:cNvSpPr txBox="1"/>
            <p:nvPr/>
          </p:nvSpPr>
          <p:spPr>
            <a:xfrm>
              <a:off x="6509766" y="3563302"/>
              <a:ext cx="4301204" cy="205359"/>
            </a:xfrm>
            <a:prstGeom prst="rect">
              <a:avLst/>
            </a:prstGeom>
            <a:noFill/>
            <a:ln>
              <a:noFill/>
            </a:ln>
          </p:spPr>
          <p:txBody>
            <a:bodyPr wrap="none" lIns="0" tIns="0" rIns="0" bIns="0" anchor="t" anchorCtr="0">
              <a:spAutoFit/>
            </a:bodyPr>
            <a:lstStyle/>
            <a:p>
              <a:pPr algn="l"/>
              <a:r>
                <a:rPr lang="en-US" sz="1050" i="1" dirty="0">
                  <a:solidFill>
                    <a:srgbClr val="706B69"/>
                  </a:solidFill>
                  <a:latin typeface="Roche Serif Light"/>
                  <a:ea typeface="Roche Serif Light"/>
                  <a:cs typeface="Roche Serif Light"/>
                </a:rPr>
                <a:t>A small fraction of the training cost of prior best models.</a:t>
              </a:r>
            </a:p>
          </p:txBody>
        </p:sp>
      </p:grpSp>
      <p:grpSp>
        <p:nvGrpSpPr>
          <p:cNvPr id="42" name="Group 42"/>
          <p:cNvGrpSpPr/>
          <p:nvPr/>
        </p:nvGrpSpPr>
        <p:grpSpPr>
          <a:xfrm>
            <a:off x="571500" y="4000500"/>
            <a:ext cx="5524500" cy="2295239"/>
            <a:chOff x="571500" y="4000500"/>
            <a:chExt cx="5524500" cy="2295239"/>
          </a:xfrm>
        </p:grpSpPr>
        <p:sp>
          <p:nvSpPr>
            <p:cNvPr id="31" name="Rectangle 31"/>
            <p:cNvSpPr/>
            <p:nvPr/>
          </p:nvSpPr>
          <p:spPr>
            <a:xfrm>
              <a:off x="571500" y="4000500"/>
              <a:ext cx="5524500" cy="2286000"/>
            </a:xfrm>
            <a:prstGeom prst="roundRect">
              <a:avLst>
                <a:gd name="adj" fmla="val 5833"/>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32" name="Rectangle 32"/>
            <p:cNvSpPr/>
            <p:nvPr/>
          </p:nvSpPr>
          <p:spPr>
            <a:xfrm>
              <a:off x="571500" y="4000500"/>
              <a:ext cx="57150" cy="2286000"/>
            </a:xfrm>
            <a:prstGeom prst="roundRect">
              <a:avLst>
                <a:gd name="adj" fmla="val 50000"/>
              </a:avLst>
            </a:prstGeom>
            <a:solidFill>
              <a:srgbClr val="0B41CD"/>
            </a:solidFill>
            <a:ln>
              <a:noFill/>
            </a:ln>
          </p:spPr>
        </p:sp>
        <p:grpSp>
          <p:nvGrpSpPr>
            <p:cNvPr id="35" name="Group 35"/>
            <p:cNvGrpSpPr/>
            <p:nvPr/>
          </p:nvGrpSpPr>
          <p:grpSpPr>
            <a:xfrm>
              <a:off x="832543" y="4223443"/>
              <a:ext cx="239151" cy="239151"/>
              <a:chOff x="832543" y="4223443"/>
              <a:chExt cx="239151" cy="239151"/>
            </a:xfrm>
          </p:grpSpPr>
          <p:sp>
            <p:nvSpPr>
              <p:cNvPr id="33" name="Freeform 33"/>
              <p:cNvSpPr/>
              <p:nvPr/>
            </p:nvSpPr>
            <p:spPr>
              <a:xfrm>
                <a:off x="832543" y="4223443"/>
                <a:ext cx="239151" cy="239151"/>
              </a:xfrm>
              <a:custGeom>
                <a:avLst/>
                <a:gdLst/>
                <a:ahLst/>
                <a:cxnLst/>
                <a:rect l="l" t="t" r="r" b="b"/>
                <a:pathLst>
                  <a:path w="239151" h="239151">
                    <a:moveTo>
                      <a:pt x="98356" y="22245"/>
                    </a:moveTo>
                    <a:cubicBezTo>
                      <a:pt x="103753" y="0"/>
                      <a:pt x="135398" y="0"/>
                      <a:pt x="140795" y="22245"/>
                    </a:cubicBezTo>
                    <a:cubicBezTo>
                      <a:pt x="142437" y="29024"/>
                      <a:pt x="147218" y="34610"/>
                      <a:pt x="153661" y="37279"/>
                    </a:cubicBezTo>
                    <a:cubicBezTo>
                      <a:pt x="160105" y="39949"/>
                      <a:pt x="167436" y="39381"/>
                      <a:pt x="173390" y="35750"/>
                    </a:cubicBezTo>
                    <a:cubicBezTo>
                      <a:pt x="192937" y="23842"/>
                      <a:pt x="215322" y="46214"/>
                      <a:pt x="203414" y="65774"/>
                    </a:cubicBezTo>
                    <a:cubicBezTo>
                      <a:pt x="199789" y="71726"/>
                      <a:pt x="199222" y="79051"/>
                      <a:pt x="201888" y="85490"/>
                    </a:cubicBezTo>
                    <a:cubicBezTo>
                      <a:pt x="204554" y="91929"/>
                      <a:pt x="210134" y="96709"/>
                      <a:pt x="216906" y="98356"/>
                    </a:cubicBezTo>
                    <a:cubicBezTo>
                      <a:pt x="239151" y="103753"/>
                      <a:pt x="239151" y="135398"/>
                      <a:pt x="216906" y="140795"/>
                    </a:cubicBezTo>
                    <a:cubicBezTo>
                      <a:pt x="210128" y="142437"/>
                      <a:pt x="204541" y="147218"/>
                      <a:pt x="201872" y="153661"/>
                    </a:cubicBezTo>
                    <a:cubicBezTo>
                      <a:pt x="199202" y="160105"/>
                      <a:pt x="199771" y="167436"/>
                      <a:pt x="203401" y="173390"/>
                    </a:cubicBezTo>
                    <a:cubicBezTo>
                      <a:pt x="215310" y="192937"/>
                      <a:pt x="192937" y="215322"/>
                      <a:pt x="173378" y="203414"/>
                    </a:cubicBezTo>
                    <a:cubicBezTo>
                      <a:pt x="167425" y="199789"/>
                      <a:pt x="160100" y="199222"/>
                      <a:pt x="153661" y="201888"/>
                    </a:cubicBezTo>
                    <a:cubicBezTo>
                      <a:pt x="147222" y="204554"/>
                      <a:pt x="142442" y="210134"/>
                      <a:pt x="140795" y="216906"/>
                    </a:cubicBezTo>
                    <a:cubicBezTo>
                      <a:pt x="135398" y="239151"/>
                      <a:pt x="103753" y="239151"/>
                      <a:pt x="98356" y="216906"/>
                    </a:cubicBezTo>
                    <a:cubicBezTo>
                      <a:pt x="96714" y="210128"/>
                      <a:pt x="91933" y="204541"/>
                      <a:pt x="85490" y="201872"/>
                    </a:cubicBezTo>
                    <a:cubicBezTo>
                      <a:pt x="79046" y="199202"/>
                      <a:pt x="71716" y="199771"/>
                      <a:pt x="65761" y="203401"/>
                    </a:cubicBezTo>
                    <a:cubicBezTo>
                      <a:pt x="46214" y="215310"/>
                      <a:pt x="23829" y="192937"/>
                      <a:pt x="35737" y="173378"/>
                    </a:cubicBezTo>
                    <a:cubicBezTo>
                      <a:pt x="39363" y="167425"/>
                      <a:pt x="39930" y="160100"/>
                      <a:pt x="37263" y="153661"/>
                    </a:cubicBezTo>
                    <a:cubicBezTo>
                      <a:pt x="34597" y="147222"/>
                      <a:pt x="29018" y="142442"/>
                      <a:pt x="22245" y="140795"/>
                    </a:cubicBezTo>
                    <a:cubicBezTo>
                      <a:pt x="0" y="135398"/>
                      <a:pt x="0" y="103753"/>
                      <a:pt x="22245" y="98356"/>
                    </a:cubicBezTo>
                    <a:cubicBezTo>
                      <a:pt x="29024" y="96714"/>
                      <a:pt x="34610" y="91933"/>
                      <a:pt x="37279" y="85490"/>
                    </a:cubicBezTo>
                    <a:cubicBezTo>
                      <a:pt x="39949" y="79046"/>
                      <a:pt x="39381" y="71716"/>
                      <a:pt x="35750" y="65761"/>
                    </a:cubicBezTo>
                    <a:cubicBezTo>
                      <a:pt x="23842" y="46214"/>
                      <a:pt x="46214" y="23829"/>
                      <a:pt x="65774" y="35737"/>
                    </a:cubicBezTo>
                    <a:cubicBezTo>
                      <a:pt x="78442" y="43439"/>
                      <a:pt x="94860" y="36624"/>
                      <a:pt x="98356" y="22245"/>
                    </a:cubicBezTo>
                    <a:close/>
                  </a:path>
                </a:pathLst>
              </a:custGeom>
              <a:noFill/>
              <a:ln w="25336">
                <a:solidFill>
                  <a:srgbClr val="0B41CD"/>
                </a:solidFill>
              </a:ln>
            </p:spPr>
          </p:sp>
          <p:sp>
            <p:nvSpPr>
              <p:cNvPr id="34" name="Freeform 34"/>
              <p:cNvSpPr/>
              <p:nvPr/>
            </p:nvSpPr>
            <p:spPr>
              <a:xfrm>
                <a:off x="914114" y="4305014"/>
                <a:ext cx="76010" cy="76009"/>
              </a:xfrm>
              <a:custGeom>
                <a:avLst/>
                <a:gdLst/>
                <a:ahLst/>
                <a:cxnLst/>
                <a:rect l="l" t="t" r="r" b="b"/>
                <a:pathLst>
                  <a:path w="76010" h="76009">
                    <a:moveTo>
                      <a:pt x="0" y="38005"/>
                    </a:moveTo>
                    <a:cubicBezTo>
                      <a:pt x="0" y="58994"/>
                      <a:pt x="17015" y="76009"/>
                      <a:pt x="38005" y="76009"/>
                    </a:cubicBezTo>
                    <a:cubicBezTo>
                      <a:pt x="58994" y="76009"/>
                      <a:pt x="76010" y="58994"/>
                      <a:pt x="76010" y="38005"/>
                    </a:cubicBezTo>
                    <a:cubicBezTo>
                      <a:pt x="76010" y="17015"/>
                      <a:pt x="58994" y="0"/>
                      <a:pt x="38005" y="0"/>
                    </a:cubicBezTo>
                    <a:cubicBezTo>
                      <a:pt x="17015" y="0"/>
                      <a:pt x="0" y="17015"/>
                      <a:pt x="0" y="38005"/>
                    </a:cubicBezTo>
                  </a:path>
                </a:pathLst>
              </a:custGeom>
              <a:noFill/>
              <a:ln w="25336">
                <a:solidFill>
                  <a:srgbClr val="0B41CD"/>
                </a:solidFill>
              </a:ln>
            </p:spPr>
          </p:sp>
        </p:grpSp>
        <p:sp>
          <p:nvSpPr>
            <p:cNvPr id="36" name="TextBox 36"/>
            <p:cNvSpPr txBox="1"/>
            <p:nvPr/>
          </p:nvSpPr>
          <p:spPr>
            <a:xfrm>
              <a:off x="795147" y="4657249"/>
              <a:ext cx="810539"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OPTIMIZER</a:t>
              </a:r>
            </a:p>
          </p:txBody>
        </p:sp>
        <p:sp>
          <p:nvSpPr>
            <p:cNvPr id="37" name="TextBox 37"/>
            <p:cNvSpPr txBox="1"/>
            <p:nvPr/>
          </p:nvSpPr>
          <p:spPr>
            <a:xfrm>
              <a:off x="787908" y="4941570"/>
              <a:ext cx="810768" cy="469392"/>
            </a:xfrm>
            <a:prstGeom prst="rect">
              <a:avLst/>
            </a:prstGeom>
            <a:noFill/>
            <a:ln>
              <a:noFill/>
            </a:ln>
          </p:spPr>
          <p:txBody>
            <a:bodyPr wrap="none" lIns="0" tIns="0" rIns="0" bIns="0" anchor="t" anchorCtr="0">
              <a:spAutoFit/>
            </a:bodyPr>
            <a:lstStyle/>
            <a:p>
              <a:pPr algn="l"/>
              <a:r>
                <a:rPr lang="en-US" sz="2400" dirty="0">
                  <a:solidFill>
                    <a:srgbClr val="0B41CD"/>
                  </a:solidFill>
                  <a:latin typeface="Roche Sans Light"/>
                  <a:ea typeface="Roche Sans Light"/>
                  <a:cs typeface="Roche Sans Light"/>
                </a:rPr>
                <a:t>Adam</a:t>
              </a:r>
            </a:p>
          </p:txBody>
        </p:sp>
        <p:sp>
          <p:nvSpPr>
            <p:cNvPr id="38" name="TextBox 38"/>
            <p:cNvSpPr txBox="1"/>
            <p:nvPr/>
          </p:nvSpPr>
          <p:spPr>
            <a:xfrm>
              <a:off x="794385" y="5384006"/>
              <a:ext cx="2214991"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Consolas"/>
                  <a:ea typeface="Consolas"/>
                  <a:cs typeface="Consolas"/>
                </a:rPr>
                <a:t>β₁ = 0.9 · β₂ = 0.98 · ε = 1e-9</a:t>
              </a:r>
            </a:p>
          </p:txBody>
        </p:sp>
        <p:sp>
          <p:nvSpPr>
            <p:cNvPr id="39" name="TextBox 39"/>
            <p:cNvSpPr txBox="1"/>
            <p:nvPr/>
          </p:nvSpPr>
          <p:spPr>
            <a:xfrm>
              <a:off x="794766" y="5696902"/>
              <a:ext cx="2199295"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Custom learning-rate schedule:</a:t>
              </a:r>
            </a:p>
          </p:txBody>
        </p:sp>
        <p:sp>
          <p:nvSpPr>
            <p:cNvPr id="40" name="TextBox 40"/>
            <p:cNvSpPr txBox="1"/>
            <p:nvPr/>
          </p:nvSpPr>
          <p:spPr>
            <a:xfrm>
              <a:off x="794766" y="5906452"/>
              <a:ext cx="2880093" cy="205359"/>
            </a:xfrm>
            <a:prstGeom prst="rect">
              <a:avLst/>
            </a:prstGeom>
            <a:noFill/>
            <a:ln>
              <a:noFill/>
            </a:ln>
          </p:spPr>
          <p:txBody>
            <a:bodyPr wrap="none" lIns="0" tIns="0" rIns="0" bIns="0" anchor="t" anchorCtr="0">
              <a:spAutoFit/>
            </a:bodyPr>
            <a:lstStyle/>
            <a:p>
              <a:pPr algn="l"/>
              <a:r>
                <a:rPr lang="en-US" sz="1050" dirty="0">
                  <a:solidFill>
                    <a:srgbClr val="1482FA"/>
                  </a:solidFill>
                  <a:latin typeface="Consolas"/>
                  <a:ea typeface="Consolas"/>
                  <a:cs typeface="Consolas"/>
                </a:rPr>
                <a:t>lr = min(step^-0.5, step · warmup^-1.5)</a:t>
              </a:r>
            </a:p>
          </p:txBody>
        </p:sp>
        <p:sp>
          <p:nvSpPr>
            <p:cNvPr id="41" name="TextBox 41"/>
            <p:cNvSpPr txBox="1"/>
            <p:nvPr/>
          </p:nvSpPr>
          <p:spPr>
            <a:xfrm>
              <a:off x="795147" y="6105049"/>
              <a:ext cx="3372993" cy="190690"/>
            </a:xfrm>
            <a:prstGeom prst="rect">
              <a:avLst/>
            </a:prstGeom>
            <a:noFill/>
            <a:ln>
              <a:noFill/>
            </a:ln>
          </p:spPr>
          <p:txBody>
            <a:bodyPr wrap="none" lIns="0" tIns="0" rIns="0" bIns="0" anchor="t" anchorCtr="0">
              <a:spAutoFit/>
            </a:bodyPr>
            <a:lstStyle/>
            <a:p>
              <a:pPr algn="l"/>
              <a:r>
                <a:rPr lang="en-US" sz="980" i="1" dirty="0">
                  <a:solidFill>
                    <a:srgbClr val="706B69"/>
                  </a:solidFill>
                  <a:latin typeface="Roche Serif Light"/>
                  <a:ea typeface="Roche Serif Light"/>
                  <a:cs typeface="Roche Serif Light"/>
                </a:rPr>
                <a:t>warm up for 4,000 steps, then decay as 1/√step.</a:t>
              </a:r>
            </a:p>
          </p:txBody>
        </p:sp>
      </p:grpSp>
      <p:grpSp>
        <p:nvGrpSpPr>
          <p:cNvPr id="55" name="Group 55"/>
          <p:cNvGrpSpPr/>
          <p:nvPr/>
        </p:nvGrpSpPr>
        <p:grpSpPr>
          <a:xfrm>
            <a:off x="6286500" y="4000500"/>
            <a:ext cx="5334000" cy="2286000"/>
            <a:chOff x="6286500" y="4000500"/>
            <a:chExt cx="5334000" cy="2286000"/>
          </a:xfrm>
        </p:grpSpPr>
        <p:sp>
          <p:nvSpPr>
            <p:cNvPr id="43" name="Rectangle 43"/>
            <p:cNvSpPr/>
            <p:nvPr/>
          </p:nvSpPr>
          <p:spPr>
            <a:xfrm>
              <a:off x="6286500" y="4000500"/>
              <a:ext cx="5334000" cy="2286000"/>
            </a:xfrm>
            <a:prstGeom prst="roundRect">
              <a:avLst>
                <a:gd name="adj" fmla="val 5833"/>
              </a:avLst>
            </a:prstGeom>
            <a:solidFill>
              <a:srgbClr val="FFFFFF"/>
            </a:solidFill>
            <a:ln w="14288">
              <a:solidFill>
                <a:srgbClr val="E0E0E0"/>
              </a:solidFill>
            </a:ln>
            <a:effectLst>
              <a:outerShdw blurRad="76200" dist="28575" dir="5400000" algn="ctr" rotWithShape="0">
                <a:srgbClr val="0B41CD">
                  <a:alpha val="5250"/>
                </a:srgbClr>
              </a:outerShdw>
            </a:effectLst>
          </p:spPr>
        </p:sp>
        <p:sp>
          <p:nvSpPr>
            <p:cNvPr id="44" name="Rectangle 44"/>
            <p:cNvSpPr/>
            <p:nvPr/>
          </p:nvSpPr>
          <p:spPr>
            <a:xfrm>
              <a:off x="6286500" y="4000500"/>
              <a:ext cx="57150" cy="2286000"/>
            </a:xfrm>
            <a:prstGeom prst="roundRect">
              <a:avLst>
                <a:gd name="adj" fmla="val 50000"/>
              </a:avLst>
            </a:prstGeom>
            <a:solidFill>
              <a:srgbClr val="1482FA"/>
            </a:solidFill>
            <a:ln>
              <a:noFill/>
            </a:ln>
          </p:spPr>
        </p:sp>
        <p:grpSp>
          <p:nvGrpSpPr>
            <p:cNvPr id="47" name="Group 47"/>
            <p:cNvGrpSpPr/>
            <p:nvPr/>
          </p:nvGrpSpPr>
          <p:grpSpPr>
            <a:xfrm>
              <a:off x="6547829" y="4229005"/>
              <a:ext cx="238580" cy="228028"/>
              <a:chOff x="6547829" y="4229005"/>
              <a:chExt cx="238580" cy="228028"/>
            </a:xfrm>
          </p:grpSpPr>
          <p:sp>
            <p:nvSpPr>
              <p:cNvPr id="45" name="Freeform 45"/>
              <p:cNvSpPr/>
              <p:nvPr/>
            </p:nvSpPr>
            <p:spPr>
              <a:xfrm>
                <a:off x="6547829" y="4229005"/>
                <a:ext cx="238580" cy="228028"/>
              </a:xfrm>
              <a:custGeom>
                <a:avLst/>
                <a:gdLst/>
                <a:ahLst/>
                <a:cxnLst/>
                <a:rect l="l" t="t" r="r" b="b"/>
                <a:pathLst>
                  <a:path w="238580" h="228028">
                    <a:moveTo>
                      <a:pt x="119290" y="0"/>
                    </a:moveTo>
                    <a:cubicBezTo>
                      <a:pt x="148881" y="26180"/>
                      <a:pt x="187502" y="39811"/>
                      <a:pt x="226970" y="38005"/>
                    </a:cubicBezTo>
                    <a:cubicBezTo>
                      <a:pt x="238580" y="77498"/>
                      <a:pt x="233677" y="120012"/>
                      <a:pt x="213382" y="155826"/>
                    </a:cubicBezTo>
                    <a:cubicBezTo>
                      <a:pt x="193087" y="191640"/>
                      <a:pt x="159136" y="217693"/>
                      <a:pt x="119290" y="228028"/>
                    </a:cubicBezTo>
                    <a:cubicBezTo>
                      <a:pt x="79444" y="217693"/>
                      <a:pt x="45492" y="191640"/>
                      <a:pt x="25198" y="155826"/>
                    </a:cubicBezTo>
                    <a:cubicBezTo>
                      <a:pt x="4903" y="120012"/>
                      <a:pt x="0" y="77498"/>
                      <a:pt x="11610" y="38005"/>
                    </a:cubicBezTo>
                    <a:cubicBezTo>
                      <a:pt x="51078" y="39811"/>
                      <a:pt x="89699" y="26180"/>
                      <a:pt x="119290" y="0"/>
                    </a:cubicBezTo>
                  </a:path>
                </a:pathLst>
              </a:custGeom>
              <a:noFill/>
              <a:ln w="25336">
                <a:solidFill>
                  <a:srgbClr val="1482FA"/>
                </a:solidFill>
              </a:ln>
            </p:spPr>
          </p:sp>
          <p:sp>
            <p:nvSpPr>
              <p:cNvPr id="46" name="Freeform 46"/>
              <p:cNvSpPr/>
              <p:nvPr/>
            </p:nvSpPr>
            <p:spPr>
              <a:xfrm>
                <a:off x="6629114" y="4317682"/>
                <a:ext cx="76010" cy="50673"/>
              </a:xfrm>
              <a:custGeom>
                <a:avLst/>
                <a:gdLst/>
                <a:ahLst/>
                <a:cxnLst/>
                <a:rect l="l" t="t" r="r" b="b"/>
                <a:pathLst>
                  <a:path w="76010" h="50673">
                    <a:moveTo>
                      <a:pt x="0" y="25336"/>
                    </a:moveTo>
                    <a:lnTo>
                      <a:pt x="25336" y="50673"/>
                    </a:lnTo>
                    <a:lnTo>
                      <a:pt x="76010" y="0"/>
                    </a:lnTo>
                  </a:path>
                </a:pathLst>
              </a:custGeom>
              <a:noFill/>
              <a:ln w="25336">
                <a:solidFill>
                  <a:srgbClr val="1482FA"/>
                </a:solidFill>
              </a:ln>
            </p:spPr>
          </p:sp>
        </p:grpSp>
        <p:sp>
          <p:nvSpPr>
            <p:cNvPr id="48" name="TextBox 48"/>
            <p:cNvSpPr txBox="1"/>
            <p:nvPr/>
          </p:nvSpPr>
          <p:spPr>
            <a:xfrm>
              <a:off x="6510147" y="4657249"/>
              <a:ext cx="1244194"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REGULARIZATION</a:t>
              </a:r>
            </a:p>
          </p:txBody>
        </p:sp>
        <p:sp>
          <p:nvSpPr>
            <p:cNvPr id="49" name="TextBox 49"/>
            <p:cNvSpPr txBox="1"/>
            <p:nvPr/>
          </p:nvSpPr>
          <p:spPr>
            <a:xfrm>
              <a:off x="6506718" y="5003482"/>
              <a:ext cx="878853"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Dropout</a:t>
              </a:r>
            </a:p>
          </p:txBody>
        </p:sp>
        <p:sp>
          <p:nvSpPr>
            <p:cNvPr id="50" name="TextBox 50"/>
            <p:cNvSpPr txBox="1"/>
            <p:nvPr/>
          </p:nvSpPr>
          <p:spPr>
            <a:xfrm>
              <a:off x="8088630" y="5019675"/>
              <a:ext cx="725529" cy="293370"/>
            </a:xfrm>
            <a:prstGeom prst="rect">
              <a:avLst/>
            </a:prstGeom>
            <a:noFill/>
            <a:ln>
              <a:noFill/>
            </a:ln>
          </p:spPr>
          <p:txBody>
            <a:bodyPr wrap="none" lIns="0" tIns="0" rIns="0" bIns="0" anchor="t" anchorCtr="0">
              <a:spAutoFit/>
            </a:bodyPr>
            <a:lstStyle/>
            <a:p>
              <a:pPr algn="l"/>
              <a:r>
                <a:rPr lang="en-US" sz="1500" b="1" dirty="0">
                  <a:solidFill>
                    <a:srgbClr val="1482FA"/>
                  </a:solidFill>
                  <a:latin typeface="Consolas"/>
                  <a:ea typeface="Consolas"/>
                  <a:cs typeface="Consolas"/>
                </a:rPr>
                <a:t>p = 0.1</a:t>
              </a:r>
            </a:p>
          </p:txBody>
        </p:sp>
        <p:sp>
          <p:nvSpPr>
            <p:cNvPr id="51" name="TextBox 51"/>
            <p:cNvSpPr txBox="1"/>
            <p:nvPr/>
          </p:nvSpPr>
          <p:spPr>
            <a:xfrm>
              <a:off x="6510147" y="5285899"/>
              <a:ext cx="3904813"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on every sub-layer output and on the sum of embedding + PE.</a:t>
              </a:r>
            </a:p>
          </p:txBody>
        </p:sp>
        <p:sp>
          <p:nvSpPr>
            <p:cNvPr id="52" name="TextBox 52"/>
            <p:cNvSpPr txBox="1"/>
            <p:nvPr/>
          </p:nvSpPr>
          <p:spPr>
            <a:xfrm>
              <a:off x="6506718" y="5632132"/>
              <a:ext cx="1734026"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Label smoothing</a:t>
              </a:r>
            </a:p>
          </p:txBody>
        </p:sp>
        <p:sp>
          <p:nvSpPr>
            <p:cNvPr id="53" name="TextBox 53"/>
            <p:cNvSpPr txBox="1"/>
            <p:nvPr/>
          </p:nvSpPr>
          <p:spPr>
            <a:xfrm>
              <a:off x="9041130" y="5648325"/>
              <a:ext cx="1022366" cy="293370"/>
            </a:xfrm>
            <a:prstGeom prst="rect">
              <a:avLst/>
            </a:prstGeom>
            <a:noFill/>
            <a:ln>
              <a:noFill/>
            </a:ln>
          </p:spPr>
          <p:txBody>
            <a:bodyPr wrap="none" lIns="0" tIns="0" rIns="0" bIns="0" anchor="t" anchorCtr="0">
              <a:spAutoFit/>
            </a:bodyPr>
            <a:lstStyle/>
            <a:p>
              <a:pPr algn="l"/>
              <a:r>
                <a:rPr lang="en-US" sz="1500" b="1" dirty="0">
                  <a:solidFill>
                    <a:srgbClr val="1482FA"/>
                  </a:solidFill>
                  <a:latin typeface="Consolas"/>
                  <a:ea typeface="Consolas"/>
                  <a:cs typeface="Consolas"/>
                </a:rPr>
                <a:t>ε_ls = 0.1</a:t>
              </a:r>
            </a:p>
          </p:txBody>
        </p:sp>
        <p:sp>
          <p:nvSpPr>
            <p:cNvPr id="54" name="TextBox 54"/>
            <p:cNvSpPr txBox="1"/>
            <p:nvPr/>
          </p:nvSpPr>
          <p:spPr>
            <a:xfrm>
              <a:off x="6510147" y="5914549"/>
              <a:ext cx="3818470" cy="190690"/>
            </a:xfrm>
            <a:prstGeom prst="rect">
              <a:avLst/>
            </a:prstGeom>
            <a:noFill/>
            <a:ln>
              <a:noFill/>
            </a:ln>
          </p:spPr>
          <p:txBody>
            <a:bodyPr wrap="none" lIns="0" tIns="0" rIns="0" bIns="0" anchor="t" anchorCtr="0">
              <a:spAutoFit/>
            </a:bodyPr>
            <a:lstStyle/>
            <a:p>
              <a:pPr algn="l"/>
              <a:r>
                <a:rPr lang="en-US" sz="980" dirty="0">
                  <a:solidFill>
                    <a:srgbClr val="706B69"/>
                  </a:solidFill>
                  <a:latin typeface="Roche Sans"/>
                  <a:ea typeface="Roche Sans"/>
                  <a:cs typeface="Roche Sans"/>
                </a:rPr>
                <a:t>Slightly hurts perplexity, but improves BLEU and accuracy.</a:t>
              </a:r>
            </a:p>
          </p:txBody>
        </p:sp>
      </p:grpSp>
      <p:grpSp>
        <p:nvGrpSpPr>
          <p:cNvPr id="58" name="Group 58"/>
          <p:cNvGrpSpPr/>
          <p:nvPr/>
        </p:nvGrpSpPr>
        <p:grpSpPr>
          <a:xfrm>
            <a:off x="566738" y="6521291"/>
            <a:ext cx="11058525" cy="161925"/>
            <a:chOff x="566738" y="6521291"/>
            <a:chExt cx="11058525" cy="161925"/>
          </a:xfrm>
        </p:grpSpPr>
        <p:sp>
          <p:nvSpPr>
            <p:cNvPr id="56" name="TextBox 56"/>
            <p:cNvSpPr txBox="1"/>
            <p:nvPr/>
          </p:nvSpPr>
          <p:spPr>
            <a:xfrm>
              <a:off x="566738" y="6521291"/>
              <a:ext cx="6131688"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§5.1 Batching · §5.2 Hardware and Schedule · §5.3 Optimizer · §5.4 Regularization</a:t>
              </a:r>
            </a:p>
          </p:txBody>
        </p:sp>
        <p:sp>
          <p:nvSpPr>
            <p:cNvPr id="57" name="TextBox 57"/>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400"/>
                                        <p:tgtEl>
                                          <p:spTgt spid="1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lide(fromBottom)">
                                      <p:cBhvr>
                                        <p:cTn id="11" dur="400"/>
                                        <p:tgtEl>
                                          <p:spTgt spid="3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slide(fromBottom)">
                                      <p:cBhvr>
                                        <p:cTn id="15" dur="400"/>
                                        <p:tgtEl>
                                          <p:spTgt spid="42"/>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8370594" cy="656939"/>
            <a:chOff x="571500" y="533400"/>
            <a:chExt cx="8370594"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8154948"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New SOTA on WMT'14 — at a fraction of the cost</a:t>
              </a:r>
            </a:p>
          </p:txBody>
        </p:sp>
        <p:sp>
          <p:nvSpPr>
            <p:cNvPr id="5" name="TextBox 5"/>
            <p:cNvSpPr txBox="1"/>
            <p:nvPr/>
          </p:nvSpPr>
          <p:spPr>
            <a:xfrm>
              <a:off x="795147" y="999649"/>
              <a:ext cx="6674206"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TABLE 2 · BLEU SCORES + TRAINING-COST FLOPS · BEST PRIOR ROWS VS TRANSFORMER</a:t>
              </a:r>
            </a:p>
          </p:txBody>
        </p:sp>
      </p:grpSp>
      <p:grpSp>
        <p:nvGrpSpPr>
          <p:cNvPr id="56" name="Group 56"/>
          <p:cNvGrpSpPr/>
          <p:nvPr/>
        </p:nvGrpSpPr>
        <p:grpSpPr>
          <a:xfrm>
            <a:off x="571500" y="1524000"/>
            <a:ext cx="11049000" cy="3619500"/>
            <a:chOff x="571500" y="1524000"/>
            <a:chExt cx="11049000" cy="3619500"/>
          </a:xfrm>
        </p:grpSpPr>
        <p:sp>
          <p:nvSpPr>
            <p:cNvPr id="7" name="Rectangle 7"/>
            <p:cNvSpPr/>
            <p:nvPr/>
          </p:nvSpPr>
          <p:spPr>
            <a:xfrm>
              <a:off x="571500" y="1524000"/>
              <a:ext cx="11049000" cy="3619500"/>
            </a:xfrm>
            <a:prstGeom prst="rect">
              <a:avLst/>
            </a:prstGeom>
            <a:noFill/>
            <a:ln w="19050">
              <a:solidFill>
                <a:srgbClr val="0B41CD"/>
              </a:solidFill>
            </a:ln>
          </p:spPr>
        </p:sp>
        <p:grpSp>
          <p:nvGrpSpPr>
            <p:cNvPr id="55" name="Group 55"/>
            <p:cNvGrpSpPr/>
            <p:nvPr/>
          </p:nvGrpSpPr>
          <p:grpSpPr>
            <a:xfrm>
              <a:off x="571500" y="1524000"/>
              <a:ext cx="11049000" cy="3619500"/>
              <a:chOff x="571500" y="1524000"/>
              <a:chExt cx="11049000" cy="3619500"/>
            </a:xfrm>
          </p:grpSpPr>
          <p:sp>
            <p:nvSpPr>
              <p:cNvPr id="8" name="Rectangle 8"/>
              <p:cNvSpPr/>
              <p:nvPr/>
            </p:nvSpPr>
            <p:spPr>
              <a:xfrm>
                <a:off x="571500" y="1524000"/>
                <a:ext cx="11049000" cy="571500"/>
              </a:xfrm>
              <a:prstGeom prst="rect">
                <a:avLst/>
              </a:prstGeom>
              <a:solidFill>
                <a:srgbClr val="0B41CD"/>
              </a:solidFill>
              <a:ln>
                <a:noFill/>
              </a:ln>
            </p:spPr>
          </p:sp>
          <p:sp>
            <p:nvSpPr>
              <p:cNvPr id="9" name="TextBox 9"/>
              <p:cNvSpPr txBox="1"/>
              <p:nvPr/>
            </p:nvSpPr>
            <p:spPr>
              <a:xfrm>
                <a:off x="795147" y="1771174"/>
                <a:ext cx="510769" cy="190690"/>
              </a:xfrm>
              <a:prstGeom prst="rect">
                <a:avLst/>
              </a:prstGeom>
              <a:noFill/>
              <a:ln>
                <a:noFill/>
              </a:ln>
            </p:spPr>
            <p:txBody>
              <a:bodyPr wrap="none" lIns="0" tIns="0" rIns="0" bIns="0" anchor="t" anchorCtr="0">
                <a:spAutoFit/>
              </a:bodyPr>
              <a:lstStyle/>
              <a:p>
                <a:pPr algn="l"/>
                <a:r>
                  <a:rPr lang="en-US" sz="980" spc="112" dirty="0">
                    <a:solidFill>
                      <a:srgbClr val="FFFFFF"/>
                    </a:solidFill>
                    <a:latin typeface="Roche Sans Medium"/>
                    <a:ea typeface="Roche Sans Medium"/>
                    <a:cs typeface="Roche Sans Medium"/>
                  </a:rPr>
                  <a:t>MODEL</a:t>
                </a:r>
              </a:p>
            </p:txBody>
          </p:sp>
          <p:sp>
            <p:nvSpPr>
              <p:cNvPr id="10" name="TextBox 10"/>
              <p:cNvSpPr txBox="1"/>
              <p:nvPr/>
            </p:nvSpPr>
            <p:spPr>
              <a:xfrm>
                <a:off x="6226492" y="1771174"/>
                <a:ext cx="882015"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EN-DE BLEU</a:t>
                </a:r>
              </a:p>
            </p:txBody>
          </p:sp>
          <p:sp>
            <p:nvSpPr>
              <p:cNvPr id="11" name="TextBox 11"/>
              <p:cNvSpPr txBox="1"/>
              <p:nvPr/>
            </p:nvSpPr>
            <p:spPr>
              <a:xfrm>
                <a:off x="8131492" y="1771174"/>
                <a:ext cx="882015"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EN-FR BLEU</a:t>
                </a:r>
              </a:p>
            </p:txBody>
          </p:sp>
          <p:sp>
            <p:nvSpPr>
              <p:cNvPr id="12" name="TextBox 12"/>
              <p:cNvSpPr txBox="1"/>
              <p:nvPr/>
            </p:nvSpPr>
            <p:spPr>
              <a:xfrm>
                <a:off x="9996385" y="1771174"/>
                <a:ext cx="962230" cy="190690"/>
              </a:xfrm>
              <a:prstGeom prst="rect">
                <a:avLst/>
              </a:prstGeom>
              <a:noFill/>
              <a:ln>
                <a:noFill/>
              </a:ln>
            </p:spPr>
            <p:txBody>
              <a:bodyPr wrap="none" lIns="0" tIns="0" rIns="0" bIns="0" anchor="t" anchorCtr="0">
                <a:spAutoFit/>
              </a:bodyPr>
              <a:lstStyle/>
              <a:p>
                <a:pPr algn="ctr"/>
                <a:r>
                  <a:rPr lang="en-US" sz="980" spc="112" dirty="0">
                    <a:solidFill>
                      <a:srgbClr val="FFFFFF"/>
                    </a:solidFill>
                    <a:latin typeface="Roche Sans Medium"/>
                    <a:ea typeface="Roche Sans Medium"/>
                    <a:cs typeface="Roche Sans Medium"/>
                  </a:rPr>
                  <a:t>TRAIN FLOPs</a:t>
                </a:r>
              </a:p>
            </p:txBody>
          </p:sp>
          <p:sp>
            <p:nvSpPr>
              <p:cNvPr id="13" name="Line 13"/>
              <p:cNvSpPr/>
              <p:nvPr/>
            </p:nvSpPr>
            <p:spPr>
              <a:xfrm>
                <a:off x="5715000" y="1524000"/>
                <a:ext cx="9525" cy="3619500"/>
              </a:xfrm>
              <a:custGeom>
                <a:avLst/>
                <a:gdLst/>
                <a:ahLst/>
                <a:cxnLst/>
                <a:rect l="l" t="t" r="r" b="b"/>
                <a:pathLst>
                  <a:path w="9525" h="3619500">
                    <a:moveTo>
                      <a:pt x="0" y="0"/>
                    </a:moveTo>
                    <a:lnTo>
                      <a:pt x="0" y="3619500"/>
                    </a:lnTo>
                  </a:path>
                </a:pathLst>
              </a:custGeom>
              <a:noFill/>
              <a:ln w="14288">
                <a:solidFill>
                  <a:srgbClr val="E0E0E0"/>
                </a:solidFill>
              </a:ln>
            </p:spPr>
          </p:sp>
          <p:sp>
            <p:nvSpPr>
              <p:cNvPr id="14" name="Line 14"/>
              <p:cNvSpPr/>
              <p:nvPr/>
            </p:nvSpPr>
            <p:spPr>
              <a:xfrm>
                <a:off x="7620000" y="1524000"/>
                <a:ext cx="9525" cy="3619500"/>
              </a:xfrm>
              <a:custGeom>
                <a:avLst/>
                <a:gdLst/>
                <a:ahLst/>
                <a:cxnLst/>
                <a:rect l="l" t="t" r="r" b="b"/>
                <a:pathLst>
                  <a:path w="9525" h="3619500">
                    <a:moveTo>
                      <a:pt x="0" y="0"/>
                    </a:moveTo>
                    <a:lnTo>
                      <a:pt x="0" y="3619500"/>
                    </a:lnTo>
                  </a:path>
                </a:pathLst>
              </a:custGeom>
              <a:noFill/>
              <a:ln w="14288">
                <a:solidFill>
                  <a:srgbClr val="E0E0E0"/>
                </a:solidFill>
              </a:ln>
            </p:spPr>
          </p:sp>
          <p:sp>
            <p:nvSpPr>
              <p:cNvPr id="15" name="Line 15"/>
              <p:cNvSpPr/>
              <p:nvPr/>
            </p:nvSpPr>
            <p:spPr>
              <a:xfrm>
                <a:off x="9525000" y="1524000"/>
                <a:ext cx="9525" cy="3619500"/>
              </a:xfrm>
              <a:custGeom>
                <a:avLst/>
                <a:gdLst/>
                <a:ahLst/>
                <a:cxnLst/>
                <a:rect l="l" t="t" r="r" b="b"/>
                <a:pathLst>
                  <a:path w="9525" h="3619500">
                    <a:moveTo>
                      <a:pt x="0" y="0"/>
                    </a:moveTo>
                    <a:lnTo>
                      <a:pt x="0" y="3619500"/>
                    </a:lnTo>
                  </a:path>
                </a:pathLst>
              </a:custGeom>
              <a:noFill/>
              <a:ln w="14288">
                <a:solidFill>
                  <a:srgbClr val="E0E0E0"/>
                </a:solidFill>
              </a:ln>
            </p:spPr>
          </p:sp>
          <p:grpSp>
            <p:nvGrpSpPr>
              <p:cNvPr id="21" name="Group 21"/>
              <p:cNvGrpSpPr/>
              <p:nvPr/>
            </p:nvGrpSpPr>
            <p:grpSpPr>
              <a:xfrm>
                <a:off x="571500" y="2270760"/>
                <a:ext cx="11049000" cy="272415"/>
                <a:chOff x="571500" y="2270760"/>
                <a:chExt cx="11049000" cy="272415"/>
              </a:xfrm>
            </p:grpSpPr>
            <p:sp>
              <p:nvSpPr>
                <p:cNvPr id="16" name="Line 16"/>
                <p:cNvSpPr/>
                <p:nvPr/>
              </p:nvSpPr>
              <p:spPr>
                <a:xfrm>
                  <a:off x="571500" y="253365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17" name="TextBox 17"/>
                <p:cNvSpPr txBox="1"/>
                <p:nvPr/>
              </p:nvSpPr>
              <p:spPr>
                <a:xfrm>
                  <a:off x="794385" y="2278856"/>
                  <a:ext cx="603933"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ByteNet</a:t>
                  </a:r>
                </a:p>
              </p:txBody>
            </p:sp>
            <p:sp>
              <p:nvSpPr>
                <p:cNvPr id="18" name="TextBox 18"/>
                <p:cNvSpPr txBox="1"/>
                <p:nvPr/>
              </p:nvSpPr>
              <p:spPr>
                <a:xfrm>
                  <a:off x="6439281" y="227076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23.75</a:t>
                  </a:r>
                </a:p>
              </p:txBody>
            </p:sp>
            <p:sp>
              <p:nvSpPr>
                <p:cNvPr id="19" name="TextBox 19"/>
                <p:cNvSpPr txBox="1"/>
                <p:nvPr/>
              </p:nvSpPr>
              <p:spPr>
                <a:xfrm>
                  <a:off x="8521979" y="2270760"/>
                  <a:ext cx="101041" cy="234696"/>
                </a:xfrm>
                <a:prstGeom prst="rect">
                  <a:avLst/>
                </a:prstGeom>
                <a:noFill/>
                <a:ln>
                  <a:noFill/>
                </a:ln>
              </p:spPr>
              <p:txBody>
                <a:bodyPr wrap="none" lIns="0" tIns="0" rIns="0" bIns="0" anchor="t" anchorCtr="0">
                  <a:spAutoFit/>
                </a:bodyPr>
                <a:lstStyle/>
                <a:p>
                  <a:pPr algn="ctr"/>
                  <a:r>
                    <a:rPr lang="en-US" sz="1200" dirty="0">
                      <a:solidFill>
                        <a:srgbClr val="706B69"/>
                      </a:solidFill>
                      <a:latin typeface="Consolas"/>
                      <a:ea typeface="Consolas"/>
                      <a:cs typeface="Consolas"/>
                    </a:rPr>
                    <a:t>—</a:t>
                  </a:r>
                </a:p>
              </p:txBody>
            </p:sp>
            <p:sp>
              <p:nvSpPr>
                <p:cNvPr id="20" name="TextBox 20"/>
                <p:cNvSpPr txBox="1"/>
                <p:nvPr/>
              </p:nvSpPr>
              <p:spPr>
                <a:xfrm>
                  <a:off x="10436452" y="2295049"/>
                  <a:ext cx="82096" cy="190690"/>
                </a:xfrm>
                <a:prstGeom prst="rect">
                  <a:avLst/>
                </a:prstGeom>
                <a:noFill/>
                <a:ln>
                  <a:noFill/>
                </a:ln>
              </p:spPr>
              <p:txBody>
                <a:bodyPr wrap="none" lIns="0" tIns="0" rIns="0" bIns="0" anchor="t" anchorCtr="0">
                  <a:spAutoFit/>
                </a:bodyPr>
                <a:lstStyle/>
                <a:p>
                  <a:pPr algn="ctr"/>
                  <a:r>
                    <a:rPr lang="en-US" sz="980" dirty="0">
                      <a:solidFill>
                        <a:srgbClr val="706B69"/>
                      </a:solidFill>
                      <a:latin typeface="Consolas"/>
                      <a:ea typeface="Consolas"/>
                      <a:cs typeface="Consolas"/>
                    </a:rPr>
                    <a:t>—</a:t>
                  </a:r>
                </a:p>
              </p:txBody>
            </p:sp>
          </p:grpSp>
          <p:grpSp>
            <p:nvGrpSpPr>
              <p:cNvPr id="27" name="Group 27"/>
              <p:cNvGrpSpPr/>
              <p:nvPr/>
            </p:nvGrpSpPr>
            <p:grpSpPr>
              <a:xfrm>
                <a:off x="571500" y="2708910"/>
                <a:ext cx="11049000" cy="272415"/>
                <a:chOff x="571500" y="2708910"/>
                <a:chExt cx="11049000" cy="272415"/>
              </a:xfrm>
            </p:grpSpPr>
            <p:sp>
              <p:nvSpPr>
                <p:cNvPr id="22" name="Line 22"/>
                <p:cNvSpPr/>
                <p:nvPr/>
              </p:nvSpPr>
              <p:spPr>
                <a:xfrm>
                  <a:off x="571500" y="29718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23" name="TextBox 23"/>
                <p:cNvSpPr txBox="1"/>
                <p:nvPr/>
              </p:nvSpPr>
              <p:spPr>
                <a:xfrm>
                  <a:off x="794385" y="2717006"/>
                  <a:ext cx="611005"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ConvS2S</a:t>
                  </a:r>
                </a:p>
              </p:txBody>
            </p:sp>
            <p:sp>
              <p:nvSpPr>
                <p:cNvPr id="24" name="TextBox 24"/>
                <p:cNvSpPr txBox="1"/>
                <p:nvPr/>
              </p:nvSpPr>
              <p:spPr>
                <a:xfrm>
                  <a:off x="6439281" y="270891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25.16</a:t>
                  </a:r>
                </a:p>
              </p:txBody>
            </p:sp>
            <p:sp>
              <p:nvSpPr>
                <p:cNvPr id="25" name="TextBox 25"/>
                <p:cNvSpPr txBox="1"/>
                <p:nvPr/>
              </p:nvSpPr>
              <p:spPr>
                <a:xfrm>
                  <a:off x="8344281" y="270891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40.46</a:t>
                  </a:r>
                </a:p>
              </p:txBody>
            </p:sp>
            <p:sp>
              <p:nvSpPr>
                <p:cNvPr id="26" name="TextBox 26"/>
                <p:cNvSpPr txBox="1"/>
                <p:nvPr/>
              </p:nvSpPr>
              <p:spPr>
                <a:xfrm>
                  <a:off x="10108316" y="2733199"/>
                  <a:ext cx="738368" cy="190690"/>
                </a:xfrm>
                <a:prstGeom prst="rect">
                  <a:avLst/>
                </a:prstGeom>
                <a:noFill/>
                <a:ln>
                  <a:noFill/>
                </a:ln>
              </p:spPr>
              <p:txBody>
                <a:bodyPr wrap="none" lIns="0" tIns="0" rIns="0" bIns="0" anchor="t" anchorCtr="0">
                  <a:spAutoFit/>
                </a:bodyPr>
                <a:lstStyle/>
                <a:p>
                  <a:pPr algn="ctr"/>
                  <a:r>
                    <a:rPr lang="en-US" sz="980" dirty="0">
                      <a:solidFill>
                        <a:srgbClr val="706B69"/>
                      </a:solidFill>
                      <a:latin typeface="Consolas"/>
                      <a:ea typeface="Consolas"/>
                      <a:cs typeface="Consolas"/>
                    </a:rPr>
                    <a:t>9.6 × 10^18</a:t>
                  </a:r>
                </a:p>
              </p:txBody>
            </p:sp>
          </p:grpSp>
          <p:grpSp>
            <p:nvGrpSpPr>
              <p:cNvPr id="33" name="Group 33"/>
              <p:cNvGrpSpPr/>
              <p:nvPr/>
            </p:nvGrpSpPr>
            <p:grpSpPr>
              <a:xfrm>
                <a:off x="571500" y="3147060"/>
                <a:ext cx="11049000" cy="272415"/>
                <a:chOff x="571500" y="3147060"/>
                <a:chExt cx="11049000" cy="272415"/>
              </a:xfrm>
            </p:grpSpPr>
            <p:sp>
              <p:nvSpPr>
                <p:cNvPr id="28" name="Line 28"/>
                <p:cNvSpPr/>
                <p:nvPr/>
              </p:nvSpPr>
              <p:spPr>
                <a:xfrm>
                  <a:off x="571500" y="340995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29" name="TextBox 29"/>
                <p:cNvSpPr txBox="1"/>
                <p:nvPr/>
              </p:nvSpPr>
              <p:spPr>
                <a:xfrm>
                  <a:off x="794385" y="3155156"/>
                  <a:ext cx="302181"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MoE</a:t>
                  </a:r>
                </a:p>
              </p:txBody>
            </p:sp>
            <p:sp>
              <p:nvSpPr>
                <p:cNvPr id="30" name="TextBox 30"/>
                <p:cNvSpPr txBox="1"/>
                <p:nvPr/>
              </p:nvSpPr>
              <p:spPr>
                <a:xfrm>
                  <a:off x="6439281" y="314706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26.03</a:t>
                  </a:r>
                </a:p>
              </p:txBody>
            </p:sp>
            <p:sp>
              <p:nvSpPr>
                <p:cNvPr id="31" name="TextBox 31"/>
                <p:cNvSpPr txBox="1"/>
                <p:nvPr/>
              </p:nvSpPr>
              <p:spPr>
                <a:xfrm>
                  <a:off x="8344281" y="314706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40.56</a:t>
                  </a:r>
                </a:p>
              </p:txBody>
            </p:sp>
            <p:sp>
              <p:nvSpPr>
                <p:cNvPr id="32" name="TextBox 32"/>
                <p:cNvSpPr txBox="1"/>
                <p:nvPr/>
              </p:nvSpPr>
              <p:spPr>
                <a:xfrm>
                  <a:off x="10108316" y="3171349"/>
                  <a:ext cx="738368" cy="190690"/>
                </a:xfrm>
                <a:prstGeom prst="rect">
                  <a:avLst/>
                </a:prstGeom>
                <a:noFill/>
                <a:ln>
                  <a:noFill/>
                </a:ln>
              </p:spPr>
              <p:txBody>
                <a:bodyPr wrap="none" lIns="0" tIns="0" rIns="0" bIns="0" anchor="t" anchorCtr="0">
                  <a:spAutoFit/>
                </a:bodyPr>
                <a:lstStyle/>
                <a:p>
                  <a:pPr algn="ctr"/>
                  <a:r>
                    <a:rPr lang="en-US" sz="980" dirty="0">
                      <a:solidFill>
                        <a:srgbClr val="706B69"/>
                      </a:solidFill>
                      <a:latin typeface="Consolas"/>
                      <a:ea typeface="Consolas"/>
                      <a:cs typeface="Consolas"/>
                    </a:rPr>
                    <a:t>2.0 × 10^19</a:t>
                  </a:r>
                </a:p>
              </p:txBody>
            </p:sp>
          </p:grpSp>
          <p:grpSp>
            <p:nvGrpSpPr>
              <p:cNvPr id="39" name="Group 39"/>
              <p:cNvGrpSpPr/>
              <p:nvPr/>
            </p:nvGrpSpPr>
            <p:grpSpPr>
              <a:xfrm>
                <a:off x="571500" y="3585210"/>
                <a:ext cx="11049000" cy="272415"/>
                <a:chOff x="571500" y="3585210"/>
                <a:chExt cx="11049000" cy="272415"/>
              </a:xfrm>
            </p:grpSpPr>
            <p:sp>
              <p:nvSpPr>
                <p:cNvPr id="34" name="Line 34"/>
                <p:cNvSpPr/>
                <p:nvPr/>
              </p:nvSpPr>
              <p:spPr>
                <a:xfrm>
                  <a:off x="571500" y="38481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35" name="TextBox 35"/>
                <p:cNvSpPr txBox="1"/>
                <p:nvPr/>
              </p:nvSpPr>
              <p:spPr>
                <a:xfrm>
                  <a:off x="794385" y="3593306"/>
                  <a:ext cx="1319553" cy="220028"/>
                </a:xfrm>
                <a:prstGeom prst="rect">
                  <a:avLst/>
                </a:prstGeom>
                <a:noFill/>
                <a:ln>
                  <a:noFill/>
                </a:ln>
              </p:spPr>
              <p:txBody>
                <a:bodyPr wrap="none" lIns="0" tIns="0" rIns="0" bIns="0" anchor="t" anchorCtr="0">
                  <a:spAutoFit/>
                </a:bodyPr>
                <a:lstStyle/>
                <a:p>
                  <a:pPr algn="l"/>
                  <a:r>
                    <a:rPr lang="en-US" sz="1120" dirty="0">
                      <a:solidFill>
                        <a:srgbClr val="333333"/>
                      </a:solidFill>
                      <a:latin typeface="Roche Sans"/>
                      <a:ea typeface="Roche Sans"/>
                      <a:cs typeface="Roche Sans"/>
                    </a:rPr>
                    <a:t>ConvS2S Ensemble</a:t>
                  </a:r>
                </a:p>
              </p:txBody>
            </p:sp>
            <p:sp>
              <p:nvSpPr>
                <p:cNvPr id="36" name="TextBox 36"/>
                <p:cNvSpPr txBox="1"/>
                <p:nvPr/>
              </p:nvSpPr>
              <p:spPr>
                <a:xfrm>
                  <a:off x="6439281" y="358521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26.36</a:t>
                  </a:r>
                </a:p>
              </p:txBody>
            </p:sp>
            <p:sp>
              <p:nvSpPr>
                <p:cNvPr id="37" name="TextBox 37"/>
                <p:cNvSpPr txBox="1"/>
                <p:nvPr/>
              </p:nvSpPr>
              <p:spPr>
                <a:xfrm>
                  <a:off x="8344281" y="3585210"/>
                  <a:ext cx="456438" cy="234696"/>
                </a:xfrm>
                <a:prstGeom prst="rect">
                  <a:avLst/>
                </a:prstGeom>
                <a:noFill/>
                <a:ln>
                  <a:noFill/>
                </a:ln>
              </p:spPr>
              <p:txBody>
                <a:bodyPr wrap="none" lIns="0" tIns="0" rIns="0" bIns="0" anchor="t" anchorCtr="0">
                  <a:spAutoFit/>
                </a:bodyPr>
                <a:lstStyle/>
                <a:p>
                  <a:pPr algn="ctr"/>
                  <a:r>
                    <a:rPr lang="en-US" sz="1200" dirty="0">
                      <a:solidFill>
                        <a:srgbClr val="333333"/>
                      </a:solidFill>
                      <a:latin typeface="Consolas"/>
                      <a:ea typeface="Consolas"/>
                      <a:cs typeface="Consolas"/>
                    </a:rPr>
                    <a:t>41.29</a:t>
                  </a:r>
                </a:p>
              </p:txBody>
            </p:sp>
            <p:sp>
              <p:nvSpPr>
                <p:cNvPr id="38" name="TextBox 38"/>
                <p:cNvSpPr txBox="1"/>
                <p:nvPr/>
              </p:nvSpPr>
              <p:spPr>
                <a:xfrm>
                  <a:off x="10108316" y="3609499"/>
                  <a:ext cx="738368" cy="190690"/>
                </a:xfrm>
                <a:prstGeom prst="rect">
                  <a:avLst/>
                </a:prstGeom>
                <a:noFill/>
                <a:ln>
                  <a:noFill/>
                </a:ln>
              </p:spPr>
              <p:txBody>
                <a:bodyPr wrap="none" lIns="0" tIns="0" rIns="0" bIns="0" anchor="t" anchorCtr="0">
                  <a:spAutoFit/>
                </a:bodyPr>
                <a:lstStyle/>
                <a:p>
                  <a:pPr algn="ctr"/>
                  <a:r>
                    <a:rPr lang="en-US" sz="980" dirty="0">
                      <a:solidFill>
                        <a:srgbClr val="706B69"/>
                      </a:solidFill>
                      <a:latin typeface="Consolas"/>
                      <a:ea typeface="Consolas"/>
                      <a:cs typeface="Consolas"/>
                    </a:rPr>
                    <a:t>7.7 × 10^19</a:t>
                  </a:r>
                </a:p>
              </p:txBody>
            </p:sp>
          </p:grpSp>
          <p:grpSp>
            <p:nvGrpSpPr>
              <p:cNvPr id="47" name="Group 47"/>
              <p:cNvGrpSpPr/>
              <p:nvPr/>
            </p:nvGrpSpPr>
            <p:grpSpPr>
              <a:xfrm>
                <a:off x="571500" y="3848100"/>
                <a:ext cx="11049000" cy="657225"/>
                <a:chOff x="571500" y="3848100"/>
                <a:chExt cx="11049000" cy="657225"/>
              </a:xfrm>
            </p:grpSpPr>
            <p:sp>
              <p:nvSpPr>
                <p:cNvPr id="40" name="Rectangle 40"/>
                <p:cNvSpPr/>
                <p:nvPr/>
              </p:nvSpPr>
              <p:spPr>
                <a:xfrm>
                  <a:off x="571500" y="3848100"/>
                  <a:ext cx="11049000" cy="647700"/>
                </a:xfrm>
                <a:prstGeom prst="rect">
                  <a:avLst/>
                </a:prstGeom>
                <a:solidFill>
                  <a:srgbClr val="E9EEFA"/>
                </a:solidFill>
                <a:ln>
                  <a:noFill/>
                </a:ln>
              </p:spPr>
            </p:sp>
            <p:sp>
              <p:nvSpPr>
                <p:cNvPr id="41" name="Line 41"/>
                <p:cNvSpPr/>
                <p:nvPr/>
              </p:nvSpPr>
              <p:spPr>
                <a:xfrm>
                  <a:off x="571500" y="4495800"/>
                  <a:ext cx="11049000" cy="9525"/>
                </a:xfrm>
                <a:custGeom>
                  <a:avLst/>
                  <a:gdLst/>
                  <a:ahLst/>
                  <a:cxnLst/>
                  <a:rect l="l" t="t" r="r" b="b"/>
                  <a:pathLst>
                    <a:path w="11049000" h="9525">
                      <a:moveTo>
                        <a:pt x="0" y="0"/>
                      </a:moveTo>
                      <a:lnTo>
                        <a:pt x="11049000" y="0"/>
                      </a:lnTo>
                    </a:path>
                  </a:pathLst>
                </a:custGeom>
                <a:noFill/>
                <a:ln w="9525">
                  <a:solidFill>
                    <a:srgbClr val="E0E0E0"/>
                  </a:solidFill>
                </a:ln>
              </p:spPr>
            </p:sp>
            <p:sp>
              <p:nvSpPr>
                <p:cNvPr id="42" name="TextBox 42"/>
                <p:cNvSpPr txBox="1"/>
                <p:nvPr/>
              </p:nvSpPr>
              <p:spPr>
                <a:xfrm>
                  <a:off x="793623" y="4034314"/>
                  <a:ext cx="1709993" cy="249364"/>
                </a:xfrm>
                <a:prstGeom prst="rect">
                  <a:avLst/>
                </a:prstGeom>
                <a:noFill/>
                <a:ln>
                  <a:noFill/>
                </a:ln>
              </p:spPr>
              <p:txBody>
                <a:bodyPr wrap="none" lIns="0" tIns="0" rIns="0" bIns="0" anchor="t" anchorCtr="0">
                  <a:spAutoFit/>
                </a:bodyPr>
                <a:lstStyle/>
                <a:p>
                  <a:pPr algn="l"/>
                  <a:r>
                    <a:rPr lang="en-US" sz="1280" dirty="0">
                      <a:solidFill>
                        <a:srgbClr val="0B41CD"/>
                      </a:solidFill>
                      <a:latin typeface="Roche Sans Medium"/>
                      <a:ea typeface="Roche Sans Medium"/>
                      <a:cs typeface="Roche Sans Medium"/>
                    </a:rPr>
                    <a:t>Transformer (base)</a:t>
                  </a:r>
                </a:p>
              </p:txBody>
            </p:sp>
            <p:sp>
              <p:nvSpPr>
                <p:cNvPr id="43" name="TextBox 43"/>
                <p:cNvSpPr txBox="1"/>
                <p:nvPr/>
              </p:nvSpPr>
              <p:spPr>
                <a:xfrm>
                  <a:off x="795338" y="4265295"/>
                  <a:ext cx="1455420" cy="176212"/>
                </a:xfrm>
                <a:prstGeom prst="rect">
                  <a:avLst/>
                </a:prstGeom>
                <a:noFill/>
                <a:ln>
                  <a:noFill/>
                </a:ln>
              </p:spPr>
              <p:txBody>
                <a:bodyPr wrap="none" lIns="0" tIns="0" rIns="0" bIns="0" anchor="t" anchorCtr="0">
                  <a:spAutoFit/>
                </a:bodyPr>
                <a:lstStyle/>
                <a:p>
                  <a:pPr algn="l"/>
                  <a:r>
                    <a:rPr lang="en-US" sz="900" i="1" dirty="0">
                      <a:solidFill>
                        <a:srgbClr val="1482FA"/>
                      </a:solidFill>
                      <a:latin typeface="Roche Serif Light"/>
                      <a:ea typeface="Roche Serif Light"/>
                      <a:cs typeface="Roche Serif Light"/>
                    </a:rPr>
                    <a:t>N=6, d_model=512, h=8</a:t>
                  </a:r>
                </a:p>
              </p:txBody>
            </p:sp>
            <p:sp>
              <p:nvSpPr>
                <p:cNvPr id="44" name="TextBox 44"/>
                <p:cNvSpPr txBox="1"/>
                <p:nvPr/>
              </p:nvSpPr>
              <p:spPr>
                <a:xfrm>
                  <a:off x="6450736" y="4083368"/>
                  <a:ext cx="433528"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27.3</a:t>
                  </a:r>
                </a:p>
              </p:txBody>
            </p:sp>
            <p:sp>
              <p:nvSpPr>
                <p:cNvPr id="45" name="TextBox 45"/>
                <p:cNvSpPr txBox="1"/>
                <p:nvPr/>
              </p:nvSpPr>
              <p:spPr>
                <a:xfrm>
                  <a:off x="8355736" y="4083368"/>
                  <a:ext cx="433528" cy="264033"/>
                </a:xfrm>
                <a:prstGeom prst="rect">
                  <a:avLst/>
                </a:prstGeom>
                <a:noFill/>
                <a:ln>
                  <a:noFill/>
                </a:ln>
              </p:spPr>
              <p:txBody>
                <a:bodyPr wrap="none" lIns="0" tIns="0" rIns="0" bIns="0" anchor="t" anchorCtr="0">
                  <a:spAutoFit/>
                </a:bodyPr>
                <a:lstStyle/>
                <a:p>
                  <a:pPr algn="ctr"/>
                  <a:r>
                    <a:rPr lang="en-US" sz="1350" b="1" dirty="0">
                      <a:solidFill>
                        <a:srgbClr val="0B41CD"/>
                      </a:solidFill>
                      <a:latin typeface="Consolas"/>
                      <a:ea typeface="Consolas"/>
                      <a:cs typeface="Consolas"/>
                    </a:rPr>
                    <a:t>38.1</a:t>
                  </a:r>
                </a:p>
              </p:txBody>
            </p:sp>
            <p:sp>
              <p:nvSpPr>
                <p:cNvPr id="46" name="TextBox 46"/>
                <p:cNvSpPr txBox="1"/>
                <p:nvPr/>
              </p:nvSpPr>
              <p:spPr>
                <a:xfrm>
                  <a:off x="10079917" y="4115752"/>
                  <a:ext cx="795166" cy="205359"/>
                </a:xfrm>
                <a:prstGeom prst="rect">
                  <a:avLst/>
                </a:prstGeom>
                <a:noFill/>
                <a:ln>
                  <a:noFill/>
                </a:ln>
              </p:spPr>
              <p:txBody>
                <a:bodyPr wrap="none" lIns="0" tIns="0" rIns="0" bIns="0" anchor="t" anchorCtr="0">
                  <a:spAutoFit/>
                </a:bodyPr>
                <a:lstStyle/>
                <a:p>
                  <a:pPr algn="ctr"/>
                  <a:r>
                    <a:rPr lang="en-US" sz="1050" dirty="0">
                      <a:solidFill>
                        <a:srgbClr val="1482FA"/>
                      </a:solidFill>
                      <a:latin typeface="Consolas"/>
                      <a:ea typeface="Consolas"/>
                      <a:cs typeface="Consolas"/>
                    </a:rPr>
                    <a:t>3.3 × 10^18</a:t>
                  </a:r>
                </a:p>
              </p:txBody>
            </p:sp>
          </p:grpSp>
          <p:grpSp>
            <p:nvGrpSpPr>
              <p:cNvPr id="54" name="Group 54"/>
              <p:cNvGrpSpPr/>
              <p:nvPr/>
            </p:nvGrpSpPr>
            <p:grpSpPr>
              <a:xfrm>
                <a:off x="571500" y="4495800"/>
                <a:ext cx="11049000" cy="647700"/>
                <a:chOff x="571500" y="4495800"/>
                <a:chExt cx="11049000" cy="647700"/>
              </a:xfrm>
            </p:grpSpPr>
            <p:sp>
              <p:nvSpPr>
                <p:cNvPr id="48" name="Rectangle 48"/>
                <p:cNvSpPr/>
                <p:nvPr/>
              </p:nvSpPr>
              <p:spPr>
                <a:xfrm>
                  <a:off x="571500" y="4495800"/>
                  <a:ext cx="11049000" cy="647700"/>
                </a:xfrm>
                <a:prstGeom prst="rect">
                  <a:avLst/>
                </a:prstGeom>
                <a:solidFill>
                  <a:srgbClr val="0B41CD">
                    <a:alpha val="8000"/>
                  </a:srgbClr>
                </a:solidFill>
                <a:ln>
                  <a:noFill/>
                </a:ln>
              </p:spPr>
            </p:sp>
            <p:sp>
              <p:nvSpPr>
                <p:cNvPr id="49" name="TextBox 49"/>
                <p:cNvSpPr txBox="1"/>
                <p:nvPr/>
              </p:nvSpPr>
              <p:spPr>
                <a:xfrm>
                  <a:off x="793623" y="4682014"/>
                  <a:ext cx="1572581" cy="249364"/>
                </a:xfrm>
                <a:prstGeom prst="rect">
                  <a:avLst/>
                </a:prstGeom>
                <a:noFill/>
                <a:ln>
                  <a:noFill/>
                </a:ln>
              </p:spPr>
              <p:txBody>
                <a:bodyPr wrap="none" lIns="0" tIns="0" rIns="0" bIns="0" anchor="t" anchorCtr="0">
                  <a:spAutoFit/>
                </a:bodyPr>
                <a:lstStyle/>
                <a:p>
                  <a:pPr algn="l"/>
                  <a:r>
                    <a:rPr lang="en-US" sz="1280" dirty="0">
                      <a:solidFill>
                        <a:srgbClr val="0B41CD"/>
                      </a:solidFill>
                      <a:latin typeface="Roche Sans Medium"/>
                      <a:ea typeface="Roche Sans Medium"/>
                      <a:cs typeface="Roche Sans Medium"/>
                    </a:rPr>
                    <a:t>Transformer (big)</a:t>
                  </a:r>
                </a:p>
              </p:txBody>
            </p:sp>
            <p:sp>
              <p:nvSpPr>
                <p:cNvPr id="50" name="TextBox 50"/>
                <p:cNvSpPr txBox="1"/>
                <p:nvPr/>
              </p:nvSpPr>
              <p:spPr>
                <a:xfrm>
                  <a:off x="795338" y="4912995"/>
                  <a:ext cx="1600009" cy="176212"/>
                </a:xfrm>
                <a:prstGeom prst="rect">
                  <a:avLst/>
                </a:prstGeom>
                <a:noFill/>
                <a:ln>
                  <a:noFill/>
                </a:ln>
              </p:spPr>
              <p:txBody>
                <a:bodyPr wrap="none" lIns="0" tIns="0" rIns="0" bIns="0" anchor="t" anchorCtr="0">
                  <a:spAutoFit/>
                </a:bodyPr>
                <a:lstStyle/>
                <a:p>
                  <a:pPr algn="l"/>
                  <a:r>
                    <a:rPr lang="en-US" sz="900" i="1" dirty="0">
                      <a:solidFill>
                        <a:srgbClr val="1482FA"/>
                      </a:solidFill>
                      <a:latin typeface="Roche Serif Light"/>
                      <a:ea typeface="Roche Serif Light"/>
                      <a:cs typeface="Roche Serif Light"/>
                    </a:rPr>
                    <a:t>N=6, d_model=1024, h=16</a:t>
                  </a:r>
                </a:p>
              </p:txBody>
            </p:sp>
            <p:sp>
              <p:nvSpPr>
                <p:cNvPr id="51" name="TextBox 51"/>
                <p:cNvSpPr txBox="1"/>
                <p:nvPr/>
              </p:nvSpPr>
              <p:spPr>
                <a:xfrm>
                  <a:off x="6402566" y="4698682"/>
                  <a:ext cx="529868" cy="322707"/>
                </a:xfrm>
                <a:prstGeom prst="rect">
                  <a:avLst/>
                </a:prstGeom>
                <a:noFill/>
                <a:ln>
                  <a:noFill/>
                </a:ln>
              </p:spPr>
              <p:txBody>
                <a:bodyPr wrap="none" lIns="0" tIns="0" rIns="0" bIns="0" anchor="t" anchorCtr="0">
                  <a:spAutoFit/>
                </a:bodyPr>
                <a:lstStyle/>
                <a:p>
                  <a:pPr algn="ctr"/>
                  <a:r>
                    <a:rPr lang="en-US" sz="1650" b="1" dirty="0">
                      <a:solidFill>
                        <a:srgbClr val="007A3B"/>
                      </a:solidFill>
                      <a:latin typeface="Consolas"/>
                      <a:ea typeface="Consolas"/>
                      <a:cs typeface="Consolas"/>
                    </a:rPr>
                    <a:t>28.4</a:t>
                  </a:r>
                </a:p>
              </p:txBody>
            </p:sp>
            <p:sp>
              <p:nvSpPr>
                <p:cNvPr id="52" name="TextBox 52"/>
                <p:cNvSpPr txBox="1"/>
                <p:nvPr/>
              </p:nvSpPr>
              <p:spPr>
                <a:xfrm>
                  <a:off x="8307566" y="4698682"/>
                  <a:ext cx="529868" cy="322707"/>
                </a:xfrm>
                <a:prstGeom prst="rect">
                  <a:avLst/>
                </a:prstGeom>
                <a:noFill/>
                <a:ln>
                  <a:noFill/>
                </a:ln>
              </p:spPr>
              <p:txBody>
                <a:bodyPr wrap="none" lIns="0" tIns="0" rIns="0" bIns="0" anchor="t" anchorCtr="0">
                  <a:spAutoFit/>
                </a:bodyPr>
                <a:lstStyle/>
                <a:p>
                  <a:pPr algn="ctr"/>
                  <a:r>
                    <a:rPr lang="en-US" sz="1650" b="1" dirty="0">
                      <a:solidFill>
                        <a:srgbClr val="007A3B"/>
                      </a:solidFill>
                      <a:latin typeface="Consolas"/>
                      <a:ea typeface="Consolas"/>
                      <a:cs typeface="Consolas"/>
                    </a:rPr>
                    <a:t>41.8</a:t>
                  </a:r>
                </a:p>
              </p:txBody>
            </p:sp>
            <p:sp>
              <p:nvSpPr>
                <p:cNvPr id="53" name="TextBox 53"/>
                <p:cNvSpPr txBox="1"/>
                <p:nvPr/>
              </p:nvSpPr>
              <p:spPr>
                <a:xfrm>
                  <a:off x="10079917" y="4763452"/>
                  <a:ext cx="795166" cy="205359"/>
                </a:xfrm>
                <a:prstGeom prst="rect">
                  <a:avLst/>
                </a:prstGeom>
                <a:noFill/>
                <a:ln>
                  <a:noFill/>
                </a:ln>
              </p:spPr>
              <p:txBody>
                <a:bodyPr wrap="none" lIns="0" tIns="0" rIns="0" bIns="0" anchor="t" anchorCtr="0">
                  <a:spAutoFit/>
                </a:bodyPr>
                <a:lstStyle/>
                <a:p>
                  <a:pPr algn="ctr"/>
                  <a:r>
                    <a:rPr lang="en-US" sz="1050" dirty="0">
                      <a:solidFill>
                        <a:srgbClr val="1482FA"/>
                      </a:solidFill>
                      <a:latin typeface="Consolas"/>
                      <a:ea typeface="Consolas"/>
                      <a:cs typeface="Consolas"/>
                    </a:rPr>
                    <a:t>2.3 × 10^19</a:t>
                  </a:r>
                </a:p>
              </p:txBody>
            </p:sp>
          </p:grpSp>
        </p:grpSp>
      </p:grpSp>
      <p:grpSp>
        <p:nvGrpSpPr>
          <p:cNvPr id="63" name="Group 63"/>
          <p:cNvGrpSpPr/>
          <p:nvPr/>
        </p:nvGrpSpPr>
        <p:grpSpPr>
          <a:xfrm>
            <a:off x="571500" y="5353050"/>
            <a:ext cx="11049000" cy="1108234"/>
            <a:chOff x="571500" y="5353050"/>
            <a:chExt cx="11049000" cy="1108234"/>
          </a:xfrm>
        </p:grpSpPr>
        <p:sp>
          <p:nvSpPr>
            <p:cNvPr id="57" name="Rectangle 57"/>
            <p:cNvSpPr/>
            <p:nvPr/>
          </p:nvSpPr>
          <p:spPr>
            <a:xfrm>
              <a:off x="571500" y="5353050"/>
              <a:ext cx="11049000" cy="1047750"/>
            </a:xfrm>
            <a:prstGeom prst="roundRect">
              <a:avLst>
                <a:gd name="adj" fmla="val 9091"/>
              </a:avLst>
            </a:prstGeom>
            <a:solidFill>
              <a:srgbClr val="F5F7FA"/>
            </a:solidFill>
            <a:ln w="9525">
              <a:solidFill>
                <a:srgbClr val="E0E0E0"/>
              </a:solidFill>
            </a:ln>
          </p:spPr>
        </p:sp>
        <p:sp>
          <p:nvSpPr>
            <p:cNvPr id="58" name="Rectangle 58"/>
            <p:cNvSpPr/>
            <p:nvPr/>
          </p:nvSpPr>
          <p:spPr>
            <a:xfrm>
              <a:off x="571500" y="5353050"/>
              <a:ext cx="47625" cy="1047750"/>
            </a:xfrm>
            <a:prstGeom prst="roundRect">
              <a:avLst>
                <a:gd name="adj" fmla="val 50000"/>
              </a:avLst>
            </a:prstGeom>
            <a:solidFill>
              <a:srgbClr val="007A3B"/>
            </a:solidFill>
            <a:ln>
              <a:noFill/>
            </a:ln>
          </p:spPr>
        </p:sp>
        <p:sp>
          <p:nvSpPr>
            <p:cNvPr id="59" name="TextBox 59"/>
            <p:cNvSpPr txBox="1"/>
            <p:nvPr/>
          </p:nvSpPr>
          <p:spPr>
            <a:xfrm>
              <a:off x="947547" y="5514499"/>
              <a:ext cx="2337664" cy="190690"/>
            </a:xfrm>
            <a:prstGeom prst="rect">
              <a:avLst/>
            </a:prstGeom>
            <a:noFill/>
            <a:ln>
              <a:noFill/>
            </a:ln>
          </p:spPr>
          <p:txBody>
            <a:bodyPr wrap="none" lIns="0" tIns="0" rIns="0" bIns="0" anchor="t" anchorCtr="0">
              <a:spAutoFit/>
            </a:bodyPr>
            <a:lstStyle/>
            <a:p>
              <a:pPr algn="l"/>
              <a:r>
                <a:rPr lang="en-US" sz="980" spc="112" dirty="0">
                  <a:solidFill>
                    <a:srgbClr val="007A3B"/>
                  </a:solidFill>
                  <a:latin typeface="Roche Sans Medium"/>
                  <a:ea typeface="Roche Sans Medium"/>
                  <a:cs typeface="Roche Sans Medium"/>
                </a:rPr>
                <a:t>THREE RESULTS WORTH NAMING</a:t>
              </a:r>
            </a:p>
          </p:txBody>
        </p:sp>
        <p:sp>
          <p:nvSpPr>
            <p:cNvPr id="60" name="TextBox 60"/>
            <p:cNvSpPr txBox="1"/>
            <p:nvPr/>
          </p:nvSpPr>
          <p:spPr>
            <a:xfrm>
              <a:off x="946785" y="5784056"/>
              <a:ext cx="6471309"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0B41CD"/>
                  </a:solidFill>
                  <a:latin typeface="Roche Sans Medium"/>
                  <a:ea typeface="Roche Sans Medium"/>
                  <a:cs typeface="Roche Sans Medium"/>
                </a:rPr>
                <a:t>EN-DE</a:t>
              </a:r>
              <a:r>
                <a:rPr lang="en-US" sz="1120" dirty="0">
                  <a:solidFill>
                    <a:srgbClr val="333333"/>
                  </a:solidFill>
                  <a:latin typeface="Roche Sans"/>
                  <a:ea typeface="Roche Sans"/>
                  <a:cs typeface="Roche Sans"/>
                </a:rPr>
                <a:t xml:space="preserve"> — Transformer (big) beats the prior best ensemble by </a:t>
              </a:r>
              <a:r>
                <a:rPr lang="en-US" sz="1120" dirty="0">
                  <a:solidFill>
                    <a:srgbClr val="007A3B"/>
                  </a:solidFill>
                  <a:latin typeface="Roche Sans Medium"/>
                  <a:ea typeface="Roche Sans Medium"/>
                  <a:cs typeface="Roche Sans Medium"/>
                </a:rPr>
                <a:t>+2.0 BLEU</a:t>
              </a:r>
              <a:r>
                <a:rPr lang="en-US" sz="1120" dirty="0">
                  <a:solidFill>
                    <a:srgbClr val="333333"/>
                  </a:solidFill>
                  <a:latin typeface="Roche Sans"/>
                  <a:ea typeface="Roche Sans"/>
                  <a:cs typeface="Roche Sans"/>
                </a:rPr>
                <a:t>, single model.</a:t>
              </a:r>
            </a:p>
          </p:txBody>
        </p:sp>
        <p:sp>
          <p:nvSpPr>
            <p:cNvPr id="61" name="TextBox 61"/>
            <p:cNvSpPr txBox="1"/>
            <p:nvPr/>
          </p:nvSpPr>
          <p:spPr>
            <a:xfrm>
              <a:off x="946785" y="6012656"/>
              <a:ext cx="3506765"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0B41CD"/>
                  </a:solidFill>
                  <a:latin typeface="Roche Sans Medium"/>
                  <a:ea typeface="Roche Sans Medium"/>
                  <a:cs typeface="Roche Sans Medium"/>
                </a:rPr>
                <a:t>EN-FR</a:t>
              </a:r>
              <a:r>
                <a:rPr lang="en-US" sz="1120" dirty="0">
                  <a:solidFill>
                    <a:srgbClr val="333333"/>
                  </a:solidFill>
                  <a:latin typeface="Roche Sans"/>
                  <a:ea typeface="Roche Sans"/>
                  <a:cs typeface="Roche Sans"/>
                </a:rPr>
                <a:t xml:space="preserve"> — new </a:t>
              </a:r>
              <a:r>
                <a:rPr lang="en-US" sz="1120" dirty="0">
                  <a:solidFill>
                    <a:srgbClr val="007A3B"/>
                  </a:solidFill>
                  <a:latin typeface="Roche Sans Medium"/>
                  <a:ea typeface="Roche Sans Medium"/>
                  <a:cs typeface="Roche Sans Medium"/>
                </a:rPr>
                <a:t>single-model SOTA</a:t>
              </a:r>
              <a:r>
                <a:rPr lang="en-US" sz="1120" dirty="0">
                  <a:solidFill>
                    <a:srgbClr val="333333"/>
                  </a:solidFill>
                  <a:latin typeface="Roche Sans"/>
                  <a:ea typeface="Roche Sans"/>
                  <a:cs typeface="Roche Sans"/>
                </a:rPr>
                <a:t xml:space="preserve"> at 41.8 BLEU.</a:t>
              </a:r>
            </a:p>
          </p:txBody>
        </p:sp>
        <p:sp>
          <p:nvSpPr>
            <p:cNvPr id="62" name="TextBox 62"/>
            <p:cNvSpPr txBox="1"/>
            <p:nvPr/>
          </p:nvSpPr>
          <p:spPr>
            <a:xfrm>
              <a:off x="946785" y="6241256"/>
              <a:ext cx="6052298" cy="220028"/>
            </a:xfrm>
            <a:prstGeom prst="rect">
              <a:avLst/>
            </a:prstGeom>
            <a:noFill/>
            <a:ln>
              <a:noFill/>
            </a:ln>
          </p:spPr>
          <p:txBody>
            <a:bodyPr wrap="none" lIns="0" tIns="0" rIns="0" bIns="0" anchor="t" anchorCtr="0">
              <a:spAutoFit/>
            </a:bodyPr>
            <a:lstStyle/>
            <a:p>
              <a:pPr algn="l" marL="121444" indent="-121444">
                <a:buClr>
                  <a:srgbClr val="333333"/>
                </a:buClr>
                <a:buSzTx/>
                <a:buFontTx/>
                <a:buChar char="•"/>
              </a:pPr>
              <a:r>
                <a:rPr lang="en-US" sz="1120" dirty="0">
                  <a:solidFill>
                    <a:srgbClr val="0B41CD"/>
                  </a:solidFill>
                  <a:latin typeface="Roche Sans Medium"/>
                  <a:ea typeface="Roche Sans Medium"/>
                  <a:cs typeface="Roche Sans Medium"/>
                </a:rPr>
                <a:t>Training cost</a:t>
              </a:r>
              <a:r>
                <a:rPr lang="en-US" sz="1120" dirty="0">
                  <a:solidFill>
                    <a:srgbClr val="333333"/>
                  </a:solidFill>
                  <a:latin typeface="Roche Sans"/>
                  <a:ea typeface="Roche Sans"/>
                  <a:cs typeface="Roche Sans"/>
                </a:rPr>
                <a:t xml:space="preserve"> — well below most strong baselines; base model trains in 12 hours.</a:t>
              </a:r>
            </a:p>
          </p:txBody>
        </p:sp>
      </p:grpSp>
      <p:grpSp>
        <p:nvGrpSpPr>
          <p:cNvPr id="66" name="Group 66"/>
          <p:cNvGrpSpPr/>
          <p:nvPr/>
        </p:nvGrpSpPr>
        <p:grpSpPr>
          <a:xfrm>
            <a:off x="566738" y="6597491"/>
            <a:ext cx="11058525" cy="161925"/>
            <a:chOff x="566738" y="6597491"/>
            <a:chExt cx="11058525" cy="161925"/>
          </a:xfrm>
        </p:grpSpPr>
        <p:sp>
          <p:nvSpPr>
            <p:cNvPr id="64" name="TextBox 64"/>
            <p:cNvSpPr txBox="1"/>
            <p:nvPr/>
          </p:nvSpPr>
          <p:spPr>
            <a:xfrm>
              <a:off x="566738" y="6597491"/>
              <a:ext cx="3510346"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Table 2 (§6.1 Machine Translation)</a:t>
              </a:r>
            </a:p>
          </p:txBody>
        </p:sp>
        <p:sp>
          <p:nvSpPr>
            <p:cNvPr id="65" name="TextBox 65"/>
            <p:cNvSpPr txBox="1"/>
            <p:nvPr/>
          </p:nvSpPr>
          <p:spPr>
            <a:xfrm>
              <a:off x="11493570" y="65974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400"/>
                                        <p:tgtEl>
                                          <p:spTgt spid="5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fade">
                                      <p:cBhvr>
                                        <p:cTn id="11"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71500" y="533400"/>
            <a:ext cx="7067026" cy="656939"/>
            <a:chOff x="571500" y="533400"/>
            <a:chExt cx="7067026" cy="656939"/>
          </a:xfrm>
        </p:grpSpPr>
        <p:sp>
          <p:nvSpPr>
            <p:cNvPr id="3" name="Rectangle 3"/>
            <p:cNvSpPr/>
            <p:nvPr/>
          </p:nvSpPr>
          <p:spPr>
            <a:xfrm>
              <a:off x="571500" y="533400"/>
              <a:ext cx="57150" cy="381000"/>
            </a:xfrm>
            <a:prstGeom prst="rect">
              <a:avLst/>
            </a:prstGeom>
            <a:solidFill>
              <a:srgbClr val="1482FA"/>
            </a:solidFill>
            <a:ln>
              <a:noFill/>
            </a:ln>
          </p:spPr>
        </p:sp>
        <p:sp>
          <p:nvSpPr>
            <p:cNvPr id="4" name="TextBox 4"/>
            <p:cNvSpPr txBox="1"/>
            <p:nvPr/>
          </p:nvSpPr>
          <p:spPr>
            <a:xfrm>
              <a:off x="787146" y="581978"/>
              <a:ext cx="6851380" cy="498729"/>
            </a:xfrm>
            <a:prstGeom prst="rect">
              <a:avLst/>
            </a:prstGeom>
            <a:noFill/>
            <a:ln>
              <a:noFill/>
            </a:ln>
          </p:spPr>
          <p:txBody>
            <a:bodyPr wrap="none" lIns="0" tIns="0" rIns="0" bIns="0" anchor="t" anchorCtr="0">
              <a:spAutoFit/>
            </a:bodyPr>
            <a:lstStyle/>
            <a:p>
              <a:pPr algn="l"/>
              <a:r>
                <a:rPr lang="en-US" sz="2550" dirty="0">
                  <a:solidFill>
                    <a:srgbClr val="0B41CD"/>
                  </a:solidFill>
                  <a:latin typeface="Roche Sans Light"/>
                  <a:ea typeface="Roche Sans Light"/>
                  <a:cs typeface="Roche Sans Light"/>
                </a:rPr>
                <a:t>Five takeaways from the variation study</a:t>
              </a:r>
            </a:p>
          </p:txBody>
        </p:sp>
        <p:sp>
          <p:nvSpPr>
            <p:cNvPr id="5" name="TextBox 5"/>
            <p:cNvSpPr txBox="1"/>
            <p:nvPr/>
          </p:nvSpPr>
          <p:spPr>
            <a:xfrm>
              <a:off x="795147" y="999649"/>
              <a:ext cx="5253228" cy="190690"/>
            </a:xfrm>
            <a:prstGeom prst="rect">
              <a:avLst/>
            </a:prstGeom>
            <a:noFill/>
            <a:ln>
              <a:noFill/>
            </a:ln>
          </p:spPr>
          <p:txBody>
            <a:bodyPr wrap="none" lIns="0" tIns="0" rIns="0" bIns="0" anchor="t" anchorCtr="0">
              <a:spAutoFit/>
            </a:bodyPr>
            <a:lstStyle/>
            <a:p>
              <a:pPr algn="l"/>
              <a:r>
                <a:rPr lang="en-US" sz="980" spc="112" dirty="0">
                  <a:solidFill>
                    <a:srgbClr val="706B69"/>
                  </a:solidFill>
                  <a:latin typeface="Roche Sans Medium"/>
                  <a:ea typeface="Roche Sans Medium"/>
                  <a:cs typeface="Roche Sans Medium"/>
                </a:rPr>
                <a:t>TABLE 3 ABLATIONS · WHAT THE ARCHITECTURE NEEDS TO STAY GOOD</a:t>
              </a:r>
            </a:p>
          </p:txBody>
        </p:sp>
      </p:grpSp>
      <p:grpSp>
        <p:nvGrpSpPr>
          <p:cNvPr id="8" name="Group 8"/>
          <p:cNvGrpSpPr/>
          <p:nvPr/>
        </p:nvGrpSpPr>
        <p:grpSpPr>
          <a:xfrm>
            <a:off x="1524000" y="1638300"/>
            <a:ext cx="9525" cy="4648200"/>
            <a:chOff x="1524000" y="1638300"/>
            <a:chExt cx="9525" cy="4648200"/>
          </a:xfrm>
        </p:grpSpPr>
        <p:sp>
          <p:nvSpPr>
            <p:cNvPr id="7" name="Line 7"/>
            <p:cNvSpPr/>
            <p:nvPr/>
          </p:nvSpPr>
          <p:spPr>
            <a:xfrm>
              <a:off x="1524000" y="1638300"/>
              <a:ext cx="9525" cy="4648200"/>
            </a:xfrm>
            <a:custGeom>
              <a:avLst/>
              <a:gdLst/>
              <a:ahLst/>
              <a:cxnLst/>
              <a:rect l="l" t="t" r="r" b="b"/>
              <a:pathLst>
                <a:path w="9525" h="4648200">
                  <a:moveTo>
                    <a:pt x="0" y="0"/>
                  </a:moveTo>
                  <a:lnTo>
                    <a:pt x="0" y="4648200"/>
                  </a:lnTo>
                </a:path>
              </a:pathLst>
            </a:custGeom>
            <a:noFill/>
            <a:ln w="38100" cap="rnd">
              <a:gradFill>
                <a:gsLst>
                  <a:gs pos="0">
                    <a:srgbClr val="0B41CD"/>
                  </a:gs>
                  <a:gs pos="100000">
                    <a:srgbClr val="1482FA"/>
                  </a:gs>
                </a:gsLst>
                <a:lin ang="5400000" scaled="1"/>
              </a:gradFill>
            </a:ln>
          </p:spPr>
        </p:sp>
      </p:grpSp>
      <p:grpSp>
        <p:nvGrpSpPr>
          <p:cNvPr id="17" name="Group 17"/>
          <p:cNvGrpSpPr/>
          <p:nvPr/>
        </p:nvGrpSpPr>
        <p:grpSpPr>
          <a:xfrm>
            <a:off x="1257300" y="1619250"/>
            <a:ext cx="10363200" cy="609600"/>
            <a:chOff x="1257300" y="1619250"/>
            <a:chExt cx="10363200" cy="609600"/>
          </a:xfrm>
        </p:grpSpPr>
        <p:sp>
          <p:nvSpPr>
            <p:cNvPr id="9" name="Ellipse 9"/>
            <p:cNvSpPr/>
            <p:nvPr/>
          </p:nvSpPr>
          <p:spPr>
            <a:xfrm>
              <a:off x="1257300" y="1638300"/>
              <a:ext cx="533400" cy="533400"/>
            </a:xfrm>
            <a:prstGeom prst="ellipse">
              <a:avLst/>
            </a:prstGeom>
            <a:solidFill>
              <a:srgbClr val="0B41CD">
                <a:alpha val="12000"/>
              </a:srgbClr>
            </a:solidFill>
            <a:ln>
              <a:noFill/>
            </a:ln>
          </p:spPr>
        </p:sp>
        <p:sp>
          <p:nvSpPr>
            <p:cNvPr id="10" name="Ellipse 10"/>
            <p:cNvSpPr/>
            <p:nvPr/>
          </p:nvSpPr>
          <p:spPr>
            <a:xfrm>
              <a:off x="1333500" y="1714500"/>
              <a:ext cx="381000" cy="381000"/>
            </a:xfrm>
            <a:prstGeom prst="ellipse">
              <a:avLst/>
            </a:prstGeom>
            <a:solidFill>
              <a:srgbClr val="0B41CD"/>
            </a:solidFill>
            <a:ln>
              <a:noFill/>
            </a:ln>
          </p:spPr>
        </p:sp>
        <p:sp>
          <p:nvSpPr>
            <p:cNvPr id="11" name="TextBox 11"/>
            <p:cNvSpPr txBox="1"/>
            <p:nvPr/>
          </p:nvSpPr>
          <p:spPr>
            <a:xfrm>
              <a:off x="1434989" y="1840706"/>
              <a:ext cx="178022"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01</a:t>
              </a:r>
            </a:p>
          </p:txBody>
        </p:sp>
        <p:sp>
          <p:nvSpPr>
            <p:cNvPr id="12" name="Line 12"/>
            <p:cNvSpPr/>
            <p:nvPr/>
          </p:nvSpPr>
          <p:spPr>
            <a:xfrm>
              <a:off x="1790700" y="1905000"/>
              <a:ext cx="304800" cy="9525"/>
            </a:xfrm>
            <a:custGeom>
              <a:avLst/>
              <a:gdLst/>
              <a:ahLst/>
              <a:cxnLst/>
              <a:rect l="l" t="t" r="r" b="b"/>
              <a:pathLst>
                <a:path w="304800" h="9525">
                  <a:moveTo>
                    <a:pt x="0" y="0"/>
                  </a:moveTo>
                  <a:lnTo>
                    <a:pt x="304800" y="0"/>
                  </a:lnTo>
                </a:path>
              </a:pathLst>
            </a:custGeom>
            <a:noFill/>
            <a:ln w="19050">
              <a:solidFill>
                <a:srgbClr val="0B41CD"/>
              </a:solidFill>
              <a:custDash>
                <a:ds d="200000" sp="150000"/>
              </a:custDash>
            </a:ln>
          </p:spPr>
        </p:sp>
        <p:sp>
          <p:nvSpPr>
            <p:cNvPr id="13" name="Rectangle 13"/>
            <p:cNvSpPr/>
            <p:nvPr/>
          </p:nvSpPr>
          <p:spPr>
            <a:xfrm>
              <a:off x="2095500" y="1619250"/>
              <a:ext cx="9525000" cy="609600"/>
            </a:xfrm>
            <a:prstGeom prst="roundRect">
              <a:avLst>
                <a:gd name="adj" fmla="val 15625"/>
              </a:avLst>
            </a:prstGeom>
            <a:solidFill>
              <a:srgbClr val="FFFFFF"/>
            </a:solidFill>
            <a:ln w="14288">
              <a:solidFill>
                <a:srgbClr val="E0E0E0"/>
              </a:solidFill>
            </a:ln>
            <a:effectLst>
              <a:outerShdw blurRad="76200" dist="19050" dir="5400000" algn="ctr" rotWithShape="0">
                <a:srgbClr val="0B41CD">
                  <a:alpha val="4500"/>
                </a:srgbClr>
              </a:outerShdw>
            </a:effectLst>
          </p:spPr>
        </p:sp>
        <p:sp>
          <p:nvSpPr>
            <p:cNvPr id="14" name="Rectangle 14"/>
            <p:cNvSpPr/>
            <p:nvPr/>
          </p:nvSpPr>
          <p:spPr>
            <a:xfrm>
              <a:off x="2095500" y="1619250"/>
              <a:ext cx="57150" cy="609600"/>
            </a:xfrm>
            <a:prstGeom prst="roundRect">
              <a:avLst>
                <a:gd name="adj" fmla="val 50000"/>
              </a:avLst>
            </a:prstGeom>
            <a:solidFill>
              <a:srgbClr val="0B41CD"/>
            </a:solidFill>
            <a:ln>
              <a:noFill/>
            </a:ln>
          </p:spPr>
        </p:sp>
        <p:sp>
          <p:nvSpPr>
            <p:cNvPr id="15" name="TextBox 15"/>
            <p:cNvSpPr txBox="1"/>
            <p:nvPr/>
          </p:nvSpPr>
          <p:spPr>
            <a:xfrm>
              <a:off x="2336292" y="1721168"/>
              <a:ext cx="2528139"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Head count has a sweet spot</a:t>
              </a:r>
            </a:p>
          </p:txBody>
        </p:sp>
        <p:sp>
          <p:nvSpPr>
            <p:cNvPr id="16" name="TextBox 16"/>
            <p:cNvSpPr txBox="1"/>
            <p:nvPr/>
          </p:nvSpPr>
          <p:spPr>
            <a:xfrm>
              <a:off x="2337816" y="2001202"/>
              <a:ext cx="7046953"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Single head loses </a:t>
              </a:r>
              <a:r>
                <a:rPr lang="en-US" sz="1050" b="1" dirty="0">
                  <a:solidFill>
                    <a:srgbClr val="D0021B"/>
                  </a:solidFill>
                  <a:latin typeface="Consolas"/>
                  <a:ea typeface="Consolas"/>
                  <a:cs typeface="Consolas"/>
                </a:rPr>
                <a:t>−0.9 BLEU</a:t>
              </a:r>
              <a:r>
                <a:rPr lang="en-US" sz="1050" dirty="0">
                  <a:solidFill>
                    <a:srgbClr val="333333"/>
                  </a:solidFill>
                  <a:latin typeface="Roche Sans"/>
                  <a:ea typeface="Roche Sans"/>
                  <a:cs typeface="Roche Sans"/>
                </a:rPr>
                <a:t xml:space="preserve"> vs h = 8; too many heads (h = 32) also degrade. Eight is empirically right.</a:t>
              </a:r>
            </a:p>
          </p:txBody>
        </p:sp>
      </p:grpSp>
      <p:grpSp>
        <p:nvGrpSpPr>
          <p:cNvPr id="26" name="Group 26"/>
          <p:cNvGrpSpPr/>
          <p:nvPr/>
        </p:nvGrpSpPr>
        <p:grpSpPr>
          <a:xfrm>
            <a:off x="1257300" y="2533650"/>
            <a:ext cx="10363200" cy="609600"/>
            <a:chOff x="1257300" y="2533650"/>
            <a:chExt cx="10363200" cy="609600"/>
          </a:xfrm>
        </p:grpSpPr>
        <p:sp>
          <p:nvSpPr>
            <p:cNvPr id="18" name="Ellipse 18"/>
            <p:cNvSpPr/>
            <p:nvPr/>
          </p:nvSpPr>
          <p:spPr>
            <a:xfrm>
              <a:off x="1257300" y="2552700"/>
              <a:ext cx="533400" cy="533400"/>
            </a:xfrm>
            <a:prstGeom prst="ellipse">
              <a:avLst/>
            </a:prstGeom>
            <a:solidFill>
              <a:srgbClr val="0B41CD">
                <a:alpha val="12000"/>
              </a:srgbClr>
            </a:solidFill>
            <a:ln>
              <a:noFill/>
            </a:ln>
          </p:spPr>
        </p:sp>
        <p:sp>
          <p:nvSpPr>
            <p:cNvPr id="19" name="Ellipse 19"/>
            <p:cNvSpPr/>
            <p:nvPr/>
          </p:nvSpPr>
          <p:spPr>
            <a:xfrm>
              <a:off x="1333500" y="2628900"/>
              <a:ext cx="381000" cy="381000"/>
            </a:xfrm>
            <a:prstGeom prst="ellipse">
              <a:avLst/>
            </a:prstGeom>
            <a:solidFill>
              <a:srgbClr val="0B41CD"/>
            </a:solidFill>
            <a:ln>
              <a:noFill/>
            </a:ln>
          </p:spPr>
        </p:sp>
        <p:sp>
          <p:nvSpPr>
            <p:cNvPr id="20" name="TextBox 20"/>
            <p:cNvSpPr txBox="1"/>
            <p:nvPr/>
          </p:nvSpPr>
          <p:spPr>
            <a:xfrm>
              <a:off x="1434989" y="2755106"/>
              <a:ext cx="178022"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02</a:t>
              </a:r>
            </a:p>
          </p:txBody>
        </p:sp>
        <p:sp>
          <p:nvSpPr>
            <p:cNvPr id="21" name="Line 21"/>
            <p:cNvSpPr/>
            <p:nvPr/>
          </p:nvSpPr>
          <p:spPr>
            <a:xfrm>
              <a:off x="1790700" y="2819400"/>
              <a:ext cx="304800" cy="9525"/>
            </a:xfrm>
            <a:custGeom>
              <a:avLst/>
              <a:gdLst/>
              <a:ahLst/>
              <a:cxnLst/>
              <a:rect l="l" t="t" r="r" b="b"/>
              <a:pathLst>
                <a:path w="304800" h="9525">
                  <a:moveTo>
                    <a:pt x="0" y="0"/>
                  </a:moveTo>
                  <a:lnTo>
                    <a:pt x="304800" y="0"/>
                  </a:lnTo>
                </a:path>
              </a:pathLst>
            </a:custGeom>
            <a:noFill/>
            <a:ln w="19050">
              <a:solidFill>
                <a:srgbClr val="0B41CD"/>
              </a:solidFill>
              <a:custDash>
                <a:ds d="200000" sp="150000"/>
              </a:custDash>
            </a:ln>
          </p:spPr>
        </p:sp>
        <p:sp>
          <p:nvSpPr>
            <p:cNvPr id="22" name="Rectangle 22"/>
            <p:cNvSpPr/>
            <p:nvPr/>
          </p:nvSpPr>
          <p:spPr>
            <a:xfrm>
              <a:off x="2095500" y="2533650"/>
              <a:ext cx="9525000" cy="609600"/>
            </a:xfrm>
            <a:prstGeom prst="roundRect">
              <a:avLst>
                <a:gd name="adj" fmla="val 15625"/>
              </a:avLst>
            </a:prstGeom>
            <a:solidFill>
              <a:srgbClr val="FFFFFF"/>
            </a:solidFill>
            <a:ln w="14288">
              <a:solidFill>
                <a:srgbClr val="E0E0E0"/>
              </a:solidFill>
            </a:ln>
            <a:effectLst>
              <a:outerShdw blurRad="76200" dist="19050" dir="5400000" algn="ctr" rotWithShape="0">
                <a:srgbClr val="0B41CD">
                  <a:alpha val="4500"/>
                </a:srgbClr>
              </a:outerShdw>
            </a:effectLst>
          </p:spPr>
        </p:sp>
        <p:sp>
          <p:nvSpPr>
            <p:cNvPr id="23" name="Rectangle 23"/>
            <p:cNvSpPr/>
            <p:nvPr/>
          </p:nvSpPr>
          <p:spPr>
            <a:xfrm>
              <a:off x="2095500" y="2533650"/>
              <a:ext cx="57150" cy="609600"/>
            </a:xfrm>
            <a:prstGeom prst="roundRect">
              <a:avLst>
                <a:gd name="adj" fmla="val 50000"/>
              </a:avLst>
            </a:prstGeom>
            <a:solidFill>
              <a:srgbClr val="0B41CD"/>
            </a:solidFill>
            <a:ln>
              <a:noFill/>
            </a:ln>
          </p:spPr>
        </p:sp>
        <p:sp>
          <p:nvSpPr>
            <p:cNvPr id="24" name="TextBox 24"/>
            <p:cNvSpPr txBox="1"/>
            <p:nvPr/>
          </p:nvSpPr>
          <p:spPr>
            <a:xfrm>
              <a:off x="2336292" y="2635568"/>
              <a:ext cx="3254949"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Key dim matters more than value dim</a:t>
              </a:r>
            </a:p>
          </p:txBody>
        </p:sp>
        <p:sp>
          <p:nvSpPr>
            <p:cNvPr id="25" name="TextBox 25"/>
            <p:cNvSpPr txBox="1"/>
            <p:nvPr/>
          </p:nvSpPr>
          <p:spPr>
            <a:xfrm>
              <a:off x="2337816" y="2915602"/>
              <a:ext cx="7601040"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Reducing </a:t>
              </a:r>
              <a:r>
                <a:rPr lang="en-US" sz="1050" b="1" dirty="0">
                  <a:solidFill>
                    <a:srgbClr val="1482FA"/>
                  </a:solidFill>
                  <a:latin typeface="Consolas"/>
                  <a:ea typeface="Consolas"/>
                  <a:cs typeface="Consolas"/>
                </a:rPr>
                <a:t>d_k</a:t>
              </a:r>
              <a:r>
                <a:rPr lang="en-US" sz="1050" dirty="0">
                  <a:solidFill>
                    <a:srgbClr val="333333"/>
                  </a:solidFill>
                  <a:latin typeface="Roche Sans"/>
                  <a:ea typeface="Roche Sans"/>
                  <a:cs typeface="Roche Sans"/>
                </a:rPr>
                <a:t xml:space="preserve"> hurts quality more than reducing </a:t>
              </a:r>
              <a:r>
                <a:rPr lang="en-US" sz="1050" b="1" dirty="0">
                  <a:solidFill>
                    <a:srgbClr val="1482FA"/>
                  </a:solidFill>
                  <a:latin typeface="Consolas"/>
                  <a:ea typeface="Consolas"/>
                  <a:cs typeface="Consolas"/>
                </a:rPr>
                <a:t>d_v</a:t>
              </a:r>
              <a:r>
                <a:rPr lang="en-US" sz="1050" dirty="0">
                  <a:solidFill>
                    <a:srgbClr val="333333"/>
                  </a:solidFill>
                  <a:latin typeface="Roche Sans"/>
                  <a:ea typeface="Roche Sans"/>
                  <a:cs typeface="Roche Sans"/>
                </a:rPr>
                <a:t xml:space="preserve"> — determining compatibility is the harder learning problem.</a:t>
              </a:r>
            </a:p>
          </p:txBody>
        </p:sp>
      </p:grpSp>
      <p:grpSp>
        <p:nvGrpSpPr>
          <p:cNvPr id="35" name="Group 35"/>
          <p:cNvGrpSpPr/>
          <p:nvPr/>
        </p:nvGrpSpPr>
        <p:grpSpPr>
          <a:xfrm>
            <a:off x="1257300" y="3448050"/>
            <a:ext cx="10363200" cy="609600"/>
            <a:chOff x="1257300" y="3448050"/>
            <a:chExt cx="10363200" cy="609600"/>
          </a:xfrm>
        </p:grpSpPr>
        <p:sp>
          <p:nvSpPr>
            <p:cNvPr id="27" name="Ellipse 27"/>
            <p:cNvSpPr/>
            <p:nvPr/>
          </p:nvSpPr>
          <p:spPr>
            <a:xfrm>
              <a:off x="1257300" y="3467100"/>
              <a:ext cx="533400" cy="533400"/>
            </a:xfrm>
            <a:prstGeom prst="ellipse">
              <a:avLst/>
            </a:prstGeom>
            <a:solidFill>
              <a:srgbClr val="1482FA">
                <a:alpha val="12000"/>
              </a:srgbClr>
            </a:solidFill>
            <a:ln>
              <a:noFill/>
            </a:ln>
          </p:spPr>
        </p:sp>
        <p:sp>
          <p:nvSpPr>
            <p:cNvPr id="28" name="Ellipse 28"/>
            <p:cNvSpPr/>
            <p:nvPr/>
          </p:nvSpPr>
          <p:spPr>
            <a:xfrm>
              <a:off x="1333500" y="3543300"/>
              <a:ext cx="381000" cy="381000"/>
            </a:xfrm>
            <a:prstGeom prst="ellipse">
              <a:avLst/>
            </a:prstGeom>
            <a:solidFill>
              <a:srgbClr val="0F5EE1"/>
            </a:solidFill>
            <a:ln>
              <a:noFill/>
            </a:ln>
          </p:spPr>
        </p:sp>
        <p:sp>
          <p:nvSpPr>
            <p:cNvPr id="29" name="TextBox 29"/>
            <p:cNvSpPr txBox="1"/>
            <p:nvPr/>
          </p:nvSpPr>
          <p:spPr>
            <a:xfrm>
              <a:off x="1434989" y="3669506"/>
              <a:ext cx="178022"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03</a:t>
              </a:r>
            </a:p>
          </p:txBody>
        </p:sp>
        <p:sp>
          <p:nvSpPr>
            <p:cNvPr id="30" name="Line 30"/>
            <p:cNvSpPr/>
            <p:nvPr/>
          </p:nvSpPr>
          <p:spPr>
            <a:xfrm>
              <a:off x="1790700" y="3733800"/>
              <a:ext cx="304800" cy="9525"/>
            </a:xfrm>
            <a:custGeom>
              <a:avLst/>
              <a:gdLst/>
              <a:ahLst/>
              <a:cxnLst/>
              <a:rect l="l" t="t" r="r" b="b"/>
              <a:pathLst>
                <a:path w="304800" h="9525">
                  <a:moveTo>
                    <a:pt x="0" y="0"/>
                  </a:moveTo>
                  <a:lnTo>
                    <a:pt x="304800" y="0"/>
                  </a:lnTo>
                </a:path>
              </a:pathLst>
            </a:custGeom>
            <a:noFill/>
            <a:ln w="19050">
              <a:solidFill>
                <a:srgbClr val="0F5EE1"/>
              </a:solidFill>
              <a:custDash>
                <a:ds d="200000" sp="150000"/>
              </a:custDash>
            </a:ln>
          </p:spPr>
        </p:sp>
        <p:sp>
          <p:nvSpPr>
            <p:cNvPr id="31" name="Rectangle 31"/>
            <p:cNvSpPr/>
            <p:nvPr/>
          </p:nvSpPr>
          <p:spPr>
            <a:xfrm>
              <a:off x="2095500" y="3448050"/>
              <a:ext cx="9525000" cy="609600"/>
            </a:xfrm>
            <a:prstGeom prst="roundRect">
              <a:avLst>
                <a:gd name="adj" fmla="val 15625"/>
              </a:avLst>
            </a:prstGeom>
            <a:solidFill>
              <a:srgbClr val="FFFFFF"/>
            </a:solidFill>
            <a:ln w="14288">
              <a:solidFill>
                <a:srgbClr val="E0E0E0"/>
              </a:solidFill>
            </a:ln>
            <a:effectLst>
              <a:outerShdw blurRad="76200" dist="19050" dir="5400000" algn="ctr" rotWithShape="0">
                <a:srgbClr val="0B41CD">
                  <a:alpha val="4500"/>
                </a:srgbClr>
              </a:outerShdw>
            </a:effectLst>
          </p:spPr>
        </p:sp>
        <p:sp>
          <p:nvSpPr>
            <p:cNvPr id="32" name="Rectangle 32"/>
            <p:cNvSpPr/>
            <p:nvPr/>
          </p:nvSpPr>
          <p:spPr>
            <a:xfrm>
              <a:off x="2095500" y="3448050"/>
              <a:ext cx="57150" cy="609600"/>
            </a:xfrm>
            <a:prstGeom prst="roundRect">
              <a:avLst>
                <a:gd name="adj" fmla="val 50000"/>
              </a:avLst>
            </a:prstGeom>
            <a:solidFill>
              <a:srgbClr val="0F5EE1"/>
            </a:solidFill>
            <a:ln>
              <a:noFill/>
            </a:ln>
          </p:spPr>
        </p:sp>
        <p:sp>
          <p:nvSpPr>
            <p:cNvPr id="33" name="TextBox 33"/>
            <p:cNvSpPr txBox="1"/>
            <p:nvPr/>
          </p:nvSpPr>
          <p:spPr>
            <a:xfrm>
              <a:off x="2336292" y="3549968"/>
              <a:ext cx="1436996"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Bigger is better</a:t>
              </a:r>
            </a:p>
          </p:txBody>
        </p:sp>
        <p:sp>
          <p:nvSpPr>
            <p:cNvPr id="34" name="TextBox 34"/>
            <p:cNvSpPr txBox="1"/>
            <p:nvPr/>
          </p:nvSpPr>
          <p:spPr>
            <a:xfrm>
              <a:off x="2337816" y="3830002"/>
              <a:ext cx="8075834"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Larger </a:t>
              </a:r>
              <a:r>
                <a:rPr lang="en-US" sz="1050" b="1" dirty="0">
                  <a:solidFill>
                    <a:srgbClr val="1482FA"/>
                  </a:solidFill>
                  <a:latin typeface="Consolas"/>
                  <a:ea typeface="Consolas"/>
                  <a:cs typeface="Consolas"/>
                </a:rPr>
                <a:t>d_model</a:t>
              </a:r>
              <a:r>
                <a:rPr lang="en-US" sz="1050" dirty="0">
                  <a:solidFill>
                    <a:srgbClr val="333333"/>
                  </a:solidFill>
                  <a:latin typeface="Roche Sans"/>
                  <a:ea typeface="Roche Sans"/>
                  <a:cs typeface="Roche Sans"/>
                </a:rPr>
                <a:t xml:space="preserve"> and deeper stacks consistently improve BLEU — the architecture scales monotonically with capacity.</a:t>
              </a:r>
            </a:p>
          </p:txBody>
        </p:sp>
      </p:grpSp>
      <p:grpSp>
        <p:nvGrpSpPr>
          <p:cNvPr id="44" name="Group 44"/>
          <p:cNvGrpSpPr/>
          <p:nvPr/>
        </p:nvGrpSpPr>
        <p:grpSpPr>
          <a:xfrm>
            <a:off x="1257300" y="4362450"/>
            <a:ext cx="10363200" cy="609600"/>
            <a:chOff x="1257300" y="4362450"/>
            <a:chExt cx="10363200" cy="609600"/>
          </a:xfrm>
        </p:grpSpPr>
        <p:sp>
          <p:nvSpPr>
            <p:cNvPr id="36" name="Ellipse 36"/>
            <p:cNvSpPr/>
            <p:nvPr/>
          </p:nvSpPr>
          <p:spPr>
            <a:xfrm>
              <a:off x="1257300" y="4381500"/>
              <a:ext cx="533400" cy="533400"/>
            </a:xfrm>
            <a:prstGeom prst="ellipse">
              <a:avLst/>
            </a:prstGeom>
            <a:solidFill>
              <a:srgbClr val="1482FA">
                <a:alpha val="12000"/>
              </a:srgbClr>
            </a:solidFill>
            <a:ln>
              <a:noFill/>
            </a:ln>
          </p:spPr>
        </p:sp>
        <p:sp>
          <p:nvSpPr>
            <p:cNvPr id="37" name="Ellipse 37"/>
            <p:cNvSpPr/>
            <p:nvPr/>
          </p:nvSpPr>
          <p:spPr>
            <a:xfrm>
              <a:off x="1333500" y="4457700"/>
              <a:ext cx="381000" cy="381000"/>
            </a:xfrm>
            <a:prstGeom prst="ellipse">
              <a:avLst/>
            </a:prstGeom>
            <a:solidFill>
              <a:srgbClr val="1482FA"/>
            </a:solidFill>
            <a:ln>
              <a:noFill/>
            </a:ln>
          </p:spPr>
        </p:sp>
        <p:sp>
          <p:nvSpPr>
            <p:cNvPr id="38" name="TextBox 38"/>
            <p:cNvSpPr txBox="1"/>
            <p:nvPr/>
          </p:nvSpPr>
          <p:spPr>
            <a:xfrm>
              <a:off x="1434989" y="4583906"/>
              <a:ext cx="178022"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04</a:t>
              </a:r>
            </a:p>
          </p:txBody>
        </p:sp>
        <p:sp>
          <p:nvSpPr>
            <p:cNvPr id="39" name="Line 39"/>
            <p:cNvSpPr/>
            <p:nvPr/>
          </p:nvSpPr>
          <p:spPr>
            <a:xfrm>
              <a:off x="1790700" y="4648200"/>
              <a:ext cx="304800" cy="9525"/>
            </a:xfrm>
            <a:custGeom>
              <a:avLst/>
              <a:gdLst/>
              <a:ahLst/>
              <a:cxnLst/>
              <a:rect l="l" t="t" r="r" b="b"/>
              <a:pathLst>
                <a:path w="304800" h="9525">
                  <a:moveTo>
                    <a:pt x="0" y="0"/>
                  </a:moveTo>
                  <a:lnTo>
                    <a:pt x="304800" y="0"/>
                  </a:lnTo>
                </a:path>
              </a:pathLst>
            </a:custGeom>
            <a:noFill/>
            <a:ln w="19050">
              <a:solidFill>
                <a:srgbClr val="1482FA"/>
              </a:solidFill>
              <a:custDash>
                <a:ds d="200000" sp="150000"/>
              </a:custDash>
            </a:ln>
          </p:spPr>
        </p:sp>
        <p:sp>
          <p:nvSpPr>
            <p:cNvPr id="40" name="Rectangle 40"/>
            <p:cNvSpPr/>
            <p:nvPr/>
          </p:nvSpPr>
          <p:spPr>
            <a:xfrm>
              <a:off x="2095500" y="4362450"/>
              <a:ext cx="9525000" cy="609600"/>
            </a:xfrm>
            <a:prstGeom prst="roundRect">
              <a:avLst>
                <a:gd name="adj" fmla="val 15625"/>
              </a:avLst>
            </a:prstGeom>
            <a:solidFill>
              <a:srgbClr val="FFFFFF"/>
            </a:solidFill>
            <a:ln w="14288">
              <a:solidFill>
                <a:srgbClr val="E0E0E0"/>
              </a:solidFill>
            </a:ln>
            <a:effectLst>
              <a:outerShdw blurRad="76200" dist="19050" dir="5400000" algn="ctr" rotWithShape="0">
                <a:srgbClr val="0B41CD">
                  <a:alpha val="4500"/>
                </a:srgbClr>
              </a:outerShdw>
            </a:effectLst>
          </p:spPr>
        </p:sp>
        <p:sp>
          <p:nvSpPr>
            <p:cNvPr id="41" name="Rectangle 41"/>
            <p:cNvSpPr/>
            <p:nvPr/>
          </p:nvSpPr>
          <p:spPr>
            <a:xfrm>
              <a:off x="2095500" y="4362450"/>
              <a:ext cx="57150" cy="609600"/>
            </a:xfrm>
            <a:prstGeom prst="roundRect">
              <a:avLst>
                <a:gd name="adj" fmla="val 50000"/>
              </a:avLst>
            </a:prstGeom>
            <a:solidFill>
              <a:srgbClr val="1482FA"/>
            </a:solidFill>
            <a:ln>
              <a:noFill/>
            </a:ln>
          </p:spPr>
        </p:sp>
        <p:sp>
          <p:nvSpPr>
            <p:cNvPr id="42" name="TextBox 42"/>
            <p:cNvSpPr txBox="1"/>
            <p:nvPr/>
          </p:nvSpPr>
          <p:spPr>
            <a:xfrm>
              <a:off x="2336292" y="4464368"/>
              <a:ext cx="1791224"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Dropout is essential</a:t>
              </a:r>
            </a:p>
          </p:txBody>
        </p:sp>
        <p:sp>
          <p:nvSpPr>
            <p:cNvPr id="43" name="TextBox 43"/>
            <p:cNvSpPr txBox="1"/>
            <p:nvPr/>
          </p:nvSpPr>
          <p:spPr>
            <a:xfrm>
              <a:off x="2337816" y="4744402"/>
              <a:ext cx="6836823"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Removing dropout loses </a:t>
              </a:r>
              <a:r>
                <a:rPr lang="en-US" sz="1050" b="1" dirty="0">
                  <a:solidFill>
                    <a:srgbClr val="D0021B"/>
                  </a:solidFill>
                  <a:latin typeface="Consolas"/>
                  <a:ea typeface="Consolas"/>
                  <a:cs typeface="Consolas"/>
                </a:rPr>
                <a:t>~0.5–1.0 BLEU</a:t>
              </a:r>
              <a:r>
                <a:rPr lang="en-US" sz="1050" dirty="0">
                  <a:solidFill>
                    <a:srgbClr val="333333"/>
                  </a:solidFill>
                  <a:latin typeface="Roche Sans"/>
                  <a:ea typeface="Roche Sans"/>
                  <a:cs typeface="Roche Sans"/>
                </a:rPr>
                <a:t>. Even p = 0.1 measurably regularizes — it isn't decorative.</a:t>
              </a:r>
            </a:p>
          </p:txBody>
        </p:sp>
      </p:grpSp>
      <p:grpSp>
        <p:nvGrpSpPr>
          <p:cNvPr id="53" name="Group 53"/>
          <p:cNvGrpSpPr/>
          <p:nvPr/>
        </p:nvGrpSpPr>
        <p:grpSpPr>
          <a:xfrm>
            <a:off x="1257300" y="5276850"/>
            <a:ext cx="10363200" cy="609600"/>
            <a:chOff x="1257300" y="5276850"/>
            <a:chExt cx="10363200" cy="609600"/>
          </a:xfrm>
        </p:grpSpPr>
        <p:sp>
          <p:nvSpPr>
            <p:cNvPr id="45" name="Ellipse 45"/>
            <p:cNvSpPr/>
            <p:nvPr/>
          </p:nvSpPr>
          <p:spPr>
            <a:xfrm>
              <a:off x="1257300" y="5295900"/>
              <a:ext cx="533400" cy="533400"/>
            </a:xfrm>
            <a:prstGeom prst="ellipse">
              <a:avLst/>
            </a:prstGeom>
            <a:solidFill>
              <a:srgbClr val="5FAAFC">
                <a:alpha val="18000"/>
              </a:srgbClr>
            </a:solidFill>
            <a:ln>
              <a:noFill/>
            </a:ln>
          </p:spPr>
        </p:sp>
        <p:sp>
          <p:nvSpPr>
            <p:cNvPr id="46" name="Ellipse 46"/>
            <p:cNvSpPr/>
            <p:nvPr/>
          </p:nvSpPr>
          <p:spPr>
            <a:xfrm>
              <a:off x="1333500" y="5372100"/>
              <a:ext cx="381000" cy="381000"/>
            </a:xfrm>
            <a:prstGeom prst="ellipse">
              <a:avLst/>
            </a:prstGeom>
            <a:solidFill>
              <a:srgbClr val="1482FA"/>
            </a:solidFill>
            <a:ln>
              <a:noFill/>
            </a:ln>
          </p:spPr>
        </p:sp>
        <p:sp>
          <p:nvSpPr>
            <p:cNvPr id="47" name="TextBox 47"/>
            <p:cNvSpPr txBox="1"/>
            <p:nvPr/>
          </p:nvSpPr>
          <p:spPr>
            <a:xfrm>
              <a:off x="1434989" y="5498306"/>
              <a:ext cx="178022"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Roche Sans Medium"/>
                  <a:ea typeface="Roche Sans Medium"/>
                  <a:cs typeface="Roche Sans Medium"/>
                </a:rPr>
                <a:t>05</a:t>
              </a:r>
            </a:p>
          </p:txBody>
        </p:sp>
        <p:sp>
          <p:nvSpPr>
            <p:cNvPr id="48" name="Line 48"/>
            <p:cNvSpPr/>
            <p:nvPr/>
          </p:nvSpPr>
          <p:spPr>
            <a:xfrm>
              <a:off x="1790700" y="5562600"/>
              <a:ext cx="304800" cy="9525"/>
            </a:xfrm>
            <a:custGeom>
              <a:avLst/>
              <a:gdLst/>
              <a:ahLst/>
              <a:cxnLst/>
              <a:rect l="l" t="t" r="r" b="b"/>
              <a:pathLst>
                <a:path w="304800" h="9525">
                  <a:moveTo>
                    <a:pt x="0" y="0"/>
                  </a:moveTo>
                  <a:lnTo>
                    <a:pt x="304800" y="0"/>
                  </a:lnTo>
                </a:path>
              </a:pathLst>
            </a:custGeom>
            <a:noFill/>
            <a:ln w="19050">
              <a:solidFill>
                <a:srgbClr val="1482FA"/>
              </a:solidFill>
              <a:custDash>
                <a:ds d="200000" sp="150000"/>
              </a:custDash>
            </a:ln>
          </p:spPr>
        </p:sp>
        <p:sp>
          <p:nvSpPr>
            <p:cNvPr id="49" name="Rectangle 49"/>
            <p:cNvSpPr/>
            <p:nvPr/>
          </p:nvSpPr>
          <p:spPr>
            <a:xfrm>
              <a:off x="2095500" y="5276850"/>
              <a:ext cx="9525000" cy="609600"/>
            </a:xfrm>
            <a:prstGeom prst="roundRect">
              <a:avLst>
                <a:gd name="adj" fmla="val 15625"/>
              </a:avLst>
            </a:prstGeom>
            <a:solidFill>
              <a:srgbClr val="FFFFFF"/>
            </a:solidFill>
            <a:ln w="14288">
              <a:solidFill>
                <a:srgbClr val="E0E0E0"/>
              </a:solidFill>
            </a:ln>
            <a:effectLst>
              <a:outerShdw blurRad="76200" dist="19050" dir="5400000" algn="ctr" rotWithShape="0">
                <a:srgbClr val="0B41CD">
                  <a:alpha val="4500"/>
                </a:srgbClr>
              </a:outerShdw>
            </a:effectLst>
          </p:spPr>
        </p:sp>
        <p:sp>
          <p:nvSpPr>
            <p:cNvPr id="50" name="Rectangle 50"/>
            <p:cNvSpPr/>
            <p:nvPr/>
          </p:nvSpPr>
          <p:spPr>
            <a:xfrm>
              <a:off x="2095500" y="5276850"/>
              <a:ext cx="57150" cy="609600"/>
            </a:xfrm>
            <a:prstGeom prst="roundRect">
              <a:avLst>
                <a:gd name="adj" fmla="val 50000"/>
              </a:avLst>
            </a:prstGeom>
            <a:solidFill>
              <a:srgbClr val="5FAAFC"/>
            </a:solidFill>
            <a:ln>
              <a:noFill/>
            </a:ln>
          </p:spPr>
        </p:sp>
        <p:sp>
          <p:nvSpPr>
            <p:cNvPr id="51" name="TextBox 51"/>
            <p:cNvSpPr txBox="1"/>
            <p:nvPr/>
          </p:nvSpPr>
          <p:spPr>
            <a:xfrm>
              <a:off x="2336292" y="5378768"/>
              <a:ext cx="4478709" cy="264033"/>
            </a:xfrm>
            <a:prstGeom prst="rect">
              <a:avLst/>
            </a:prstGeom>
            <a:noFill/>
            <a:ln>
              <a:noFill/>
            </a:ln>
          </p:spPr>
          <p:txBody>
            <a:bodyPr wrap="none" lIns="0" tIns="0" rIns="0" bIns="0" anchor="t" anchorCtr="0">
              <a:spAutoFit/>
            </a:bodyPr>
            <a:lstStyle/>
            <a:p>
              <a:pPr algn="l"/>
              <a:r>
                <a:rPr lang="en-US" sz="1350" dirty="0">
                  <a:solidFill>
                    <a:srgbClr val="0B41CD"/>
                  </a:solidFill>
                  <a:latin typeface="Roche Sans Light"/>
                  <a:ea typeface="Roche Sans Light"/>
                  <a:cs typeface="Roche Sans Light"/>
                </a:rPr>
                <a:t>Label smoothing helps BLEU (and hurts perplexity)</a:t>
              </a:r>
            </a:p>
          </p:txBody>
        </p:sp>
        <p:sp>
          <p:nvSpPr>
            <p:cNvPr id="52" name="TextBox 52"/>
            <p:cNvSpPr txBox="1"/>
            <p:nvPr/>
          </p:nvSpPr>
          <p:spPr>
            <a:xfrm>
              <a:off x="2337816" y="5658802"/>
              <a:ext cx="5742756" cy="205359"/>
            </a:xfrm>
            <a:prstGeom prst="rect">
              <a:avLst/>
            </a:prstGeom>
            <a:noFill/>
            <a:ln>
              <a:noFill/>
            </a:ln>
          </p:spPr>
          <p:txBody>
            <a:bodyPr wrap="none" lIns="0" tIns="0" rIns="0" bIns="0" anchor="t" anchorCtr="0">
              <a:spAutoFit/>
            </a:bodyPr>
            <a:lstStyle/>
            <a:p>
              <a:pPr algn="l"/>
              <a:r>
                <a:rPr lang="en-US" sz="1050" dirty="0">
                  <a:solidFill>
                    <a:srgbClr val="333333"/>
                  </a:solidFill>
                  <a:latin typeface="Roche Sans"/>
                  <a:ea typeface="Roche Sans"/>
                  <a:cs typeface="Roche Sans"/>
                </a:rPr>
                <a:t xml:space="preserve">Slightly worse perplexity, better BLEU. </a:t>
              </a:r>
              <a:r>
                <a:rPr lang="en-US" sz="1050" i="1" dirty="0">
                  <a:solidFill>
                    <a:srgbClr val="706B69"/>
                  </a:solidFill>
                  <a:latin typeface="Roche Serif Light"/>
                  <a:ea typeface="Roche Serif Light"/>
                  <a:cs typeface="Roche Serif Light"/>
                </a:rPr>
                <a:t>Optimize for the metric you ship on.</a:t>
              </a:r>
            </a:p>
          </p:txBody>
        </p:sp>
      </p:grpSp>
      <p:grpSp>
        <p:nvGrpSpPr>
          <p:cNvPr id="56" name="Group 56"/>
          <p:cNvGrpSpPr/>
          <p:nvPr/>
        </p:nvGrpSpPr>
        <p:grpSpPr>
          <a:xfrm>
            <a:off x="566738" y="6521291"/>
            <a:ext cx="11058525" cy="161925"/>
            <a:chOff x="566738" y="6521291"/>
            <a:chExt cx="11058525" cy="161925"/>
          </a:xfrm>
        </p:grpSpPr>
        <p:sp>
          <p:nvSpPr>
            <p:cNvPr id="54" name="TextBox 54"/>
            <p:cNvSpPr txBox="1"/>
            <p:nvPr/>
          </p:nvSpPr>
          <p:spPr>
            <a:xfrm>
              <a:off x="566738" y="6521291"/>
              <a:ext cx="3327687"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Source: Vaswani et al. 2017, Table 3 (§6.2 Model Variations)</a:t>
              </a:r>
            </a:p>
          </p:txBody>
        </p:sp>
        <p:sp>
          <p:nvSpPr>
            <p:cNvPr id="55" name="TextBox 5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Bottom)">
                                      <p:cBhvr>
                                        <p:cTn id="15" dur="400"/>
                                        <p:tgtEl>
                                          <p:spTgt spid="2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slide(fromBottom)">
                                      <p:cBhvr>
                                        <p:cTn id="19" dur="400"/>
                                        <p:tgtEl>
                                          <p:spTgt spid="3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slide(fromBottom)">
                                      <p:cBhvr>
                                        <p:cTn id="23" dur="400"/>
                                        <p:tgtEl>
                                          <p:spTgt spid="44"/>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slide(fromBottom)">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BF9"/>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820400" y="304800"/>
            <a:ext cx="800100" cy="416242"/>
          </a:xfrm>
          <a:prstGeom prst="rect">
            <a:avLst/>
          </a:prstGeom>
        </p:spPr>
      </p:pic>
      <p:grpSp>
        <p:nvGrpSpPr>
          <p:cNvPr id="6" name="Group 6"/>
          <p:cNvGrpSpPr/>
          <p:nvPr/>
        </p:nvGrpSpPr>
        <p:grpSpPr>
          <a:xfrm>
            <a:off x="553212" y="1056799"/>
            <a:ext cx="8195462" cy="954119"/>
            <a:chOff x="553212" y="1056799"/>
            <a:chExt cx="8195462" cy="954119"/>
          </a:xfrm>
        </p:grpSpPr>
        <p:sp>
          <p:nvSpPr>
            <p:cNvPr id="3" name="TextBox 3"/>
            <p:cNvSpPr txBox="1"/>
            <p:nvPr/>
          </p:nvSpPr>
          <p:spPr>
            <a:xfrm>
              <a:off x="566547" y="1056799"/>
              <a:ext cx="2357399" cy="190690"/>
            </a:xfrm>
            <a:prstGeom prst="rect">
              <a:avLst/>
            </a:prstGeom>
            <a:noFill/>
            <a:ln>
              <a:noFill/>
            </a:ln>
          </p:spPr>
          <p:txBody>
            <a:bodyPr wrap="none" lIns="0" tIns="0" rIns="0" bIns="0" anchor="t" anchorCtr="0">
              <a:spAutoFit/>
            </a:bodyPr>
            <a:lstStyle/>
            <a:p>
              <a:pPr algn="l"/>
              <a:r>
                <a:rPr lang="en-US" sz="980" spc="225" dirty="0">
                  <a:solidFill>
                    <a:srgbClr val="1482FA"/>
                  </a:solidFill>
                  <a:latin typeface="Roche Sans Medium"/>
                  <a:ea typeface="Roche Sans Medium"/>
                  <a:cs typeface="Roche Sans Medium"/>
                </a:rPr>
                <a:t>WHAT THIS PAPER STARTED</a:t>
              </a:r>
            </a:p>
          </p:txBody>
        </p:sp>
        <p:sp>
          <p:nvSpPr>
            <p:cNvPr id="4" name="TextBox 4"/>
            <p:cNvSpPr txBox="1"/>
            <p:nvPr/>
          </p:nvSpPr>
          <p:spPr>
            <a:xfrm>
              <a:off x="553212" y="1306830"/>
              <a:ext cx="8195462" cy="704088"/>
            </a:xfrm>
            <a:prstGeom prst="rect">
              <a:avLst/>
            </a:prstGeom>
            <a:noFill/>
            <a:ln>
              <a:noFill/>
            </a:ln>
          </p:spPr>
          <p:txBody>
            <a:bodyPr wrap="none" lIns="0" tIns="0" rIns="0" bIns="0" anchor="t" anchorCtr="0">
              <a:spAutoFit/>
            </a:bodyPr>
            <a:lstStyle/>
            <a:p>
              <a:pPr algn="l"/>
              <a:r>
                <a:rPr lang="en-US" sz="3600" dirty="0">
                  <a:solidFill>
                    <a:srgbClr val="0B41CD"/>
                  </a:solidFill>
                  <a:latin typeface="Roche Sans Light"/>
                  <a:ea typeface="Roche Sans Light"/>
                  <a:cs typeface="Roche Sans Light"/>
                </a:rPr>
                <a:t xml:space="preserve">One paper, </a:t>
              </a:r>
              <a:r>
                <a:rPr lang="en-US" sz="3600" dirty="0">
                  <a:solidFill>
                    <a:srgbClr val="1482FA"/>
                  </a:solidFill>
                  <a:latin typeface="Roche Sans Light"/>
                  <a:ea typeface="Roche Sans Light"/>
                  <a:cs typeface="Roche Sans Light"/>
                </a:rPr>
                <a:t>a generation of models</a:t>
              </a:r>
            </a:p>
          </p:txBody>
        </p:sp>
        <p:sp>
          <p:nvSpPr>
            <p:cNvPr id="5" name="Rectangle 5"/>
            <p:cNvSpPr/>
            <p:nvPr/>
          </p:nvSpPr>
          <p:spPr>
            <a:xfrm>
              <a:off x="590550" y="1905000"/>
              <a:ext cx="914400" cy="38100"/>
            </a:xfrm>
            <a:prstGeom prst="roundRect">
              <a:avLst>
                <a:gd name="adj" fmla="val 50000"/>
              </a:avLst>
            </a:prstGeom>
            <a:gradFill>
              <a:gsLst>
                <a:gs pos="0">
                  <a:srgbClr val="0B41CD"/>
                </a:gs>
                <a:gs pos="100000">
                  <a:srgbClr val="1482FA"/>
                </a:gs>
              </a:gsLst>
              <a:lin ang="0" scaled="1"/>
            </a:gradFill>
            <a:ln>
              <a:noFill/>
            </a:ln>
          </p:spPr>
        </p:sp>
      </p:grpSp>
      <p:grpSp>
        <p:nvGrpSpPr>
          <p:cNvPr id="47" name="Group 47"/>
          <p:cNvGrpSpPr/>
          <p:nvPr/>
        </p:nvGrpSpPr>
        <p:grpSpPr>
          <a:xfrm>
            <a:off x="1238250" y="2362200"/>
            <a:ext cx="9944100" cy="2171700"/>
            <a:chOff x="1238250" y="2362200"/>
            <a:chExt cx="9944100" cy="2171700"/>
          </a:xfrm>
        </p:grpSpPr>
        <p:sp>
          <p:nvSpPr>
            <p:cNvPr id="7" name="Rectangle 7"/>
            <p:cNvSpPr/>
            <p:nvPr/>
          </p:nvSpPr>
          <p:spPr>
            <a:xfrm>
              <a:off x="5143500" y="2362200"/>
              <a:ext cx="1905000" cy="438150"/>
            </a:xfrm>
            <a:prstGeom prst="roundRect">
              <a:avLst>
                <a:gd name="adj" fmla="val 21739"/>
              </a:avLst>
            </a:prstGeom>
            <a:gradFill>
              <a:gsLst>
                <a:gs pos="0">
                  <a:srgbClr val="0B41CD"/>
                </a:gs>
                <a:gs pos="100000">
                  <a:srgbClr val="0F5EE1"/>
                </a:gs>
              </a:gsLst>
              <a:lin ang="0" scaled="1"/>
            </a:gradFill>
            <a:ln w="14288">
              <a:solidFill>
                <a:srgbClr val="1482FA"/>
              </a:solidFill>
            </a:ln>
          </p:spPr>
        </p:sp>
        <p:sp>
          <p:nvSpPr>
            <p:cNvPr id="8" name="TextBox 8"/>
            <p:cNvSpPr txBox="1"/>
            <p:nvPr/>
          </p:nvSpPr>
          <p:spPr>
            <a:xfrm>
              <a:off x="5582481" y="2442210"/>
              <a:ext cx="1027037" cy="234696"/>
            </a:xfrm>
            <a:prstGeom prst="rect">
              <a:avLst/>
            </a:prstGeom>
            <a:noFill/>
            <a:ln>
              <a:noFill/>
            </a:ln>
          </p:spPr>
          <p:txBody>
            <a:bodyPr wrap="none" lIns="0" tIns="0" rIns="0" bIns="0" anchor="t" anchorCtr="0">
              <a:spAutoFit/>
            </a:bodyPr>
            <a:lstStyle/>
            <a:p>
              <a:pPr algn="ctr"/>
              <a:r>
                <a:rPr lang="en-US" sz="1200" dirty="0">
                  <a:solidFill>
                    <a:srgbClr val="FFFFFF"/>
                  </a:solidFill>
                  <a:latin typeface="Roche Sans Medium"/>
                  <a:ea typeface="Roche Sans Medium"/>
                  <a:cs typeface="Roche Sans Medium"/>
                </a:rPr>
                <a:t>Transformer</a:t>
              </a:r>
            </a:p>
          </p:txBody>
        </p:sp>
        <p:sp>
          <p:nvSpPr>
            <p:cNvPr id="9" name="TextBox 9"/>
            <p:cNvSpPr txBox="1"/>
            <p:nvPr/>
          </p:nvSpPr>
          <p:spPr>
            <a:xfrm>
              <a:off x="5519118" y="2644616"/>
              <a:ext cx="1153763" cy="161925"/>
            </a:xfrm>
            <a:prstGeom prst="rect">
              <a:avLst/>
            </a:prstGeom>
            <a:noFill/>
            <a:ln>
              <a:noFill/>
            </a:ln>
          </p:spPr>
          <p:txBody>
            <a:bodyPr wrap="none" lIns="0" tIns="0" rIns="0" bIns="0" anchor="t" anchorCtr="0">
              <a:spAutoFit/>
            </a:bodyPr>
            <a:lstStyle/>
            <a:p>
              <a:pPr algn="ctr"/>
              <a:r>
                <a:rPr lang="en-US" sz="820" dirty="0">
                  <a:solidFill>
                    <a:srgbClr val="95C7FD"/>
                  </a:solidFill>
                  <a:latin typeface="Roche Sans"/>
                  <a:ea typeface="Roche Sans"/>
                  <a:cs typeface="Roche Sans"/>
                </a:rPr>
                <a:t>Vaswani et al. · 2017</a:t>
              </a:r>
            </a:p>
          </p:txBody>
        </p:sp>
        <p:grpSp>
          <p:nvGrpSpPr>
            <p:cNvPr id="16" name="Group 16"/>
            <p:cNvGrpSpPr/>
            <p:nvPr/>
          </p:nvGrpSpPr>
          <p:grpSpPr>
            <a:xfrm>
              <a:off x="1905000" y="2800350"/>
              <a:ext cx="8610600" cy="1047750"/>
              <a:chOff x="1905000" y="2800350"/>
              <a:chExt cx="8610600" cy="1047750"/>
            </a:xfrm>
          </p:grpSpPr>
          <p:sp>
            <p:nvSpPr>
              <p:cNvPr id="10" name="Freeform 10"/>
              <p:cNvSpPr/>
              <p:nvPr/>
            </p:nvSpPr>
            <p:spPr>
              <a:xfrm>
                <a:off x="1905000" y="2800350"/>
                <a:ext cx="4191000" cy="1047750"/>
              </a:xfrm>
              <a:custGeom>
                <a:avLst/>
                <a:gdLst/>
                <a:ahLst/>
                <a:cxnLst/>
                <a:rect l="l" t="t" r="r" b="b"/>
                <a:pathLst>
                  <a:path w="4191000" h="1047750">
                    <a:moveTo>
                      <a:pt x="4191000" y="0"/>
                    </a:moveTo>
                    <a:cubicBezTo>
                      <a:pt x="4191000" y="438150"/>
                      <a:pt x="0" y="628650"/>
                      <a:pt x="0" y="1047750"/>
                    </a:cubicBezTo>
                  </a:path>
                </a:pathLst>
              </a:custGeom>
              <a:noFill/>
              <a:ln w="13335">
                <a:solidFill>
                  <a:srgbClr val="5FAAFC"/>
                </a:solidFill>
              </a:ln>
            </p:spPr>
          </p:sp>
          <p:sp>
            <p:nvSpPr>
              <p:cNvPr id="11" name="Freeform 11"/>
              <p:cNvSpPr/>
              <p:nvPr/>
            </p:nvSpPr>
            <p:spPr>
              <a:xfrm>
                <a:off x="3657600" y="2800350"/>
                <a:ext cx="2438400" cy="1047750"/>
              </a:xfrm>
              <a:custGeom>
                <a:avLst/>
                <a:gdLst/>
                <a:ahLst/>
                <a:cxnLst/>
                <a:rect l="l" t="t" r="r" b="b"/>
                <a:pathLst>
                  <a:path w="2438400" h="1047750">
                    <a:moveTo>
                      <a:pt x="2438400" y="0"/>
                    </a:moveTo>
                    <a:cubicBezTo>
                      <a:pt x="2438400" y="438150"/>
                      <a:pt x="0" y="628650"/>
                      <a:pt x="0" y="1047750"/>
                    </a:cubicBezTo>
                  </a:path>
                </a:pathLst>
              </a:custGeom>
              <a:noFill/>
              <a:ln w="13335">
                <a:solidFill>
                  <a:srgbClr val="5FAAFC"/>
                </a:solidFill>
              </a:ln>
            </p:spPr>
          </p:sp>
          <p:sp>
            <p:nvSpPr>
              <p:cNvPr id="12" name="Freeform 12"/>
              <p:cNvSpPr/>
              <p:nvPr/>
            </p:nvSpPr>
            <p:spPr>
              <a:xfrm>
                <a:off x="5410200" y="2800350"/>
                <a:ext cx="685800" cy="1047750"/>
              </a:xfrm>
              <a:custGeom>
                <a:avLst/>
                <a:gdLst/>
                <a:ahLst/>
                <a:cxnLst/>
                <a:rect l="l" t="t" r="r" b="b"/>
                <a:pathLst>
                  <a:path w="685800" h="1047750">
                    <a:moveTo>
                      <a:pt x="685800" y="0"/>
                    </a:moveTo>
                    <a:cubicBezTo>
                      <a:pt x="685800" y="438150"/>
                      <a:pt x="0" y="628650"/>
                      <a:pt x="0" y="1047750"/>
                    </a:cubicBezTo>
                  </a:path>
                </a:pathLst>
              </a:custGeom>
              <a:noFill/>
              <a:ln w="13335">
                <a:solidFill>
                  <a:srgbClr val="5FAAFC"/>
                </a:solidFill>
              </a:ln>
            </p:spPr>
          </p:sp>
          <p:sp>
            <p:nvSpPr>
              <p:cNvPr id="13" name="Freeform 13"/>
              <p:cNvSpPr/>
              <p:nvPr/>
            </p:nvSpPr>
            <p:spPr>
              <a:xfrm>
                <a:off x="6096000" y="2800350"/>
                <a:ext cx="1066800" cy="1047750"/>
              </a:xfrm>
              <a:custGeom>
                <a:avLst/>
                <a:gdLst/>
                <a:ahLst/>
                <a:cxnLst/>
                <a:rect l="l" t="t" r="r" b="b"/>
                <a:pathLst>
                  <a:path w="1066800" h="1047750">
                    <a:moveTo>
                      <a:pt x="0" y="0"/>
                    </a:moveTo>
                    <a:cubicBezTo>
                      <a:pt x="0" y="438150"/>
                      <a:pt x="1066800" y="628650"/>
                      <a:pt x="1066800" y="1047750"/>
                    </a:cubicBezTo>
                  </a:path>
                </a:pathLst>
              </a:custGeom>
              <a:noFill/>
              <a:ln w="13335">
                <a:solidFill>
                  <a:srgbClr val="5FAAFC"/>
                </a:solidFill>
              </a:ln>
            </p:spPr>
          </p:sp>
          <p:sp>
            <p:nvSpPr>
              <p:cNvPr id="14" name="Freeform 14"/>
              <p:cNvSpPr/>
              <p:nvPr/>
            </p:nvSpPr>
            <p:spPr>
              <a:xfrm>
                <a:off x="6096000" y="2800350"/>
                <a:ext cx="2819400" cy="1047750"/>
              </a:xfrm>
              <a:custGeom>
                <a:avLst/>
                <a:gdLst/>
                <a:ahLst/>
                <a:cxnLst/>
                <a:rect l="l" t="t" r="r" b="b"/>
                <a:pathLst>
                  <a:path w="2819400" h="1047750">
                    <a:moveTo>
                      <a:pt x="0" y="0"/>
                    </a:moveTo>
                    <a:cubicBezTo>
                      <a:pt x="0" y="438150"/>
                      <a:pt x="2819400" y="628650"/>
                      <a:pt x="2819400" y="1047750"/>
                    </a:cubicBezTo>
                  </a:path>
                </a:pathLst>
              </a:custGeom>
              <a:noFill/>
              <a:ln w="13335">
                <a:solidFill>
                  <a:srgbClr val="5FAAFC"/>
                </a:solidFill>
              </a:ln>
            </p:spPr>
          </p:sp>
          <p:sp>
            <p:nvSpPr>
              <p:cNvPr id="15" name="Freeform 15"/>
              <p:cNvSpPr/>
              <p:nvPr/>
            </p:nvSpPr>
            <p:spPr>
              <a:xfrm>
                <a:off x="6096000" y="2800350"/>
                <a:ext cx="4419600" cy="1047750"/>
              </a:xfrm>
              <a:custGeom>
                <a:avLst/>
                <a:gdLst/>
                <a:ahLst/>
                <a:cxnLst/>
                <a:rect l="l" t="t" r="r" b="b"/>
                <a:pathLst>
                  <a:path w="4419600" h="1047750">
                    <a:moveTo>
                      <a:pt x="0" y="0"/>
                    </a:moveTo>
                    <a:cubicBezTo>
                      <a:pt x="0" y="438150"/>
                      <a:pt x="4419600" y="628650"/>
                      <a:pt x="4419600" y="1047750"/>
                    </a:cubicBezTo>
                  </a:path>
                </a:pathLst>
              </a:custGeom>
              <a:noFill/>
              <a:ln w="13335">
                <a:solidFill>
                  <a:srgbClr val="5FAAFC"/>
                </a:solidFill>
              </a:ln>
            </p:spPr>
          </p:sp>
        </p:grpSp>
        <p:grpSp>
          <p:nvGrpSpPr>
            <p:cNvPr id="21" name="Group 21"/>
            <p:cNvGrpSpPr/>
            <p:nvPr/>
          </p:nvGrpSpPr>
          <p:grpSpPr>
            <a:xfrm>
              <a:off x="1238250" y="3867150"/>
              <a:ext cx="1333500" cy="666750"/>
              <a:chOff x="1238250" y="3867150"/>
              <a:chExt cx="1333500" cy="666750"/>
            </a:xfrm>
          </p:grpSpPr>
          <p:sp>
            <p:nvSpPr>
              <p:cNvPr id="17" name="Rectangle 17"/>
              <p:cNvSpPr/>
              <p:nvPr/>
            </p:nvSpPr>
            <p:spPr>
              <a:xfrm>
                <a:off x="1238250" y="3867150"/>
                <a:ext cx="1333500" cy="666750"/>
              </a:xfrm>
              <a:prstGeom prst="roundRect">
                <a:avLst>
                  <a:gd name="adj" fmla="val 14286"/>
                </a:avLst>
              </a:prstGeom>
              <a:solidFill>
                <a:srgbClr val="FFFFFF"/>
              </a:solidFill>
              <a:ln w="14288">
                <a:solidFill>
                  <a:srgbClr val="E0E0E0"/>
                </a:solidFill>
              </a:ln>
            </p:spPr>
          </p:sp>
          <p:sp>
            <p:nvSpPr>
              <p:cNvPr id="18" name="Rectangle 18"/>
              <p:cNvSpPr/>
              <p:nvPr/>
            </p:nvSpPr>
            <p:spPr>
              <a:xfrm>
                <a:off x="1238250" y="3867150"/>
                <a:ext cx="1333500" cy="47625"/>
              </a:xfrm>
              <a:prstGeom prst="roundRect">
                <a:avLst>
                  <a:gd name="adj" fmla="val 50000"/>
                </a:avLst>
              </a:prstGeom>
              <a:solidFill>
                <a:srgbClr val="0B41CD"/>
              </a:solidFill>
              <a:ln>
                <a:noFill/>
              </a:ln>
            </p:spPr>
          </p:sp>
          <p:sp>
            <p:nvSpPr>
              <p:cNvPr id="19" name="TextBox 19"/>
              <p:cNvSpPr txBox="1"/>
              <p:nvPr/>
            </p:nvSpPr>
            <p:spPr>
              <a:xfrm>
                <a:off x="1638452" y="4012882"/>
                <a:ext cx="533095" cy="322707"/>
              </a:xfrm>
              <a:prstGeom prst="rect">
                <a:avLst/>
              </a:prstGeom>
              <a:noFill/>
              <a:ln>
                <a:noFill/>
              </a:ln>
            </p:spPr>
            <p:txBody>
              <a:bodyPr wrap="none" lIns="0" tIns="0" rIns="0" bIns="0" anchor="t" anchorCtr="0">
                <a:spAutoFit/>
              </a:bodyPr>
              <a:lstStyle/>
              <a:p>
                <a:pPr algn="ctr"/>
                <a:r>
                  <a:rPr lang="en-US" sz="1650" dirty="0">
                    <a:solidFill>
                      <a:srgbClr val="0B41CD"/>
                    </a:solidFill>
                    <a:latin typeface="Roche Sans Light"/>
                    <a:ea typeface="Roche Sans Light"/>
                    <a:cs typeface="Roche Sans Light"/>
                  </a:rPr>
                  <a:t>BERT</a:t>
                </a:r>
              </a:p>
            </p:txBody>
          </p:sp>
          <p:sp>
            <p:nvSpPr>
              <p:cNvPr id="20" name="TextBox 20"/>
              <p:cNvSpPr txBox="1"/>
              <p:nvPr/>
            </p:nvSpPr>
            <p:spPr>
              <a:xfrm>
                <a:off x="1515561" y="4303395"/>
                <a:ext cx="778878"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encoder-only</a:t>
                </a:r>
              </a:p>
            </p:txBody>
          </p:sp>
        </p:grpSp>
        <p:grpSp>
          <p:nvGrpSpPr>
            <p:cNvPr id="26" name="Group 26"/>
            <p:cNvGrpSpPr/>
            <p:nvPr/>
          </p:nvGrpSpPr>
          <p:grpSpPr>
            <a:xfrm>
              <a:off x="2990850" y="3867150"/>
              <a:ext cx="1333500" cy="666750"/>
              <a:chOff x="2990850" y="3867150"/>
              <a:chExt cx="1333500" cy="666750"/>
            </a:xfrm>
          </p:grpSpPr>
          <p:sp>
            <p:nvSpPr>
              <p:cNvPr id="22" name="Rectangle 22"/>
              <p:cNvSpPr/>
              <p:nvPr/>
            </p:nvSpPr>
            <p:spPr>
              <a:xfrm>
                <a:off x="2990850" y="3867150"/>
                <a:ext cx="1333500" cy="666750"/>
              </a:xfrm>
              <a:prstGeom prst="roundRect">
                <a:avLst>
                  <a:gd name="adj" fmla="val 14286"/>
                </a:avLst>
              </a:prstGeom>
              <a:solidFill>
                <a:srgbClr val="FFFFFF"/>
              </a:solidFill>
              <a:ln w="14288">
                <a:solidFill>
                  <a:srgbClr val="E0E0E0"/>
                </a:solidFill>
              </a:ln>
            </p:spPr>
          </p:sp>
          <p:sp>
            <p:nvSpPr>
              <p:cNvPr id="23" name="Rectangle 23"/>
              <p:cNvSpPr/>
              <p:nvPr/>
            </p:nvSpPr>
            <p:spPr>
              <a:xfrm>
                <a:off x="2990850" y="3867150"/>
                <a:ext cx="1333500" cy="47625"/>
              </a:xfrm>
              <a:prstGeom prst="roundRect">
                <a:avLst>
                  <a:gd name="adj" fmla="val 50000"/>
                </a:avLst>
              </a:prstGeom>
              <a:solidFill>
                <a:srgbClr val="0F5EE1"/>
              </a:solidFill>
              <a:ln>
                <a:noFill/>
              </a:ln>
            </p:spPr>
          </p:sp>
          <p:sp>
            <p:nvSpPr>
              <p:cNvPr id="24" name="TextBox 24"/>
              <p:cNvSpPr txBox="1"/>
              <p:nvPr/>
            </p:nvSpPr>
            <p:spPr>
              <a:xfrm>
                <a:off x="3455594" y="4012882"/>
                <a:ext cx="404012" cy="322707"/>
              </a:xfrm>
              <a:prstGeom prst="rect">
                <a:avLst/>
              </a:prstGeom>
              <a:noFill/>
              <a:ln>
                <a:noFill/>
              </a:ln>
            </p:spPr>
            <p:txBody>
              <a:bodyPr wrap="none" lIns="0" tIns="0" rIns="0" bIns="0" anchor="t" anchorCtr="0">
                <a:spAutoFit/>
              </a:bodyPr>
              <a:lstStyle/>
              <a:p>
                <a:pPr algn="ctr"/>
                <a:r>
                  <a:rPr lang="en-US" sz="1650" dirty="0">
                    <a:solidFill>
                      <a:srgbClr val="0B41CD"/>
                    </a:solidFill>
                    <a:latin typeface="Roche Sans Light"/>
                    <a:ea typeface="Roche Sans Light"/>
                    <a:cs typeface="Roche Sans Light"/>
                  </a:rPr>
                  <a:t>GPT</a:t>
                </a:r>
              </a:p>
            </p:txBody>
          </p:sp>
          <p:sp>
            <p:nvSpPr>
              <p:cNvPr id="25" name="TextBox 25"/>
              <p:cNvSpPr txBox="1"/>
              <p:nvPr/>
            </p:nvSpPr>
            <p:spPr>
              <a:xfrm>
                <a:off x="3268161" y="4303395"/>
                <a:ext cx="778878"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decoder-only</a:t>
                </a:r>
              </a:p>
            </p:txBody>
          </p:sp>
        </p:grpSp>
        <p:grpSp>
          <p:nvGrpSpPr>
            <p:cNvPr id="31" name="Group 31"/>
            <p:cNvGrpSpPr/>
            <p:nvPr/>
          </p:nvGrpSpPr>
          <p:grpSpPr>
            <a:xfrm>
              <a:off x="4743450" y="3867150"/>
              <a:ext cx="1333500" cy="666750"/>
              <a:chOff x="4743450" y="3867150"/>
              <a:chExt cx="1333500" cy="666750"/>
            </a:xfrm>
          </p:grpSpPr>
          <p:sp>
            <p:nvSpPr>
              <p:cNvPr id="27" name="Rectangle 27"/>
              <p:cNvSpPr/>
              <p:nvPr/>
            </p:nvSpPr>
            <p:spPr>
              <a:xfrm>
                <a:off x="4743450" y="3867150"/>
                <a:ext cx="1333500" cy="666750"/>
              </a:xfrm>
              <a:prstGeom prst="roundRect">
                <a:avLst>
                  <a:gd name="adj" fmla="val 14286"/>
                </a:avLst>
              </a:prstGeom>
              <a:solidFill>
                <a:srgbClr val="FFFFFF"/>
              </a:solidFill>
              <a:ln w="14288">
                <a:solidFill>
                  <a:srgbClr val="E0E0E0"/>
                </a:solidFill>
              </a:ln>
            </p:spPr>
          </p:sp>
          <p:sp>
            <p:nvSpPr>
              <p:cNvPr id="28" name="Rectangle 28"/>
              <p:cNvSpPr/>
              <p:nvPr/>
            </p:nvSpPr>
            <p:spPr>
              <a:xfrm>
                <a:off x="4743450" y="3867150"/>
                <a:ext cx="1333500" cy="47625"/>
              </a:xfrm>
              <a:prstGeom prst="roundRect">
                <a:avLst>
                  <a:gd name="adj" fmla="val 50000"/>
                </a:avLst>
              </a:prstGeom>
              <a:solidFill>
                <a:srgbClr val="1482FA"/>
              </a:solidFill>
              <a:ln>
                <a:noFill/>
              </a:ln>
            </p:spPr>
          </p:sp>
          <p:sp>
            <p:nvSpPr>
              <p:cNvPr id="29" name="TextBox 29"/>
              <p:cNvSpPr txBox="1"/>
              <p:nvPr/>
            </p:nvSpPr>
            <p:spPr>
              <a:xfrm>
                <a:off x="5272735" y="4012882"/>
                <a:ext cx="274930" cy="322707"/>
              </a:xfrm>
              <a:prstGeom prst="rect">
                <a:avLst/>
              </a:prstGeom>
              <a:noFill/>
              <a:ln>
                <a:noFill/>
              </a:ln>
            </p:spPr>
            <p:txBody>
              <a:bodyPr wrap="none" lIns="0" tIns="0" rIns="0" bIns="0" anchor="t" anchorCtr="0">
                <a:spAutoFit/>
              </a:bodyPr>
              <a:lstStyle/>
              <a:p>
                <a:pPr algn="ctr"/>
                <a:r>
                  <a:rPr lang="en-US" sz="1650" dirty="0">
                    <a:solidFill>
                      <a:srgbClr val="0B41CD"/>
                    </a:solidFill>
                    <a:latin typeface="Roche Sans Light"/>
                    <a:ea typeface="Roche Sans Light"/>
                    <a:cs typeface="Roche Sans Light"/>
                  </a:rPr>
                  <a:t>T5</a:t>
                </a:r>
              </a:p>
            </p:txBody>
          </p:sp>
          <p:sp>
            <p:nvSpPr>
              <p:cNvPr id="30" name="TextBox 30"/>
              <p:cNvSpPr txBox="1"/>
              <p:nvPr/>
            </p:nvSpPr>
            <p:spPr>
              <a:xfrm>
                <a:off x="5172208" y="4303395"/>
                <a:ext cx="475983"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seq2seq</a:t>
                </a:r>
              </a:p>
            </p:txBody>
          </p:sp>
        </p:grpSp>
        <p:grpSp>
          <p:nvGrpSpPr>
            <p:cNvPr id="36" name="Group 36"/>
            <p:cNvGrpSpPr/>
            <p:nvPr/>
          </p:nvGrpSpPr>
          <p:grpSpPr>
            <a:xfrm>
              <a:off x="6496050" y="3867150"/>
              <a:ext cx="1333500" cy="666750"/>
              <a:chOff x="6496050" y="3867150"/>
              <a:chExt cx="1333500" cy="666750"/>
            </a:xfrm>
          </p:grpSpPr>
          <p:sp>
            <p:nvSpPr>
              <p:cNvPr id="32" name="Rectangle 32"/>
              <p:cNvSpPr/>
              <p:nvPr/>
            </p:nvSpPr>
            <p:spPr>
              <a:xfrm>
                <a:off x="6496050" y="3867150"/>
                <a:ext cx="1333500" cy="666750"/>
              </a:xfrm>
              <a:prstGeom prst="roundRect">
                <a:avLst>
                  <a:gd name="adj" fmla="val 14286"/>
                </a:avLst>
              </a:prstGeom>
              <a:solidFill>
                <a:srgbClr val="FFFFFF"/>
              </a:solidFill>
              <a:ln w="14288">
                <a:solidFill>
                  <a:srgbClr val="E0E0E0"/>
                </a:solidFill>
              </a:ln>
            </p:spPr>
          </p:sp>
          <p:sp>
            <p:nvSpPr>
              <p:cNvPr id="33" name="Rectangle 33"/>
              <p:cNvSpPr/>
              <p:nvPr/>
            </p:nvSpPr>
            <p:spPr>
              <a:xfrm>
                <a:off x="6496050" y="3867150"/>
                <a:ext cx="1333500" cy="47625"/>
              </a:xfrm>
              <a:prstGeom prst="roundRect">
                <a:avLst>
                  <a:gd name="adj" fmla="val 50000"/>
                </a:avLst>
              </a:prstGeom>
              <a:solidFill>
                <a:srgbClr val="0F5EE1"/>
              </a:solidFill>
              <a:ln>
                <a:noFill/>
              </a:ln>
            </p:spPr>
          </p:sp>
          <p:sp>
            <p:nvSpPr>
              <p:cNvPr id="34" name="TextBox 34"/>
              <p:cNvSpPr txBox="1"/>
              <p:nvPr/>
            </p:nvSpPr>
            <p:spPr>
              <a:xfrm>
                <a:off x="7008495" y="4029075"/>
                <a:ext cx="308610" cy="293370"/>
              </a:xfrm>
              <a:prstGeom prst="rect">
                <a:avLst/>
              </a:prstGeom>
              <a:noFill/>
              <a:ln>
                <a:noFill/>
              </a:ln>
            </p:spPr>
            <p:txBody>
              <a:bodyPr wrap="none" lIns="0" tIns="0" rIns="0" bIns="0" anchor="t" anchorCtr="0">
                <a:spAutoFit/>
              </a:bodyPr>
              <a:lstStyle/>
              <a:p>
                <a:pPr algn="ctr"/>
                <a:r>
                  <a:rPr lang="en-US" sz="1500" dirty="0">
                    <a:solidFill>
                      <a:srgbClr val="0B41CD"/>
                    </a:solidFill>
                    <a:latin typeface="Roche Sans Light"/>
                    <a:ea typeface="Roche Sans Light"/>
                    <a:cs typeface="Roche Sans Light"/>
                  </a:rPr>
                  <a:t>ViT</a:t>
                </a:r>
              </a:p>
            </p:txBody>
          </p:sp>
          <p:sp>
            <p:nvSpPr>
              <p:cNvPr id="35" name="TextBox 35"/>
              <p:cNvSpPr txBox="1"/>
              <p:nvPr/>
            </p:nvSpPr>
            <p:spPr>
              <a:xfrm>
                <a:off x="6988416" y="4303395"/>
                <a:ext cx="348767"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vision</a:t>
                </a:r>
              </a:p>
            </p:txBody>
          </p:sp>
        </p:grpSp>
        <p:grpSp>
          <p:nvGrpSpPr>
            <p:cNvPr id="41" name="Group 41"/>
            <p:cNvGrpSpPr/>
            <p:nvPr/>
          </p:nvGrpSpPr>
          <p:grpSpPr>
            <a:xfrm>
              <a:off x="8248650" y="3867150"/>
              <a:ext cx="1333500" cy="666750"/>
              <a:chOff x="8248650" y="3867150"/>
              <a:chExt cx="1333500" cy="666750"/>
            </a:xfrm>
          </p:grpSpPr>
          <p:sp>
            <p:nvSpPr>
              <p:cNvPr id="37" name="Rectangle 37"/>
              <p:cNvSpPr/>
              <p:nvPr/>
            </p:nvSpPr>
            <p:spPr>
              <a:xfrm>
                <a:off x="8248650" y="3867150"/>
                <a:ext cx="1333500" cy="666750"/>
              </a:xfrm>
              <a:prstGeom prst="roundRect">
                <a:avLst>
                  <a:gd name="adj" fmla="val 14286"/>
                </a:avLst>
              </a:prstGeom>
              <a:solidFill>
                <a:srgbClr val="FFFFFF"/>
              </a:solidFill>
              <a:ln w="17145">
                <a:solidFill>
                  <a:srgbClr val="0B41CD"/>
                </a:solidFill>
              </a:ln>
            </p:spPr>
          </p:sp>
          <p:sp>
            <p:nvSpPr>
              <p:cNvPr id="38" name="Rectangle 38"/>
              <p:cNvSpPr/>
              <p:nvPr/>
            </p:nvSpPr>
            <p:spPr>
              <a:xfrm>
                <a:off x="8248650" y="3867150"/>
                <a:ext cx="1333500" cy="47625"/>
              </a:xfrm>
              <a:prstGeom prst="roundRect">
                <a:avLst>
                  <a:gd name="adj" fmla="val 50000"/>
                </a:avLst>
              </a:prstGeom>
              <a:solidFill>
                <a:srgbClr val="0B41CD"/>
              </a:solidFill>
              <a:ln>
                <a:noFill/>
              </a:ln>
            </p:spPr>
          </p:sp>
          <p:sp>
            <p:nvSpPr>
              <p:cNvPr id="39" name="TextBox 39"/>
              <p:cNvSpPr txBox="1"/>
              <p:nvPr/>
            </p:nvSpPr>
            <p:spPr>
              <a:xfrm>
                <a:off x="8452834" y="4029075"/>
                <a:ext cx="925132" cy="293370"/>
              </a:xfrm>
              <a:prstGeom prst="rect">
                <a:avLst/>
              </a:prstGeom>
              <a:noFill/>
              <a:ln>
                <a:noFill/>
              </a:ln>
            </p:spPr>
            <p:txBody>
              <a:bodyPr wrap="none" lIns="0" tIns="0" rIns="0" bIns="0" anchor="t" anchorCtr="0">
                <a:spAutoFit/>
              </a:bodyPr>
              <a:lstStyle/>
              <a:p>
                <a:pPr algn="ctr"/>
                <a:r>
                  <a:rPr lang="en-US" sz="1500" dirty="0">
                    <a:solidFill>
                      <a:srgbClr val="0B41CD"/>
                    </a:solidFill>
                    <a:latin typeface="Roche Sans Light"/>
                    <a:ea typeface="Roche Sans Light"/>
                    <a:cs typeface="Roche Sans Light"/>
                  </a:rPr>
                  <a:t>AlphaFold</a:t>
                </a:r>
              </a:p>
            </p:txBody>
          </p:sp>
          <p:sp>
            <p:nvSpPr>
              <p:cNvPr id="40" name="TextBox 40"/>
              <p:cNvSpPr txBox="1"/>
              <p:nvPr/>
            </p:nvSpPr>
            <p:spPr>
              <a:xfrm>
                <a:off x="8374513" y="4303395"/>
                <a:ext cx="1081773" cy="176212"/>
              </a:xfrm>
              <a:prstGeom prst="rect">
                <a:avLst/>
              </a:prstGeom>
              <a:noFill/>
              <a:ln>
                <a:noFill/>
              </a:ln>
            </p:spPr>
            <p:txBody>
              <a:bodyPr wrap="none" lIns="0" tIns="0" rIns="0" bIns="0" anchor="t" anchorCtr="0">
                <a:spAutoFit/>
              </a:bodyPr>
              <a:lstStyle/>
              <a:p>
                <a:pPr algn="ctr"/>
                <a:r>
                  <a:rPr lang="en-US" sz="900" dirty="0">
                    <a:solidFill>
                      <a:srgbClr val="1482FA"/>
                    </a:solidFill>
                    <a:latin typeface="Roche Sans"/>
                    <a:ea typeface="Roche Sans"/>
                    <a:cs typeface="Roche Sans"/>
                  </a:rPr>
                  <a:t>protein structure</a:t>
                </a:r>
              </a:p>
            </p:txBody>
          </p:sp>
        </p:grpSp>
        <p:grpSp>
          <p:nvGrpSpPr>
            <p:cNvPr id="46" name="Group 46"/>
            <p:cNvGrpSpPr/>
            <p:nvPr/>
          </p:nvGrpSpPr>
          <p:grpSpPr>
            <a:xfrm>
              <a:off x="9848850" y="3867150"/>
              <a:ext cx="1333500" cy="666750"/>
              <a:chOff x="9848850" y="3867150"/>
              <a:chExt cx="1333500" cy="666750"/>
            </a:xfrm>
          </p:grpSpPr>
          <p:sp>
            <p:nvSpPr>
              <p:cNvPr id="42" name="Rectangle 42"/>
              <p:cNvSpPr/>
              <p:nvPr/>
            </p:nvSpPr>
            <p:spPr>
              <a:xfrm>
                <a:off x="9848850" y="3867150"/>
                <a:ext cx="1333500" cy="666750"/>
              </a:xfrm>
              <a:prstGeom prst="roundRect">
                <a:avLst>
                  <a:gd name="adj" fmla="val 14286"/>
                </a:avLst>
              </a:prstGeom>
              <a:solidFill>
                <a:srgbClr val="FFFFFF"/>
              </a:solidFill>
              <a:ln w="14288">
                <a:solidFill>
                  <a:srgbClr val="E0E0E0"/>
                </a:solidFill>
              </a:ln>
            </p:spPr>
          </p:sp>
          <p:sp>
            <p:nvSpPr>
              <p:cNvPr id="43" name="Rectangle 43"/>
              <p:cNvSpPr/>
              <p:nvPr/>
            </p:nvSpPr>
            <p:spPr>
              <a:xfrm>
                <a:off x="9848850" y="3867150"/>
                <a:ext cx="1333500" cy="47625"/>
              </a:xfrm>
              <a:prstGeom prst="roundRect">
                <a:avLst>
                  <a:gd name="adj" fmla="val 50000"/>
                </a:avLst>
              </a:prstGeom>
              <a:solidFill>
                <a:srgbClr val="5FAAFC"/>
              </a:solidFill>
              <a:ln>
                <a:noFill/>
              </a:ln>
            </p:spPr>
          </p:sp>
          <p:sp>
            <p:nvSpPr>
              <p:cNvPr id="44" name="TextBox 44"/>
              <p:cNvSpPr txBox="1"/>
              <p:nvPr/>
            </p:nvSpPr>
            <p:spPr>
              <a:xfrm>
                <a:off x="10278389" y="4012882"/>
                <a:ext cx="474421" cy="322707"/>
              </a:xfrm>
              <a:prstGeom prst="rect">
                <a:avLst/>
              </a:prstGeom>
              <a:noFill/>
              <a:ln>
                <a:noFill/>
              </a:ln>
            </p:spPr>
            <p:txBody>
              <a:bodyPr wrap="none" lIns="0" tIns="0" rIns="0" bIns="0" anchor="t" anchorCtr="0">
                <a:spAutoFit/>
              </a:bodyPr>
              <a:lstStyle/>
              <a:p>
                <a:pPr algn="ctr"/>
                <a:r>
                  <a:rPr lang="en-US" sz="1650" dirty="0">
                    <a:solidFill>
                      <a:srgbClr val="0B41CD"/>
                    </a:solidFill>
                    <a:latin typeface="Roche Sans Light"/>
                    <a:ea typeface="Roche Sans Light"/>
                    <a:cs typeface="Roche Sans Light"/>
                  </a:rPr>
                  <a:t>CLIP</a:t>
                </a:r>
              </a:p>
            </p:txBody>
          </p:sp>
          <p:sp>
            <p:nvSpPr>
              <p:cNvPr id="45" name="TextBox 45"/>
              <p:cNvSpPr txBox="1"/>
              <p:nvPr/>
            </p:nvSpPr>
            <p:spPr>
              <a:xfrm>
                <a:off x="10198856" y="4303395"/>
                <a:ext cx="633489" cy="176212"/>
              </a:xfrm>
              <a:prstGeom prst="rect">
                <a:avLst/>
              </a:prstGeom>
              <a:noFill/>
              <a:ln>
                <a:noFill/>
              </a:ln>
            </p:spPr>
            <p:txBody>
              <a:bodyPr wrap="none" lIns="0" tIns="0" rIns="0" bIns="0" anchor="t" anchorCtr="0">
                <a:spAutoFit/>
              </a:bodyPr>
              <a:lstStyle/>
              <a:p>
                <a:pPr algn="ctr"/>
                <a:r>
                  <a:rPr lang="en-US" sz="900" dirty="0">
                    <a:solidFill>
                      <a:srgbClr val="706B69"/>
                    </a:solidFill>
                    <a:latin typeface="Roche Sans"/>
                    <a:ea typeface="Roche Sans"/>
                    <a:cs typeface="Roche Sans"/>
                  </a:rPr>
                  <a:t>multimodal</a:t>
                </a:r>
              </a:p>
            </p:txBody>
          </p:sp>
        </p:grpSp>
      </p:grpSp>
      <p:grpSp>
        <p:nvGrpSpPr>
          <p:cNvPr id="53" name="Group 53"/>
          <p:cNvGrpSpPr/>
          <p:nvPr/>
        </p:nvGrpSpPr>
        <p:grpSpPr>
          <a:xfrm>
            <a:off x="571500" y="4953000"/>
            <a:ext cx="11049000" cy="1143000"/>
            <a:chOff x="571500" y="4953000"/>
            <a:chExt cx="11049000" cy="1143000"/>
          </a:xfrm>
        </p:grpSpPr>
        <p:sp>
          <p:nvSpPr>
            <p:cNvPr id="48" name="Rectangle 48"/>
            <p:cNvSpPr/>
            <p:nvPr/>
          </p:nvSpPr>
          <p:spPr>
            <a:xfrm>
              <a:off x="571500" y="4953000"/>
              <a:ext cx="11049000" cy="1143000"/>
            </a:xfrm>
            <a:prstGeom prst="roundRect">
              <a:avLst>
                <a:gd name="adj" fmla="val 10000"/>
              </a:avLst>
            </a:prstGeom>
            <a:solidFill>
              <a:srgbClr val="F5F7FA"/>
            </a:solidFill>
            <a:ln w="9525">
              <a:solidFill>
                <a:srgbClr val="E0E0E0"/>
              </a:solidFill>
            </a:ln>
          </p:spPr>
        </p:sp>
        <p:sp>
          <p:nvSpPr>
            <p:cNvPr id="49" name="Rectangle 49"/>
            <p:cNvSpPr/>
            <p:nvPr/>
          </p:nvSpPr>
          <p:spPr>
            <a:xfrm>
              <a:off x="571500" y="4953000"/>
              <a:ext cx="47625" cy="1143000"/>
            </a:xfrm>
            <a:prstGeom prst="roundRect">
              <a:avLst>
                <a:gd name="adj" fmla="val 50000"/>
              </a:avLst>
            </a:prstGeom>
            <a:gradFill>
              <a:gsLst>
                <a:gs pos="0">
                  <a:srgbClr val="0B41CD"/>
                </a:gs>
                <a:gs pos="100000">
                  <a:srgbClr val="1482FA"/>
                </a:gs>
              </a:gsLst>
              <a:lin ang="0" scaled="1"/>
            </a:gradFill>
            <a:ln>
              <a:noFill/>
            </a:ln>
          </p:spPr>
        </p:sp>
        <p:sp>
          <p:nvSpPr>
            <p:cNvPr id="50" name="TextBox 50"/>
            <p:cNvSpPr txBox="1"/>
            <p:nvPr/>
          </p:nvSpPr>
          <p:spPr>
            <a:xfrm>
              <a:off x="944118" y="5117782"/>
              <a:ext cx="8369753"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 xml:space="preserve">The 2017 idea — </a:t>
              </a:r>
              <a:r>
                <a:rPr lang="en-US" sz="1650" i="1" dirty="0">
                  <a:solidFill>
                    <a:srgbClr val="1482FA"/>
                  </a:solidFill>
                  <a:latin typeface="Roche Serif Light"/>
                  <a:ea typeface="Roche Serif Light"/>
                  <a:cs typeface="Roche Serif Light"/>
                </a:rPr>
                <a:t>just attention</a:t>
              </a:r>
              <a:r>
                <a:rPr lang="en-US" sz="1650" dirty="0">
                  <a:solidFill>
                    <a:srgbClr val="0B41CD"/>
                  </a:solidFill>
                  <a:latin typeface="Roche Sans Light"/>
                  <a:ea typeface="Roche Sans Light"/>
                  <a:cs typeface="Roche Sans Light"/>
                </a:rPr>
                <a:t xml:space="preserve"> — turned out to be the right inductive bias</a:t>
              </a:r>
            </a:p>
          </p:txBody>
        </p:sp>
        <p:sp>
          <p:nvSpPr>
            <p:cNvPr id="51" name="TextBox 51"/>
            <p:cNvSpPr txBox="1"/>
            <p:nvPr/>
          </p:nvSpPr>
          <p:spPr>
            <a:xfrm>
              <a:off x="944118" y="5403532"/>
              <a:ext cx="5603157" cy="322707"/>
            </a:xfrm>
            <a:prstGeom prst="rect">
              <a:avLst/>
            </a:prstGeom>
            <a:noFill/>
            <a:ln>
              <a:noFill/>
            </a:ln>
          </p:spPr>
          <p:txBody>
            <a:bodyPr wrap="none" lIns="0" tIns="0" rIns="0" bIns="0" anchor="t" anchorCtr="0">
              <a:spAutoFit/>
            </a:bodyPr>
            <a:lstStyle/>
            <a:p>
              <a:pPr algn="l"/>
              <a:r>
                <a:rPr lang="en-US" sz="1650" dirty="0">
                  <a:solidFill>
                    <a:srgbClr val="0B41CD"/>
                  </a:solidFill>
                  <a:latin typeface="Roche Sans Light"/>
                  <a:ea typeface="Roche Sans Light"/>
                  <a:cs typeface="Roche Sans Light"/>
                </a:rPr>
                <a:t>for almost every modality, far beyond translation.</a:t>
              </a:r>
            </a:p>
          </p:txBody>
        </p:sp>
        <p:sp>
          <p:nvSpPr>
            <p:cNvPr id="52" name="TextBox 52"/>
            <p:cNvSpPr txBox="1"/>
            <p:nvPr/>
          </p:nvSpPr>
          <p:spPr>
            <a:xfrm>
              <a:off x="947166" y="5792152"/>
              <a:ext cx="5549524" cy="205359"/>
            </a:xfrm>
            <a:prstGeom prst="rect">
              <a:avLst/>
            </a:prstGeom>
            <a:noFill/>
            <a:ln>
              <a:noFill/>
            </a:ln>
          </p:spPr>
          <p:txBody>
            <a:bodyPr wrap="none" lIns="0" tIns="0" rIns="0" bIns="0" anchor="t" anchorCtr="0">
              <a:spAutoFit/>
            </a:bodyPr>
            <a:lstStyle/>
            <a:p>
              <a:pPr algn="l"/>
              <a:r>
                <a:rPr lang="en-US" sz="1050" dirty="0">
                  <a:solidFill>
                    <a:srgbClr val="706B69"/>
                  </a:solidFill>
                  <a:latin typeface="Roche Sans"/>
                  <a:ea typeface="Roche Sans"/>
                  <a:cs typeface="Roche Sans"/>
                </a:rPr>
                <a:t>References: arXiv:1706.03762 · code at github.com/tensorflow/tensor2tensor</a:t>
              </a:r>
            </a:p>
          </p:txBody>
        </p:sp>
      </p:grpSp>
      <p:grpSp>
        <p:nvGrpSpPr>
          <p:cNvPr id="56" name="Group 56"/>
          <p:cNvGrpSpPr/>
          <p:nvPr/>
        </p:nvGrpSpPr>
        <p:grpSpPr>
          <a:xfrm>
            <a:off x="566738" y="6521291"/>
            <a:ext cx="11058525" cy="161925"/>
            <a:chOff x="566738" y="6521291"/>
            <a:chExt cx="11058525" cy="161925"/>
          </a:xfrm>
        </p:grpSpPr>
        <p:sp>
          <p:nvSpPr>
            <p:cNvPr id="54" name="TextBox 54"/>
            <p:cNvSpPr txBox="1"/>
            <p:nvPr/>
          </p:nvSpPr>
          <p:spPr>
            <a:xfrm>
              <a:off x="566738" y="6521291"/>
              <a:ext cx="3943212" cy="161925"/>
            </a:xfrm>
            <a:prstGeom prst="rect">
              <a:avLst/>
            </a:prstGeom>
            <a:noFill/>
            <a:ln>
              <a:noFill/>
            </a:ln>
          </p:spPr>
          <p:txBody>
            <a:bodyPr wrap="none" lIns="0" tIns="0" rIns="0" bIns="0" anchor="t" anchorCtr="0">
              <a:spAutoFit/>
            </a:bodyPr>
            <a:lstStyle/>
            <a:p>
              <a:pPr algn="l"/>
              <a:r>
                <a:rPr lang="en-US" sz="820" dirty="0">
                  <a:solidFill>
                    <a:srgbClr val="A39F9C"/>
                  </a:solidFill>
                  <a:latin typeface="Roche Sans"/>
                  <a:ea typeface="Roche Sans"/>
                  <a:cs typeface="Roche Sans"/>
                </a:rPr>
                <a:t>Roche Blue exemplar · rebuilt with ppt-master · technical-formula style</a:t>
              </a:r>
            </a:p>
          </p:txBody>
        </p:sp>
        <p:sp>
          <p:nvSpPr>
            <p:cNvPr id="55" name="TextBox 55"/>
            <p:cNvSpPr txBox="1"/>
            <p:nvPr/>
          </p:nvSpPr>
          <p:spPr>
            <a:xfrm>
              <a:off x="11493570" y="6521291"/>
              <a:ext cx="131693" cy="161925"/>
            </a:xfrm>
            <a:prstGeom prst="rect">
              <a:avLst/>
            </a:prstGeom>
            <a:noFill/>
            <a:ln>
              <a:noFill/>
            </a:ln>
          </p:spPr>
          <p:txBody>
            <a:bodyPr wrap="none" lIns="0" tIns="0" rIns="0" bIns="0" anchor="t" anchorCtr="0">
              <a:spAutoFit/>
            </a:bodyPr>
            <a:lstStyle/>
            <a:p>
              <a:pPr algn="r"/>
              <a:r>
                <a:rPr lang="en-US" sz="820" dirty="0">
                  <a:solidFill>
                    <a:srgbClr val="A39F9C"/>
                  </a:solidFill>
                  <a:latin typeface="Roche Sans"/>
                  <a:ea typeface="Roche Sans"/>
                  <a:cs typeface="Roche Sans"/>
                </a:rPr>
                <a:t>16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lide(fromBottom)">
                                      <p:cBhvr>
                                        <p:cTn id="11" dur="400"/>
                                        <p:tgtEl>
                                          <p:spTgt spid="4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image">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2026-07-12T08:57:44Z</dcterms:created>
  <dcterms:modified xsi:type="dcterms:W3CDTF">2026-07-12T08:57:44Z</dcterms:modified>
  <cp:category/>
  <cp:contentStatus/>
</cp:coreProperties>
</file>