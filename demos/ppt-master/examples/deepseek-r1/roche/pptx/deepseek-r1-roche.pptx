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Welcome. Today we do a deep read of DeepSeek-R1 — a 2026 paper showing that a large language model can be taught to reason through pure reinforcement learning, without human-written reasoning traces. It matches OpenAI's o1 on reasoning, ships open weights under MIT, and distills down to models you can run on modest hardware.</a:t>
            </a:r>
          </a:p>
          <a:p>
            <a:endParaRPr lang="en-US" dirty="0"/>
          </a:p>
          <a:p>
            <a:r>
              <a:rPr lang="en-US" dirty="0"/>
              <a:t>Key points: Frame the talk: pure RL, open weights, distillation.</a:t>
            </a:r>
          </a:p>
          <a:p>
            <a:r>
              <a:rPr lang="en-US" dirty="0"/>
              <a:t>Time: 0:45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Four numbers set the stakes. On AIME 2024 R1 scores 79.8% pass@1 — on par with o1-1217. On Codeforces it hits a 2029 rating, expert territory. It's fully open under MIT with six distilled models. And R1-Zero — the pure-RL variant — jumped AIME from 15.6% to 77.9% teaching itself.</a:t>
            </a:r>
          </a:p>
          <a:p>
            <a:endParaRPr lang="en-US" dirty="0"/>
          </a:p>
          <a:p>
            <a:r>
              <a:rPr lang="en-US" dirty="0"/>
              <a:t>Key points: AIME 79.8 · Codeforces 2029 · MIT open · self-taught 15.6-&gt;77.9.</a:t>
            </a:r>
          </a:p>
          <a:p>
            <a:r>
              <a:rPr lang="en-US" dirty="0"/>
              <a:t>Time: 1:00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central bet: skip supervised fine-tuning. Conventional post-training imitates human chain-of-thought, which caps the model at human demonstrations and injects bias. R1-Zero drops SFT entirely — pure RL with a reward that only checks final-answer correctness — and reasoning emerges beyond human examples.</a:t>
            </a:r>
          </a:p>
          <a:p>
            <a:endParaRPr lang="en-US" dirty="0"/>
          </a:p>
          <a:p>
            <a:r>
              <a:rPr lang="en-US" dirty="0"/>
              <a:t>Key points: Conventional (SFT-capped) vs R1-Zero (pure RL, emergent).</a:t>
            </a:r>
          </a:p>
          <a:p>
            <a:r>
              <a:rPr lang="en-US" dirty="0"/>
              <a:t>Time: 1:00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Two models. R1-Zero is the proof of concept: pure RL, strong reasoning, but poor readability, language mixing, and narrow scope. R1 is the usable version: a multi-stage pipeline that keeps the reasoning while adding readability, language consistency, and broad capability.</a:t>
            </a:r>
          </a:p>
          <a:p>
            <a:endParaRPr lang="en-US" dirty="0"/>
          </a:p>
          <a:p>
            <a:r>
              <a:rPr lang="en-US" dirty="0"/>
              <a:t>Key points: R1-Zero = proof; R1 = product.</a:t>
            </a:r>
          </a:p>
          <a:p>
            <a:r>
              <a:rPr lang="en-US" dirty="0"/>
              <a:t>Time: 0:55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RL algorithm is GRPO. For each question it samples a group of outputs, scores each with a rule-based reward, and normalizes rewards within the group to get the advantage. The key move: the group mean is the baseline, so GRPO drops PPO's value network — one fewer large model to train.</a:t>
            </a:r>
          </a:p>
          <a:p>
            <a:endParaRPr lang="en-US" dirty="0"/>
          </a:p>
          <a:p>
            <a:r>
              <a:rPr lang="en-US" dirty="0"/>
              <a:t>Key points: GRPO = clipped ratio + KL; group-mean baseline, no critic.</a:t>
            </a:r>
          </a:p>
          <a:p>
            <a:r>
              <a:rPr lang="en-US" dirty="0"/>
              <a:t>Time: 1:10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reward is a rule, not a neural network. Accuracy: math checked against a boxed answer, code run through a compiler. Format: reasoning wrapped in think tags. Neural reward models are avoided — at scale they get reward-hacked. R1 adds one more: a language-consistency reward to curb English/Chinese mixing.</a:t>
            </a:r>
          </a:p>
          <a:p>
            <a:endParaRPr lang="en-US" dirty="0"/>
          </a:p>
          <a:p>
            <a:r>
              <a:rPr lang="en-US" dirty="0"/>
              <a:t>Key points: Rule-based: accuracy + format; no neural RM (hacking).</a:t>
            </a:r>
          </a:p>
          <a:p>
            <a:r>
              <a:rPr lang="en-US" dirty="0"/>
              <a:t>Time: 1:00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Watch R1-Zero teach itself. AIME accuracy climbs from 15.6 to 77.9% — and with self-consistency, 86.7%. In parallel, response length grows on its own to ~20k tokens: the model chooses to think longer. Reflection, verification and alternative-path search all emerge, with a sharp jump around the 8.2k step.</a:t>
            </a:r>
          </a:p>
          <a:p>
            <a:endParaRPr lang="en-US" dirty="0"/>
          </a:p>
          <a:p>
            <a:r>
              <a:rPr lang="en-US" dirty="0"/>
              <a:t>Key points: Accuracy and thinking length rise together; emergent behaviors.</a:t>
            </a:r>
          </a:p>
          <a:p>
            <a:r>
              <a:rPr lang="en-US" dirty="0"/>
              <a:t>Time: 1:05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famous aha moment. Mid-derivation, an intermediate R1-Zero writes 'Wait, wait. Wait. That's an aha moment' and restarts its reasoning. No one rewarded the pause — RL scores only the final answer — yet the model discovered that stopping to re-check pays off.</a:t>
            </a:r>
          </a:p>
          <a:p>
            <a:endParaRPr lang="en-US" dirty="0"/>
          </a:p>
          <a:p>
            <a:r>
              <a:rPr lang="en-US" dirty="0"/>
              <a:t>Key points: Emergent self-reflection; not taught, discovered.</a:t>
            </a:r>
          </a:p>
          <a:p>
            <a:r>
              <a:rPr lang="en-US" dirty="0"/>
              <a:t>Time: 0:55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Strong at reasoning, not yet ready to use. R1-Zero has three issues: poor readability, language mixing, narrow competence. The design response: keep the reasoning core, wrap alignment around it with a cold start and alternating SFT/RL stages.</a:t>
            </a:r>
          </a:p>
          <a:p>
            <a:endParaRPr lang="en-US" dirty="0"/>
          </a:p>
          <a:p>
            <a:r>
              <a:rPr lang="en-US" dirty="0"/>
              <a:t>Key points: Three problems -&gt; the four-stage fix.</a:t>
            </a:r>
          </a:p>
          <a:p>
            <a:r>
              <a:rPr lang="en-US" dirty="0"/>
              <a:t>Time: 0:55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pipeline, redrawn from Figure 2. From V3-Base: stage 1 cold start (long-CoT SFT), stage 2 reasoning RL, stage 3 rejection sampling plus SFT with non-reasoning data, stage 4 all-scenario RL. Intermediate checkpoints Dev1, Dev2, Dev3 track progress into the final R1.</a:t>
            </a:r>
          </a:p>
          <a:p>
            <a:endParaRPr lang="en-US" dirty="0"/>
          </a:p>
          <a:p>
            <a:r>
              <a:rPr lang="en-US" dirty="0"/>
              <a:t>Key points: Four stages; Dev checkpoints between.</a:t>
            </a:r>
          </a:p>
          <a:p>
            <a:r>
              <a:rPr lang="en-US" dirty="0"/>
              <a:t>Time: 1:05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Reading the stages one by one. Cold start fixes readability. Reasoning RL sharpens with rule rewards plus language consistency. Rejection sampling plus SFT broadens beyond verifiable tasks. All-scenario RL aligns for helpfulness and safety. By the numbers: V3-Base is 671B/37B MoE; R1-Zero RL ran ~198h, R1 ~80h on 64x8 H800.</a:t>
            </a:r>
          </a:p>
          <a:p>
            <a:endParaRPr lang="en-US" dirty="0"/>
          </a:p>
          <a:p>
            <a:r>
              <a:rPr lang="en-US" dirty="0"/>
              <a:t>Key points: Why each stage; training cost facts.</a:t>
            </a:r>
          </a:p>
          <a:p>
            <a:r>
              <a:rPr lang="en-US" dirty="0"/>
              <a:t>Time: 1:05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Head to head. R1 edges past o1-1217 on AIME, MATH-500 and LiveCodeBench, and trails only slightly on GPQA and Codeforces. It's far ahead of GPT-4o and Claude-3.5 on reasoning — an open-weights model trading blows with the closed frontier.</a:t>
            </a:r>
          </a:p>
          <a:p>
            <a:endParaRPr lang="en-US" dirty="0"/>
          </a:p>
          <a:p>
            <a:r>
              <a:rPr lang="en-US" dirty="0"/>
              <a:t>Key points: R1 vs o1-1217 and baselines; green = R1 wins.</a:t>
            </a:r>
          </a:p>
          <a:p>
            <a:r>
              <a:rPr lang="en-US" dirty="0"/>
              <a:t>Time: 1:00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This table tracks each checkpoint. Reasoning is already high at R1-Zero. The later stages mostly lift alignment — AlpacaEval and ArenaHard climb steeply into the final R1, +25% and +17% at the last step — while math and code hold or improve. Nothing is traded away.</a:t>
            </a:r>
          </a:p>
          <a:p>
            <a:endParaRPr lang="en-US" dirty="0"/>
          </a:p>
          <a:p>
            <a:r>
              <a:rPr lang="en-US" dirty="0"/>
              <a:t>Key points: Reasoning early; alignment lifts late.</a:t>
            </a:r>
          </a:p>
          <a:p>
            <a:r>
              <a:rPr lang="en-US" dirty="0"/>
              <a:t>Time: 1:00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Reasoning transfers. R1, the 671B teacher, generates 800k reasoning traces used to SFT six small open models — four Qwen and two Llama sizes. SFT only, no RL. The motivation is democratization; the finding is that distilling from a strong teacher beats training the same small model directly.</a:t>
            </a:r>
          </a:p>
          <a:p>
            <a:endParaRPr lang="en-US" dirty="0"/>
          </a:p>
          <a:p>
            <a:r>
              <a:rPr lang="en-US" dirty="0"/>
              <a:t>Key points: Teacher -&gt; 800k traces -&gt; six students, SFT only.</a:t>
            </a:r>
          </a:p>
          <a:p>
            <a:r>
              <a:rPr lang="en-US" dirty="0"/>
              <a:t>Time: 1:00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How far do the small models get? Even the 7B distill crushes GPT-4o on math — 92.8 vs 74.6, AIME 55.5 vs 9.3. The 32B and 70B reach o1-mini territory. Reasoning learned by a 671B teacher survives compression into models 20 to 400 times smaller, with SFT alone.</a:t>
            </a:r>
          </a:p>
          <a:p>
            <a:endParaRPr lang="en-US" dirty="0"/>
          </a:p>
          <a:p>
            <a:r>
              <a:rPr lang="en-US" dirty="0"/>
              <a:t>Key points: 7B beats GPT-4o on math; 32B/70B near o1-mini.</a:t>
            </a:r>
          </a:p>
          <a:p>
            <a:r>
              <a:rPr lang="en-US" dirty="0"/>
              <a:t>Time: 1:00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 close. Three takeaways: RL alone can incentivize reasoning given hard problems, a reliable verifier and compute; complex behaviors emerge organically; distillation democratizes it. Honest limitations remain — structured output and tool use, token efficiency, language mixing, prompt sensitivity. The one-liner: give a model hard problems, a reliable verifier and compute, and reasoning will follow.</a:t>
            </a:r>
          </a:p>
          <a:p>
            <a:endParaRPr lang="en-US" dirty="0"/>
          </a:p>
          <a:p>
            <a:r>
              <a:rPr lang="en-US" dirty="0"/>
              <a:t>Key points: Three takeaways + four limitations; the one-liner.</a:t>
            </a:r>
          </a:p>
          <a:p>
            <a:r>
              <a:rPr lang="en-US" dirty="0"/>
              <a:t>Time: 1:10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57e7587e1a8c1a96.jpg"/>
  <Relationship Id="rId3" Type="http://schemas.openxmlformats.org/officeDocument/2006/relationships/image" Target="../media/image_e68101c51be1e700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e68101c51be1e700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e68101c51be1e700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e68101c51be1e700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e68101c51be1e700.png"/>
  <Relationship Id="rId3" Type="http://schemas.openxmlformats.org/officeDocument/2006/relationships/image" Target="../media/image_796923fbf1328cf9.png"/>
  <Relationship Id="rId4" Type="http://schemas.openxmlformats.org/officeDocument/2006/relationships/image" Target="../media/image_48f8da0743ea8318.png"/>
  <Relationship Id="rId5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e68101c51be1e700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e68101c51be1e700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e68101c51be1e700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e68101c51be1e700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e68101c51be1e700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e68101c51be1e700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e68101c51be1e700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e68101c51be1e700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e68101c51be1e700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e68101c51be1e700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e68101c51be1e700.png"/>
  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BF9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2500" y="0"/>
              <a:ext cx="10287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BFBF9">
                    <a:alpha val="92000"/>
                  </a:srgbClr>
                </a:gs>
                <a:gs pos="44000">
                  <a:srgbClr val="FBFBF9">
                    <a:alpha val="78000"/>
                  </a:srgbClr>
                </a:gs>
                <a:gs pos="72000">
                  <a:srgbClr val="FBFBF9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pic>
        <p:nvPicPr>
          <p:cNvPr id="6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95300"/>
            <a:ext cx="1123950" cy="584835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623316" y="1677352"/>
            <a:ext cx="3235319" cy="414909"/>
            <a:chOff x="623316" y="1677352"/>
            <a:chExt cx="3235319" cy="414909"/>
          </a:xfrm>
        </p:grpSpPr>
        <p:sp>
          <p:nvSpPr>
            <p:cNvPr id="7" name="TextBox 7"/>
            <p:cNvSpPr txBox="1"/>
            <p:nvPr/>
          </p:nvSpPr>
          <p:spPr>
            <a:xfrm>
              <a:off x="623316" y="1677352"/>
              <a:ext cx="18071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225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PAPER · DEEP READ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23316" y="1886902"/>
              <a:ext cx="32353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Nature 2026 · arXiv:2501.12948 · DeepSeek-AI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2193608"/>
            <a:ext cx="5141481" cy="1692592"/>
            <a:chOff x="571500" y="2193608"/>
            <a:chExt cx="5141481" cy="1692592"/>
          </a:xfrm>
        </p:grpSpPr>
        <p:sp>
          <p:nvSpPr>
            <p:cNvPr id="10" name="TextBox 10"/>
            <p:cNvSpPr txBox="1"/>
            <p:nvPr/>
          </p:nvSpPr>
          <p:spPr>
            <a:xfrm>
              <a:off x="571500" y="2193608"/>
              <a:ext cx="5141481" cy="1190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1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DeepSeek-R1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17220" y="3052762"/>
              <a:ext cx="460302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333333"/>
                  </a:solidFill>
                  <a:latin typeface="Roche Sans Light"/>
                  <a:ea typeface="Roche Sans Light"/>
                  <a:cs typeface="Roche Sans Light"/>
                </a:rPr>
                <a:t>Incentivizing reasoning in LLMs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17220" y="3395662"/>
              <a:ext cx="396049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333333"/>
                  </a:solidFill>
                  <a:latin typeface="Roche Sans Light"/>
                  <a:ea typeface="Roche Sans Light"/>
                  <a:cs typeface="Roche Sans Light"/>
                </a:rPr>
                <a:t>via reinforcement learning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8650" y="3848100"/>
              <a:ext cx="8382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B41CD"/>
                </a:gs>
                <a:gs pos="100000">
                  <a:srgbClr val="1482F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22935" y="4183856"/>
            <a:ext cx="4113415" cy="416433"/>
            <a:chOff x="622935" y="4183856"/>
            <a:chExt cx="4113415" cy="416433"/>
          </a:xfrm>
        </p:grpSpPr>
        <p:sp>
          <p:nvSpPr>
            <p:cNvPr id="15" name="TextBox 15"/>
            <p:cNvSpPr txBox="1"/>
            <p:nvPr/>
          </p:nvSpPr>
          <p:spPr>
            <a:xfrm>
              <a:off x="622935" y="4183856"/>
              <a:ext cx="9097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DeepSeek-AI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3697" y="4409599"/>
              <a:ext cx="41126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research@deepseek.com · weights + 6 distilled models under MIT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8650" y="5105400"/>
            <a:ext cx="5377739" cy="970312"/>
            <a:chOff x="628650" y="5105400"/>
            <a:chExt cx="5377739" cy="970312"/>
          </a:xfrm>
        </p:grpSpPr>
        <p:sp>
          <p:nvSpPr>
            <p:cNvPr id="18" name="Rectangle 18"/>
            <p:cNvSpPr/>
            <p:nvPr/>
          </p:nvSpPr>
          <p:spPr>
            <a:xfrm>
              <a:off x="628650" y="5105400"/>
              <a:ext cx="47625" cy="9525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B41CD"/>
                </a:gs>
                <a:gs pos="100000">
                  <a:srgbClr val="1482F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2488" y="5236845"/>
              <a:ext cx="10208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THE 2025 IDEA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8487" y="5452586"/>
              <a:ext cx="420519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i="1" dirty="0">
                  <a:solidFill>
                    <a:srgbClr val="0B41CD"/>
                  </a:solidFill>
                  <a:latin typeface="Roche Serif Light"/>
                  <a:ea typeface="Roche Serif Light"/>
                  <a:cs typeface="Roche Serif Light"/>
                </a:rPr>
                <a:t>Incentivize reasoning through pure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8487" y="5738336"/>
              <a:ext cx="515790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i="1" dirty="0">
                  <a:solidFill>
                    <a:srgbClr val="0B41CD"/>
                  </a:solidFill>
                  <a:latin typeface="Roche Serif Light"/>
                  <a:ea typeface="Roche Serif Light"/>
                  <a:cs typeface="Roche Serif Light"/>
                </a:rPr>
                <a:t>reinforcement learning — no human traces.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23888" y="6521291"/>
            <a:ext cx="458186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rgbClr val="A39F9C"/>
                </a:solidFill>
                <a:latin typeface="Roche Sans"/>
                <a:ea typeface="Roche Sans"/>
                <a:cs typeface="Roche Sans"/>
              </a:rPr>
              <a:t>Roche Blue exemplar · built from scratch with ppt-master · technical-formula style</a:t>
            </a:r>
          </a:p>
        </p:txBody>
      </p:sp>
    </p:spTree>
  </p:cSld>
  <p:clrMapOvr>
    <a:masterClrMapping/>
  </p:clrMapOvr>
  <p:transition xmlns:p14="http://schemas.microsoft.com/office/powerpoint/2010/main"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04800"/>
            <a:ext cx="800100" cy="416242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571500" y="533400"/>
            <a:ext cx="10432111" cy="656939"/>
            <a:chOff x="571500" y="533400"/>
            <a:chExt cx="10432111" cy="656939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6384" y="565785"/>
              <a:ext cx="1021722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Frontier reasoning, open weights, a fraction of the cost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95147" y="999649"/>
              <a:ext cx="53091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WHY THIS PAPER MATTERS · MATCHES OPENAI-o1-1217 ON REASONING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524000"/>
            <a:ext cx="2619375" cy="2286000"/>
            <a:chOff x="571500" y="1524000"/>
            <a:chExt cx="2619375" cy="2286000"/>
          </a:xfrm>
        </p:grpSpPr>
        <p:sp>
          <p:nvSpPr>
            <p:cNvPr id="7" name="Rectangle 7"/>
            <p:cNvSpPr/>
            <p:nvPr/>
          </p:nvSpPr>
          <p:spPr>
            <a:xfrm>
              <a:off x="571500" y="1524000"/>
              <a:ext cx="2619375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E0E0E0"/>
              </a:solidFill>
            </a:ln>
            <a:effectLst>
              <a:outerShdw blurRad="76200" dist="28575" dir="5400000" algn="ctr" rotWithShape="0">
                <a:srgbClr val="0B41CD">
                  <a:alpha val="60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571500" y="1524000"/>
              <a:ext cx="47625" cy="2286000"/>
            </a:xfrm>
            <a:prstGeom prst="roundRect">
              <a:avLst>
                <a:gd name="adj" fmla="val 50000"/>
              </a:avLst>
            </a:prstGeom>
            <a:solidFill>
              <a:srgbClr val="0B41CD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97719" y="1788319"/>
              <a:ext cx="214312" cy="214312"/>
              <a:chOff x="797719" y="1788319"/>
              <a:chExt cx="214312" cy="21431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97719" y="178831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107156" y="107156"/>
                    </a:moveTo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rgbClr val="0B41CD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5344" y="1835944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59531" y="59531"/>
                    </a:moveTo>
                    <a:moveTo>
                      <a:pt x="0" y="59531"/>
                    </a:moveTo>
                    <a:cubicBezTo>
                      <a:pt x="0" y="92409"/>
                      <a:pt x="26653" y="119062"/>
                      <a:pt x="59531" y="119062"/>
                    </a:cubicBezTo>
                    <a:cubicBezTo>
                      <a:pt x="92409" y="119062"/>
                      <a:pt x="119062" y="92409"/>
                      <a:pt x="119062" y="59531"/>
                    </a:cubicBezTo>
                    <a:cubicBezTo>
                      <a:pt x="119062" y="26653"/>
                      <a:pt x="92409" y="0"/>
                      <a:pt x="59531" y="0"/>
                    </a:cubicBezTo>
                    <a:cubicBezTo>
                      <a:pt x="26653" y="0"/>
                      <a:pt x="0" y="26653"/>
                      <a:pt x="0" y="59531"/>
                    </a:cubicBezTo>
                  </a:path>
                </a:pathLst>
              </a:custGeom>
              <a:noFill/>
              <a:ln w="23812">
                <a:solidFill>
                  <a:srgbClr val="0B41CD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92969" y="188356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11906" y="11906"/>
                    </a:moveTo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23812">
                <a:solidFill>
                  <a:srgbClr val="0B41CD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776097" y="2275999"/>
              <a:ext cx="14532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75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AIME 2024 · PASS@1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5716" y="2496502"/>
              <a:ext cx="1742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competition mathematics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0" y="2755582"/>
              <a:ext cx="1884750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6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79.8%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803910" y="3444240"/>
              <a:ext cx="137160" cy="76200"/>
              <a:chOff x="803910" y="3444240"/>
              <a:chExt cx="137160" cy="762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03910" y="3444240"/>
                <a:ext cx="13716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37160" h="76200">
                    <a:moveTo>
                      <a:pt x="0" y="76200"/>
                    </a:moveTo>
                    <a:lnTo>
                      <a:pt x="45720" y="30480"/>
                    </a:lnTo>
                    <a:lnTo>
                      <a:pt x="76200" y="60960"/>
                    </a:lnTo>
                    <a:lnTo>
                      <a:pt x="137160" y="0"/>
                    </a:lnTo>
                  </a:path>
                </a:pathLst>
              </a:custGeom>
              <a:noFill/>
              <a:ln w="15240">
                <a:solidFill>
                  <a:srgbClr val="007A3B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87730" y="3444240"/>
                <a:ext cx="53340" cy="53340"/>
              </a:xfrm>
              <a:custGeom>
                <a:avLst/>
                <a:gdLst/>
                <a:ahLst/>
                <a:cxnLst/>
                <a:rect l="l" t="t" r="r" b="b"/>
                <a:pathLst>
                  <a:path w="53340" h="53340">
                    <a:moveTo>
                      <a:pt x="0" y="0"/>
                    </a:moveTo>
                    <a:lnTo>
                      <a:pt x="53340" y="0"/>
                    </a:lnTo>
                    <a:lnTo>
                      <a:pt x="53340" y="53340"/>
                    </a:lnTo>
                  </a:path>
                </a:pathLst>
              </a:custGeom>
              <a:noFill/>
              <a:ln w="15240">
                <a:solidFill>
                  <a:srgbClr val="007A3B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04316" y="3429952"/>
              <a:ext cx="13747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07A3B"/>
                  </a:solidFill>
                  <a:latin typeface="Roche Sans Medium"/>
                  <a:ea typeface="Roche Sans Medium"/>
                  <a:cs typeface="Roche Sans Medium"/>
                </a:rPr>
                <a:t>on par with o1-1217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381375" y="1524000"/>
            <a:ext cx="2619375" cy="2286000"/>
            <a:chOff x="3381375" y="1524000"/>
            <a:chExt cx="2619375" cy="2286000"/>
          </a:xfrm>
        </p:grpSpPr>
        <p:sp>
          <p:nvSpPr>
            <p:cNvPr id="21" name="Rectangle 21"/>
            <p:cNvSpPr/>
            <p:nvPr/>
          </p:nvSpPr>
          <p:spPr>
            <a:xfrm>
              <a:off x="3381375" y="1524000"/>
              <a:ext cx="2619375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E0E0E0"/>
              </a:solidFill>
            </a:ln>
            <a:effectLst>
              <a:outerShdw blurRad="76200" dist="28575" dir="5400000" algn="ctr" rotWithShape="0">
                <a:srgbClr val="0B41CD">
                  <a:alpha val="6000"/>
                </a:srgbClr>
              </a:outerShdw>
            </a:effectLst>
          </p:spPr>
        </p:sp>
        <p:sp>
          <p:nvSpPr>
            <p:cNvPr id="22" name="Rectangle 22"/>
            <p:cNvSpPr/>
            <p:nvPr/>
          </p:nvSpPr>
          <p:spPr>
            <a:xfrm>
              <a:off x="3381375" y="1524000"/>
              <a:ext cx="47625" cy="2286000"/>
            </a:xfrm>
            <a:prstGeom prst="roundRect">
              <a:avLst>
                <a:gd name="adj" fmla="val 50000"/>
              </a:avLst>
            </a:prstGeom>
            <a:solidFill>
              <a:srgbClr val="1482F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607594" y="1800225"/>
              <a:ext cx="214312" cy="190500"/>
              <a:chOff x="3607594" y="1800225"/>
              <a:chExt cx="214312" cy="1905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3607594" y="184785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47625" y="0"/>
                    </a:moveTo>
                    <a:lnTo>
                      <a:pt x="0" y="47625"/>
                    </a:lnTo>
                    <a:lnTo>
                      <a:pt x="47625" y="95250"/>
                    </a:lnTo>
                  </a:path>
                </a:pathLst>
              </a:custGeom>
              <a:noFill/>
              <a:ln w="23812">
                <a:solidFill>
                  <a:srgbClr val="1482FA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774281" y="184785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0" y="0"/>
                    </a:moveTo>
                    <a:lnTo>
                      <a:pt x="47625" y="47625"/>
                    </a:lnTo>
                    <a:lnTo>
                      <a:pt x="0" y="95250"/>
                    </a:lnTo>
                  </a:path>
                </a:pathLst>
              </a:custGeom>
              <a:noFill/>
              <a:ln w="23812">
                <a:solidFill>
                  <a:srgbClr val="1482FA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690938" y="1800225"/>
                <a:ext cx="476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90500">
                    <a:moveTo>
                      <a:pt x="47625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23812">
                <a:solidFill>
                  <a:srgbClr val="1482FA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585972" y="2275999"/>
              <a:ext cx="16026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75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CODEFORCES · RATING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85591" y="2496502"/>
              <a:ext cx="1742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competitive programming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71875" y="2755582"/>
              <a:ext cx="1415263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650" dirty="0">
                  <a:solidFill>
                    <a:srgbClr val="1482FA"/>
                  </a:solidFill>
                  <a:latin typeface="Roche Sans Light"/>
                  <a:ea typeface="Roche Sans Light"/>
                  <a:cs typeface="Roche Sans Light"/>
                </a:rPr>
                <a:t>2029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85591" y="3429952"/>
              <a:ext cx="1629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07A3B"/>
                  </a:solidFill>
                  <a:latin typeface="Roche Sans Medium"/>
                  <a:ea typeface="Roche Sans Medium"/>
                  <a:cs typeface="Roche Sans Medium"/>
                </a:rPr>
                <a:t>96.3 pctl · expert level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191250" y="1524000"/>
            <a:ext cx="2619375" cy="2286000"/>
            <a:chOff x="6191250" y="1524000"/>
            <a:chExt cx="2619375" cy="2286000"/>
          </a:xfrm>
        </p:grpSpPr>
        <p:sp>
          <p:nvSpPr>
            <p:cNvPr id="32" name="Rectangle 32"/>
            <p:cNvSpPr/>
            <p:nvPr/>
          </p:nvSpPr>
          <p:spPr>
            <a:xfrm>
              <a:off x="6191250" y="1524000"/>
              <a:ext cx="2619375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E0E0E0"/>
              </a:solidFill>
            </a:ln>
            <a:effectLst>
              <a:outerShdw blurRad="76200" dist="28575" dir="5400000" algn="ctr" rotWithShape="0">
                <a:srgbClr val="0B41CD">
                  <a:alpha val="6000"/>
                </a:srgbClr>
              </a:outerShdw>
            </a:effectLst>
          </p:spPr>
        </p:sp>
        <p:sp>
          <p:nvSpPr>
            <p:cNvPr id="33" name="Rectangle 33"/>
            <p:cNvSpPr/>
            <p:nvPr/>
          </p:nvSpPr>
          <p:spPr>
            <a:xfrm>
              <a:off x="6191250" y="1524000"/>
              <a:ext cx="47625" cy="2286000"/>
            </a:xfrm>
            <a:prstGeom prst="roundRect">
              <a:avLst>
                <a:gd name="adj" fmla="val 50000"/>
              </a:avLst>
            </a:prstGeom>
            <a:solidFill>
              <a:srgbClr val="0F5EE1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417469" y="1788319"/>
              <a:ext cx="214312" cy="214312"/>
              <a:chOff x="6417469" y="1788319"/>
              <a:chExt cx="214312" cy="21431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417469" y="178831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rgbClr val="0F5EE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424612" y="1859756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23812">
                <a:solidFill>
                  <a:srgbClr val="0F5EE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24612" y="1931194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23812">
                <a:solidFill>
                  <a:srgbClr val="0F5EE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477749" y="1788319"/>
                <a:ext cx="4092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40922" h="214312">
                    <a:moveTo>
                      <a:pt x="40922" y="0"/>
                    </a:moveTo>
                    <a:cubicBezTo>
                      <a:pt x="0" y="65577"/>
                      <a:pt x="0" y="148736"/>
                      <a:pt x="40922" y="214312"/>
                    </a:cubicBezTo>
                  </a:path>
                </a:pathLst>
              </a:custGeom>
              <a:noFill/>
              <a:ln w="23812">
                <a:solidFill>
                  <a:srgbClr val="0F5EE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30578" y="1788319"/>
                <a:ext cx="4092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40922" h="214312">
                    <a:moveTo>
                      <a:pt x="0" y="0"/>
                    </a:moveTo>
                    <a:cubicBezTo>
                      <a:pt x="40922" y="65577"/>
                      <a:pt x="40922" y="148736"/>
                      <a:pt x="0" y="214312"/>
                    </a:cubicBezTo>
                  </a:path>
                </a:pathLst>
              </a:custGeom>
              <a:noFill/>
              <a:ln w="23812">
                <a:solidFill>
                  <a:srgbClr val="0F5EE1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395847" y="2275999"/>
              <a:ext cx="5731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75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LICENSE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95466" y="2496502"/>
              <a:ext cx="18906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weights + 6 distilled models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81750" y="2801302"/>
              <a:ext cx="959815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MIT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95466" y="3449002"/>
              <a:ext cx="18718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fully open · on HuggingFace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001125" y="1524000"/>
            <a:ext cx="2619375" cy="2286000"/>
            <a:chOff x="9001125" y="1524000"/>
            <a:chExt cx="2619375" cy="2286000"/>
          </a:xfrm>
        </p:grpSpPr>
        <p:sp>
          <p:nvSpPr>
            <p:cNvPr id="45" name="Rectangle 45"/>
            <p:cNvSpPr/>
            <p:nvPr/>
          </p:nvSpPr>
          <p:spPr>
            <a:xfrm>
              <a:off x="9001125" y="1524000"/>
              <a:ext cx="2619375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E0E0E0"/>
              </a:solidFill>
            </a:ln>
            <a:effectLst>
              <a:outerShdw blurRad="76200" dist="28575" dir="5400000" algn="ctr" rotWithShape="0">
                <a:srgbClr val="0B41CD">
                  <a:alpha val="6000"/>
                </a:srgbClr>
              </a:outerShdw>
            </a:effectLst>
          </p:spPr>
        </p:sp>
        <p:sp>
          <p:nvSpPr>
            <p:cNvPr id="46" name="Rectangle 46"/>
            <p:cNvSpPr/>
            <p:nvPr/>
          </p:nvSpPr>
          <p:spPr>
            <a:xfrm>
              <a:off x="9001125" y="1524000"/>
              <a:ext cx="47625" cy="2286000"/>
            </a:xfrm>
            <a:prstGeom prst="roundRect">
              <a:avLst>
                <a:gd name="adj" fmla="val 50000"/>
              </a:avLst>
            </a:prstGeom>
            <a:solidFill>
              <a:srgbClr val="5FAAFC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9227344" y="1835944"/>
              <a:ext cx="214312" cy="119062"/>
              <a:chOff x="9227344" y="1835944"/>
              <a:chExt cx="214312" cy="119062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9227344" y="1835944"/>
                <a:ext cx="21431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19062">
                    <a:moveTo>
                      <a:pt x="0" y="119062"/>
                    </a:moveTo>
                    <a:lnTo>
                      <a:pt x="71438" y="47625"/>
                    </a:lnTo>
                    <a:lnTo>
                      <a:pt x="119062" y="95250"/>
                    </a:lnTo>
                    <a:lnTo>
                      <a:pt x="214312" y="0"/>
                    </a:lnTo>
                  </a:path>
                </a:pathLst>
              </a:custGeom>
              <a:noFill/>
              <a:ln w="23812">
                <a:solidFill>
                  <a:srgbClr val="5FAAF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358312" y="1835944"/>
                <a:ext cx="83344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83344">
                    <a:moveTo>
                      <a:pt x="0" y="0"/>
                    </a:moveTo>
                    <a:lnTo>
                      <a:pt x="83344" y="0"/>
                    </a:lnTo>
                    <a:lnTo>
                      <a:pt x="83344" y="83344"/>
                    </a:lnTo>
                  </a:path>
                </a:pathLst>
              </a:custGeom>
              <a:noFill/>
              <a:ln w="23812">
                <a:solidFill>
                  <a:srgbClr val="5FAAF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9205722" y="2275999"/>
              <a:ext cx="15679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75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R1-ZERO · AIME 2024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05341" y="2496502"/>
              <a:ext cx="12527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pure RL, zero SFT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191625" y="2755582"/>
              <a:ext cx="1884750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6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77.9%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05341" y="34299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07A3B"/>
                  </a:solidFill>
                  <a:latin typeface="Roche Sans Medium"/>
                  <a:ea typeface="Roche Sans Medium"/>
                  <a:cs typeface="Roche Sans Medium"/>
                </a:rPr>
                <a:t>up from 15.6% — self-taught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4286250"/>
            <a:ext cx="11049000" cy="1610106"/>
            <a:chOff x="571500" y="4286250"/>
            <a:chExt cx="11049000" cy="1610106"/>
          </a:xfrm>
        </p:grpSpPr>
        <p:sp>
          <p:nvSpPr>
            <p:cNvPr id="55" name="Rectangle 55"/>
            <p:cNvSpPr/>
            <p:nvPr/>
          </p:nvSpPr>
          <p:spPr>
            <a:xfrm>
              <a:off x="571500" y="4286250"/>
              <a:ext cx="11049000" cy="1524000"/>
            </a:xfrm>
            <a:prstGeom prst="roundRect">
              <a:avLst>
                <a:gd name="adj" fmla="val 7500"/>
              </a:avLst>
            </a:prstGeom>
            <a:solidFill>
              <a:srgbClr val="F5F7FA"/>
            </a:solidFill>
            <a:ln w="9525">
              <a:solidFill>
                <a:srgbClr val="E0E0E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71500" y="4286250"/>
              <a:ext cx="47625" cy="1524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B41CD"/>
                </a:gs>
                <a:gs pos="100000">
                  <a:srgbClr val="1482F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47547" y="4561999"/>
              <a:ext cx="10319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THE HEADLINE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2975" y="4788694"/>
              <a:ext cx="757508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 xml:space="preserve">An open-weights model reaches </a:t>
              </a:r>
              <a:r>
                <a:rPr lang="en-US" sz="1880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o1-level reasoning</a:t>
              </a:r>
              <a:r>
                <a:rPr lang="en-US" sz="188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 xml:space="preserve"> — driven by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2975" y="5093494"/>
              <a:ext cx="802052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 xml:space="preserve">reinforcement learning, not </a:t>
              </a:r>
              <a:r>
                <a:rPr lang="en-US" sz="1880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human-annotated reasoning traces</a:t>
              </a:r>
              <a:r>
                <a:rPr lang="en-US" sz="188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.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46404" y="5471160"/>
              <a:ext cx="6740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The rest of the paper explains how pure RL incentivizes reasoning, how a multi-stage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46404" y="5661660"/>
              <a:ext cx="7093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pipeline makes it usable, and how the ability distills all the way down to 1.5B parameters.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66738" y="6521291"/>
            <a:ext cx="11058525" cy="161925"/>
            <a:chOff x="566738" y="6521291"/>
            <a:chExt cx="11058525" cy="161925"/>
          </a:xfrm>
        </p:grpSpPr>
        <p:sp>
          <p:nvSpPr>
            <p:cNvPr id="63" name="TextBox 63"/>
            <p:cNvSpPr txBox="1"/>
            <p:nvPr/>
          </p:nvSpPr>
          <p:spPr>
            <a:xfrm>
              <a:off x="566738" y="6521291"/>
              <a:ext cx="59771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Source: DeepSeek-AI 2026, §4 (benchmarks), Abstract; AIME/Codeforces = Table 3 and main comparison table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5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5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04800"/>
            <a:ext cx="800100" cy="416242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571500" y="533400"/>
            <a:ext cx="9458219" cy="656939"/>
            <a:chOff x="571500" y="533400"/>
            <a:chExt cx="9458219" cy="656939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7146" y="581978"/>
              <a:ext cx="92425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Skip supervised fine-tuning — let RL discover reasoning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95147" y="999649"/>
              <a:ext cx="3301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THE CENTRAL IDEA · §1 INTRODUCTION · §2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1409700"/>
            <a:ext cx="5334000" cy="4762500"/>
            <a:chOff x="571500" y="1409700"/>
            <a:chExt cx="5334000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409700"/>
              <a:ext cx="5334000" cy="4762500"/>
            </a:xfrm>
            <a:prstGeom prst="roundRect">
              <a:avLst>
                <a:gd name="adj" fmla="val 2400"/>
              </a:avLst>
            </a:prstGeom>
            <a:solidFill>
              <a:srgbClr val="F7F9FE"/>
            </a:solidFill>
            <a:ln w="9525">
              <a:solidFill>
                <a:srgbClr val="E0E0E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409700"/>
              <a:ext cx="47625" cy="4762500"/>
            </a:xfrm>
            <a:prstGeom prst="roundRect">
              <a:avLst>
                <a:gd name="adj" fmla="val 50000"/>
              </a:avLst>
            </a:prstGeom>
            <a:solidFill>
              <a:srgbClr val="A39F9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9447" y="1647349"/>
              <a:ext cx="2337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CONVENTIONAL POST-TRAINING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24000" y="1943100"/>
              <a:ext cx="342900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4288">
              <a:solidFill>
                <a:srgbClr val="0B41CD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579083" y="2118360"/>
              <a:ext cx="13188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Pre-trained LLM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238500" y="2438400"/>
              <a:ext cx="1" cy="190500"/>
            </a:xfrm>
            <a:prstGeom prst="line">
              <a:avLst/>
            </a:prstGeom>
            <a:noFill/>
            <a:ln w="14288">
              <a:solidFill>
                <a:srgbClr val="1482FA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524000" y="2647950"/>
              <a:ext cx="3429000" cy="495300"/>
            </a:xfrm>
            <a:prstGeom prst="roundRect">
              <a:avLst>
                <a:gd name="adj" fmla="val 15385"/>
              </a:avLst>
            </a:prstGeom>
            <a:solidFill>
              <a:srgbClr val="F5F7FA"/>
            </a:solidFill>
            <a:ln w="14288">
              <a:solidFill>
                <a:srgbClr val="D0021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77453" y="2774156"/>
              <a:ext cx="2322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333333"/>
                  </a:solidFill>
                  <a:latin typeface="Roche Sans Medium"/>
                  <a:ea typeface="Roche Sans Medium"/>
                  <a:cs typeface="Roche Sans Medium"/>
                </a:rPr>
                <a:t>SFT on human chain-of-thought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55387" y="2969895"/>
              <a:ext cx="19662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D0021B"/>
                  </a:solidFill>
                  <a:latin typeface="Roche Sans"/>
                  <a:ea typeface="Roche Sans"/>
                  <a:cs typeface="Roche Sans"/>
                </a:rPr>
                <a:t>imitate human-written reasoning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238500" y="3143250"/>
              <a:ext cx="1" cy="190500"/>
            </a:xfrm>
            <a:prstGeom prst="line">
              <a:avLst/>
            </a:prstGeom>
            <a:noFill/>
            <a:ln w="14288">
              <a:solidFill>
                <a:srgbClr val="1482FA"/>
              </a:solidFill>
              <a:tailEnd type="triangle" w="lg" len="lg"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524000" y="3352800"/>
              <a:ext cx="342900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4288">
              <a:solidFill>
                <a:srgbClr val="0B41C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34117" y="3528060"/>
              <a:ext cx="1008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RL fine-tune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238500" y="3848100"/>
              <a:ext cx="1" cy="190500"/>
            </a:xfrm>
            <a:prstGeom prst="line">
              <a:avLst/>
            </a:prstGeom>
            <a:noFill/>
            <a:ln w="14288">
              <a:solidFill>
                <a:srgbClr val="1482FA"/>
              </a:solidFill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143000" y="4248150"/>
              <a:ext cx="4191000" cy="1676400"/>
            </a:xfrm>
            <a:prstGeom prst="roundRect">
              <a:avLst>
                <a:gd name="adj" fmla="val 5682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43000" y="4248150"/>
              <a:ext cx="47625" cy="1676400"/>
            </a:xfrm>
            <a:prstGeom prst="roundRect">
              <a:avLst>
                <a:gd name="adj" fmla="val 50000"/>
              </a:avLst>
            </a:prstGeom>
            <a:solidFill>
              <a:srgbClr val="D0021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423988" y="4474845"/>
              <a:ext cx="8480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rgbClr val="D0021B"/>
                  </a:solidFill>
                  <a:latin typeface="Roche Sans Medium"/>
                  <a:ea typeface="Roche Sans Medium"/>
                  <a:cs typeface="Roche Sans Medium"/>
                </a:rPr>
                <a:t>THE CEILING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21130" y="4714875"/>
              <a:ext cx="3343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Capped by human demonstrations.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23416" y="5087302"/>
              <a:ext cx="32737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Depends on annotated traces — costly to scale,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23416" y="5277802"/>
              <a:ext cx="31557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introduces cognitive bias, and constrains the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23416" y="5468302"/>
              <a:ext cx="28447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model to human-like reasoning pathways.</a:t>
              </a:r>
            </a:p>
          </p:txBody>
        </p:sp>
      </p:grpSp>
      <p:sp>
        <p:nvSpPr>
          <p:cNvPr id="28" name="Ellipse 28"/>
          <p:cNvSpPr/>
          <p:nvPr/>
        </p:nvSpPr>
        <p:spPr>
          <a:xfrm>
            <a:off x="5867400" y="3562350"/>
            <a:ext cx="457200" cy="457200"/>
          </a:xfrm>
          <a:prstGeom prst="ellipse">
            <a:avLst/>
          </a:prstGeom>
          <a:solidFill>
            <a:srgbClr val="0B41C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002274" y="3726656"/>
            <a:ext cx="1874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FFFFFF"/>
                </a:solidFill>
                <a:latin typeface="Roche Sans Medium"/>
                <a:ea typeface="Roche Sans Medium"/>
                <a:cs typeface="Roche Sans Medium"/>
              </a:rPr>
              <a:t>VS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6286500" y="1409700"/>
            <a:ext cx="5334000" cy="4762500"/>
            <a:chOff x="6286500" y="1409700"/>
            <a:chExt cx="5334000" cy="4762500"/>
          </a:xfrm>
        </p:grpSpPr>
        <p:sp>
          <p:nvSpPr>
            <p:cNvPr id="30" name="Rectangle 30"/>
            <p:cNvSpPr/>
            <p:nvPr/>
          </p:nvSpPr>
          <p:spPr>
            <a:xfrm>
              <a:off x="6286500" y="1409700"/>
              <a:ext cx="5334000" cy="4762500"/>
            </a:xfrm>
            <a:prstGeom prst="roundRect">
              <a:avLst>
                <a:gd name="adj" fmla="val 2400"/>
              </a:avLst>
            </a:prstGeom>
            <a:solidFill>
              <a:srgbClr val="F7F9FE"/>
            </a:solidFill>
            <a:ln w="14288">
              <a:solidFill>
                <a:srgbClr val="0B41CD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86500" y="1409700"/>
              <a:ext cx="47625" cy="47625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B41CD"/>
                </a:gs>
                <a:gs pos="100000">
                  <a:srgbClr val="1482F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24447" y="1647349"/>
              <a:ext cx="14980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DEEPSEEK-R1-ZERO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239000" y="1943100"/>
              <a:ext cx="342900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4288">
              <a:solidFill>
                <a:srgbClr val="0B41CD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24231" y="2118360"/>
              <a:ext cx="14585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DeepSeek-V3-Base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953500" y="2438400"/>
              <a:ext cx="1" cy="190500"/>
            </a:xfrm>
            <a:prstGeom prst="line">
              <a:avLst/>
            </a:prstGeom>
            <a:noFill/>
            <a:ln w="14288">
              <a:solidFill>
                <a:srgbClr val="1482FA"/>
              </a:solidFill>
              <a:tailEnd type="triangle" w="lg" len="lg"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0" y="2647950"/>
              <a:ext cx="3429000" cy="49530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4288">
              <a:solidFill>
                <a:srgbClr val="A39F9C"/>
              </a:solidFill>
              <a:custDash>
                <a:ds d="333333" sp="200000"/>
              </a:custDash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84329" y="2774156"/>
              <a:ext cx="738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A39F9C"/>
                  </a:solidFill>
                  <a:latin typeface="Roche Sans Medium"/>
                  <a:ea typeface="Roche Sans Medium"/>
                  <a:cs typeface="Roche Sans Medium"/>
                </a:rPr>
                <a:t>SFT stage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46066" y="2969895"/>
              <a:ext cx="16148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bypassed — no human priors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953500" y="3143250"/>
              <a:ext cx="1" cy="190500"/>
            </a:xfrm>
            <a:prstGeom prst="line">
              <a:avLst/>
            </a:prstGeom>
            <a:noFill/>
            <a:ln w="14288">
              <a:solidFill>
                <a:srgbClr val="1482FA"/>
              </a:solidFill>
              <a:tailEnd type="triangle" w="lg" len="lg"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239000" y="3352800"/>
              <a:ext cx="3429000" cy="495300"/>
            </a:xfrm>
            <a:prstGeom prst="roundRect">
              <a:avLst>
                <a:gd name="adj" fmla="val 15385"/>
              </a:avLst>
            </a:prstGeom>
            <a:solidFill>
              <a:srgbClr val="E9EEFA"/>
            </a:solidFill>
            <a:ln w="14288">
              <a:solidFill>
                <a:srgbClr val="1482F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65226" y="3479006"/>
              <a:ext cx="11765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Pure RL (GRPO)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00721" y="3674745"/>
              <a:ext cx="21055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reward = final-answer correctness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953500" y="3848100"/>
              <a:ext cx="1" cy="190500"/>
            </a:xfrm>
            <a:prstGeom prst="line">
              <a:avLst/>
            </a:prstGeom>
            <a:noFill/>
            <a:ln w="14288">
              <a:solidFill>
                <a:srgbClr val="1482FA"/>
              </a:solidFill>
              <a:tailEnd type="triangle" w="lg" len="lg"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858000" y="4248150"/>
              <a:ext cx="4191000" cy="1676400"/>
            </a:xfrm>
            <a:prstGeom prst="roundRect">
              <a:avLst>
                <a:gd name="adj" fmla="val 5682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858000" y="4248150"/>
              <a:ext cx="47625" cy="1676400"/>
            </a:xfrm>
            <a:prstGeom prst="roundRect">
              <a:avLst>
                <a:gd name="adj" fmla="val 50000"/>
              </a:avLst>
            </a:prstGeom>
            <a:solidFill>
              <a:srgbClr val="007A3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38988" y="4474845"/>
              <a:ext cx="8512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rgbClr val="007A3B"/>
                  </a:solidFill>
                  <a:latin typeface="Roche Sans Medium"/>
                  <a:ea typeface="Roche Sans Medium"/>
                  <a:cs typeface="Roche Sans Medium"/>
                </a:rPr>
                <a:t>THE PAYOFF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36130" y="4714875"/>
              <a:ext cx="30209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Reasoning emerges on its own.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38416" y="5087302"/>
              <a:ext cx="3231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With only the right incentive, the model learns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38416" y="5277802"/>
              <a:ext cx="31557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reflection, verification and alternative-path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38416" y="5468302"/>
              <a:ext cx="2915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search — beyond human-written examples.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66738" y="6521291"/>
            <a:ext cx="11058525" cy="161925"/>
            <a:chOff x="566738" y="6521291"/>
            <a:chExt cx="11058525" cy="161925"/>
          </a:xfrm>
        </p:grpSpPr>
        <p:sp>
          <p:nvSpPr>
            <p:cNvPr id="52" name="TextBox 52"/>
            <p:cNvSpPr txBox="1"/>
            <p:nvPr/>
          </p:nvSpPr>
          <p:spPr>
            <a:xfrm>
              <a:off x="566738" y="6521291"/>
              <a:ext cx="46325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Source: DeepSeek-AI 2026, §1 Introduction and §2 (DeepSeek-R1-Zero); GRPO = §2.1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04800"/>
            <a:ext cx="800100" cy="416242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571500" y="533400"/>
            <a:ext cx="9265121" cy="656939"/>
            <a:chOff x="571500" y="533400"/>
            <a:chExt cx="9265121" cy="656939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7146" y="581978"/>
              <a:ext cx="90494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Two models: the proof of concept, and the usable one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95147" y="999649"/>
              <a:ext cx="36663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DEEPSEEK-R1-ZERO (§2) VS DEEPSEEK-R1 (§3)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1428750"/>
            <a:ext cx="5334000" cy="3733800"/>
            <a:chOff x="571500" y="1428750"/>
            <a:chExt cx="5334000" cy="373380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5334000" cy="373380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14288">
              <a:solidFill>
                <a:srgbClr val="E0E0E0"/>
              </a:solidFill>
            </a:ln>
            <a:effectLst>
              <a:outerShdw blurRad="76200" dist="28575" dir="5400000" algn="ctr" rotWithShape="0">
                <a:srgbClr val="0B41CD">
                  <a:alpha val="60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571500" y="1428750"/>
              <a:ext cx="47625" cy="3733800"/>
            </a:xfrm>
            <a:prstGeom prst="roundRect">
              <a:avLst>
                <a:gd name="adj" fmla="val 50000"/>
              </a:avLst>
            </a:prstGeom>
            <a:solidFill>
              <a:srgbClr val="5FAAF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6394" y="1656398"/>
              <a:ext cx="23701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DeepSeek-R1-Zero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2019300"/>
              <a:ext cx="1162050" cy="228600"/>
            </a:xfrm>
            <a:prstGeom prst="roundRect">
              <a:avLst>
                <a:gd name="adj" fmla="val 50000"/>
              </a:avLst>
            </a:prstGeom>
            <a:solidFill>
              <a:srgbClr val="E9EE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09332" y="2082641"/>
              <a:ext cx="4959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spc="75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PURE RL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966" y="2420302"/>
              <a:ext cx="39557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V3-Base + GRPO with rule-based rewards — no SFT stage.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876300" y="27051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1538" y="2893695"/>
              <a:ext cx="9024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rgbClr val="007A3B"/>
                  </a:solidFill>
                  <a:latin typeface="Roche Sans Medium"/>
                  <a:ea typeface="Roche Sans Medium"/>
                  <a:cs typeface="Roche Sans Medium"/>
                </a:rPr>
                <a:t>WHAT WORKS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904875" y="3200400"/>
              <a:ext cx="76200" cy="76200"/>
            </a:xfrm>
            <a:prstGeom prst="ellipse">
              <a:avLst/>
            </a:prstGeom>
            <a:solidFill>
              <a:srgbClr val="007A3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80135" y="3164681"/>
              <a:ext cx="3864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Strong reasoning — AIME 77.9%, self-taught via RL.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04875" y="3448050"/>
              <a:ext cx="76200" cy="76200"/>
            </a:xfrm>
            <a:prstGeom prst="ellipse">
              <a:avLst/>
            </a:prstGeom>
            <a:solidFill>
              <a:srgbClr val="007A3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80135" y="3412331"/>
              <a:ext cx="41281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Emergent reflection, verification, alternative search.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1538" y="3808095"/>
              <a:ext cx="11968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rgbClr val="D0021B"/>
                  </a:solidFill>
                  <a:latin typeface="Roche Sans Medium"/>
                  <a:ea typeface="Roche Sans Medium"/>
                  <a:cs typeface="Roche Sans Medium"/>
                </a:rPr>
                <a:t>THE TRADE-OFFS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904875" y="4114800"/>
              <a:ext cx="76200" cy="76200"/>
            </a:xfrm>
            <a:prstGeom prst="ellipse">
              <a:avLst/>
            </a:prstGeom>
            <a:solidFill>
              <a:srgbClr val="D0021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80135" y="4079081"/>
              <a:ext cx="3128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Poor readability of the chain-of-thought.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904875" y="4362450"/>
              <a:ext cx="76200" cy="76200"/>
            </a:xfrm>
            <a:prstGeom prst="ellipse">
              <a:avLst/>
            </a:prstGeom>
            <a:solidFill>
              <a:srgbClr val="D0021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80135" y="4326731"/>
              <a:ext cx="34915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Language mixing (English / Chinese in one CoT).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904875" y="4610100"/>
              <a:ext cx="76200" cy="76200"/>
            </a:xfrm>
            <a:prstGeom prst="ellipse">
              <a:avLst/>
            </a:prstGeom>
            <a:solidFill>
              <a:srgbClr val="D0021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80135" y="4574381"/>
              <a:ext cx="34664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Narrow — weak on writing and open-domain QA.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0966" y="4877752"/>
              <a:ext cx="37257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rgbClr val="706B69"/>
                  </a:solidFill>
                  <a:latin typeface="Roche Serif Light"/>
                  <a:ea typeface="Roche Serif Light"/>
                  <a:cs typeface="Roche Serif Light"/>
                </a:rPr>
                <a:t>The proof that RL alone can incentivize reasoning.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86500" y="1428750"/>
            <a:ext cx="5334000" cy="3733800"/>
            <a:chOff x="6286500" y="1428750"/>
            <a:chExt cx="5334000" cy="3733800"/>
          </a:xfrm>
        </p:grpSpPr>
        <p:sp>
          <p:nvSpPr>
            <p:cNvPr id="28" name="Rectangle 28"/>
            <p:cNvSpPr/>
            <p:nvPr/>
          </p:nvSpPr>
          <p:spPr>
            <a:xfrm>
              <a:off x="6286500" y="1428750"/>
              <a:ext cx="5334000" cy="373380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14288">
              <a:solidFill>
                <a:srgbClr val="0B41CD"/>
              </a:solidFill>
            </a:ln>
            <a:effectLst>
              <a:outerShdw blurRad="76200" dist="28575" dir="5400000" algn="ctr" rotWithShape="0">
                <a:srgbClr val="0B41CD">
                  <a:alpha val="60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6286500" y="1428750"/>
              <a:ext cx="47625" cy="3733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B41CD"/>
                </a:gs>
                <a:gs pos="100000">
                  <a:srgbClr val="1482F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81394" y="1656398"/>
              <a:ext cx="16379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DeepSeek-R1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91300" y="2019300"/>
              <a:ext cx="1428750" cy="228600"/>
            </a:xfrm>
            <a:prstGeom prst="roundRect">
              <a:avLst>
                <a:gd name="adj" fmla="val 50000"/>
              </a:avLst>
            </a:prstGeom>
            <a:solidFill>
              <a:srgbClr val="0B41C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95529" y="2082641"/>
              <a:ext cx="8202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spc="75" dirty="0">
                  <a:solidFill>
                    <a:srgbClr val="FFFFFF"/>
                  </a:solidFill>
                  <a:latin typeface="Roche Sans Medium"/>
                  <a:ea typeface="Roche Sans Medium"/>
                  <a:cs typeface="Roche Sans Medium"/>
                </a:rPr>
                <a:t>MULTI-STAGE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85966" y="2420302"/>
              <a:ext cx="42258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Cold-start CoT + reasoning RL + rejection-sampling SFT + RL.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591300" y="27051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86538" y="2893695"/>
              <a:ext cx="9600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rgbClr val="007A3B"/>
                  </a:solidFill>
                  <a:latin typeface="Roche Sans Medium"/>
                  <a:ea typeface="Roche Sans Medium"/>
                  <a:cs typeface="Roche Sans Medium"/>
                </a:rPr>
                <a:t>WHAT IT ADDS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619875" y="3200400"/>
              <a:ext cx="76200" cy="76200"/>
            </a:xfrm>
            <a:prstGeom prst="ellipse">
              <a:avLst/>
            </a:prstGeom>
            <a:solidFill>
              <a:srgbClr val="007A3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95135" y="3164681"/>
              <a:ext cx="34050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Inherits R1-Zero's reasoning — still top-tier.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619875" y="3448050"/>
              <a:ext cx="76200" cy="76200"/>
            </a:xfrm>
            <a:prstGeom prst="ellipse">
              <a:avLst/>
            </a:prstGeom>
            <a:solidFill>
              <a:srgbClr val="007A3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95135" y="3412331"/>
              <a:ext cx="3836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Readable CoT, language-consistent, human-aligned.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619875" y="3695700"/>
              <a:ext cx="76200" cy="76200"/>
            </a:xfrm>
            <a:prstGeom prst="ellipse">
              <a:avLst/>
            </a:prstGeom>
            <a:solidFill>
              <a:srgbClr val="007A3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95135" y="3659981"/>
              <a:ext cx="41630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Broad — writing, open-domain QA, helpfulness + safety.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86538" y="4055745"/>
              <a:ext cx="3039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HOW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19875" y="4362450"/>
              <a:ext cx="76200" cy="76200"/>
            </a:xfrm>
            <a:prstGeom prst="ellipse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95135" y="4326731"/>
              <a:ext cx="3893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A pipeline that layers alignment on top of reasoning.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619875" y="4610100"/>
              <a:ext cx="76200" cy="76200"/>
            </a:xfrm>
            <a:prstGeom prst="ellipse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95135" y="4574381"/>
              <a:ext cx="3473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 xml:space="preserve">Intermediate checkpoints: Dev1 </a:t>
              </a:r>
              <a:r>
                <a:rPr lang="en-US" sz="1120" dirty="0">
                  <a:solidFill>
                    <a:srgbClr val="1482FA"/>
                  </a:solidFill>
                  <a:latin typeface="Consolas"/>
                  <a:ea typeface="Consolas"/>
                  <a:cs typeface="Consolas"/>
                </a:rPr>
                <a:t>→</a:t>
              </a:r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 xml:space="preserve"> Dev2 </a:t>
              </a:r>
              <a:r>
                <a:rPr lang="en-US" sz="1120" dirty="0">
                  <a:solidFill>
                    <a:srgbClr val="1482FA"/>
                  </a:solidFill>
                  <a:latin typeface="Consolas"/>
                  <a:ea typeface="Consolas"/>
                  <a:cs typeface="Consolas"/>
                </a:rPr>
                <a:t>→</a:t>
              </a:r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 xml:space="preserve"> Dev3.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85966" y="4877752"/>
              <a:ext cx="3599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rgbClr val="706B69"/>
                  </a:solidFill>
                  <a:latin typeface="Roche Serif Light"/>
                  <a:ea typeface="Roche Serif Light"/>
                  <a:cs typeface="Roche Serif Light"/>
                </a:rPr>
                <a:t>The version that turns the proof into a product.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5334000"/>
            <a:ext cx="11049000" cy="857250"/>
            <a:chOff x="571500" y="5334000"/>
            <a:chExt cx="11049000" cy="857250"/>
          </a:xfrm>
        </p:grpSpPr>
        <p:sp>
          <p:nvSpPr>
            <p:cNvPr id="49" name="Rectangle 49"/>
            <p:cNvSpPr/>
            <p:nvPr/>
          </p:nvSpPr>
          <p:spPr>
            <a:xfrm>
              <a:off x="571500" y="5334000"/>
              <a:ext cx="11049000" cy="857250"/>
            </a:xfrm>
            <a:prstGeom prst="roundRect">
              <a:avLst>
                <a:gd name="adj" fmla="val 11111"/>
              </a:avLst>
            </a:prstGeom>
            <a:solidFill>
              <a:srgbClr val="F5F7FA"/>
            </a:solidFill>
            <a:ln w="9525">
              <a:solidFill>
                <a:srgbClr val="E0E0E0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71500" y="5334000"/>
              <a:ext cx="47625" cy="8572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B41CD"/>
                </a:gs>
                <a:gs pos="100000">
                  <a:srgbClr val="1482F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47547" y="5514499"/>
              <a:ext cx="14287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THE THROUGH-LINE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4880" y="5762625"/>
              <a:ext cx="87080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 xml:space="preserve">R1-Zero answers </a:t>
              </a:r>
              <a:r>
                <a:rPr lang="en-US" sz="1500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"can RL alone teach reasoning?"</a:t>
              </a:r>
              <a:r>
                <a:rPr lang="en-US" sz="150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 xml:space="preserve"> — R1 answers </a:t>
              </a:r>
              <a:r>
                <a:rPr lang="en-US" sz="1500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"can it be made usable?"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6738" y="6521291"/>
            <a:ext cx="11058525" cy="161925"/>
            <a:chOff x="566738" y="6521291"/>
            <a:chExt cx="11058525" cy="161925"/>
          </a:xfrm>
        </p:grpSpPr>
        <p:sp>
          <p:nvSpPr>
            <p:cNvPr id="54" name="TextBox 54"/>
            <p:cNvSpPr txBox="1"/>
            <p:nvPr/>
          </p:nvSpPr>
          <p:spPr>
            <a:xfrm>
              <a:off x="566738" y="6521291"/>
              <a:ext cx="28928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Source: DeepSeek-AI 2026, §2 (R1-Zero) and §3 (R1)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04800"/>
            <a:ext cx="800100" cy="416242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571500" y="533400"/>
            <a:ext cx="8011397" cy="666464"/>
            <a:chOff x="571500" y="533400"/>
            <a:chExt cx="8011397" cy="666464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7146" y="581978"/>
              <a:ext cx="779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GRPO — a critic-free policy-gradient objective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95147" y="1009174"/>
              <a:ext cx="47849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GROUP RELATIVE POLICY OPTIMIZATION · §2.1 · EQ. (1)–(3)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1352550"/>
            <a:ext cx="11049000" cy="1428750"/>
            <a:chOff x="571500" y="1352550"/>
            <a:chExt cx="11049000" cy="1428750"/>
          </a:xfrm>
        </p:grpSpPr>
        <p:sp>
          <p:nvSpPr>
            <p:cNvPr id="7" name="Rectangle 7"/>
            <p:cNvSpPr/>
            <p:nvPr/>
          </p:nvSpPr>
          <p:spPr>
            <a:xfrm>
              <a:off x="571500" y="1352550"/>
              <a:ext cx="11049000" cy="1428750"/>
            </a:xfrm>
            <a:prstGeom prst="roundRect">
              <a:avLst>
                <a:gd name="adj" fmla="val 8000"/>
              </a:avLst>
            </a:prstGeom>
            <a:gradFill>
              <a:gsLst>
                <a:gs pos="0">
                  <a:srgbClr val="F8FAFF"/>
                </a:gs>
                <a:gs pos="100000">
                  <a:srgbClr val="E9EEFA"/>
                </a:gs>
              </a:gsLst>
              <a:lin ang="2700000" scaled="1"/>
            </a:gradFill>
            <a:ln w="14288">
              <a:solidFill>
                <a:srgbClr val="E0E0E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352550"/>
              <a:ext cx="57150" cy="14287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B41CD"/>
                </a:gs>
                <a:gs pos="100000">
                  <a:srgbClr val="1482F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7738" y="1522095"/>
              <a:ext cx="46952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THE OBJECTIVE · MAXIMIZED OVER THE POLICY · LaTeX-rendered</a:t>
              </a:r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19200" y="1809750"/>
              <a:ext cx="9753600" cy="781050"/>
            </a:xfrm>
            <a:prstGeom prst="rect">
              <a:avLst/>
            </a:prstGeom>
          </p:spPr>
        </p:pic>
      </p:grpSp>
      <p:grpSp>
        <p:nvGrpSpPr>
          <p:cNvPr id="33" name="Group 33"/>
          <p:cNvGrpSpPr/>
          <p:nvPr/>
        </p:nvGrpSpPr>
        <p:grpSpPr>
          <a:xfrm>
            <a:off x="781050" y="3037999"/>
            <a:ext cx="4524959" cy="2702338"/>
            <a:chOff x="781050" y="3037999"/>
            <a:chExt cx="4524959" cy="2702338"/>
          </a:xfrm>
        </p:grpSpPr>
        <p:sp>
          <p:nvSpPr>
            <p:cNvPr id="12" name="TextBox 12"/>
            <p:cNvSpPr txBox="1"/>
            <p:nvPr/>
          </p:nvSpPr>
          <p:spPr>
            <a:xfrm>
              <a:off x="795147" y="3037999"/>
              <a:ext cx="10527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HOW IT READS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781050" y="3348514"/>
              <a:ext cx="4286850" cy="448723"/>
              <a:chOff x="781050" y="3348514"/>
              <a:chExt cx="4286850" cy="448723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781050" y="3371850"/>
                <a:ext cx="342900" cy="342900"/>
              </a:xfrm>
              <a:prstGeom prst="ellipse">
                <a:avLst/>
              </a:prstGeom>
              <a:solidFill>
                <a:srgbClr val="0B41CD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901979" y="34709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FFFFFF"/>
                    </a:solidFill>
                    <a:latin typeface="Roche Sans Medium"/>
                    <a:ea typeface="Roche Sans Medium"/>
                    <a:cs typeface="Roche Sans Medium"/>
                  </a:rPr>
                  <a:t>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50823" y="3348514"/>
                <a:ext cx="124597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0B41CD"/>
                    </a:solidFill>
                    <a:latin typeface="Roche Sans Medium"/>
                    <a:ea typeface="Roche Sans Medium"/>
                    <a:cs typeface="Roche Sans Medium"/>
                  </a:rPr>
                  <a:t>Sample a group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51966" y="3591878"/>
                <a:ext cx="381593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333333"/>
                    </a:solidFill>
                    <a:latin typeface="Roche Sans"/>
                    <a:ea typeface="Roche Sans"/>
                    <a:cs typeface="Roche Sans"/>
                  </a:rPr>
                  <a:t>For each question, draw G outputs from the old policy.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81050" y="3996214"/>
              <a:ext cx="4303330" cy="448723"/>
              <a:chOff x="781050" y="3996214"/>
              <a:chExt cx="4303330" cy="448723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781050" y="4019550"/>
                <a:ext cx="342900" cy="342900"/>
              </a:xfrm>
              <a:prstGeom prst="ellipse">
                <a:avLst/>
              </a:prstGeom>
              <a:solidFill>
                <a:srgbClr val="0F5EE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901979" y="41186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FFFFFF"/>
                    </a:solidFill>
                    <a:latin typeface="Roche Sans Medium"/>
                    <a:ea typeface="Roche Sans Medium"/>
                    <a:cs typeface="Roche Sans Medium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50823" y="3996214"/>
                <a:ext cx="153770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0B41CD"/>
                    </a:solidFill>
                    <a:latin typeface="Roche Sans Medium"/>
                    <a:ea typeface="Roche Sans Medium"/>
                    <a:cs typeface="Roche Sans Medium"/>
                  </a:rPr>
                  <a:t>Score each output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51966" y="4239578"/>
                <a:ext cx="38324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333333"/>
                    </a:solidFill>
                    <a:latin typeface="Roche Sans"/>
                    <a:ea typeface="Roche Sans"/>
                    <a:cs typeface="Roche Sans"/>
                  </a:rPr>
                  <a:t>Rule-based reward per output — correctness + format.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81050" y="4643914"/>
              <a:ext cx="4296253" cy="448723"/>
              <a:chOff x="781050" y="4643914"/>
              <a:chExt cx="4296253" cy="448723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781050" y="4667250"/>
                <a:ext cx="342900" cy="342900"/>
              </a:xfrm>
              <a:prstGeom prst="ellipse">
                <a:avLst/>
              </a:prstGeom>
              <a:solidFill>
                <a:srgbClr val="1482FA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01979" y="47663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FFFFFF"/>
                    </a:solidFill>
                    <a:latin typeface="Roche Sans Medium"/>
                    <a:ea typeface="Roche Sans Medium"/>
                    <a:cs typeface="Roche Sans Medium"/>
                  </a:rPr>
                  <a:t>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50823" y="4643914"/>
                <a:ext cx="224116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0B41CD"/>
                    </a:solidFill>
                    <a:latin typeface="Roche Sans Medium"/>
                    <a:ea typeface="Roche Sans Medium"/>
                    <a:cs typeface="Roche Sans Medium"/>
                  </a:rPr>
                  <a:t>Normalize within the group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51966" y="4887278"/>
                <a:ext cx="38253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333333"/>
                    </a:solidFill>
                    <a:latin typeface="Roche Sans"/>
                    <a:ea typeface="Roche Sans"/>
                    <a:cs typeface="Roche Sans"/>
                  </a:rPr>
                  <a:t>Advantage = reward minus group mean, over group std.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81050" y="5291614"/>
              <a:ext cx="4524959" cy="448723"/>
              <a:chOff x="781050" y="5291614"/>
              <a:chExt cx="4524959" cy="448723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781050" y="5314950"/>
                <a:ext cx="342900" cy="342900"/>
              </a:xfrm>
              <a:prstGeom prst="ellipse">
                <a:avLst/>
              </a:prstGeom>
              <a:solidFill>
                <a:srgbClr val="5FAAFC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901979" y="54140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FFFFFF"/>
                    </a:solidFill>
                    <a:latin typeface="Roche Sans Medium"/>
                    <a:ea typeface="Roche Sans Medium"/>
                    <a:cs typeface="Roche Sans Medium"/>
                  </a:rPr>
                  <a:t>4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50823" y="5291614"/>
                <a:ext cx="2258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0B41CD"/>
                    </a:solidFill>
                    <a:latin typeface="Roche Sans Medium"/>
                    <a:ea typeface="Roche Sans Medium"/>
                    <a:cs typeface="Roche Sans Medium"/>
                  </a:rPr>
                  <a:t>Update with a clipped ratio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51966" y="5534978"/>
                <a:ext cx="405404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333333"/>
                    </a:solidFill>
                    <a:latin typeface="Roche Sans"/>
                    <a:ea typeface="Roche Sans"/>
                    <a:cs typeface="Roche Sans"/>
                  </a:rPr>
                  <a:t>Clip the ratio to a trust region, regularize by KL to a ref.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6286500" y="3048000"/>
            <a:ext cx="5334000" cy="3009900"/>
            <a:chOff x="6286500" y="3048000"/>
            <a:chExt cx="5334000" cy="3009900"/>
          </a:xfrm>
        </p:grpSpPr>
        <p:sp>
          <p:nvSpPr>
            <p:cNvPr id="34" name="Rectangle 34"/>
            <p:cNvSpPr/>
            <p:nvPr/>
          </p:nvSpPr>
          <p:spPr>
            <a:xfrm>
              <a:off x="6286500" y="3048000"/>
              <a:ext cx="5334000" cy="300990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4288">
              <a:solidFill>
                <a:srgbClr val="E0E0E0"/>
              </a:solidFill>
            </a:ln>
            <a:effectLst>
              <a:outerShdw blurRad="76200" dist="28575" dir="5400000" algn="ctr" rotWithShape="0">
                <a:srgbClr val="0B41CD">
                  <a:alpha val="5250"/>
                </a:srgbClr>
              </a:outerShdw>
            </a:effectLst>
          </p:spPr>
        </p:sp>
        <p:sp>
          <p:nvSpPr>
            <p:cNvPr id="35" name="TextBox 35"/>
            <p:cNvSpPr txBox="1"/>
            <p:nvPr/>
          </p:nvSpPr>
          <p:spPr>
            <a:xfrm>
              <a:off x="6510338" y="3236595"/>
              <a:ext cx="21793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WHERE THE TERMS COME FROM</a:t>
              </a:r>
            </a:p>
          </p:txBody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67500" y="3486150"/>
              <a:ext cx="4572000" cy="714375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6515100" y="4400550"/>
              <a:ext cx="4876800" cy="857250"/>
            </a:xfrm>
            <a:prstGeom prst="roundRect">
              <a:avLst>
                <a:gd name="adj" fmla="val 11111"/>
              </a:avLst>
            </a:prstGeom>
            <a:solidFill>
              <a:srgbClr val="E9EEF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515100" y="4400550"/>
              <a:ext cx="47625" cy="857250"/>
            </a:xfrm>
            <a:prstGeom prst="roundRect">
              <a:avLst>
                <a:gd name="adj" fmla="val 50000"/>
              </a:avLst>
            </a:prstGeom>
            <a:solidFill>
              <a:srgbClr val="0B41CD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38938" y="4570095"/>
              <a:ext cx="10176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THE KEY MOVE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38366" y="4801552"/>
              <a:ext cx="34965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GRPO drops PPO's value network — the group mean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38366" y="4992052"/>
              <a:ext cx="40957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is the baseline, so there is one fewer large model to train.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10338" y="5503545"/>
              <a:ext cx="15105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SETTINGS (R1-ZERO)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09766" y="5715952"/>
              <a:ext cx="3265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33333"/>
                  </a:solidFill>
                  <a:latin typeface="Consolas"/>
                  <a:ea typeface="Consolas"/>
                  <a:cs typeface="Consolas"/>
                </a:rPr>
                <a:t>lr 3e-6 · KL β 0.001 · G = 16 samples / question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66738" y="6521291"/>
            <a:ext cx="11058525" cy="161925"/>
            <a:chOff x="566738" y="6521291"/>
            <a:chExt cx="11058525" cy="161925"/>
          </a:xfrm>
        </p:grpSpPr>
        <p:sp>
          <p:nvSpPr>
            <p:cNvPr id="45" name="TextBox 45"/>
            <p:cNvSpPr txBox="1"/>
            <p:nvPr/>
          </p:nvSpPr>
          <p:spPr>
            <a:xfrm>
              <a:off x="566738" y="6521291"/>
              <a:ext cx="602892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Source: DeepSeek-AI 2026, §2.1 (GRPO), Eq. (1)–(3) · block formulas rendered via LaTeX (Computer Modern)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04800"/>
            <a:ext cx="800100" cy="416242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571500" y="533400"/>
            <a:ext cx="7376853" cy="656939"/>
            <a:chOff x="571500" y="533400"/>
            <a:chExt cx="7376853" cy="656939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7146" y="581978"/>
              <a:ext cx="71612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The reward is a rule, not a neural network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95147" y="999649"/>
              <a:ext cx="54676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REWARD DESIGN · §2.2 · EQ. (4) · RULE-BASED = ACCURACY + FORMAT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1428750"/>
            <a:ext cx="11049000" cy="2590800"/>
            <a:chOff x="571500" y="1428750"/>
            <a:chExt cx="11049000" cy="259080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11049000" cy="2590800"/>
            </a:xfrm>
            <a:prstGeom prst="roundRect">
              <a:avLst>
                <a:gd name="adj" fmla="val 4412"/>
              </a:avLst>
            </a:prstGeom>
            <a:solidFill>
              <a:srgbClr val="F7F9FE"/>
            </a:solidFill>
            <a:ln w="9525">
              <a:solidFill>
                <a:srgbClr val="E0E0E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428750"/>
              <a:ext cx="47625" cy="2590800"/>
            </a:xfrm>
            <a:prstGeom prst="roundRect">
              <a:avLst>
                <a:gd name="adj" fmla="val 50000"/>
              </a:avLst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9638" y="1674495"/>
              <a:ext cx="20097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HOW A RESPONSE IS SCORED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14400" y="2362200"/>
              <a:ext cx="1676400" cy="7620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4288">
              <a:solidFill>
                <a:srgbClr val="0B41CD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46189" y="2575560"/>
              <a:ext cx="12128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Model response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08640" y="2817495"/>
              <a:ext cx="8879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to a question q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2590800" y="2266950"/>
              <a:ext cx="952500" cy="304800"/>
            </a:xfrm>
            <a:custGeom>
              <a:avLst/>
              <a:gdLst/>
              <a:ahLst/>
              <a:cxnLst/>
              <a:rect l="l" t="t" r="r" b="b"/>
              <a:pathLst>
                <a:path w="952500" h="304800">
                  <a:moveTo>
                    <a:pt x="0" y="304800"/>
                  </a:moveTo>
                  <a:cubicBezTo>
                    <a:pt x="457200" y="304800"/>
                    <a:pt x="457200" y="0"/>
                    <a:pt x="952500" y="0"/>
                  </a:cubicBezTo>
                </a:path>
              </a:pathLst>
            </a:custGeom>
            <a:noFill/>
            <a:ln w="14288">
              <a:solidFill>
                <a:srgbClr val="0B41CD"/>
              </a:solidFill>
              <a:tailEnd type="triangle" w="lg" len="lg"/>
            </a:ln>
          </p:spPr>
        </p:sp>
        <p:sp>
          <p:nvSpPr>
            <p:cNvPr id="14" name="Freeform 14"/>
            <p:cNvSpPr/>
            <p:nvPr/>
          </p:nvSpPr>
          <p:spPr>
            <a:xfrm>
              <a:off x="2590800" y="2914650"/>
              <a:ext cx="952500" cy="304800"/>
            </a:xfrm>
            <a:custGeom>
              <a:avLst/>
              <a:gdLst/>
              <a:ahLst/>
              <a:cxnLst/>
              <a:rect l="l" t="t" r="r" b="b"/>
              <a:pathLst>
                <a:path w="952500" h="304800">
                  <a:moveTo>
                    <a:pt x="0" y="0"/>
                  </a:moveTo>
                  <a:cubicBezTo>
                    <a:pt x="457200" y="0"/>
                    <a:pt x="457200" y="304800"/>
                    <a:pt x="952500" y="304800"/>
                  </a:cubicBezTo>
                </a:path>
              </a:pathLst>
            </a:custGeom>
            <a:noFill/>
            <a:ln w="14288">
              <a:solidFill>
                <a:srgbClr val="0B41CD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600450" y="1905000"/>
              <a:ext cx="3143250" cy="723900"/>
            </a:xfrm>
            <a:prstGeom prst="roundRect">
              <a:avLst>
                <a:gd name="adj" fmla="val 13158"/>
              </a:avLst>
            </a:prstGeom>
            <a:solidFill>
              <a:srgbClr val="E9EEFA"/>
            </a:solidFill>
            <a:ln w="14288">
              <a:solidFill>
                <a:srgbClr val="1482F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785235" y="2050256"/>
              <a:ext cx="12583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Accuracy reward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85997" y="2275999"/>
              <a:ext cx="20640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 xml:space="preserve">math </a:t>
              </a:r>
              <a:r>
                <a:rPr lang="en-US" sz="980" dirty="0">
                  <a:solidFill>
                    <a:srgbClr val="1482FA"/>
                  </a:solidFill>
                  <a:latin typeface="Consolas"/>
                  <a:ea typeface="Consolas"/>
                  <a:cs typeface="Consolas"/>
                </a:rPr>
                <a:t>→</a:t>
              </a:r>
              <a:r>
                <a:rPr lang="en-US" sz="98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 xml:space="preserve"> boxed-answer rule check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85997" y="2447449"/>
              <a:ext cx="20443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 xml:space="preserve">code </a:t>
              </a:r>
              <a:r>
                <a:rPr lang="en-US" sz="980" dirty="0">
                  <a:solidFill>
                    <a:srgbClr val="1482FA"/>
                  </a:solidFill>
                  <a:latin typeface="Consolas"/>
                  <a:ea typeface="Consolas"/>
                  <a:cs typeface="Consolas"/>
                </a:rPr>
                <a:t>→</a:t>
              </a:r>
              <a:r>
                <a:rPr lang="en-US" sz="98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 xml:space="preserve"> compiler runs test cases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600450" y="2857500"/>
              <a:ext cx="3143250" cy="723900"/>
            </a:xfrm>
            <a:prstGeom prst="roundRect">
              <a:avLst>
                <a:gd name="adj" fmla="val 13158"/>
              </a:avLst>
            </a:prstGeom>
            <a:solidFill>
              <a:srgbClr val="F0F4FC"/>
            </a:solidFill>
            <a:ln w="14288">
              <a:solidFill>
                <a:srgbClr val="5FAAF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85235" y="3002756"/>
              <a:ext cx="1122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Format reward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85997" y="3228499"/>
              <a:ext cx="23396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wrap reasoning in &lt;think&gt; … &lt;/think&gt;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85997" y="3399949"/>
              <a:ext cx="19787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482FA"/>
                  </a:solidFill>
                  <a:latin typeface="Consolas"/>
                  <a:ea typeface="Consolas"/>
                  <a:cs typeface="Consolas"/>
                </a:rPr>
                <a:t>→</a:t>
              </a:r>
              <a:r>
                <a:rPr lang="en-US" sz="98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 xml:space="preserve"> interpretable, easy to parse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743700" y="2266950"/>
              <a:ext cx="990600" cy="323850"/>
            </a:xfrm>
            <a:custGeom>
              <a:avLst/>
              <a:gdLst/>
              <a:ahLst/>
              <a:cxnLst/>
              <a:rect l="l" t="t" r="r" b="b"/>
              <a:pathLst>
                <a:path w="990600" h="323850">
                  <a:moveTo>
                    <a:pt x="0" y="0"/>
                  </a:moveTo>
                  <a:cubicBezTo>
                    <a:pt x="495300" y="0"/>
                    <a:pt x="495300" y="323850"/>
                    <a:pt x="990600" y="323850"/>
                  </a:cubicBezTo>
                </a:path>
              </a:pathLst>
            </a:custGeom>
            <a:noFill/>
            <a:ln w="14288">
              <a:solidFill>
                <a:srgbClr val="0B41CD"/>
              </a:solidFill>
              <a:tailEnd type="triangle" w="lg" len="lg"/>
            </a:ln>
          </p:spPr>
        </p:sp>
        <p:sp>
          <p:nvSpPr>
            <p:cNvPr id="24" name="Freeform 24"/>
            <p:cNvSpPr/>
            <p:nvPr/>
          </p:nvSpPr>
          <p:spPr>
            <a:xfrm>
              <a:off x="6743700" y="2895600"/>
              <a:ext cx="990600" cy="323850"/>
            </a:xfrm>
            <a:custGeom>
              <a:avLst/>
              <a:gdLst/>
              <a:ahLst/>
              <a:cxnLst/>
              <a:rect l="l" t="t" r="r" b="b"/>
              <a:pathLst>
                <a:path w="990600" h="323850">
                  <a:moveTo>
                    <a:pt x="0" y="323850"/>
                  </a:moveTo>
                  <a:cubicBezTo>
                    <a:pt x="495300" y="323850"/>
                    <a:pt x="495300" y="0"/>
                    <a:pt x="990600" y="0"/>
                  </a:cubicBezTo>
                </a:path>
              </a:pathLst>
            </a:custGeom>
            <a:noFill/>
            <a:ln w="14288">
              <a:solidFill>
                <a:srgbClr val="0B41CD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791450" y="2362200"/>
              <a:ext cx="2914650" cy="762000"/>
            </a:xfrm>
            <a:prstGeom prst="roundRect">
              <a:avLst>
                <a:gd name="adj" fmla="val 12500"/>
              </a:avLst>
            </a:prstGeom>
            <a:solidFill>
              <a:srgbClr val="0B41C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69917" y="2556510"/>
              <a:ext cx="2157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Roche Sans Medium"/>
                  <a:ea typeface="Roche Sans Medium"/>
                  <a:cs typeface="Roche Sans Medium"/>
                </a:rPr>
                <a:t>Reward = R_acc + R_format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86911" y="2798445"/>
              <a:ext cx="13237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FFFFF">
                      <a:alphaMod val="90000"/>
                    </a:srgbClr>
                  </a:solidFill>
                  <a:latin typeface="Roche Sans"/>
                  <a:ea typeface="Roche Sans"/>
                  <a:cs typeface="Roche Sans"/>
                </a:rPr>
                <a:t>equal weight · Eq. (4)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32178" y="3255645"/>
              <a:ext cx="32331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+ language-consistency reward added for DeepSeek-R1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4248150"/>
            <a:ext cx="5334000" cy="1866900"/>
            <a:chOff x="571500" y="4248150"/>
            <a:chExt cx="5334000" cy="1866900"/>
          </a:xfrm>
        </p:grpSpPr>
        <p:sp>
          <p:nvSpPr>
            <p:cNvPr id="30" name="Rectangle 30"/>
            <p:cNvSpPr/>
            <p:nvPr/>
          </p:nvSpPr>
          <p:spPr>
            <a:xfrm>
              <a:off x="571500" y="4248150"/>
              <a:ext cx="5334000" cy="1866900"/>
            </a:xfrm>
            <a:prstGeom prst="roundRect">
              <a:avLst>
                <a:gd name="adj" fmla="val 6122"/>
              </a:avLst>
            </a:prstGeom>
            <a:solidFill>
              <a:srgbClr val="FFFFFF"/>
            </a:solidFill>
            <a:ln w="14288">
              <a:solidFill>
                <a:srgbClr val="E0E0E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71500" y="4248150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rgbClr val="D0021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1538" y="4474845"/>
              <a:ext cx="24674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rgbClr val="D0021B"/>
                  </a:solidFill>
                  <a:latin typeface="Roche Sans Medium"/>
                  <a:ea typeface="Roche Sans Medium"/>
                  <a:cs typeface="Roche Sans Medium"/>
                </a:rPr>
                <a:t>WHY NOT A NEURAL REWARD MODEL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9061" y="4742021"/>
              <a:ext cx="37853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Neural RMs get reward-hacked at scale.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0585" y="5079206"/>
              <a:ext cx="42495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For reasoning tasks the authors avoid both outcome- and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0585" y="5288756"/>
              <a:ext cx="45805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process-based neural rewards: large-scale RL exploits them,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0585" y="5498306"/>
              <a:ext cx="40399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and retraining them adds cost and pipeline complexity.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0966" y="5792152"/>
              <a:ext cx="44658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rgbClr val="706B69"/>
                  </a:solidFill>
                  <a:latin typeface="Roche Serif Light"/>
                  <a:ea typeface="Roche Serif Light"/>
                  <a:cs typeface="Roche Serif Light"/>
                </a:rPr>
                <a:t>Rules give precise, verifiable feedback that can't be gamed.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286500" y="4248150"/>
            <a:ext cx="5334000" cy="1866900"/>
            <a:chOff x="6286500" y="4248150"/>
            <a:chExt cx="5334000" cy="1866900"/>
          </a:xfrm>
        </p:grpSpPr>
        <p:sp>
          <p:nvSpPr>
            <p:cNvPr id="39" name="Rectangle 39"/>
            <p:cNvSpPr/>
            <p:nvPr/>
          </p:nvSpPr>
          <p:spPr>
            <a:xfrm>
              <a:off x="6286500" y="4248150"/>
              <a:ext cx="5334000" cy="1866900"/>
            </a:xfrm>
            <a:prstGeom prst="roundRect">
              <a:avLst>
                <a:gd name="adj" fmla="val 6122"/>
              </a:avLst>
            </a:prstGeom>
            <a:solidFill>
              <a:srgbClr val="F5F7FA"/>
            </a:solidFill>
            <a:ln w="14288">
              <a:solidFill>
                <a:srgbClr val="E0E0E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86500" y="4248150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86538" y="4474845"/>
              <a:ext cx="19297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ONE EXTRA REWARD FOR R1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84061" y="4742021"/>
              <a:ext cx="29177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Language-consistency reward.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85585" y="5079206"/>
              <a:ext cx="45028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Measured as the share of target-language words in the CoT,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85585" y="5288756"/>
              <a:ext cx="3864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it curbs the English/Chinese mixing seen in R1-Zero.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85585" y="5498306"/>
              <a:ext cx="2916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Ablation shows a slight accuracy cost 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85966" y="5792152"/>
              <a:ext cx="4267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rgbClr val="706B69"/>
                  </a:solidFill>
                  <a:latin typeface="Roche Serif Light"/>
                  <a:ea typeface="Roche Serif Light"/>
                  <a:cs typeface="Roche Serif Light"/>
                </a:rPr>
                <a:t>traded for readability that aligns with human preference.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66738" y="6521291"/>
            <a:ext cx="11058525" cy="161925"/>
            <a:chOff x="566738" y="6521291"/>
            <a:chExt cx="11058525" cy="161925"/>
          </a:xfrm>
        </p:grpSpPr>
        <p:sp>
          <p:nvSpPr>
            <p:cNvPr id="48" name="TextBox 48"/>
            <p:cNvSpPr txBox="1"/>
            <p:nvPr/>
          </p:nvSpPr>
          <p:spPr>
            <a:xfrm>
              <a:off x="566738" y="6521291"/>
              <a:ext cx="586175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Source: DeepSeek-AI 2026, §2.2 (Reward Design), Eq. (4), and §3.2 (language-consistency reward, Eq. 7)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04800"/>
            <a:ext cx="800100" cy="416242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571500" y="533400"/>
            <a:ext cx="10477759" cy="656939"/>
            <a:chOff x="571500" y="533400"/>
            <a:chExt cx="10477759" cy="656939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7146" y="581978"/>
              <a:ext cx="102621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R1-Zero teaches itself — accuracy and thinking rise together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95147" y="999649"/>
              <a:ext cx="47918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SELF-EVOLUTION DURING RL · §2.3 · REDRAWN FROM FIGURE 1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1428750"/>
            <a:ext cx="5334000" cy="3143250"/>
            <a:chOff x="571500" y="1428750"/>
            <a:chExt cx="5334000" cy="314325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5334000" cy="314325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14288">
              <a:solidFill>
                <a:srgbClr val="E0E0E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3247" y="1628299"/>
              <a:ext cx="15439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AIME 2024 · PASS@1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3438" y="1826895"/>
              <a:ext cx="15906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accuracy vs training steps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1143000" y="2000250"/>
              <a:ext cx="4476750" cy="2200275"/>
              <a:chOff x="1143000" y="2000250"/>
              <a:chExt cx="4476750" cy="2200275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1143000" y="2000250"/>
                <a:ext cx="447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76750" h="9525">
                    <a:moveTo>
                      <a:pt x="0" y="0"/>
                    </a:moveTo>
                    <a:lnTo>
                      <a:pt x="4476750" y="0"/>
                    </a:lnTo>
                  </a:path>
                </a:pathLst>
              </a:custGeom>
              <a:noFill/>
              <a:ln w="9525">
                <a:solidFill>
                  <a:srgbClr val="E0E0E0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1143000" y="2547938"/>
                <a:ext cx="447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76750" h="9525">
                    <a:moveTo>
                      <a:pt x="0" y="0"/>
                    </a:moveTo>
                    <a:lnTo>
                      <a:pt x="4476750" y="0"/>
                    </a:lnTo>
                  </a:path>
                </a:pathLst>
              </a:custGeom>
              <a:noFill/>
              <a:ln w="9525">
                <a:solidFill>
                  <a:srgbClr val="E0E0E0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1143000" y="3095625"/>
                <a:ext cx="447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76750" h="9525">
                    <a:moveTo>
                      <a:pt x="0" y="0"/>
                    </a:moveTo>
                    <a:lnTo>
                      <a:pt x="4476750" y="0"/>
                    </a:lnTo>
                  </a:path>
                </a:pathLst>
              </a:custGeom>
              <a:noFill/>
              <a:ln w="9525">
                <a:solidFill>
                  <a:srgbClr val="E0E0E0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143000" y="3643312"/>
                <a:ext cx="447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76750" h="9525">
                    <a:moveTo>
                      <a:pt x="0" y="0"/>
                    </a:moveTo>
                    <a:lnTo>
                      <a:pt x="4476750" y="0"/>
                    </a:lnTo>
                  </a:path>
                </a:pathLst>
              </a:custGeom>
              <a:noFill/>
              <a:ln w="9525">
                <a:solidFill>
                  <a:srgbClr val="E0E0E0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1143000" y="4191000"/>
                <a:ext cx="447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76750" h="9525">
                    <a:moveTo>
                      <a:pt x="0" y="0"/>
                    </a:moveTo>
                    <a:lnTo>
                      <a:pt x="4476750" y="0"/>
                    </a:lnTo>
                  </a:path>
                </a:pathLst>
              </a:custGeom>
              <a:noFill/>
              <a:ln w="9525">
                <a:solidFill>
                  <a:srgbClr val="E0E0E0"/>
                </a:solidFill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878786" y="1949291"/>
              <a:ext cx="192777" cy="2352675"/>
              <a:chOff x="878786" y="1949291"/>
              <a:chExt cx="192777" cy="2352675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878786" y="1949291"/>
                <a:ext cx="192776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820" dirty="0">
                    <a:solidFill>
                      <a:srgbClr val="A39F9C"/>
                    </a:solidFill>
                    <a:latin typeface="Consolas"/>
                    <a:ea typeface="Consolas"/>
                    <a:cs typeface="Consolas"/>
                  </a:rPr>
                  <a:t>100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39870" y="2496979"/>
                <a:ext cx="13169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820" dirty="0">
                    <a:solidFill>
                      <a:srgbClr val="A39F9C"/>
                    </a:solidFill>
                    <a:latin typeface="Consolas"/>
                    <a:ea typeface="Consolas"/>
                    <a:cs typeface="Consolas"/>
                  </a:rPr>
                  <a:t>75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39870" y="3044666"/>
                <a:ext cx="13169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820" dirty="0">
                    <a:solidFill>
                      <a:srgbClr val="A39F9C"/>
                    </a:solidFill>
                    <a:latin typeface="Consolas"/>
                    <a:ea typeface="Consolas"/>
                    <a:cs typeface="Consolas"/>
                  </a:rPr>
                  <a:t>50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39870" y="3592354"/>
                <a:ext cx="13169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820" dirty="0">
                    <a:solidFill>
                      <a:srgbClr val="A39F9C"/>
                    </a:solidFill>
                    <a:latin typeface="Consolas"/>
                    <a:ea typeface="Consolas"/>
                    <a:cs typeface="Consolas"/>
                  </a:rPr>
                  <a:t>25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00954" y="4140041"/>
                <a:ext cx="7060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820" dirty="0">
                    <a:solidFill>
                      <a:srgbClr val="A39F9C"/>
                    </a:solidFill>
                    <a:latin typeface="Consolas"/>
                    <a:ea typeface="Consolas"/>
                    <a:cs typeface="Consolas"/>
                  </a:rPr>
                  <a:t>0</a:t>
                </a: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1143000" y="2484120"/>
              <a:ext cx="4476750" cy="1706880"/>
            </a:xfrm>
            <a:custGeom>
              <a:avLst/>
              <a:gdLst/>
              <a:ahLst/>
              <a:cxnLst/>
              <a:rect l="l" t="t" r="r" b="b"/>
              <a:pathLst>
                <a:path w="4476750" h="1706880">
                  <a:moveTo>
                    <a:pt x="0" y="1364932"/>
                  </a:moveTo>
                  <a:lnTo>
                    <a:pt x="895350" y="983933"/>
                  </a:lnTo>
                  <a:lnTo>
                    <a:pt x="1790700" y="655320"/>
                  </a:lnTo>
                  <a:lnTo>
                    <a:pt x="2686050" y="436245"/>
                  </a:lnTo>
                  <a:lnTo>
                    <a:pt x="3133725" y="326708"/>
                  </a:lnTo>
                  <a:lnTo>
                    <a:pt x="3581400" y="217170"/>
                  </a:lnTo>
                  <a:lnTo>
                    <a:pt x="3667125" y="85725"/>
                  </a:lnTo>
                  <a:lnTo>
                    <a:pt x="4476750" y="0"/>
                  </a:lnTo>
                  <a:lnTo>
                    <a:pt x="4476750" y="1706880"/>
                  </a:lnTo>
                  <a:lnTo>
                    <a:pt x="0" y="1706880"/>
                  </a:lnTo>
                  <a:close/>
                </a:path>
              </a:pathLst>
            </a:custGeom>
            <a:gradFill>
              <a:gsLst>
                <a:gs pos="0">
                  <a:srgbClr val="1482FA">
                    <a:alpha val="28000"/>
                  </a:srgbClr>
                </a:gs>
                <a:gs pos="100000">
                  <a:srgbClr val="1482FA">
                    <a:alpha val="2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1143000" y="2484120"/>
              <a:ext cx="4476750" cy="1364932"/>
            </a:xfrm>
            <a:custGeom>
              <a:avLst/>
              <a:gdLst/>
              <a:ahLst/>
              <a:cxnLst/>
              <a:rect l="l" t="t" r="r" b="b"/>
              <a:pathLst>
                <a:path w="4476750" h="1364932">
                  <a:moveTo>
                    <a:pt x="0" y="1364932"/>
                  </a:moveTo>
                  <a:lnTo>
                    <a:pt x="895350" y="983933"/>
                  </a:lnTo>
                  <a:lnTo>
                    <a:pt x="1790700" y="655320"/>
                  </a:lnTo>
                  <a:lnTo>
                    <a:pt x="2686050" y="436245"/>
                  </a:lnTo>
                  <a:lnTo>
                    <a:pt x="3133725" y="326708"/>
                  </a:lnTo>
                  <a:lnTo>
                    <a:pt x="3581400" y="217170"/>
                  </a:lnTo>
                  <a:lnTo>
                    <a:pt x="3667125" y="85725"/>
                  </a:lnTo>
                  <a:lnTo>
                    <a:pt x="4476750" y="0"/>
                  </a:lnTo>
                </a:path>
              </a:pathLst>
            </a:custGeom>
            <a:noFill/>
            <a:ln w="23812">
              <a:solidFill>
                <a:srgbClr val="0B41CD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100138" y="3806190"/>
              <a:ext cx="85725" cy="85725"/>
            </a:xfrm>
            <a:prstGeom prst="ellipse">
              <a:avLst/>
            </a:prstGeom>
            <a:solidFill>
              <a:srgbClr val="0B41C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14247" y="3685699"/>
              <a:ext cx="3971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15.6%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572125" y="2436495"/>
              <a:ext cx="95250" cy="95250"/>
            </a:xfrm>
            <a:prstGeom prst="ellipse">
              <a:avLst/>
            </a:prstGeom>
            <a:solidFill>
              <a:srgbClr val="0B41C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91065" y="2278856"/>
              <a:ext cx="4582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77.9%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5581650" y="229171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7A3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78566" y="2131695"/>
              <a:ext cx="869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007A3B"/>
                  </a:solidFill>
                  <a:latin typeface="Roche Sans Medium"/>
                  <a:ea typeface="Roche Sans Medium"/>
                  <a:cs typeface="Roche Sans Medium"/>
                </a:rPr>
                <a:t>86.7% cons@16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57534" y="4311491"/>
              <a:ext cx="16476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training steps · up to ~10,400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86500" y="1428750"/>
            <a:ext cx="5334000" cy="3143250"/>
            <a:chOff x="6286500" y="1428750"/>
            <a:chExt cx="5334000" cy="3143250"/>
          </a:xfrm>
        </p:grpSpPr>
        <p:sp>
          <p:nvSpPr>
            <p:cNvPr id="32" name="Rectangle 32"/>
            <p:cNvSpPr/>
            <p:nvPr/>
          </p:nvSpPr>
          <p:spPr>
            <a:xfrm>
              <a:off x="6286500" y="1428750"/>
              <a:ext cx="5334000" cy="314325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14288">
              <a:solidFill>
                <a:srgbClr val="E0E0E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48247" y="1628299"/>
              <a:ext cx="17055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AVG RESPONSE LENGTH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48438" y="1826895"/>
              <a:ext cx="22630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tokens per response vs training steps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6953250" y="2000250"/>
              <a:ext cx="4286250" cy="2200275"/>
              <a:chOff x="6953250" y="2000250"/>
              <a:chExt cx="4286250" cy="2200275"/>
            </a:xfrm>
          </p:grpSpPr>
          <p:sp>
            <p:nvSpPr>
              <p:cNvPr id="35" name="Line 35"/>
              <p:cNvSpPr/>
              <p:nvPr/>
            </p:nvSpPr>
            <p:spPr>
              <a:xfrm>
                <a:off x="6953250" y="2000250"/>
                <a:ext cx="428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286250" h="9525">
                    <a:moveTo>
                      <a:pt x="0" y="0"/>
                    </a:moveTo>
                    <a:lnTo>
                      <a:pt x="4286250" y="0"/>
                    </a:lnTo>
                  </a:path>
                </a:pathLst>
              </a:custGeom>
              <a:noFill/>
              <a:ln w="9525">
                <a:solidFill>
                  <a:srgbClr val="E0E0E0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6953250" y="2547938"/>
                <a:ext cx="428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286250" h="9525">
                    <a:moveTo>
                      <a:pt x="0" y="0"/>
                    </a:moveTo>
                    <a:lnTo>
                      <a:pt x="4286250" y="0"/>
                    </a:lnTo>
                  </a:path>
                </a:pathLst>
              </a:custGeom>
              <a:noFill/>
              <a:ln w="9525">
                <a:solidFill>
                  <a:srgbClr val="E0E0E0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6953250" y="3095625"/>
                <a:ext cx="428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286250" h="9525">
                    <a:moveTo>
                      <a:pt x="0" y="0"/>
                    </a:moveTo>
                    <a:lnTo>
                      <a:pt x="4286250" y="0"/>
                    </a:lnTo>
                  </a:path>
                </a:pathLst>
              </a:custGeom>
              <a:noFill/>
              <a:ln w="9525">
                <a:solidFill>
                  <a:srgbClr val="E0E0E0"/>
                </a:solidFill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6953250" y="3643312"/>
                <a:ext cx="428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286250" h="9525">
                    <a:moveTo>
                      <a:pt x="0" y="0"/>
                    </a:moveTo>
                    <a:lnTo>
                      <a:pt x="4286250" y="0"/>
                    </a:lnTo>
                  </a:path>
                </a:pathLst>
              </a:custGeom>
              <a:noFill/>
              <a:ln w="9525">
                <a:solidFill>
                  <a:srgbClr val="E0E0E0"/>
                </a:solidFill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6953250" y="4191000"/>
                <a:ext cx="428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286250" h="9525">
                    <a:moveTo>
                      <a:pt x="0" y="0"/>
                    </a:moveTo>
                    <a:lnTo>
                      <a:pt x="4286250" y="0"/>
                    </a:lnTo>
                  </a:path>
                </a:pathLst>
              </a:custGeom>
              <a:noFill/>
              <a:ln w="9525">
                <a:solidFill>
                  <a:srgbClr val="E0E0E0"/>
                </a:solidFill>
              </a:ln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6689036" y="1949291"/>
              <a:ext cx="192777" cy="2352675"/>
              <a:chOff x="6689036" y="1949291"/>
              <a:chExt cx="192777" cy="2352675"/>
            </a:xfrm>
          </p:grpSpPr>
          <p:sp>
            <p:nvSpPr>
              <p:cNvPr id="41" name="TextBox 41"/>
              <p:cNvSpPr txBox="1"/>
              <p:nvPr/>
            </p:nvSpPr>
            <p:spPr>
              <a:xfrm>
                <a:off x="6689036" y="1949291"/>
                <a:ext cx="192776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820" dirty="0">
                    <a:solidFill>
                      <a:srgbClr val="A39F9C"/>
                    </a:solidFill>
                    <a:latin typeface="Consolas"/>
                    <a:ea typeface="Consolas"/>
                    <a:cs typeface="Consolas"/>
                  </a:rPr>
                  <a:t>20k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689036" y="2496979"/>
                <a:ext cx="192776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820" dirty="0">
                    <a:solidFill>
                      <a:srgbClr val="A39F9C"/>
                    </a:solidFill>
                    <a:latin typeface="Consolas"/>
                    <a:ea typeface="Consolas"/>
                    <a:cs typeface="Consolas"/>
                  </a:rPr>
                  <a:t>15k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689036" y="3044666"/>
                <a:ext cx="192776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820" dirty="0">
                    <a:solidFill>
                      <a:srgbClr val="A39F9C"/>
                    </a:solidFill>
                    <a:latin typeface="Consolas"/>
                    <a:ea typeface="Consolas"/>
                    <a:cs typeface="Consolas"/>
                  </a:rPr>
                  <a:t>10k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50120" y="3592354"/>
                <a:ext cx="13169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820" dirty="0">
                    <a:solidFill>
                      <a:srgbClr val="A39F9C"/>
                    </a:solidFill>
                    <a:latin typeface="Consolas"/>
                    <a:ea typeface="Consolas"/>
                    <a:cs typeface="Consolas"/>
                  </a:rPr>
                  <a:t>5k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811204" y="4140041"/>
                <a:ext cx="7060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820" dirty="0">
                    <a:solidFill>
                      <a:srgbClr val="A39F9C"/>
                    </a:solidFill>
                    <a:latin typeface="Consolas"/>
                    <a:ea typeface="Consolas"/>
                    <a:cs typeface="Consolas"/>
                  </a:rPr>
                  <a:t>0</a:t>
                </a:r>
              </a:p>
            </p:txBody>
          </p:sp>
        </p:grpSp>
        <p:sp>
          <p:nvSpPr>
            <p:cNvPr id="47" name="Freeform 47"/>
            <p:cNvSpPr/>
            <p:nvPr/>
          </p:nvSpPr>
          <p:spPr>
            <a:xfrm>
              <a:off x="6953250" y="2000250"/>
              <a:ext cx="4286250" cy="2190750"/>
            </a:xfrm>
            <a:custGeom>
              <a:avLst/>
              <a:gdLst/>
              <a:ahLst/>
              <a:cxnLst/>
              <a:rect l="l" t="t" r="r" b="b"/>
              <a:pathLst>
                <a:path w="4286250" h="2190750">
                  <a:moveTo>
                    <a:pt x="0" y="2135981"/>
                  </a:moveTo>
                  <a:lnTo>
                    <a:pt x="857250" y="1862138"/>
                  </a:lnTo>
                  <a:lnTo>
                    <a:pt x="1714500" y="1533525"/>
                  </a:lnTo>
                  <a:lnTo>
                    <a:pt x="2571750" y="1150144"/>
                  </a:lnTo>
                  <a:lnTo>
                    <a:pt x="3429000" y="657225"/>
                  </a:lnTo>
                  <a:lnTo>
                    <a:pt x="3514725" y="438150"/>
                  </a:lnTo>
                  <a:lnTo>
                    <a:pt x="4286250" y="0"/>
                  </a:lnTo>
                  <a:lnTo>
                    <a:pt x="4286250" y="2190750"/>
                  </a:lnTo>
                  <a:lnTo>
                    <a:pt x="0" y="2190750"/>
                  </a:lnTo>
                  <a:close/>
                </a:path>
              </a:pathLst>
            </a:custGeom>
            <a:gradFill>
              <a:gsLst>
                <a:gs pos="0">
                  <a:srgbClr val="0F5EE1">
                    <a:alpha val="24000"/>
                  </a:srgbClr>
                </a:gs>
                <a:gs pos="100000">
                  <a:srgbClr val="0F5EE1">
                    <a:alpha val="2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8" name="Polyline 48"/>
            <p:cNvSpPr/>
            <p:nvPr/>
          </p:nvSpPr>
          <p:spPr>
            <a:xfrm>
              <a:off x="6953250" y="2000250"/>
              <a:ext cx="4286250" cy="2135981"/>
            </a:xfrm>
            <a:custGeom>
              <a:avLst/>
              <a:gdLst/>
              <a:ahLst/>
              <a:cxnLst/>
              <a:rect l="l" t="t" r="r" b="b"/>
              <a:pathLst>
                <a:path w="4286250" h="2135981">
                  <a:moveTo>
                    <a:pt x="0" y="2135981"/>
                  </a:moveTo>
                  <a:lnTo>
                    <a:pt x="857250" y="1862138"/>
                  </a:lnTo>
                  <a:lnTo>
                    <a:pt x="1714500" y="1533525"/>
                  </a:lnTo>
                  <a:lnTo>
                    <a:pt x="2571750" y="1150144"/>
                  </a:lnTo>
                  <a:lnTo>
                    <a:pt x="3429000" y="657225"/>
                  </a:lnTo>
                  <a:lnTo>
                    <a:pt x="3514725" y="438150"/>
                  </a:lnTo>
                  <a:lnTo>
                    <a:pt x="4286250" y="0"/>
                  </a:lnTo>
                </a:path>
              </a:pathLst>
            </a:custGeom>
            <a:noFill/>
            <a:ln w="23812">
              <a:solidFill>
                <a:srgbClr val="0F5EE1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6910388" y="4093369"/>
              <a:ext cx="85725" cy="85725"/>
            </a:xfrm>
            <a:prstGeom prst="ellipse">
              <a:avLst/>
            </a:prstGeom>
            <a:solidFill>
              <a:srgbClr val="0F5EE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24497" y="3971449"/>
              <a:ext cx="3708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F5EE1"/>
                  </a:solidFill>
                  <a:latin typeface="Roche Sans Medium"/>
                  <a:ea typeface="Roche Sans Medium"/>
                  <a:cs typeface="Roche Sans Medium"/>
                </a:rPr>
                <a:t>~0.5k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11191875" y="1952625"/>
              <a:ext cx="95250" cy="95250"/>
            </a:xfrm>
            <a:prstGeom prst="ellipse">
              <a:avLst/>
            </a:prstGeom>
            <a:solidFill>
              <a:srgbClr val="0F5EE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279190" y="2050256"/>
              <a:ext cx="889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~20k tokens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83908" y="4311491"/>
              <a:ext cx="28249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the model chooses to think longer — no one told it to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71500" y="4762500"/>
            <a:ext cx="11049000" cy="1333500"/>
            <a:chOff x="571500" y="4762500"/>
            <a:chExt cx="11049000" cy="1333500"/>
          </a:xfrm>
        </p:grpSpPr>
        <p:sp>
          <p:nvSpPr>
            <p:cNvPr id="55" name="Rectangle 55"/>
            <p:cNvSpPr/>
            <p:nvPr/>
          </p:nvSpPr>
          <p:spPr>
            <a:xfrm>
              <a:off x="571500" y="4762500"/>
              <a:ext cx="11049000" cy="1333500"/>
            </a:xfrm>
            <a:prstGeom prst="roundRect">
              <a:avLst>
                <a:gd name="adj" fmla="val 8571"/>
              </a:avLst>
            </a:prstGeom>
            <a:solidFill>
              <a:srgbClr val="F5F7FA"/>
            </a:solidFill>
            <a:ln w="9525">
              <a:solidFill>
                <a:srgbClr val="E0E0E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71500" y="4762500"/>
              <a:ext cx="47625" cy="1333500"/>
            </a:xfrm>
            <a:prstGeom prst="roundRect">
              <a:avLst>
                <a:gd name="adj" fmla="val 50000"/>
              </a:avLst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47547" y="4962049"/>
              <a:ext cx="34492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WHAT EMERGED — WITH NO EXPLICIT TEACHING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1019175" y="5309235"/>
              <a:ext cx="1155611" cy="558546"/>
              <a:chOff x="1019175" y="5309235"/>
              <a:chExt cx="1155611" cy="558546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1019175" y="5343525"/>
                <a:ext cx="95250" cy="95250"/>
              </a:xfrm>
              <a:prstGeom prst="ellipse">
                <a:avLst/>
              </a:prstGeom>
              <a:solidFill>
                <a:srgbClr val="0B41CD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1213104" y="5309235"/>
                <a:ext cx="824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0B41CD"/>
                    </a:solidFill>
                    <a:latin typeface="Roche Sans Medium"/>
                    <a:ea typeface="Roche Sans Medium"/>
                    <a:cs typeface="Roche Sans Medium"/>
                  </a:rPr>
                  <a:t>Reflection</a:t>
                </a:r>
              </a:p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1019175" y="5667375"/>
                <a:ext cx="95250" cy="95250"/>
              </a:xfrm>
              <a:prstGeom prst="ellipse">
                <a:avLst/>
              </a:prstGeom>
              <a:solidFill>
                <a:srgbClr val="0F5EE1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1213104" y="5633085"/>
                <a:ext cx="9616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0B41CD"/>
                    </a:solidFill>
                    <a:latin typeface="Roche Sans Medium"/>
                    <a:ea typeface="Roche Sans Medium"/>
                    <a:cs typeface="Roche Sans Medium"/>
                  </a:rPr>
                  <a:t>Verification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3686175" y="5309235"/>
              <a:ext cx="2408094" cy="558546"/>
              <a:chOff x="3686175" y="5309235"/>
              <a:chExt cx="2408094" cy="558546"/>
            </a:xfrm>
          </p:grpSpPr>
          <p:sp>
            <p:nvSpPr>
              <p:cNvPr id="63" name="Ellipse 63"/>
              <p:cNvSpPr/>
              <p:nvPr/>
            </p:nvSpPr>
            <p:spPr>
              <a:xfrm>
                <a:off x="3686175" y="5343525"/>
                <a:ext cx="95250" cy="95250"/>
              </a:xfrm>
              <a:prstGeom prst="ellipse">
                <a:avLst/>
              </a:prstGeom>
              <a:solidFill>
                <a:srgbClr val="1482FA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3880104" y="5309235"/>
                <a:ext cx="193974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0B41CD"/>
                    </a:solidFill>
                    <a:latin typeface="Roche Sans Medium"/>
                    <a:ea typeface="Roche Sans Medium"/>
                    <a:cs typeface="Roche Sans Medium"/>
                  </a:rPr>
                  <a:t>Alternative-path search</a:t>
                </a:r>
              </a:p>
            </p:txBody>
          </p:sp>
          <p:sp>
            <p:nvSpPr>
              <p:cNvPr id="65" name="Ellipse 65"/>
              <p:cNvSpPr/>
              <p:nvPr/>
            </p:nvSpPr>
            <p:spPr>
              <a:xfrm>
                <a:off x="3686175" y="5667375"/>
                <a:ext cx="95250" cy="95250"/>
              </a:xfrm>
              <a:prstGeom prst="ellipse">
                <a:avLst/>
              </a:prstGeom>
              <a:solidFill>
                <a:srgbClr val="5FAAFC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3880104" y="5633085"/>
                <a:ext cx="221416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0B41CD"/>
                    </a:solidFill>
                    <a:latin typeface="Roche Sans Medium"/>
                    <a:ea typeface="Roche Sans Medium"/>
                    <a:cs typeface="Roche Sans Medium"/>
                  </a:rPr>
                  <a:t>Longer deliberate reasoning</a:t>
                </a:r>
              </a:p>
            </p:txBody>
          </p:sp>
        </p:grpSp>
        <p:sp>
          <p:nvSpPr>
            <p:cNvPr id="68" name="Line 68"/>
            <p:cNvSpPr/>
            <p:nvPr/>
          </p:nvSpPr>
          <p:spPr>
            <a:xfrm>
              <a:off x="7239000" y="52578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536561" y="5237321"/>
              <a:ext cx="18245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A sharp jump at the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36561" y="5484971"/>
              <a:ext cx="24699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8.2k step</a:t>
              </a:r>
              <a:r>
                <a:rPr lang="en-US" sz="142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 xml:space="preserve"> in both curves —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38466" y="5773102"/>
              <a:ext cx="2717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accuracy and thinking time rise as one.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66738" y="6521291"/>
            <a:ext cx="11058525" cy="161925"/>
            <a:chOff x="566738" y="6521291"/>
            <a:chExt cx="11058525" cy="161925"/>
          </a:xfrm>
        </p:grpSpPr>
        <p:sp>
          <p:nvSpPr>
            <p:cNvPr id="73" name="TextBox 73"/>
            <p:cNvSpPr txBox="1"/>
            <p:nvPr/>
          </p:nvSpPr>
          <p:spPr>
            <a:xfrm>
              <a:off x="566738" y="6521291"/>
              <a:ext cx="60845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Source: DeepSeek-AI 2026, §2.3, Figure 1 (a) accuracy, (b) response length — curves stylized as native vector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04800"/>
            <a:ext cx="800100" cy="416242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571500" y="533400"/>
            <a:ext cx="8664805" cy="656939"/>
            <a:chOff x="571500" y="533400"/>
            <a:chExt cx="8664805" cy="656939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7146" y="581978"/>
              <a:ext cx="84491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The "aha moment" — reasoning it was never taught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95147" y="999649"/>
              <a:ext cx="35900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EMERGENT SELF-REFLECTION · §2.3 · TABLE 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04850" y="1643062"/>
            <a:ext cx="4830223" cy="2982849"/>
            <a:chOff x="704850" y="1643062"/>
            <a:chExt cx="4830223" cy="2982849"/>
          </a:xfrm>
        </p:grpSpPr>
        <p:sp>
          <p:nvSpPr>
            <p:cNvPr id="7" name="TextBox 7"/>
            <p:cNvSpPr txBox="1"/>
            <p:nvPr/>
          </p:nvSpPr>
          <p:spPr>
            <a:xfrm>
              <a:off x="704850" y="1643062"/>
              <a:ext cx="918210" cy="2162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50" dirty="0">
                  <a:solidFill>
                    <a:srgbClr val="95C7FD"/>
                  </a:solidFill>
                  <a:latin typeface="Roche Serif Light"/>
                  <a:ea typeface="Roche Serif Light"/>
                  <a:cs typeface="Roche Serif Light"/>
                </a:rPr>
                <a:t>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9160" y="2400300"/>
              <a:ext cx="387553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i="1" dirty="0">
                  <a:solidFill>
                    <a:srgbClr val="0B41CD"/>
                  </a:solidFill>
                  <a:latin typeface="Roche Serif Light"/>
                  <a:ea typeface="Roche Serif Light"/>
                  <a:cs typeface="Roche Serif Light"/>
                </a:rPr>
                <a:t>Wait, wait. Wait.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9160" y="2895600"/>
              <a:ext cx="463591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i="1" dirty="0">
                  <a:solidFill>
                    <a:srgbClr val="0B41CD"/>
                  </a:solidFill>
                  <a:latin typeface="Roche Serif Light"/>
                  <a:ea typeface="Roche Serif Light"/>
                  <a:cs typeface="Roche Serif Light"/>
                </a:rPr>
                <a:t>That's an aha moment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9160" y="3390900"/>
              <a:ext cx="330974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i="1" dirty="0">
                  <a:solidFill>
                    <a:srgbClr val="0B41CD"/>
                  </a:solidFill>
                  <a:latin typeface="Roche Serif Light"/>
                  <a:ea typeface="Roche Serif Light"/>
                  <a:cs typeface="Roche Serif Light"/>
                </a:rPr>
                <a:t>I can flag here.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33450" y="3981450"/>
              <a:ext cx="66675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B41CD"/>
                </a:gs>
                <a:gs pos="100000">
                  <a:srgbClr val="1482F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8116" y="4191952"/>
              <a:ext cx="24102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An intermediate DeepSeek-R1-Zero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8116" y="4420552"/>
              <a:ext cx="39402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mid-derivation, solving for the real roots of an equation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667500" y="1562100"/>
            <a:ext cx="4953000" cy="3200400"/>
            <a:chOff x="6667500" y="1562100"/>
            <a:chExt cx="4953000" cy="3200400"/>
          </a:xfrm>
        </p:grpSpPr>
        <p:sp>
          <p:nvSpPr>
            <p:cNvPr id="15" name="Rectangle 15"/>
            <p:cNvSpPr/>
            <p:nvPr/>
          </p:nvSpPr>
          <p:spPr>
            <a:xfrm>
              <a:off x="6667500" y="1562100"/>
              <a:ext cx="4953000" cy="3200400"/>
            </a:xfrm>
            <a:prstGeom prst="roundRect">
              <a:avLst>
                <a:gd name="adj" fmla="val 3571"/>
              </a:avLst>
            </a:prstGeom>
            <a:solidFill>
              <a:srgbClr val="0B41C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10388" y="1769745"/>
              <a:ext cx="1761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rgbClr val="FFFFFF">
                      <a:alphaMod val="85000"/>
                    </a:srgbClr>
                  </a:solidFill>
                  <a:latin typeface="Roche Sans Medium"/>
                  <a:ea typeface="Roche Sans Medium"/>
                  <a:cs typeface="Roche Sans Medium"/>
                </a:rPr>
                <a:t>CoT EXCERPT · ABRIDGED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6910197" y="2104549"/>
              <a:ext cx="2313422" cy="876490"/>
              <a:chOff x="6910197" y="2104549"/>
              <a:chExt cx="2313422" cy="876490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910197" y="2104549"/>
                <a:ext cx="48242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FFFFFF">
                        <a:alphaMod val="90000"/>
                      </a:srgbClr>
                    </a:solidFill>
                    <a:latin typeface="Consolas"/>
                    <a:ea typeface="Consolas"/>
                    <a:cs typeface="Consolas"/>
                  </a:rPr>
                  <a:t>&lt;think&gt;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910197" y="2333149"/>
                <a:ext cx="231342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FFFFFF">
                        <a:alphaMod val="90000"/>
                      </a:srgbClr>
                    </a:solidFill>
                    <a:latin typeface="Consolas"/>
                    <a:ea typeface="Consolas"/>
                    <a:cs typeface="Consolas"/>
                  </a:rPr>
                  <a:t>square both sides, isolate the inner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910197" y="2561749"/>
                <a:ext cx="221498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FFFFFF">
                        <a:alphaMod val="90000"/>
                      </a:srgbClr>
                    </a:solidFill>
                    <a:latin typeface="Consolas"/>
                    <a:ea typeface="Consolas"/>
                    <a:cs typeface="Consolas"/>
                  </a:rPr>
                  <a:t>square-root term, rearrange to a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910197" y="2790349"/>
                <a:ext cx="100087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FFFFFF">
                        <a:alphaMod val="90000"/>
                      </a:srgbClr>
                    </a:solidFill>
                    <a:latin typeface="Consolas"/>
                    <a:ea typeface="Consolas"/>
                    <a:cs typeface="Consolas"/>
                  </a:rPr>
                  <a:t>quartic in x ...</a:t>
                </a:r>
              </a:p>
            </p:txBody>
          </p:sp>
        </p:grpSp>
        <p:sp>
          <p:nvSpPr>
            <p:cNvPr id="22" name="Rectangle 22"/>
            <p:cNvSpPr/>
            <p:nvPr/>
          </p:nvSpPr>
          <p:spPr>
            <a:xfrm>
              <a:off x="6781800" y="3105150"/>
              <a:ext cx="4724400" cy="762000"/>
            </a:xfrm>
            <a:prstGeom prst="roundRect">
              <a:avLst>
                <a:gd name="adj" fmla="val 10000"/>
              </a:avLst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04685" y="3269456"/>
              <a:ext cx="2519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Wait, wait. Wait. That's an aha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04685" y="3479006"/>
              <a:ext cx="18538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moment I can flag here.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05638" y="3674745"/>
              <a:ext cx="20631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FFFFFF">
                      <a:alphaMod val="85000"/>
                    </a:srgbClr>
                  </a:solidFill>
                  <a:latin typeface="Consolas"/>
                  <a:ea typeface="Consolas"/>
                  <a:cs typeface="Consolas"/>
                </a:rPr>
                <a:t>let's re-evaluate step by step ...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6910197" y="4047649"/>
              <a:ext cx="2300297" cy="647890"/>
              <a:chOff x="6910197" y="4047649"/>
              <a:chExt cx="2300297" cy="647890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6910197" y="4047649"/>
                <a:ext cx="23002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FFFFFF">
                        <a:alphaMod val="90000"/>
                      </a:srgbClr>
                    </a:solidFill>
                    <a:latin typeface="Consolas"/>
                    <a:ea typeface="Consolas"/>
                    <a:cs typeface="Consolas"/>
                  </a:rPr>
                  <a:t>restart from the original equation,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910197" y="4276249"/>
                <a:ext cx="216248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FFFFFF">
                        <a:alphaMod val="90000"/>
                      </a:srgbClr>
                    </a:solidFill>
                    <a:latin typeface="Consolas"/>
                    <a:ea typeface="Consolas"/>
                    <a:cs typeface="Consolas"/>
                  </a:rPr>
                  <a:t>square again, treat carefully ...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910197" y="4504849"/>
                <a:ext cx="55461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FFFFFF">
                        <a:alphaMod val="90000"/>
                      </a:srgbClr>
                    </a:solidFill>
                    <a:latin typeface="Consolas"/>
                    <a:ea typeface="Consolas"/>
                    <a:cs typeface="Consolas"/>
                  </a:rPr>
                  <a:t>&lt;/think&gt;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571500" y="4991100"/>
            <a:ext cx="11049000" cy="1143000"/>
            <a:chOff x="571500" y="4991100"/>
            <a:chExt cx="11049000" cy="1143000"/>
          </a:xfrm>
        </p:grpSpPr>
        <p:sp>
          <p:nvSpPr>
            <p:cNvPr id="31" name="Rectangle 31"/>
            <p:cNvSpPr/>
            <p:nvPr/>
          </p:nvSpPr>
          <p:spPr>
            <a:xfrm>
              <a:off x="571500" y="4991100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F5F7FA"/>
            </a:solidFill>
            <a:ln w="9525">
              <a:solidFill>
                <a:srgbClr val="E0E0E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71500" y="4991100"/>
              <a:ext cx="47625" cy="1143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B41CD"/>
                </a:gs>
                <a:gs pos="100000">
                  <a:srgbClr val="1482F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7547" y="5171599"/>
              <a:ext cx="12372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WHY IT MATTERS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4499" y="5411629"/>
              <a:ext cx="637849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No one rewarded the pause. RL scores only the final answer 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4499" y="5678329"/>
              <a:ext cx="846525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 xml:space="preserve">yet the model </a:t>
              </a:r>
              <a:r>
                <a:rPr lang="en-US" sz="1580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discovered on its own</a:t>
              </a:r>
              <a:r>
                <a:rPr lang="en-US" sz="158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 xml:space="preserve"> that stopping to re-check its work pays off.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66738" y="6521291"/>
            <a:ext cx="11058525" cy="161925"/>
            <a:chOff x="566738" y="6521291"/>
            <a:chExt cx="11058525" cy="161925"/>
          </a:xfrm>
        </p:grpSpPr>
        <p:sp>
          <p:nvSpPr>
            <p:cNvPr id="37" name="TextBox 37"/>
            <p:cNvSpPr txBox="1"/>
            <p:nvPr/>
          </p:nvSpPr>
          <p:spPr>
            <a:xfrm>
              <a:off x="566738" y="6521291"/>
              <a:ext cx="5851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Source: DeepSeek-AI 2026, §2.3, Table 2 (an "aha moment" of an intermediate R1-Zero) — excerpt abridged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04800"/>
            <a:ext cx="800100" cy="416242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571500" y="533400"/>
            <a:ext cx="7308079" cy="656939"/>
            <a:chOff x="571500" y="533400"/>
            <a:chExt cx="7308079" cy="656939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7146" y="581978"/>
              <a:ext cx="70924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Strong at reasoning, not yet ready to use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95147" y="999649"/>
              <a:ext cx="44157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FROM R1-ZERO TO R1 · §3 · WHY A PIPELINE WAS NEEDED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428750"/>
            <a:ext cx="5334000" cy="4686300"/>
            <a:chOff x="571500" y="1428750"/>
            <a:chExt cx="5334000" cy="468630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5334000" cy="4686300"/>
            </a:xfrm>
            <a:prstGeom prst="roundRect">
              <a:avLst>
                <a:gd name="adj" fmla="val 2439"/>
              </a:avLst>
            </a:prstGeom>
            <a:solidFill>
              <a:srgbClr val="F7F9FE"/>
            </a:solidFill>
            <a:ln w="9525">
              <a:solidFill>
                <a:srgbClr val="E0E0E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428750"/>
              <a:ext cx="47625" cy="4686300"/>
            </a:xfrm>
            <a:prstGeom prst="roundRect">
              <a:avLst>
                <a:gd name="adj" fmla="val 50000"/>
              </a:avLst>
            </a:prstGeom>
            <a:solidFill>
              <a:srgbClr val="D0021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9447" y="1666399"/>
              <a:ext cx="19754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D0021B"/>
                  </a:solidFill>
                  <a:latin typeface="Roche Sans Medium"/>
                  <a:ea typeface="Roche Sans Medium"/>
                  <a:cs typeface="Roche Sans Medium"/>
                </a:rPr>
                <a:t>WHAT HELD R1-ZERO BACK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2000250"/>
              <a:ext cx="4724400" cy="1162050"/>
            </a:xfrm>
            <a:prstGeom prst="roundRect">
              <a:avLst>
                <a:gd name="adj" fmla="val 8197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98042" y="2197418"/>
              <a:ext cx="1436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Poor readability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9185" y="2507456"/>
              <a:ext cx="3424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The chain-of-thought is effective but hard to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185" y="2717006"/>
              <a:ext cx="30555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follow — not written for a human reader.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76300" y="3295650"/>
              <a:ext cx="4724400" cy="1162050"/>
            </a:xfrm>
            <a:prstGeom prst="roundRect">
              <a:avLst>
                <a:gd name="adj" fmla="val 8197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98042" y="3492818"/>
              <a:ext cx="14187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Language mixing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9185" y="3802856"/>
              <a:ext cx="2936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English and Chinese blend within a single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185" y="4012406"/>
              <a:ext cx="28921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reasoning trace (V3-Base is bilingual).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6300" y="4591050"/>
              <a:ext cx="4724400" cy="1162050"/>
            </a:xfrm>
            <a:prstGeom prst="roundRect">
              <a:avLst>
                <a:gd name="adj" fmla="val 8197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8042" y="4788218"/>
              <a:ext cx="17463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Narrow competence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9185" y="5098256"/>
              <a:ext cx="34270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Rule-based RL targets verifiable tasks — weak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185" y="5307806"/>
              <a:ext cx="355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on writing and open-domain question answering.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86500" y="1428750"/>
            <a:ext cx="5334000" cy="4686300"/>
            <a:chOff x="6286500" y="1428750"/>
            <a:chExt cx="5334000" cy="46863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428750"/>
              <a:ext cx="5334000" cy="4686300"/>
            </a:xfrm>
            <a:prstGeom prst="roundRect">
              <a:avLst>
                <a:gd name="adj" fmla="val 2439"/>
              </a:avLst>
            </a:prstGeom>
            <a:solidFill>
              <a:srgbClr val="FFFFFF"/>
            </a:solidFill>
            <a:ln w="14288">
              <a:solidFill>
                <a:srgbClr val="0B41CD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428750"/>
              <a:ext cx="47625" cy="46863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B41CD"/>
                </a:gs>
                <a:gs pos="100000">
                  <a:srgbClr val="1482F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24447" y="1666399"/>
              <a:ext cx="16709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THE DESIGN RESPONSE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19494" y="1980248"/>
              <a:ext cx="323148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Keep the reasoning core.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19494" y="2304098"/>
              <a:ext cx="33495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Wrap alignment around it.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23685" y="2755106"/>
              <a:ext cx="35915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R1 surrounds R1-Zero's RL with a human-aligned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23685" y="2964656"/>
              <a:ext cx="3673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cold start and alternating SFT / RL stages — so it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23685" y="3174206"/>
              <a:ext cx="34417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stays a top reasoner while becoming readable,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23685" y="3383756"/>
              <a:ext cx="30782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language-consistent and broadly capable.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24638" y="3865245"/>
              <a:ext cx="9376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FOUR STAGES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629400" y="4114800"/>
              <a:ext cx="2286000" cy="685800"/>
            </a:xfrm>
            <a:prstGeom prst="roundRect">
              <a:avLst>
                <a:gd name="adj" fmla="val 13889"/>
              </a:avLst>
            </a:prstGeom>
            <a:solidFill>
              <a:srgbClr val="E9EEF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76085" y="4279106"/>
              <a:ext cx="1032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1 · Cold start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77038" y="4531995"/>
              <a:ext cx="13562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human-aligned long CoT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029700" y="4114800"/>
              <a:ext cx="2286000" cy="685800"/>
            </a:xfrm>
            <a:prstGeom prst="roundRect">
              <a:avLst>
                <a:gd name="adj" fmla="val 13889"/>
              </a:avLst>
            </a:prstGeom>
            <a:solidFill>
              <a:srgbClr val="E9EE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176385" y="4279106"/>
              <a:ext cx="12109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2 · Reasoning RL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77338" y="4531995"/>
              <a:ext cx="14149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rules + language reward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629400" y="4914900"/>
              <a:ext cx="2286000" cy="685800"/>
            </a:xfrm>
            <a:prstGeom prst="roundRect">
              <a:avLst>
                <a:gd name="adj" fmla="val 13889"/>
              </a:avLst>
            </a:prstGeom>
            <a:solidFill>
              <a:srgbClr val="F0F4F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76085" y="5079206"/>
              <a:ext cx="1756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3 · Reject-sample + SFT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77038" y="5332095"/>
              <a:ext cx="13846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add non-reasoning data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029700" y="4914900"/>
              <a:ext cx="2286000" cy="685800"/>
            </a:xfrm>
            <a:prstGeom prst="roundRect">
              <a:avLst>
                <a:gd name="adj" fmla="val 13889"/>
              </a:avLst>
            </a:prstGeom>
            <a:solidFill>
              <a:srgbClr val="F0F4F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176385" y="5079206"/>
              <a:ext cx="13845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4 · All-scenario RL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77338" y="53320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helpfulness + safety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24066" y="5754052"/>
              <a:ext cx="2665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rgbClr val="706B69"/>
                  </a:solidFill>
                  <a:latin typeface="Roche Serif Light"/>
                  <a:ea typeface="Roche Serif Light"/>
                  <a:cs typeface="Roche Serif Light"/>
                </a:rPr>
                <a:t>The full pipeline is on the next page.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66738" y="6521291"/>
            <a:ext cx="11058525" cy="161925"/>
            <a:chOff x="566738" y="6521291"/>
            <a:chExt cx="11058525" cy="161925"/>
          </a:xfrm>
        </p:grpSpPr>
        <p:sp>
          <p:nvSpPr>
            <p:cNvPr id="47" name="TextBox 47"/>
            <p:cNvSpPr txBox="1"/>
            <p:nvPr/>
          </p:nvSpPr>
          <p:spPr>
            <a:xfrm>
              <a:off x="566738" y="6521291"/>
              <a:ext cx="24801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Source: DeepSeek-AI 2026, §3 (DeepSeek-R1)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04800"/>
            <a:ext cx="800100" cy="416242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571500" y="533400"/>
            <a:ext cx="5693178" cy="656939"/>
            <a:chOff x="571500" y="533400"/>
            <a:chExt cx="5693178" cy="656939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7146" y="581978"/>
              <a:ext cx="54775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The multi-stage training pipeline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95147" y="999649"/>
              <a:ext cx="34908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DEEPSEEK-R1 · §3 · REDRAWN FROM FIGURE 2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571500" y="1905000"/>
            <a:ext cx="1238250" cy="2190750"/>
          </a:xfrm>
          <a:prstGeom prst="roundRect">
            <a:avLst>
              <a:gd name="adj" fmla="val 7692"/>
            </a:avLst>
          </a:prstGeom>
          <a:gradFill>
            <a:gsLst>
              <a:gs pos="0">
                <a:srgbClr val="333333"/>
              </a:gs>
              <a:gs pos="100000">
                <a:srgbClr val="5A5A5A"/>
              </a:gs>
            </a:gsLst>
            <a:lin ang="540000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47011" y="2736056"/>
            <a:ext cx="6872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FFFFFF"/>
                </a:solidFill>
                <a:latin typeface="Roche Sans Medium"/>
                <a:ea typeface="Roche Sans Medium"/>
                <a:cs typeface="Roche Sans Medium"/>
              </a:rPr>
              <a:t>DeepSeek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6773" y="2945606"/>
            <a:ext cx="6077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FFFFFF"/>
                </a:solidFill>
                <a:latin typeface="Roche Sans Medium"/>
                <a:ea typeface="Roche Sans Medium"/>
                <a:cs typeface="Roche Sans Medium"/>
              </a:rPr>
              <a:t>V3-Base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9952" y="3225641"/>
            <a:ext cx="8613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820" dirty="0">
                <a:solidFill>
                  <a:srgbClr val="FFFFFF">
                    <a:alphaMod val="85000"/>
                  </a:srgbClr>
                </a:solidFill>
                <a:latin typeface="Roche Sans"/>
                <a:ea typeface="Roche Sans"/>
                <a:cs typeface="Roche Sans"/>
              </a:rPr>
              <a:t>671B / 37B act.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0382250" y="1905000"/>
            <a:ext cx="1238250" cy="2190750"/>
          </a:xfrm>
          <a:prstGeom prst="roundRect">
            <a:avLst>
              <a:gd name="adj" fmla="val 7692"/>
            </a:avLst>
          </a:prstGeom>
          <a:gradFill>
            <a:gsLst>
              <a:gs pos="0">
                <a:srgbClr val="0B41CD"/>
              </a:gs>
              <a:gs pos="100000">
                <a:srgbClr val="1482FA"/>
              </a:gs>
            </a:gsLst>
            <a:lin ang="5400000" scaled="1"/>
          </a:gra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0634853" y="2804160"/>
            <a:ext cx="7330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Roche Sans Medium"/>
                <a:ea typeface="Roche Sans Medium"/>
                <a:cs typeface="Roche Sans Medium"/>
              </a:rPr>
              <a:t>DeepSeek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01401" y="3032760"/>
            <a:ext cx="1999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Roche Sans Medium"/>
                <a:ea typeface="Roche Sans Medium"/>
                <a:cs typeface="Roche Sans Medium"/>
              </a:rPr>
              <a:t>R1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2000250" y="1905000"/>
            <a:ext cx="1926736" cy="2190750"/>
            <a:chOff x="2000250" y="1905000"/>
            <a:chExt cx="1926736" cy="2190750"/>
          </a:xfrm>
        </p:grpSpPr>
        <p:sp>
          <p:nvSpPr>
            <p:cNvPr id="14" name="Rectangle 14"/>
            <p:cNvSpPr/>
            <p:nvPr/>
          </p:nvSpPr>
          <p:spPr>
            <a:xfrm>
              <a:off x="2000250" y="1905000"/>
              <a:ext cx="1905000" cy="219075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E0E0E0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000250" y="1905000"/>
              <a:ext cx="47625" cy="2190750"/>
            </a:xfrm>
            <a:prstGeom prst="roundRect">
              <a:avLst>
                <a:gd name="adj" fmla="val 50000"/>
              </a:avLst>
            </a:prstGeom>
            <a:solidFill>
              <a:srgbClr val="0B41CD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2200275" y="2124075"/>
              <a:ext cx="323850" cy="323850"/>
            </a:xfrm>
            <a:prstGeom prst="ellipse">
              <a:avLst/>
            </a:prstGeom>
            <a:solidFill>
              <a:srgbClr val="0B41C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314837" y="2221706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FFFFFF"/>
                  </a:solidFill>
                  <a:latin typeface="Roche Sans Medium"/>
                  <a:ea typeface="Roche Sans Medium"/>
                  <a:cs typeface="Roche Sans Medium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24138" y="2244566"/>
              <a:ext cx="3962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STAGE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21992" y="2673668"/>
              <a:ext cx="928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Cold start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23897" y="3095149"/>
              <a:ext cx="14408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Thousands of long-CoT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23897" y="3285649"/>
              <a:ext cx="17030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examples; a human-aligned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23897" y="3476149"/>
              <a:ext cx="9125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SFT warm-up.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24088" y="3808095"/>
              <a:ext cx="9312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i="1" dirty="0">
                  <a:solidFill>
                    <a:srgbClr val="1482FA"/>
                  </a:solidFill>
                  <a:latin typeface="Roche Serif Light"/>
                  <a:ea typeface="Roche Serif Light"/>
                  <a:cs typeface="Roche Serif Light"/>
                </a:rPr>
                <a:t>readable start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095750" y="1905000"/>
            <a:ext cx="1905000" cy="2190750"/>
            <a:chOff x="4095750" y="1905000"/>
            <a:chExt cx="1905000" cy="2190750"/>
          </a:xfrm>
        </p:grpSpPr>
        <p:sp>
          <p:nvSpPr>
            <p:cNvPr id="25" name="Rectangle 25"/>
            <p:cNvSpPr/>
            <p:nvPr/>
          </p:nvSpPr>
          <p:spPr>
            <a:xfrm>
              <a:off x="4095750" y="1905000"/>
              <a:ext cx="1905000" cy="219075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E0E0E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095750" y="1905000"/>
              <a:ext cx="47625" cy="2190750"/>
            </a:xfrm>
            <a:prstGeom prst="roundRect">
              <a:avLst>
                <a:gd name="adj" fmla="val 50000"/>
              </a:avLst>
            </a:prstGeom>
            <a:solidFill>
              <a:srgbClr val="0F5EE1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4295775" y="2124075"/>
              <a:ext cx="323850" cy="323850"/>
            </a:xfrm>
            <a:prstGeom prst="ellipse">
              <a:avLst/>
            </a:prstGeom>
            <a:solidFill>
              <a:srgbClr val="0F5EE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410337" y="2221706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FFFFFF"/>
                  </a:solidFill>
                  <a:latin typeface="Roche Sans Medium"/>
                  <a:ea typeface="Roche Sans Medium"/>
                  <a:cs typeface="Roche Sans Medium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19638" y="2244566"/>
              <a:ext cx="3962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STAGE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17492" y="2673668"/>
              <a:ext cx="1139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Reasoning RL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19397" y="3095149"/>
              <a:ext cx="16426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GRPO rule-based rewards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19397" y="3285649"/>
              <a:ext cx="14668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on math / code / logic,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19397" y="3476149"/>
              <a:ext cx="15390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+ language consistency.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19588" y="3808095"/>
              <a:ext cx="11424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i="1" dirty="0">
                  <a:solidFill>
                    <a:srgbClr val="1482FA"/>
                  </a:solidFill>
                  <a:latin typeface="Roche Serif Light"/>
                  <a:ea typeface="Roche Serif Light"/>
                  <a:cs typeface="Roche Serif Light"/>
                </a:rPr>
                <a:t>sharpen reasoning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191250" y="1905000"/>
            <a:ext cx="1916409" cy="2190750"/>
            <a:chOff x="6191250" y="1905000"/>
            <a:chExt cx="1916409" cy="2190750"/>
          </a:xfrm>
        </p:grpSpPr>
        <p:sp>
          <p:nvSpPr>
            <p:cNvPr id="36" name="Rectangle 36"/>
            <p:cNvSpPr/>
            <p:nvPr/>
          </p:nvSpPr>
          <p:spPr>
            <a:xfrm>
              <a:off x="6191250" y="1905000"/>
              <a:ext cx="1905000" cy="219075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E0E0E0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191250" y="1905000"/>
              <a:ext cx="47625" cy="2190750"/>
            </a:xfrm>
            <a:prstGeom prst="roundRect">
              <a:avLst>
                <a:gd name="adj" fmla="val 50000"/>
              </a:avLst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391275" y="2124075"/>
              <a:ext cx="323850" cy="323850"/>
            </a:xfrm>
            <a:prstGeom prst="ellipse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05837" y="2221706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FFFFFF"/>
                  </a:solidFill>
                  <a:latin typeface="Roche Sans Medium"/>
                  <a:ea typeface="Roche Sans Medium"/>
                  <a:cs typeface="Roche Sans Medium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15138" y="2244566"/>
              <a:ext cx="3962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STAGE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13373" y="2681764"/>
              <a:ext cx="16942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Reject-sample + SFT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14897" y="3095149"/>
              <a:ext cx="15106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Filter best traces, add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14897" y="3285649"/>
              <a:ext cx="12436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non-reasoning data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14897" y="3476149"/>
              <a:ext cx="986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(writing, QA).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15088" y="3808095"/>
              <a:ext cx="86723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i="1" dirty="0">
                  <a:solidFill>
                    <a:srgbClr val="1482FA"/>
                  </a:solidFill>
                  <a:latin typeface="Roche Serif Light"/>
                  <a:ea typeface="Roche Serif Light"/>
                  <a:cs typeface="Roche Serif Light"/>
                </a:rPr>
                <a:t>broaden skills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286750" y="1905000"/>
            <a:ext cx="1976955" cy="2190750"/>
            <a:chOff x="8286750" y="1905000"/>
            <a:chExt cx="1976955" cy="2190750"/>
          </a:xfrm>
        </p:grpSpPr>
        <p:sp>
          <p:nvSpPr>
            <p:cNvPr id="47" name="Rectangle 47"/>
            <p:cNvSpPr/>
            <p:nvPr/>
          </p:nvSpPr>
          <p:spPr>
            <a:xfrm>
              <a:off x="8286750" y="1905000"/>
              <a:ext cx="1905000" cy="219075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E0E0E0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286750" y="1905000"/>
              <a:ext cx="47625" cy="2190750"/>
            </a:xfrm>
            <a:prstGeom prst="roundRect">
              <a:avLst>
                <a:gd name="adj" fmla="val 50000"/>
              </a:avLst>
            </a:prstGeom>
            <a:solidFill>
              <a:srgbClr val="5FAAFC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8486775" y="2124075"/>
              <a:ext cx="323850" cy="323850"/>
            </a:xfrm>
            <a:prstGeom prst="ellipse">
              <a:avLst/>
            </a:prstGeom>
            <a:solidFill>
              <a:srgbClr val="5FAAFC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601337" y="2221706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FFFFFF"/>
                  </a:solidFill>
                  <a:latin typeface="Roche Sans Medium"/>
                  <a:ea typeface="Roche Sans Medium"/>
                  <a:cs typeface="Roche Sans Medium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10638" y="2244566"/>
              <a:ext cx="3962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STAGE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08873" y="2681764"/>
              <a:ext cx="12736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All-scenario RL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10397" y="3095149"/>
              <a:ext cx="1753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Rule rewards for reasoning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10397" y="3285649"/>
              <a:ext cx="16702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+ preference rewards for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10397" y="3476149"/>
              <a:ext cx="13946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helpfulness &amp; safety.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10588" y="3808095"/>
              <a:ext cx="10656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i="1" dirty="0">
                  <a:solidFill>
                    <a:srgbClr val="1482FA"/>
                  </a:solidFill>
                  <a:latin typeface="Roche Serif Light"/>
                  <a:ea typeface="Roche Serif Light"/>
                  <a:cs typeface="Roche Serif Light"/>
                </a:rPr>
                <a:t>align everywhere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809750" y="3000375"/>
            <a:ext cx="8553450" cy="1"/>
            <a:chOff x="1809750" y="3000375"/>
            <a:chExt cx="8553450" cy="1"/>
          </a:xfrm>
        </p:grpSpPr>
        <p:sp>
          <p:nvSpPr>
            <p:cNvPr id="58" name="Line 58"/>
            <p:cNvSpPr/>
            <p:nvPr/>
          </p:nvSpPr>
          <p:spPr>
            <a:xfrm>
              <a:off x="1809750" y="3000375"/>
              <a:ext cx="171450" cy="1"/>
            </a:xfrm>
            <a:prstGeom prst="line">
              <a:avLst/>
            </a:prstGeom>
            <a:noFill/>
            <a:ln w="17145">
              <a:solidFill>
                <a:srgbClr val="0B41CD"/>
              </a:solidFill>
              <a:tailEnd type="triangle" w="lg" len="lg"/>
            </a:ln>
          </p:spPr>
        </p:sp>
        <p:sp>
          <p:nvSpPr>
            <p:cNvPr id="59" name="Line 59"/>
            <p:cNvSpPr/>
            <p:nvPr/>
          </p:nvSpPr>
          <p:spPr>
            <a:xfrm>
              <a:off x="3905250" y="3000375"/>
              <a:ext cx="171450" cy="1"/>
            </a:xfrm>
            <a:prstGeom prst="line">
              <a:avLst/>
            </a:prstGeom>
            <a:noFill/>
            <a:ln w="17145">
              <a:solidFill>
                <a:srgbClr val="0B41CD"/>
              </a:solidFill>
              <a:tailEnd type="triangle" w="lg" len="lg"/>
            </a:ln>
          </p:spPr>
        </p:sp>
        <p:sp>
          <p:nvSpPr>
            <p:cNvPr id="60" name="Line 60"/>
            <p:cNvSpPr/>
            <p:nvPr/>
          </p:nvSpPr>
          <p:spPr>
            <a:xfrm>
              <a:off x="6000750" y="3000375"/>
              <a:ext cx="171450" cy="1"/>
            </a:xfrm>
            <a:prstGeom prst="line">
              <a:avLst/>
            </a:prstGeom>
            <a:noFill/>
            <a:ln w="17145">
              <a:solidFill>
                <a:srgbClr val="0B41CD"/>
              </a:solidFill>
              <a:tailEnd type="triangle" w="lg" len="lg"/>
            </a:ln>
          </p:spPr>
        </p:sp>
        <p:sp>
          <p:nvSpPr>
            <p:cNvPr id="61" name="Line 61"/>
            <p:cNvSpPr/>
            <p:nvPr/>
          </p:nvSpPr>
          <p:spPr>
            <a:xfrm>
              <a:off x="8096250" y="3000375"/>
              <a:ext cx="171450" cy="1"/>
            </a:xfrm>
            <a:prstGeom prst="line">
              <a:avLst/>
            </a:prstGeom>
            <a:noFill/>
            <a:ln w="17145">
              <a:solidFill>
                <a:srgbClr val="0B41CD"/>
              </a:solidFill>
              <a:tailEnd type="triangle" w="lg" len="lg"/>
            </a:ln>
          </p:spPr>
        </p:sp>
        <p:sp>
          <p:nvSpPr>
            <p:cNvPr id="62" name="Line 62"/>
            <p:cNvSpPr/>
            <p:nvPr/>
          </p:nvSpPr>
          <p:spPr>
            <a:xfrm>
              <a:off x="10191750" y="3000375"/>
              <a:ext cx="171450" cy="1"/>
            </a:xfrm>
            <a:prstGeom prst="line">
              <a:avLst/>
            </a:prstGeom>
            <a:noFill/>
            <a:ln w="17145">
              <a:solidFill>
                <a:srgbClr val="0B41CD"/>
              </a:solidFill>
              <a:tailEnd type="triangle" w="lg" len="lg"/>
            </a:ln>
          </p:spPr>
        </p:sp>
      </p:grpSp>
      <p:grpSp>
        <p:nvGrpSpPr>
          <p:cNvPr id="85" name="Group 85"/>
          <p:cNvGrpSpPr/>
          <p:nvPr/>
        </p:nvGrpSpPr>
        <p:grpSpPr>
          <a:xfrm>
            <a:off x="571500" y="4476750"/>
            <a:ext cx="11049000" cy="1638300"/>
            <a:chOff x="571500" y="4476750"/>
            <a:chExt cx="11049000" cy="1638300"/>
          </a:xfrm>
        </p:grpSpPr>
        <p:sp>
          <p:nvSpPr>
            <p:cNvPr id="64" name="Rectangle 64"/>
            <p:cNvSpPr/>
            <p:nvPr/>
          </p:nvSpPr>
          <p:spPr>
            <a:xfrm>
              <a:off x="571500" y="4476750"/>
              <a:ext cx="11049000" cy="1638300"/>
            </a:xfrm>
            <a:prstGeom prst="roundRect">
              <a:avLst>
                <a:gd name="adj" fmla="val 6977"/>
              </a:avLst>
            </a:prstGeom>
            <a:solidFill>
              <a:srgbClr val="F5F7FA"/>
            </a:solidFill>
            <a:ln w="9525">
              <a:solidFill>
                <a:srgbClr val="E0E0E0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571500" y="4476750"/>
              <a:ext cx="47625" cy="16383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B41CD"/>
                </a:gs>
                <a:gs pos="100000">
                  <a:srgbClr val="1482F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47547" y="4676299"/>
              <a:ext cx="21253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INTERMEDIATE CHECKPOINTS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1428750" y="5334000"/>
              <a:ext cx="8572500" cy="9525"/>
            </a:xfrm>
            <a:custGeom>
              <a:avLst/>
              <a:gdLst/>
              <a:ahLst/>
              <a:cxnLst/>
              <a:rect l="l" t="t" r="r" b="b"/>
              <a:pathLst>
                <a:path w="8572500" h="9525">
                  <a:moveTo>
                    <a:pt x="0" y="0"/>
                  </a:moveTo>
                  <a:lnTo>
                    <a:pt x="8572500" y="0"/>
                  </a:lnTo>
                </a:path>
              </a:pathLst>
            </a:custGeom>
            <a:noFill/>
            <a:ln w="19050">
              <a:solidFill>
                <a:srgbClr val="95C7FD"/>
              </a:solidFill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1695450" y="5105400"/>
              <a:ext cx="8534400" cy="457200"/>
              <a:chOff x="1695450" y="5105400"/>
              <a:chExt cx="8534400" cy="457200"/>
            </a:xfrm>
          </p:grpSpPr>
          <p:sp>
            <p:nvSpPr>
              <p:cNvPr id="68" name="Ellipse 68"/>
              <p:cNvSpPr/>
              <p:nvPr/>
            </p:nvSpPr>
            <p:spPr>
              <a:xfrm>
                <a:off x="1695450" y="5124450"/>
                <a:ext cx="419100" cy="419100"/>
              </a:xfrm>
              <a:prstGeom prst="ellipse">
                <a:avLst/>
              </a:prstGeom>
              <a:solidFill>
                <a:srgbClr val="5FAAFC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1741980" y="5268278"/>
                <a:ext cx="32604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FFFFF"/>
                    </a:solidFill>
                    <a:latin typeface="Roche Sans Medium"/>
                    <a:ea typeface="Roche Sans Medium"/>
                    <a:cs typeface="Roche Sans Medium"/>
                  </a:rPr>
                  <a:t>Zero</a:t>
                </a:r>
              </a:p>
            </p:txBody>
          </p:sp>
          <p:sp>
            <p:nvSpPr>
              <p:cNvPr id="70" name="Ellipse 70"/>
              <p:cNvSpPr/>
              <p:nvPr/>
            </p:nvSpPr>
            <p:spPr>
              <a:xfrm>
                <a:off x="3714750" y="5124450"/>
                <a:ext cx="419100" cy="419100"/>
              </a:xfrm>
              <a:prstGeom prst="ellipse">
                <a:avLst/>
              </a:prstGeom>
              <a:solidFill>
                <a:srgbClr val="1482FA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3760546" y="5268278"/>
                <a:ext cx="32750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FFFFF"/>
                    </a:solidFill>
                    <a:latin typeface="Roche Sans Medium"/>
                    <a:ea typeface="Roche Sans Medium"/>
                    <a:cs typeface="Roche Sans Medium"/>
                  </a:rPr>
                  <a:t>Dev1</a:t>
                </a:r>
              </a:p>
            </p:txBody>
          </p:sp>
          <p:sp>
            <p:nvSpPr>
              <p:cNvPr id="72" name="Ellipse 72"/>
              <p:cNvSpPr/>
              <p:nvPr/>
            </p:nvSpPr>
            <p:spPr>
              <a:xfrm>
                <a:off x="5743575" y="5124450"/>
                <a:ext cx="419100" cy="419100"/>
              </a:xfrm>
              <a:prstGeom prst="ellipse">
                <a:avLst/>
              </a:prstGeom>
              <a:solidFill>
                <a:srgbClr val="0F5EE1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5789371" y="5268278"/>
                <a:ext cx="32750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FFFFF"/>
                    </a:solidFill>
                    <a:latin typeface="Roche Sans Medium"/>
                    <a:ea typeface="Roche Sans Medium"/>
                    <a:cs typeface="Roche Sans Medium"/>
                  </a:rPr>
                  <a:t>Dev2</a:t>
                </a:r>
              </a:p>
            </p:txBody>
          </p:sp>
          <p:sp>
            <p:nvSpPr>
              <p:cNvPr id="74" name="Ellipse 74"/>
              <p:cNvSpPr/>
              <p:nvPr/>
            </p:nvSpPr>
            <p:spPr>
              <a:xfrm>
                <a:off x="7762875" y="5124450"/>
                <a:ext cx="419100" cy="419100"/>
              </a:xfrm>
              <a:prstGeom prst="ellipse">
                <a:avLst/>
              </a:prstGeom>
              <a:solidFill>
                <a:srgbClr val="0F5EE1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7808671" y="5268278"/>
                <a:ext cx="32750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FFFFF"/>
                    </a:solidFill>
                    <a:latin typeface="Roche Sans Medium"/>
                    <a:ea typeface="Roche Sans Medium"/>
                    <a:cs typeface="Roche Sans Medium"/>
                  </a:rPr>
                  <a:t>Dev3</a:t>
                </a:r>
              </a:p>
            </p:txBody>
          </p:sp>
          <p:sp>
            <p:nvSpPr>
              <p:cNvPr id="76" name="Ellipse 76"/>
              <p:cNvSpPr/>
              <p:nvPr/>
            </p:nvSpPr>
            <p:spPr>
              <a:xfrm>
                <a:off x="9772650" y="5105400"/>
                <a:ext cx="457200" cy="457200"/>
              </a:xfrm>
              <a:prstGeom prst="ellipse">
                <a:avLst/>
              </a:prstGeom>
              <a:solidFill>
                <a:srgbClr val="0B41CD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9913772" y="5268278"/>
                <a:ext cx="1749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FFFFFF"/>
                    </a:solidFill>
                    <a:latin typeface="Roche Sans Medium"/>
                    <a:ea typeface="Roche Sans Medium"/>
                    <a:cs typeface="Roche Sans Medium"/>
                  </a:rPr>
                  <a:t>R1</a:t>
                </a:r>
              </a:p>
            </p:txBody>
          </p:sp>
        </p:grpSp>
        <p:sp>
          <p:nvSpPr>
            <p:cNvPr id="79" name="TextBox 79"/>
            <p:cNvSpPr txBox="1"/>
            <p:nvPr/>
          </p:nvSpPr>
          <p:spPr>
            <a:xfrm>
              <a:off x="1511206" y="5674995"/>
              <a:ext cx="7875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pure-RL base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475820" y="5674995"/>
              <a:ext cx="89696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cold start + RL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442528" y="5674995"/>
              <a:ext cx="10211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+ reasoning gains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557971" y="5674995"/>
              <a:ext cx="8289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+ SFT breadth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560319" y="5674995"/>
              <a:ext cx="8818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final alignment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47547" y="5914549"/>
              <a:ext cx="47710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i="1" dirty="0">
                  <a:solidFill>
                    <a:srgbClr val="706B69"/>
                  </a:solidFill>
                  <a:latin typeface="Roche Serif Light"/>
                  <a:ea typeface="Roche Serif Light"/>
                  <a:cs typeface="Roche Serif Light"/>
                </a:rPr>
                <a:t>The next page tracks how each checkpoint scores across benchmarks.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66738" y="6521291"/>
            <a:ext cx="11058525" cy="161925"/>
            <a:chOff x="566738" y="6521291"/>
            <a:chExt cx="11058525" cy="161925"/>
          </a:xfrm>
        </p:grpSpPr>
        <p:sp>
          <p:nvSpPr>
            <p:cNvPr id="86" name="TextBox 86"/>
            <p:cNvSpPr txBox="1"/>
            <p:nvPr/>
          </p:nvSpPr>
          <p:spPr>
            <a:xfrm>
              <a:off x="566738" y="6521291"/>
              <a:ext cx="49011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Source: DeepSeek-AI 2026, §3, Figure 2 (multi-stage pipeline) — redrawn as native vector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04800"/>
            <a:ext cx="800100" cy="416242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571500" y="533400"/>
            <a:ext cx="5780892" cy="656939"/>
            <a:chOff x="571500" y="533400"/>
            <a:chExt cx="5780892" cy="656939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7146" y="581978"/>
              <a:ext cx="55652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Read the four stages, one by one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95147" y="999649"/>
              <a:ext cx="35831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WHAT EACH STAGE DOES — AND WHY · §3.1–3.2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1428750"/>
            <a:ext cx="11049000" cy="3908584"/>
            <a:chOff x="571500" y="1428750"/>
            <a:chExt cx="11049000" cy="3908584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11049000" cy="3848100"/>
            </a:xfrm>
            <a:prstGeom prst="roundRect">
              <a:avLst>
                <a:gd name="adj" fmla="val 2970"/>
              </a:avLst>
            </a:prstGeom>
            <a:solidFill>
              <a:srgbClr val="F5F7FA"/>
            </a:solidFill>
            <a:ln w="9525">
              <a:solidFill>
                <a:srgbClr val="E0E0E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428750"/>
              <a:ext cx="47625" cy="384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B41CD"/>
                </a:gs>
                <a:gs pos="100000">
                  <a:srgbClr val="1482FA"/>
                </a:gs>
              </a:gsLst>
              <a:lin ang="5400000" scaled="1"/>
            </a:gra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76300" y="1784032"/>
              <a:ext cx="8524606" cy="733902"/>
              <a:chOff x="876300" y="1784032"/>
              <a:chExt cx="8524606" cy="733902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876300" y="1828800"/>
                <a:ext cx="381000" cy="381000"/>
              </a:xfrm>
              <a:prstGeom prst="ellipse">
                <a:avLst/>
              </a:prstGeom>
              <a:solidFill>
                <a:srgbClr val="0B41CD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13122" y="1948339"/>
                <a:ext cx="10735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dirty="0">
                    <a:solidFill>
                      <a:srgbClr val="FFFFFF"/>
                    </a:solidFill>
                    <a:latin typeface="Roche Sans Medium"/>
                    <a:ea typeface="Roche Sans Medium"/>
                    <a:cs typeface="Roche Sans Medium"/>
                  </a:rPr>
                  <a:t>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439418" y="1784032"/>
                <a:ext cx="113436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0B41CD"/>
                    </a:solidFill>
                    <a:latin typeface="Roche Sans Light"/>
                    <a:ea typeface="Roche Sans Light"/>
                    <a:cs typeface="Roche Sans Light"/>
                  </a:rPr>
                  <a:t>Cold start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42085" y="2088356"/>
                <a:ext cx="795882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333333"/>
                    </a:solidFill>
                    <a:latin typeface="Roche Sans"/>
                    <a:ea typeface="Roche Sans"/>
                    <a:cs typeface="Roche Sans"/>
                  </a:rPr>
                  <a:t>Fine-tune V3-Base on thousands of curated long-CoT examples with a conversational, human-aligned style —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42085" y="2297906"/>
                <a:ext cx="374289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333333"/>
                    </a:solidFill>
                    <a:latin typeface="Roche Sans"/>
                    <a:ea typeface="Roche Sans"/>
                    <a:cs typeface="Roche Sans"/>
                  </a:rPr>
                  <a:t>fixing R1-Zero's readability before any RL begins.</a:t>
                </a: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1066800" y="2647950"/>
              <a:ext cx="10172700" cy="9525"/>
            </a:xfrm>
            <a:custGeom>
              <a:avLst/>
              <a:gdLst/>
              <a:ahLst/>
              <a:cxnLst/>
              <a:rect l="l" t="t" r="r" b="b"/>
              <a:pathLst>
                <a:path w="10172700" h="9525">
                  <a:moveTo>
                    <a:pt x="0" y="0"/>
                  </a:moveTo>
                  <a:lnTo>
                    <a:pt x="101727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876300" y="2831782"/>
              <a:ext cx="7919016" cy="733902"/>
              <a:chOff x="876300" y="2831782"/>
              <a:chExt cx="7919016" cy="733902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876300" y="2876550"/>
                <a:ext cx="381000" cy="381000"/>
              </a:xfrm>
              <a:prstGeom prst="ellipse">
                <a:avLst/>
              </a:prstGeom>
              <a:solidFill>
                <a:srgbClr val="0F5EE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13122" y="2996089"/>
                <a:ext cx="10735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dirty="0">
                    <a:solidFill>
                      <a:srgbClr val="FFFFFF"/>
                    </a:solidFill>
                    <a:latin typeface="Roche Sans Medium"/>
                    <a:ea typeface="Roche Sans Medium"/>
                    <a:cs typeface="Roche Sans Medium"/>
                  </a:rPr>
                  <a:t>2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439418" y="2831782"/>
                <a:ext cx="2437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0B41CD"/>
                    </a:solidFill>
                    <a:latin typeface="Roche Sans Light"/>
                    <a:ea typeface="Roche Sans Light"/>
                    <a:cs typeface="Roche Sans Light"/>
                  </a:rPr>
                  <a:t>Reasoning-oriented RL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442085" y="3136106"/>
                <a:ext cx="735323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333333"/>
                    </a:solidFill>
                    <a:latin typeface="Roche Sans"/>
                    <a:ea typeface="Roche Sans"/>
                    <a:cs typeface="Roche Sans"/>
                  </a:rPr>
                  <a:t>Apply GRPO with rule-based rewards on math, code and logic, plus a language-consistency reward —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442085" y="3345656"/>
                <a:ext cx="59481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333333"/>
                    </a:solidFill>
                    <a:latin typeface="Roche Sans"/>
                    <a:ea typeface="Roche Sans"/>
                    <a:cs typeface="Roche Sans"/>
                  </a:rPr>
                  <a:t>pushing reasoning hard while keeping each chain-of-thought in a single language.</a:t>
                </a:r>
              </a:p>
            </p:txBody>
          </p:sp>
        </p:grpSp>
        <p:sp>
          <p:nvSpPr>
            <p:cNvPr id="22" name="Line 22"/>
            <p:cNvSpPr/>
            <p:nvPr/>
          </p:nvSpPr>
          <p:spPr>
            <a:xfrm>
              <a:off x="1066800" y="3695700"/>
              <a:ext cx="10172700" cy="9525"/>
            </a:xfrm>
            <a:custGeom>
              <a:avLst/>
              <a:gdLst/>
              <a:ahLst/>
              <a:cxnLst/>
              <a:rect l="l" t="t" r="r" b="b"/>
              <a:pathLst>
                <a:path w="10172700" h="9525">
                  <a:moveTo>
                    <a:pt x="0" y="0"/>
                  </a:moveTo>
                  <a:lnTo>
                    <a:pt x="101727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76300" y="3879532"/>
              <a:ext cx="8446230" cy="733902"/>
              <a:chOff x="876300" y="3879532"/>
              <a:chExt cx="8446230" cy="733902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876300" y="3924300"/>
                <a:ext cx="381000" cy="381000"/>
              </a:xfrm>
              <a:prstGeom prst="ellipse">
                <a:avLst/>
              </a:prstGeom>
              <a:solidFill>
                <a:srgbClr val="1482FA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13122" y="4043839"/>
                <a:ext cx="10735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dirty="0">
                    <a:solidFill>
                      <a:srgbClr val="FFFFFF"/>
                    </a:solidFill>
                    <a:latin typeface="Roche Sans Medium"/>
                    <a:ea typeface="Roche Sans Medium"/>
                    <a:cs typeface="Roche Sans Medium"/>
                  </a:rPr>
                  <a:t>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439418" y="3879532"/>
                <a:ext cx="26337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0B41CD"/>
                    </a:solidFill>
                    <a:latin typeface="Roche Sans Light"/>
                    <a:ea typeface="Roche Sans Light"/>
                    <a:cs typeface="Roche Sans Light"/>
                  </a:rPr>
                  <a:t>Rejection sampling + SFT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442085" y="4183856"/>
                <a:ext cx="788044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333333"/>
                    </a:solidFill>
                    <a:latin typeface="Roche Sans"/>
                    <a:ea typeface="Roche Sans"/>
                    <a:cs typeface="Roche Sans"/>
                  </a:rPr>
                  <a:t>Sample from the current model, keep the best trajectories, and mix in non-reasoning data (writing, QA).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442085" y="4393406"/>
                <a:ext cx="443173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333333"/>
                    </a:solidFill>
                    <a:latin typeface="Roche Sans"/>
                    <a:ea typeface="Roche Sans"/>
                    <a:cs typeface="Roche Sans"/>
                  </a:rPr>
                  <a:t>Re-run SFT to broaden competence beyond verifiable tasks.</a:t>
                </a:r>
              </a:p>
            </p:txBody>
          </p:sp>
        </p:grpSp>
        <p:sp>
          <p:nvSpPr>
            <p:cNvPr id="29" name="Line 29"/>
            <p:cNvSpPr/>
            <p:nvPr/>
          </p:nvSpPr>
          <p:spPr>
            <a:xfrm>
              <a:off x="1066800" y="4743450"/>
              <a:ext cx="10172700" cy="9525"/>
            </a:xfrm>
            <a:custGeom>
              <a:avLst/>
              <a:gdLst/>
              <a:ahLst/>
              <a:cxnLst/>
              <a:rect l="l" t="t" r="r" b="b"/>
              <a:pathLst>
                <a:path w="10172700" h="9525">
                  <a:moveTo>
                    <a:pt x="0" y="0"/>
                  </a:moveTo>
                  <a:lnTo>
                    <a:pt x="101727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876300" y="4812982"/>
              <a:ext cx="8952890" cy="524352"/>
              <a:chOff x="876300" y="4812982"/>
              <a:chExt cx="8952890" cy="524352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876300" y="4857750"/>
                <a:ext cx="381000" cy="381000"/>
              </a:xfrm>
              <a:prstGeom prst="ellipse">
                <a:avLst/>
              </a:prstGeom>
              <a:solidFill>
                <a:srgbClr val="5FAAFC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13122" y="4977289"/>
                <a:ext cx="10735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dirty="0">
                    <a:solidFill>
                      <a:srgbClr val="FFFFFF"/>
                    </a:solidFill>
                    <a:latin typeface="Roche Sans Medium"/>
                    <a:ea typeface="Roche Sans Medium"/>
                    <a:cs typeface="Roche Sans Medium"/>
                  </a:rPr>
                  <a:t>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439418" y="4812982"/>
                <a:ext cx="164819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0B41CD"/>
                    </a:solidFill>
                    <a:latin typeface="Roche Sans Light"/>
                    <a:ea typeface="Roche Sans Light"/>
                    <a:cs typeface="Roche Sans Light"/>
                  </a:rPr>
                  <a:t>All-scenario RL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442085" y="5117306"/>
                <a:ext cx="838710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333333"/>
                    </a:solidFill>
                    <a:latin typeface="Roche Sans"/>
                    <a:ea typeface="Roche Sans"/>
                    <a:cs typeface="Roche Sans"/>
                  </a:rPr>
                  <a:t>A final RL stage combining rule rewards (reasoning) with model-based preference rewards (helpfulness, safety)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571500" y="5467350"/>
            <a:ext cx="11049000" cy="666750"/>
            <a:chOff x="571500" y="5467350"/>
            <a:chExt cx="11049000" cy="666750"/>
          </a:xfrm>
        </p:grpSpPr>
        <p:sp>
          <p:nvSpPr>
            <p:cNvPr id="36" name="Rectangle 36"/>
            <p:cNvSpPr/>
            <p:nvPr/>
          </p:nvSpPr>
          <p:spPr>
            <a:xfrm>
              <a:off x="571500" y="5467350"/>
              <a:ext cx="11049000" cy="666750"/>
            </a:xfrm>
            <a:prstGeom prst="roundRect">
              <a:avLst>
                <a:gd name="adj" fmla="val 14286"/>
              </a:avLst>
            </a:prstGeom>
            <a:solidFill>
              <a:srgbClr val="0B41CD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7738" y="5644991"/>
              <a:ext cx="10859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112" dirty="0">
                  <a:solidFill>
                    <a:srgbClr val="FFFFFF">
                      <a:alphaMod val="80000"/>
                    </a:srgbClr>
                  </a:solidFill>
                  <a:latin typeface="Roche Sans Medium"/>
                  <a:ea typeface="Roche Sans Medium"/>
                  <a:cs typeface="Roche Sans Medium"/>
                </a:rPr>
                <a:t>BY THE NUMBERS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7166" y="5849302"/>
              <a:ext cx="29063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FFFF"/>
                  </a:solidFill>
                  <a:latin typeface="Roche Sans"/>
                  <a:ea typeface="Roche Sans"/>
                  <a:cs typeface="Roche Sans"/>
                </a:rPr>
                <a:t xml:space="preserve">V3-Base </a:t>
              </a:r>
              <a:r>
                <a:rPr lang="en-US" sz="1050" dirty="0">
                  <a:solidFill>
                    <a:srgbClr val="FFFFFF"/>
                  </a:solidFill>
                  <a:latin typeface="Roche Sans Medium"/>
                  <a:ea typeface="Roche Sans Medium"/>
                  <a:cs typeface="Roche Sans Medium"/>
                </a:rPr>
                <a:t>671B</a:t>
              </a:r>
              <a:r>
                <a:rPr lang="en-US" sz="1050" dirty="0">
                  <a:solidFill>
                    <a:srgbClr val="FFFFFF"/>
                  </a:solidFill>
                  <a:latin typeface="Roche Sans"/>
                  <a:ea typeface="Roche Sans"/>
                  <a:cs typeface="Roche Sans"/>
                </a:rPr>
                <a:t xml:space="preserve"> total / </a:t>
              </a:r>
              <a:r>
                <a:rPr lang="en-US" sz="1050" dirty="0">
                  <a:solidFill>
                    <a:srgbClr val="FFFFFF"/>
                  </a:solidFill>
                  <a:latin typeface="Roche Sans Medium"/>
                  <a:ea typeface="Roche Sans Medium"/>
                  <a:cs typeface="Roche Sans Medium"/>
                </a:rPr>
                <a:t>37B</a:t>
              </a:r>
              <a:r>
                <a:rPr lang="en-US" sz="1050" dirty="0">
                  <a:solidFill>
                    <a:srgbClr val="FFFFFF"/>
                  </a:solidFill>
                  <a:latin typeface="Roche Sans"/>
                  <a:ea typeface="Roche Sans"/>
                  <a:cs typeface="Roche Sans"/>
                </a:rPr>
                <a:t xml:space="preserve"> activated (MoE)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4476750" y="561975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9525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757166" y="5849302"/>
              <a:ext cx="29187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FFFF"/>
                  </a:solidFill>
                  <a:latin typeface="Roche Sans"/>
                  <a:ea typeface="Roche Sans"/>
                  <a:cs typeface="Roche Sans"/>
                </a:rPr>
                <a:t xml:space="preserve">R1-Zero RL </a:t>
              </a:r>
              <a:r>
                <a:rPr lang="en-US" sz="1050" dirty="0">
                  <a:solidFill>
                    <a:srgbClr val="FFFFFF"/>
                  </a:solidFill>
                  <a:latin typeface="Roche Sans Medium"/>
                  <a:ea typeface="Roche Sans Medium"/>
                  <a:cs typeface="Roche Sans Medium"/>
                </a:rPr>
                <a:t>~198 h</a:t>
              </a:r>
              <a:r>
                <a:rPr lang="en-US" sz="1050" dirty="0">
                  <a:solidFill>
                    <a:srgbClr val="FFFFFF"/>
                  </a:solidFill>
                  <a:latin typeface="Roche Sans"/>
                  <a:ea typeface="Roche Sans"/>
                  <a:cs typeface="Roche Sans"/>
                </a:rPr>
                <a:t xml:space="preserve"> · R1 </a:t>
              </a:r>
              <a:r>
                <a:rPr lang="en-US" sz="1050" dirty="0">
                  <a:solidFill>
                    <a:srgbClr val="FFFFFF"/>
                  </a:solidFill>
                  <a:latin typeface="Roche Sans Medium"/>
                  <a:ea typeface="Roche Sans Medium"/>
                  <a:cs typeface="Roche Sans Medium"/>
                </a:rPr>
                <a:t>~80 h</a:t>
              </a:r>
              <a:r>
                <a:rPr lang="en-US" sz="1050" dirty="0">
                  <a:solidFill>
                    <a:srgbClr val="FFFFFF"/>
                  </a:solidFill>
                  <a:latin typeface="Roche Sans"/>
                  <a:ea typeface="Roche Sans"/>
                  <a:cs typeface="Roche Sans"/>
                </a:rPr>
                <a:t xml:space="preserve"> on 64×8 H800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572500" y="561975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9525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852916" y="5849302"/>
              <a:ext cx="23342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FFFF"/>
                  </a:solidFill>
                  <a:latin typeface="Roche Sans"/>
                  <a:ea typeface="Roche Sans"/>
                  <a:cs typeface="Roche Sans"/>
                </a:rPr>
                <a:t xml:space="preserve">RM data </a:t>
              </a:r>
              <a:r>
                <a:rPr lang="en-US" sz="1050" dirty="0">
                  <a:solidFill>
                    <a:srgbClr val="FFFFFF"/>
                  </a:solidFill>
                  <a:latin typeface="Roche Sans Medium"/>
                  <a:ea typeface="Roche Sans Medium"/>
                  <a:cs typeface="Roche Sans Medium"/>
                </a:rPr>
                <a:t>66k</a:t>
              </a:r>
              <a:r>
                <a:rPr lang="en-US" sz="1050" dirty="0">
                  <a:solidFill>
                    <a:srgbClr val="FFFFFF"/>
                  </a:solidFill>
                  <a:latin typeface="Roche Sans"/>
                  <a:ea typeface="Roche Sans"/>
                  <a:cs typeface="Roche Sans"/>
                </a:rPr>
                <a:t xml:space="preserve"> helpful + </a:t>
              </a:r>
              <a:r>
                <a:rPr lang="en-US" sz="1050" dirty="0">
                  <a:solidFill>
                    <a:srgbClr val="FFFFFF"/>
                  </a:solidFill>
                  <a:latin typeface="Roche Sans Medium"/>
                  <a:ea typeface="Roche Sans Medium"/>
                  <a:cs typeface="Roche Sans Medium"/>
                </a:rPr>
                <a:t>106k</a:t>
              </a:r>
              <a:r>
                <a:rPr lang="en-US" sz="1050" dirty="0">
                  <a:solidFill>
                    <a:srgbClr val="FFFFFF"/>
                  </a:solidFill>
                  <a:latin typeface="Roche Sans"/>
                  <a:ea typeface="Roche Sans"/>
                  <a:cs typeface="Roche Sans"/>
                </a:rPr>
                <a:t xml:space="preserve"> safety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66738" y="6521291"/>
            <a:ext cx="11058525" cy="161925"/>
            <a:chOff x="566738" y="6521291"/>
            <a:chExt cx="11058525" cy="161925"/>
          </a:xfrm>
        </p:grpSpPr>
        <p:sp>
          <p:nvSpPr>
            <p:cNvPr id="44" name="TextBox 44"/>
            <p:cNvSpPr txBox="1"/>
            <p:nvPr/>
          </p:nvSpPr>
          <p:spPr>
            <a:xfrm>
              <a:off x="566738" y="6521291"/>
              <a:ext cx="472016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Source: DeepSeek-AI 2026, §3.1–3.2 (training details), Supplementary B (data, cost)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04800"/>
            <a:ext cx="800100" cy="416242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571500" y="533400"/>
            <a:ext cx="7954098" cy="656939"/>
            <a:chOff x="571500" y="533400"/>
            <a:chExt cx="7954098" cy="656939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7146" y="581978"/>
              <a:ext cx="77384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On reasoning, R1 stands with OpenAI-o1-1217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95147" y="999649"/>
              <a:ext cx="44157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DEEPSEEK-R1 VS BASELINES · §4 · PASS@1 UNLESS NOTED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1447800"/>
            <a:ext cx="11049000" cy="3790950"/>
            <a:chOff x="571500" y="1447800"/>
            <a:chExt cx="11049000" cy="3790950"/>
          </a:xfrm>
        </p:grpSpPr>
        <p:sp>
          <p:nvSpPr>
            <p:cNvPr id="7" name="Rectangle 7"/>
            <p:cNvSpPr/>
            <p:nvPr/>
          </p:nvSpPr>
          <p:spPr>
            <a:xfrm>
              <a:off x="571500" y="1447800"/>
              <a:ext cx="11049000" cy="3790950"/>
            </a:xfrm>
            <a:prstGeom prst="rect">
              <a:avLst/>
            </a:prstGeom>
            <a:noFill/>
            <a:ln w="19050">
              <a:solidFill>
                <a:srgbClr val="0B41CD"/>
              </a:solidFill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571500" y="1447800"/>
              <a:ext cx="11049000" cy="3790950"/>
              <a:chOff x="571500" y="1447800"/>
              <a:chExt cx="11049000" cy="37909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10258425" y="1981200"/>
                <a:ext cx="1362075" cy="3257550"/>
              </a:xfrm>
              <a:prstGeom prst="rect">
                <a:avLst/>
              </a:prstGeom>
              <a:solidFill>
                <a:srgbClr val="E9EEFA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447800"/>
                <a:ext cx="11049000" cy="533400"/>
              </a:xfrm>
              <a:prstGeom prst="rect">
                <a:avLst/>
              </a:prstGeom>
              <a:solidFill>
                <a:srgbClr val="0B41CD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10258425" y="1447800"/>
                <a:ext cx="1362075" cy="533400"/>
              </a:xfrm>
              <a:prstGeom prst="rect">
                <a:avLst/>
              </a:prstGeom>
              <a:solidFill>
                <a:srgbClr val="1482F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57047" y="1656874"/>
                <a:ext cx="85214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spc="112" dirty="0">
                    <a:solidFill>
                      <a:srgbClr val="FFFFFF"/>
                    </a:solidFill>
                    <a:latin typeface="Roche Sans Medium"/>
                    <a:ea typeface="Roche Sans Medium"/>
                    <a:cs typeface="Roche Sans Medium"/>
                  </a:rPr>
                  <a:t>BENCHMARK</a:t>
                </a:r>
              </a:p>
            </p:txBody>
          </p:sp>
          <p:grpSp>
            <p:nvGrpSpPr>
              <p:cNvPr id="21" name="Group 21"/>
              <p:cNvGrpSpPr/>
              <p:nvPr/>
            </p:nvGrpSpPr>
            <p:grpSpPr>
              <a:xfrm>
                <a:off x="3788997" y="1569720"/>
                <a:ext cx="7420785" cy="347662"/>
                <a:chOff x="3788997" y="1569720"/>
                <a:chExt cx="7420785" cy="347662"/>
              </a:xfrm>
            </p:grpSpPr>
            <p:sp>
              <p:nvSpPr>
                <p:cNvPr id="12" name="TextBox 12"/>
                <p:cNvSpPr txBox="1"/>
                <p:nvPr/>
              </p:nvSpPr>
              <p:spPr>
                <a:xfrm>
                  <a:off x="3788997" y="1569720"/>
                  <a:ext cx="651605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FFFFFF"/>
                      </a:solidFill>
                      <a:latin typeface="Roche Sans Medium"/>
                      <a:ea typeface="Roche Sans Medium"/>
                      <a:cs typeface="Roche Sans Medium"/>
                    </a:rPr>
                    <a:t>Claude-3.5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3925057" y="1749266"/>
                  <a:ext cx="379486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820" dirty="0">
                      <a:solidFill>
                        <a:srgbClr val="FFFFFF">
                          <a:alphaMod val="85000"/>
                        </a:srgbClr>
                      </a:solidFill>
                      <a:latin typeface="Roche Sans Medium"/>
                      <a:ea typeface="Roche Sans Medium"/>
                      <a:cs typeface="Roche Sans Medium"/>
                    </a:rPr>
                    <a:t>Sonnet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5263715" y="1664970"/>
                  <a:ext cx="426320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FFFFFF"/>
                      </a:solidFill>
                      <a:latin typeface="Roche Sans Medium"/>
                      <a:ea typeface="Roche Sans Medium"/>
                      <a:cs typeface="Roche Sans Medium"/>
                    </a:rPr>
                    <a:t>GPT-4o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6563868" y="1569720"/>
                  <a:ext cx="550164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FFFFFF"/>
                      </a:solidFill>
                      <a:latin typeface="Roche Sans Medium"/>
                      <a:ea typeface="Roche Sans Medium"/>
                      <a:cs typeface="Roche Sans Medium"/>
                    </a:rPr>
                    <a:t>DeepSeek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6769646" y="1749266"/>
                  <a:ext cx="138608" cy="161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820" dirty="0">
                      <a:solidFill>
                        <a:srgbClr val="FFFFFF">
                          <a:alphaMod val="85000"/>
                        </a:srgbClr>
                      </a:solidFill>
                      <a:latin typeface="Roche Sans Medium"/>
                      <a:ea typeface="Roche Sans Medium"/>
                      <a:cs typeface="Roche Sans Medium"/>
                    </a:rPr>
                    <a:t>V3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7981207" y="1664970"/>
                  <a:ext cx="439636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FFFFFF"/>
                      </a:solidFill>
                      <a:latin typeface="Roche Sans Medium"/>
                      <a:ea typeface="Roche Sans Medium"/>
                      <a:cs typeface="Roche Sans Medium"/>
                    </a:rPr>
                    <a:t>o1-mini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9325108" y="1664970"/>
                  <a:ext cx="475983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FFFFFF"/>
                      </a:solidFill>
                      <a:latin typeface="Roche Sans Medium"/>
                      <a:ea typeface="Roche Sans Medium"/>
                      <a:cs typeface="Roche Sans Medium"/>
                    </a:rPr>
                    <a:t>o1-1217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0659618" y="1569720"/>
                  <a:ext cx="550164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FFFFFF"/>
                      </a:solidFill>
                      <a:latin typeface="Roche Sans Medium"/>
                      <a:ea typeface="Roche Sans Medium"/>
                      <a:cs typeface="Roche Sans Medium"/>
                    </a:rPr>
                    <a:t>DeepSeek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0859529" y="1741170"/>
                  <a:ext cx="150343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FFFFFF"/>
                      </a:solidFill>
                      <a:latin typeface="Roche Sans Medium"/>
                      <a:ea typeface="Roche Sans Medium"/>
                      <a:cs typeface="Roche Sans Medium"/>
                    </a:rPr>
                    <a:t>R1</a:t>
                  </a:r>
                </a:p>
              </p:txBody>
            </p:sp>
          </p:grpSp>
          <p:grpSp>
            <p:nvGrpSpPr>
              <p:cNvPr id="27" name="Group 27"/>
              <p:cNvGrpSpPr/>
              <p:nvPr/>
            </p:nvGrpSpPr>
            <p:grpSpPr>
              <a:xfrm>
                <a:off x="3429000" y="1447800"/>
                <a:ext cx="5467350" cy="3790950"/>
                <a:chOff x="3429000" y="1447800"/>
                <a:chExt cx="5467350" cy="3790950"/>
              </a:xfrm>
            </p:grpSpPr>
            <p:sp>
              <p:nvSpPr>
                <p:cNvPr id="22" name="Line 22"/>
                <p:cNvSpPr/>
                <p:nvPr/>
              </p:nvSpPr>
              <p:spPr>
                <a:xfrm>
                  <a:off x="3429000" y="1447800"/>
                  <a:ext cx="9525" cy="379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790950">
                      <a:moveTo>
                        <a:pt x="0" y="0"/>
                      </a:moveTo>
                      <a:lnTo>
                        <a:pt x="0" y="379095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23" name="Line 23"/>
                <p:cNvSpPr/>
                <p:nvPr/>
              </p:nvSpPr>
              <p:spPr>
                <a:xfrm>
                  <a:off x="4791075" y="1981200"/>
                  <a:ext cx="9525" cy="325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257550">
                      <a:moveTo>
                        <a:pt x="0" y="0"/>
                      </a:moveTo>
                      <a:lnTo>
                        <a:pt x="0" y="325755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24" name="Line 24"/>
                <p:cNvSpPr/>
                <p:nvPr/>
              </p:nvSpPr>
              <p:spPr>
                <a:xfrm>
                  <a:off x="6162675" y="1981200"/>
                  <a:ext cx="9525" cy="325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257550">
                      <a:moveTo>
                        <a:pt x="0" y="0"/>
                      </a:moveTo>
                      <a:lnTo>
                        <a:pt x="0" y="325755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25" name="Line 25"/>
                <p:cNvSpPr/>
                <p:nvPr/>
              </p:nvSpPr>
              <p:spPr>
                <a:xfrm>
                  <a:off x="7524750" y="1981200"/>
                  <a:ext cx="9525" cy="325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257550">
                      <a:moveTo>
                        <a:pt x="0" y="0"/>
                      </a:moveTo>
                      <a:lnTo>
                        <a:pt x="0" y="325755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26" name="Line 26"/>
                <p:cNvSpPr/>
                <p:nvPr/>
              </p:nvSpPr>
              <p:spPr>
                <a:xfrm>
                  <a:off x="8886825" y="1981200"/>
                  <a:ext cx="9525" cy="325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257550">
                      <a:moveTo>
                        <a:pt x="0" y="0"/>
                      </a:moveTo>
                      <a:lnTo>
                        <a:pt x="0" y="325755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</p:grpSp>
          <p:sp>
            <p:nvSpPr>
              <p:cNvPr id="28" name="Line 28"/>
              <p:cNvSpPr/>
              <p:nvPr/>
            </p:nvSpPr>
            <p:spPr>
              <a:xfrm>
                <a:off x="10258425" y="1447800"/>
                <a:ext cx="9525" cy="3790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90950">
                    <a:moveTo>
                      <a:pt x="0" y="0"/>
                    </a:moveTo>
                    <a:lnTo>
                      <a:pt x="0" y="3790950"/>
                    </a:lnTo>
                  </a:path>
                </a:pathLst>
              </a:custGeom>
              <a:noFill/>
              <a:ln w="14288">
                <a:solidFill>
                  <a:srgbClr val="0B41CD"/>
                </a:solidFill>
              </a:ln>
            </p:spPr>
          </p:sp>
          <p:grpSp>
            <p:nvGrpSpPr>
              <p:cNvPr id="76" name="Group 76"/>
              <p:cNvGrpSpPr/>
              <p:nvPr/>
            </p:nvGrpSpPr>
            <p:grpSpPr>
              <a:xfrm>
                <a:off x="571500" y="2175510"/>
                <a:ext cx="11049000" cy="2958846"/>
                <a:chOff x="571500" y="2175510"/>
                <a:chExt cx="11049000" cy="2958846"/>
              </a:xfrm>
            </p:grpSpPr>
            <p:sp>
              <p:nvSpPr>
                <p:cNvPr id="29" name="TextBox 29"/>
                <p:cNvSpPr txBox="1"/>
                <p:nvPr/>
              </p:nvSpPr>
              <p:spPr>
                <a:xfrm>
                  <a:off x="755904" y="2175510"/>
                  <a:ext cx="80589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rgbClr val="333333"/>
                      </a:solidFill>
                      <a:latin typeface="Roche Sans Medium"/>
                      <a:ea typeface="Roche Sans Medium"/>
                      <a:cs typeface="Roche Sans Medium"/>
                    </a:rPr>
                    <a:t>AIME 2024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3931006" y="218503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16.0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5337505" y="2185035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9.3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6655156" y="218503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39.2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8017231" y="218503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63.6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9379306" y="218503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79.2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10742021" y="2185035"/>
                  <a:ext cx="38535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007A3B"/>
                      </a:solidFill>
                      <a:latin typeface="Consolas"/>
                      <a:ea typeface="Consolas"/>
                      <a:cs typeface="Consolas"/>
                    </a:rPr>
                    <a:t>79.8</a:t>
                  </a:r>
                </a:p>
              </p:txBody>
            </p:sp>
            <p:sp>
              <p:nvSpPr>
                <p:cNvPr id="36" name="Line 36"/>
                <p:cNvSpPr/>
                <p:nvPr/>
              </p:nvSpPr>
              <p:spPr>
                <a:xfrm>
                  <a:off x="571500" y="2524125"/>
                  <a:ext cx="11049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9000" h="9525">
                      <a:moveTo>
                        <a:pt x="0" y="0"/>
                      </a:moveTo>
                      <a:lnTo>
                        <a:pt x="11049000" y="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755904" y="2718435"/>
                  <a:ext cx="797357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rgbClr val="333333"/>
                      </a:solidFill>
                      <a:latin typeface="Roche Sans Medium"/>
                      <a:ea typeface="Roche Sans Medium"/>
                      <a:cs typeface="Roche Sans Medium"/>
                    </a:rPr>
                    <a:t>MATH-500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3931006" y="272796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78.3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5293081" y="272796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74.6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6655156" y="272796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90.2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8017231" y="272796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90.0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9379306" y="272796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96.4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10742021" y="2727960"/>
                  <a:ext cx="38535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007A3B"/>
                      </a:solidFill>
                      <a:latin typeface="Consolas"/>
                      <a:ea typeface="Consolas"/>
                      <a:cs typeface="Consolas"/>
                    </a:rPr>
                    <a:t>97.3</a:t>
                  </a:r>
                </a:p>
              </p:txBody>
            </p:sp>
            <p:sp>
              <p:nvSpPr>
                <p:cNvPr id="44" name="Line 44"/>
                <p:cNvSpPr/>
                <p:nvPr/>
              </p:nvSpPr>
              <p:spPr>
                <a:xfrm>
                  <a:off x="571500" y="3067050"/>
                  <a:ext cx="11049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9000" h="9525">
                      <a:moveTo>
                        <a:pt x="0" y="0"/>
                      </a:moveTo>
                      <a:lnTo>
                        <a:pt x="11049000" y="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755904" y="3261360"/>
                  <a:ext cx="108924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rgbClr val="333333"/>
                      </a:solidFill>
                      <a:latin typeface="Roche Sans Medium"/>
                      <a:ea typeface="Roche Sans Medium"/>
                      <a:cs typeface="Roche Sans Medium"/>
                    </a:rPr>
                    <a:t>GPQA Diamond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3931006" y="327088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65.0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5293081" y="327088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49.9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6655156" y="327088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59.1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8017231" y="327088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60.0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9379306" y="327088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75.7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10742021" y="3270885"/>
                  <a:ext cx="38535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0B41CD"/>
                      </a:solidFill>
                      <a:latin typeface="Consolas"/>
                      <a:ea typeface="Consolas"/>
                      <a:cs typeface="Consolas"/>
                    </a:rPr>
                    <a:t>71.5</a:t>
                  </a:r>
                </a:p>
              </p:txBody>
            </p:sp>
            <p:sp>
              <p:nvSpPr>
                <p:cNvPr id="52" name="Line 52"/>
                <p:cNvSpPr/>
                <p:nvPr/>
              </p:nvSpPr>
              <p:spPr>
                <a:xfrm>
                  <a:off x="571500" y="3609975"/>
                  <a:ext cx="11049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9000" h="9525">
                      <a:moveTo>
                        <a:pt x="0" y="0"/>
                      </a:moveTo>
                      <a:lnTo>
                        <a:pt x="11049000" y="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755904" y="3804285"/>
                  <a:ext cx="114140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rgbClr val="333333"/>
                      </a:solidFill>
                      <a:latin typeface="Roche Sans Medium"/>
                      <a:ea typeface="Roche Sans Medium"/>
                      <a:cs typeface="Roche Sans Medium"/>
                    </a:rPr>
                    <a:t>LiveCodeBench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3931006" y="381381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38.9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5293081" y="381381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32.9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6655156" y="381381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36.2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8017231" y="381381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53.8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9379306" y="381381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63.4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10742021" y="3813810"/>
                  <a:ext cx="38535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007A3B"/>
                      </a:solidFill>
                      <a:latin typeface="Consolas"/>
                      <a:ea typeface="Consolas"/>
                      <a:cs typeface="Consolas"/>
                    </a:rPr>
                    <a:t>65.9</a:t>
                  </a:r>
                </a:p>
              </p:txBody>
            </p:sp>
            <p:sp>
              <p:nvSpPr>
                <p:cNvPr id="60" name="Line 60"/>
                <p:cNvSpPr/>
                <p:nvPr/>
              </p:nvSpPr>
              <p:spPr>
                <a:xfrm>
                  <a:off x="571500" y="4152900"/>
                  <a:ext cx="11049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9000" h="9525">
                      <a:moveTo>
                        <a:pt x="0" y="0"/>
                      </a:moveTo>
                      <a:lnTo>
                        <a:pt x="11049000" y="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755904" y="4347210"/>
                  <a:ext cx="154301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rgbClr val="333333"/>
                      </a:solidFill>
                      <a:latin typeface="Roche Sans Medium"/>
                      <a:ea typeface="Roche Sans Medium"/>
                      <a:cs typeface="Roche Sans Medium"/>
                    </a:rPr>
                    <a:t xml:space="preserve">Codeforces </a:t>
                  </a:r>
                  <a:r>
                    <a:rPr lang="en-US" sz="1200" i="1" dirty="0">
                      <a:solidFill>
                        <a:srgbClr val="706B69"/>
                      </a:solidFill>
                      <a:latin typeface="Roche Serif Light"/>
                      <a:ea typeface="Roche Serif Light"/>
                      <a:cs typeface="Roche Serif Light"/>
                    </a:rPr>
                    <a:t>rating</a:t>
                  </a: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3975430" y="4356735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717</a:t>
                  </a: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5337505" y="4356735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759</a:t>
                  </a: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6655156" y="435673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1134</a:t>
                  </a:r>
                </a:p>
              </p:txBody>
            </p:sp>
            <p:sp>
              <p:nvSpPr>
                <p:cNvPr id="65" name="TextBox 65"/>
                <p:cNvSpPr txBox="1"/>
                <p:nvPr/>
              </p:nvSpPr>
              <p:spPr>
                <a:xfrm>
                  <a:off x="8017231" y="435673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1820</a:t>
                  </a:r>
                </a:p>
              </p:txBody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9379306" y="435673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2061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10742021" y="4356735"/>
                  <a:ext cx="38535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0B41CD"/>
                      </a:solidFill>
                      <a:latin typeface="Consolas"/>
                      <a:ea typeface="Consolas"/>
                      <a:cs typeface="Consolas"/>
                    </a:rPr>
                    <a:t>2029</a:t>
                  </a:r>
                </a:p>
              </p:txBody>
            </p:sp>
            <p:sp>
              <p:nvSpPr>
                <p:cNvPr id="68" name="Line 68"/>
                <p:cNvSpPr/>
                <p:nvPr/>
              </p:nvSpPr>
              <p:spPr>
                <a:xfrm>
                  <a:off x="571500" y="4695825"/>
                  <a:ext cx="11049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9000" h="9525">
                      <a:moveTo>
                        <a:pt x="0" y="0"/>
                      </a:moveTo>
                      <a:lnTo>
                        <a:pt x="11049000" y="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755904" y="4890135"/>
                  <a:ext cx="88270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rgbClr val="333333"/>
                      </a:solidFill>
                      <a:latin typeface="Roche Sans Medium"/>
                      <a:ea typeface="Roche Sans Medium"/>
                      <a:cs typeface="Roche Sans Medium"/>
                    </a:rPr>
                    <a:t xml:space="preserve">MMLU </a:t>
                  </a:r>
                  <a:r>
                    <a:rPr lang="en-US" sz="1200" i="1" dirty="0">
                      <a:solidFill>
                        <a:srgbClr val="706B69"/>
                      </a:solidFill>
                      <a:latin typeface="Roche Serif Light"/>
                      <a:ea typeface="Roche Serif Light"/>
                      <a:cs typeface="Roche Serif Light"/>
                    </a:rPr>
                    <a:t>EM</a:t>
                  </a:r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3931006" y="489966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88.3</a:t>
                  </a: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5293081" y="489966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87.2</a:t>
                  </a: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6655156" y="489966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88.5</a:t>
                  </a: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8017231" y="489966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85.2</a:t>
                  </a: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9379306" y="489966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91.8</a:t>
                  </a: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10742021" y="4899660"/>
                  <a:ext cx="38535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0B41CD"/>
                      </a:solidFill>
                      <a:latin typeface="Consolas"/>
                      <a:ea typeface="Consolas"/>
                      <a:cs typeface="Consolas"/>
                    </a:rPr>
                    <a:t>90.8</a:t>
                  </a:r>
                </a:p>
              </p:txBody>
            </p:sp>
          </p:grpSp>
        </p:grpSp>
      </p:grpSp>
      <p:grpSp>
        <p:nvGrpSpPr>
          <p:cNvPr id="84" name="Group 84"/>
          <p:cNvGrpSpPr/>
          <p:nvPr/>
        </p:nvGrpSpPr>
        <p:grpSpPr>
          <a:xfrm>
            <a:off x="571500" y="5391150"/>
            <a:ext cx="11049000" cy="834961"/>
            <a:chOff x="571500" y="5391150"/>
            <a:chExt cx="11049000" cy="834961"/>
          </a:xfrm>
        </p:grpSpPr>
        <p:sp>
          <p:nvSpPr>
            <p:cNvPr id="79" name="Rectangle 79"/>
            <p:cNvSpPr/>
            <p:nvPr/>
          </p:nvSpPr>
          <p:spPr>
            <a:xfrm>
              <a:off x="571500" y="5391150"/>
              <a:ext cx="11049000" cy="819150"/>
            </a:xfrm>
            <a:prstGeom prst="roundRect">
              <a:avLst>
                <a:gd name="adj" fmla="val 11628"/>
              </a:avLst>
            </a:prstGeom>
            <a:solidFill>
              <a:srgbClr val="F5F7FA"/>
            </a:solidFill>
            <a:ln w="9525">
              <a:solidFill>
                <a:srgbClr val="E0E0E0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571500" y="5391150"/>
              <a:ext cx="47625" cy="819150"/>
            </a:xfrm>
            <a:prstGeom prst="roundRect">
              <a:avLst>
                <a:gd name="adj" fmla="val 50000"/>
              </a:avLst>
            </a:prstGeom>
            <a:solidFill>
              <a:srgbClr val="007A3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47547" y="5552599"/>
              <a:ext cx="20005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007A3B"/>
                  </a:solidFill>
                  <a:latin typeface="Roche Sans Medium"/>
                  <a:ea typeface="Roche Sans Medium"/>
                  <a:cs typeface="Roche Sans Medium"/>
                </a:rPr>
                <a:t>READ THE TABLE LIKE THIS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45642" y="5778818"/>
              <a:ext cx="93509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 xml:space="preserve">R1 </a:t>
              </a:r>
              <a:r>
                <a:rPr lang="en-US" sz="1350" dirty="0">
                  <a:solidFill>
                    <a:srgbClr val="007A3B"/>
                  </a:solidFill>
                  <a:latin typeface="Roche Sans Medium"/>
                  <a:ea typeface="Roche Sans Medium"/>
                  <a:cs typeface="Roche Sans Medium"/>
                </a:rPr>
                <a:t>edges past o1-1217</a:t>
              </a:r>
              <a:r>
                <a:rPr lang="en-US" sz="13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 xml:space="preserve"> on AIME, MATH-500 and LiveCodeBench; it trails slightly on GPQA and Codeforces —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47166" y="6020752"/>
              <a:ext cx="80884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an open-weights model trading blows with the closed frontier, and far ahead of GPT-4o and Claude-3.5 on reasoning.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566738" y="6578441"/>
            <a:ext cx="11058525" cy="161925"/>
            <a:chOff x="566738" y="6578441"/>
            <a:chExt cx="11058525" cy="161925"/>
          </a:xfrm>
        </p:grpSpPr>
        <p:sp>
          <p:nvSpPr>
            <p:cNvPr id="85" name="TextBox 85"/>
            <p:cNvSpPr txBox="1"/>
            <p:nvPr/>
          </p:nvSpPr>
          <p:spPr>
            <a:xfrm>
              <a:off x="566738" y="6578441"/>
              <a:ext cx="45757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Source: DeepSeek-AI 2026, §4 main comparison table (o1-1217 from official report)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493570" y="65784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04800"/>
            <a:ext cx="800100" cy="416242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571500" y="533400"/>
            <a:ext cx="8817188" cy="656939"/>
            <a:chOff x="571500" y="533400"/>
            <a:chExt cx="8817188" cy="656939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7146" y="581978"/>
              <a:ext cx="86015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Each stage lifts alignment without losing reasoning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95147" y="999649"/>
              <a:ext cx="32140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CHECKPOINT PROGRESSION · §4 · TABLE 3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71500" y="1447800"/>
            <a:ext cx="11049000" cy="3790950"/>
            <a:chOff x="571500" y="1447800"/>
            <a:chExt cx="11049000" cy="3790950"/>
          </a:xfrm>
        </p:grpSpPr>
        <p:sp>
          <p:nvSpPr>
            <p:cNvPr id="7" name="Rectangle 7"/>
            <p:cNvSpPr/>
            <p:nvPr/>
          </p:nvSpPr>
          <p:spPr>
            <a:xfrm>
              <a:off x="571500" y="1447800"/>
              <a:ext cx="11049000" cy="3790950"/>
            </a:xfrm>
            <a:prstGeom prst="rect">
              <a:avLst/>
            </a:prstGeom>
            <a:noFill/>
            <a:ln w="19050">
              <a:solidFill>
                <a:srgbClr val="0B41CD"/>
              </a:solidFill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571500" y="1447800"/>
              <a:ext cx="11049000" cy="3790950"/>
              <a:chOff x="571500" y="1447800"/>
              <a:chExt cx="11049000" cy="37909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10020300" y="1981200"/>
                <a:ext cx="1600200" cy="3257550"/>
              </a:xfrm>
              <a:prstGeom prst="rect">
                <a:avLst/>
              </a:prstGeom>
              <a:solidFill>
                <a:srgbClr val="E9EEFA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447800"/>
                <a:ext cx="11049000" cy="533400"/>
              </a:xfrm>
              <a:prstGeom prst="rect">
                <a:avLst/>
              </a:prstGeom>
              <a:solidFill>
                <a:srgbClr val="0B41CD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10020300" y="1447800"/>
                <a:ext cx="1600200" cy="533400"/>
              </a:xfrm>
              <a:prstGeom prst="rect">
                <a:avLst/>
              </a:prstGeom>
              <a:solidFill>
                <a:srgbClr val="1482FA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57047" y="1656874"/>
                <a:ext cx="85214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spc="112" dirty="0">
                    <a:solidFill>
                      <a:srgbClr val="FFFFFF"/>
                    </a:solidFill>
                    <a:latin typeface="Roche Sans Medium"/>
                    <a:ea typeface="Roche Sans Medium"/>
                    <a:cs typeface="Roche Sans Medium"/>
                  </a:rPr>
                  <a:t>BENCHMARK</a:t>
                </a:r>
              </a:p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4156261" y="1599724"/>
                <a:ext cx="6961938" cy="362140"/>
                <a:chOff x="4156261" y="1599724"/>
                <a:chExt cx="6961938" cy="362140"/>
              </a:xfrm>
            </p:grpSpPr>
            <p:sp>
              <p:nvSpPr>
                <p:cNvPr id="12" name="TextBox 12"/>
                <p:cNvSpPr txBox="1"/>
                <p:nvPr/>
              </p:nvSpPr>
              <p:spPr>
                <a:xfrm>
                  <a:off x="4156261" y="1666399"/>
                  <a:ext cx="526677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80" dirty="0">
                      <a:solidFill>
                        <a:srgbClr val="FFFFFF"/>
                      </a:solidFill>
                      <a:latin typeface="Roche Sans Medium"/>
                      <a:ea typeface="Roche Sans Medium"/>
                      <a:cs typeface="Roche Sans Medium"/>
                    </a:rPr>
                    <a:t>R1-Zero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5867743" y="1666399"/>
                  <a:ext cx="30411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80" dirty="0">
                      <a:solidFill>
                        <a:srgbClr val="FFFFFF"/>
                      </a:solidFill>
                      <a:latin typeface="Roche Sans Medium"/>
                      <a:ea typeface="Roche Sans Medium"/>
                      <a:cs typeface="Roche Sans Medium"/>
                    </a:rPr>
                    <a:t>Dev1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7467943" y="1666399"/>
                  <a:ext cx="30411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80" dirty="0">
                      <a:solidFill>
                        <a:srgbClr val="FFFFFF"/>
                      </a:solidFill>
                      <a:latin typeface="Roche Sans Medium"/>
                      <a:ea typeface="Roche Sans Medium"/>
                      <a:cs typeface="Roche Sans Medium"/>
                    </a:rPr>
                    <a:t>Dev2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9068143" y="1666399"/>
                  <a:ext cx="304114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80" dirty="0">
                      <a:solidFill>
                        <a:srgbClr val="FFFFFF"/>
                      </a:solidFill>
                      <a:latin typeface="Roche Sans Medium"/>
                      <a:ea typeface="Roche Sans Medium"/>
                      <a:cs typeface="Roche Sans Medium"/>
                    </a:rPr>
                    <a:t>Dev3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0522601" y="1599724"/>
                  <a:ext cx="595598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80" dirty="0">
                      <a:solidFill>
                        <a:srgbClr val="FFFFFF"/>
                      </a:solidFill>
                      <a:latin typeface="Roche Sans Medium"/>
                      <a:ea typeface="Roche Sans Medium"/>
                      <a:cs typeface="Roche Sans Medium"/>
                    </a:rPr>
                    <a:t>DeepSeek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10739171" y="1771174"/>
                  <a:ext cx="162458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80" dirty="0">
                      <a:solidFill>
                        <a:srgbClr val="FFFFFF"/>
                      </a:solidFill>
                      <a:latin typeface="Roche Sans Medium"/>
                      <a:ea typeface="Roche Sans Medium"/>
                      <a:cs typeface="Roche Sans Medium"/>
                    </a:rPr>
                    <a:t>R1</a:t>
                  </a:r>
                </a:p>
              </p:txBody>
            </p:sp>
          </p:grpSp>
          <p:grpSp>
            <p:nvGrpSpPr>
              <p:cNvPr id="23" name="Group 23"/>
              <p:cNvGrpSpPr/>
              <p:nvPr/>
            </p:nvGrpSpPr>
            <p:grpSpPr>
              <a:xfrm>
                <a:off x="3619500" y="1447800"/>
                <a:ext cx="4810125" cy="3790950"/>
                <a:chOff x="3619500" y="1447800"/>
                <a:chExt cx="4810125" cy="3790950"/>
              </a:xfrm>
            </p:grpSpPr>
            <p:sp>
              <p:nvSpPr>
                <p:cNvPr id="19" name="Line 19"/>
                <p:cNvSpPr/>
                <p:nvPr/>
              </p:nvSpPr>
              <p:spPr>
                <a:xfrm>
                  <a:off x="3619500" y="1447800"/>
                  <a:ext cx="9525" cy="3790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790950">
                      <a:moveTo>
                        <a:pt x="0" y="0"/>
                      </a:moveTo>
                      <a:lnTo>
                        <a:pt x="0" y="379095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20" name="Line 20"/>
                <p:cNvSpPr/>
                <p:nvPr/>
              </p:nvSpPr>
              <p:spPr>
                <a:xfrm>
                  <a:off x="5219700" y="1981200"/>
                  <a:ext cx="9525" cy="325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257550">
                      <a:moveTo>
                        <a:pt x="0" y="0"/>
                      </a:moveTo>
                      <a:lnTo>
                        <a:pt x="0" y="325755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21" name="Line 21"/>
                <p:cNvSpPr/>
                <p:nvPr/>
              </p:nvSpPr>
              <p:spPr>
                <a:xfrm>
                  <a:off x="6819900" y="1981200"/>
                  <a:ext cx="9525" cy="325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257550">
                      <a:moveTo>
                        <a:pt x="0" y="0"/>
                      </a:moveTo>
                      <a:lnTo>
                        <a:pt x="0" y="325755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22" name="Line 22"/>
                <p:cNvSpPr/>
                <p:nvPr/>
              </p:nvSpPr>
              <p:spPr>
                <a:xfrm>
                  <a:off x="8420100" y="1981200"/>
                  <a:ext cx="9525" cy="325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257550">
                      <a:moveTo>
                        <a:pt x="0" y="0"/>
                      </a:moveTo>
                      <a:lnTo>
                        <a:pt x="0" y="325755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</p:grpSp>
          <p:sp>
            <p:nvSpPr>
              <p:cNvPr id="24" name="Line 24"/>
              <p:cNvSpPr/>
              <p:nvPr/>
            </p:nvSpPr>
            <p:spPr>
              <a:xfrm>
                <a:off x="10020300" y="1447800"/>
                <a:ext cx="9525" cy="3790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90950">
                    <a:moveTo>
                      <a:pt x="0" y="0"/>
                    </a:moveTo>
                    <a:lnTo>
                      <a:pt x="0" y="3790950"/>
                    </a:lnTo>
                  </a:path>
                </a:pathLst>
              </a:custGeom>
              <a:noFill/>
              <a:ln w="14288">
                <a:solidFill>
                  <a:srgbClr val="0B41CD"/>
                </a:solidFill>
              </a:ln>
            </p:spPr>
          </p:sp>
          <p:grpSp>
            <p:nvGrpSpPr>
              <p:cNvPr id="66" name="Group 66"/>
              <p:cNvGrpSpPr/>
              <p:nvPr/>
            </p:nvGrpSpPr>
            <p:grpSpPr>
              <a:xfrm>
                <a:off x="571500" y="2175510"/>
                <a:ext cx="11049000" cy="2958846"/>
                <a:chOff x="571500" y="2175510"/>
                <a:chExt cx="11049000" cy="2958846"/>
              </a:xfrm>
            </p:grpSpPr>
            <p:sp>
              <p:nvSpPr>
                <p:cNvPr id="25" name="TextBox 25"/>
                <p:cNvSpPr txBox="1"/>
                <p:nvPr/>
              </p:nvSpPr>
              <p:spPr>
                <a:xfrm>
                  <a:off x="755904" y="2175510"/>
                  <a:ext cx="80589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rgbClr val="333333"/>
                      </a:solidFill>
                      <a:latin typeface="Roche Sans Medium"/>
                      <a:ea typeface="Roche Sans Medium"/>
                      <a:cs typeface="Roche Sans Medium"/>
                    </a:rPr>
                    <a:t>AIME 2024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4235806" y="218503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77.9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5836006" y="218503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59.0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7436206" y="218503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74.0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9036406" y="218503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78.1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10627721" y="2185035"/>
                  <a:ext cx="38535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007A3B"/>
                      </a:solidFill>
                      <a:latin typeface="Consolas"/>
                      <a:ea typeface="Consolas"/>
                      <a:cs typeface="Consolas"/>
                    </a:rPr>
                    <a:t>79.8</a:t>
                  </a:r>
                </a:p>
              </p:txBody>
            </p:sp>
            <p:sp>
              <p:nvSpPr>
                <p:cNvPr id="31" name="Line 31"/>
                <p:cNvSpPr/>
                <p:nvPr/>
              </p:nvSpPr>
              <p:spPr>
                <a:xfrm>
                  <a:off x="571500" y="2524125"/>
                  <a:ext cx="11049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9000" h="9525">
                      <a:moveTo>
                        <a:pt x="0" y="0"/>
                      </a:moveTo>
                      <a:lnTo>
                        <a:pt x="11049000" y="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755904" y="2718435"/>
                  <a:ext cx="797357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rgbClr val="333333"/>
                      </a:solidFill>
                      <a:latin typeface="Roche Sans Medium"/>
                      <a:ea typeface="Roche Sans Medium"/>
                      <a:cs typeface="Roche Sans Medium"/>
                    </a:rPr>
                    <a:t>MATH-500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4235806" y="272796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95.9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5836006" y="272796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94.2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7436206" y="272796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95.9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9036406" y="272796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95.4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10627721" y="2727960"/>
                  <a:ext cx="38535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0B41CD"/>
                      </a:solidFill>
                      <a:latin typeface="Consolas"/>
                      <a:ea typeface="Consolas"/>
                      <a:cs typeface="Consolas"/>
                    </a:rPr>
                    <a:t>97.3</a:t>
                  </a:r>
                </a:p>
              </p:txBody>
            </p:sp>
            <p:sp>
              <p:nvSpPr>
                <p:cNvPr id="38" name="Line 38"/>
                <p:cNvSpPr/>
                <p:nvPr/>
              </p:nvSpPr>
              <p:spPr>
                <a:xfrm>
                  <a:off x="571500" y="3067050"/>
                  <a:ext cx="11049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9000" h="9525">
                      <a:moveTo>
                        <a:pt x="0" y="0"/>
                      </a:moveTo>
                      <a:lnTo>
                        <a:pt x="11049000" y="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755904" y="3261360"/>
                  <a:ext cx="154301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rgbClr val="333333"/>
                      </a:solidFill>
                      <a:latin typeface="Roche Sans Medium"/>
                      <a:ea typeface="Roche Sans Medium"/>
                      <a:cs typeface="Roche Sans Medium"/>
                    </a:rPr>
                    <a:t xml:space="preserve">Codeforces </a:t>
                  </a:r>
                  <a:r>
                    <a:rPr lang="en-US" sz="1200" i="1" dirty="0">
                      <a:solidFill>
                        <a:srgbClr val="706B69"/>
                      </a:solidFill>
                      <a:latin typeface="Roche Serif Light"/>
                      <a:ea typeface="Roche Serif Light"/>
                      <a:cs typeface="Roche Serif Light"/>
                    </a:rPr>
                    <a:t>rating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4235806" y="327088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1444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5836006" y="327088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1534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7436206" y="327088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1687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9036406" y="327088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1746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10627721" y="3270885"/>
                  <a:ext cx="38535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0B41CD"/>
                      </a:solidFill>
                      <a:latin typeface="Consolas"/>
                      <a:ea typeface="Consolas"/>
                      <a:cs typeface="Consolas"/>
                    </a:rPr>
                    <a:t>2029</a:t>
                  </a:r>
                </a:p>
              </p:txBody>
            </p:sp>
            <p:sp>
              <p:nvSpPr>
                <p:cNvPr id="45" name="Line 45"/>
                <p:cNvSpPr/>
                <p:nvPr/>
              </p:nvSpPr>
              <p:spPr>
                <a:xfrm>
                  <a:off x="571500" y="3609975"/>
                  <a:ext cx="11049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9000" h="9525">
                      <a:moveTo>
                        <a:pt x="0" y="0"/>
                      </a:moveTo>
                      <a:lnTo>
                        <a:pt x="11049000" y="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755904" y="3804285"/>
                  <a:ext cx="108924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rgbClr val="333333"/>
                      </a:solidFill>
                      <a:latin typeface="Roche Sans Medium"/>
                      <a:ea typeface="Roche Sans Medium"/>
                      <a:cs typeface="Roche Sans Medium"/>
                    </a:rPr>
                    <a:t>GPQA Diamond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4235806" y="381381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75.8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5836006" y="381381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66.1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7436206" y="381381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70.7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9036406" y="381381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71.2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10627721" y="3813810"/>
                  <a:ext cx="38535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0B41CD"/>
                      </a:solidFill>
                      <a:latin typeface="Consolas"/>
                      <a:ea typeface="Consolas"/>
                      <a:cs typeface="Consolas"/>
                    </a:rPr>
                    <a:t>71.5</a:t>
                  </a:r>
                </a:p>
              </p:txBody>
            </p:sp>
            <p:sp>
              <p:nvSpPr>
                <p:cNvPr id="52" name="Line 52"/>
                <p:cNvSpPr/>
                <p:nvPr/>
              </p:nvSpPr>
              <p:spPr>
                <a:xfrm>
                  <a:off x="571500" y="4152900"/>
                  <a:ext cx="11049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9000" h="9525">
                      <a:moveTo>
                        <a:pt x="0" y="0"/>
                      </a:moveTo>
                      <a:lnTo>
                        <a:pt x="11049000" y="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755904" y="4347210"/>
                  <a:ext cx="1147633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rgbClr val="333333"/>
                      </a:solidFill>
                      <a:latin typeface="Roche Sans Medium"/>
                      <a:ea typeface="Roche Sans Medium"/>
                      <a:cs typeface="Roche Sans Medium"/>
                    </a:rPr>
                    <a:t>AlpacaEval 2.0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4235806" y="435673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24.7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5836006" y="435673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50.1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7436206" y="435673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55.8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9036406" y="435673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62.1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10627721" y="4356735"/>
                  <a:ext cx="38535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007A3B"/>
                      </a:solidFill>
                      <a:latin typeface="Consolas"/>
                      <a:ea typeface="Consolas"/>
                      <a:cs typeface="Consolas"/>
                    </a:rPr>
                    <a:t>87.6</a:t>
                  </a:r>
                </a:p>
              </p:txBody>
            </p:sp>
            <p:sp>
              <p:nvSpPr>
                <p:cNvPr id="59" name="Line 59"/>
                <p:cNvSpPr/>
                <p:nvPr/>
              </p:nvSpPr>
              <p:spPr>
                <a:xfrm>
                  <a:off x="571500" y="4695825"/>
                  <a:ext cx="11049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9000" h="9525">
                      <a:moveTo>
                        <a:pt x="0" y="0"/>
                      </a:moveTo>
                      <a:lnTo>
                        <a:pt x="11049000" y="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755904" y="4890135"/>
                  <a:ext cx="821893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rgbClr val="333333"/>
                      </a:solidFill>
                      <a:latin typeface="Roche Sans Medium"/>
                      <a:ea typeface="Roche Sans Medium"/>
                      <a:cs typeface="Roche Sans Medium"/>
                    </a:rPr>
                    <a:t>ArenaHard</a:t>
                  </a: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4235806" y="489966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53.6</a:t>
                  </a: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5836006" y="489966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77.0</a:t>
                  </a: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7436206" y="489966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73.2</a:t>
                  </a: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9036406" y="4899660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75.6</a:t>
                  </a:r>
                </a:p>
              </p:txBody>
            </p:sp>
            <p:sp>
              <p:nvSpPr>
                <p:cNvPr id="65" name="TextBox 65"/>
                <p:cNvSpPr txBox="1"/>
                <p:nvPr/>
              </p:nvSpPr>
              <p:spPr>
                <a:xfrm>
                  <a:off x="10627721" y="4899660"/>
                  <a:ext cx="38535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007A3B"/>
                      </a:solidFill>
                      <a:latin typeface="Consolas"/>
                      <a:ea typeface="Consolas"/>
                      <a:cs typeface="Consolas"/>
                    </a:rPr>
                    <a:t>92.3</a:t>
                  </a:r>
                </a:p>
              </p:txBody>
            </p:sp>
          </p:grpSp>
        </p:grpSp>
      </p:grpSp>
      <p:grpSp>
        <p:nvGrpSpPr>
          <p:cNvPr id="74" name="Group 74"/>
          <p:cNvGrpSpPr/>
          <p:nvPr/>
        </p:nvGrpSpPr>
        <p:grpSpPr>
          <a:xfrm>
            <a:off x="571500" y="5391150"/>
            <a:ext cx="11049000" cy="834961"/>
            <a:chOff x="571500" y="5391150"/>
            <a:chExt cx="11049000" cy="834961"/>
          </a:xfrm>
        </p:grpSpPr>
        <p:sp>
          <p:nvSpPr>
            <p:cNvPr id="69" name="Rectangle 69"/>
            <p:cNvSpPr/>
            <p:nvPr/>
          </p:nvSpPr>
          <p:spPr>
            <a:xfrm>
              <a:off x="571500" y="5391150"/>
              <a:ext cx="11049000" cy="819150"/>
            </a:xfrm>
            <a:prstGeom prst="roundRect">
              <a:avLst>
                <a:gd name="adj" fmla="val 11628"/>
              </a:avLst>
            </a:prstGeom>
            <a:solidFill>
              <a:srgbClr val="F5F7FA"/>
            </a:solidFill>
            <a:ln w="9525">
              <a:solidFill>
                <a:srgbClr val="E0E0E0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571500" y="5391150"/>
              <a:ext cx="47625" cy="819150"/>
            </a:xfrm>
            <a:prstGeom prst="roundRect">
              <a:avLst>
                <a:gd name="adj" fmla="val 50000"/>
              </a:avLst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47547" y="5552599"/>
              <a:ext cx="20005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READ THE TABLE LIKE THIS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45642" y="5778818"/>
              <a:ext cx="88436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 xml:space="preserve">Reasoning is already high at R1-Zero; later stages mostly lift </a:t>
              </a:r>
              <a:r>
                <a:rPr lang="en-US" sz="1350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alignment</a:t>
              </a:r>
              <a:r>
                <a:rPr lang="en-US" sz="13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 xml:space="preserve"> — AlpacaEval and ArenaHard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47166" y="6020752"/>
              <a:ext cx="87431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climb steeply into the final R1 (+25% and +17% at the last step), while math and code hold or improve. Nothing is traded away.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66738" y="6578441"/>
            <a:ext cx="11058525" cy="161925"/>
            <a:chOff x="566738" y="6578441"/>
            <a:chExt cx="11058525" cy="161925"/>
          </a:xfrm>
        </p:grpSpPr>
        <p:sp>
          <p:nvSpPr>
            <p:cNvPr id="75" name="TextBox 75"/>
            <p:cNvSpPr txBox="1"/>
            <p:nvPr/>
          </p:nvSpPr>
          <p:spPr>
            <a:xfrm>
              <a:off x="566738" y="6578441"/>
              <a:ext cx="42238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Source: DeepSeek-AI 2026, §4, Table 3 (results at each developmental stage)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493570" y="65784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04800"/>
            <a:ext cx="800100" cy="416242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571500" y="533400"/>
            <a:ext cx="9864998" cy="656939"/>
            <a:chOff x="571500" y="533400"/>
            <a:chExt cx="9864998" cy="656939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7146" y="581978"/>
              <a:ext cx="96493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Reasoning transfers: one big teacher, six small students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95147" y="999649"/>
              <a:ext cx="41298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DISTILLATION · §F · SFT-ONLY KNOWLEDGE TRANSFER</a:t>
              </a:r>
            </a:p>
          </p:txBody>
        </p:sp>
      </p:grpSp>
      <p:sp>
        <p:nvSpPr>
          <p:cNvPr id="7" name="Rectangle 7"/>
          <p:cNvSpPr/>
          <p:nvPr/>
        </p:nvSpPr>
        <p:spPr>
          <a:xfrm>
            <a:off x="762000" y="1790700"/>
            <a:ext cx="1905000" cy="2190750"/>
          </a:xfrm>
          <a:prstGeom prst="roundRect">
            <a:avLst>
              <a:gd name="adj" fmla="val 6000"/>
            </a:avLst>
          </a:prstGeom>
          <a:gradFill>
            <a:gsLst>
              <a:gs pos="0">
                <a:srgbClr val="0B41CD"/>
              </a:gs>
              <a:gs pos="100000">
                <a:srgbClr val="1482FA"/>
              </a:gs>
            </a:gsLst>
            <a:lin ang="540000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527048" y="2481262"/>
            <a:ext cx="3749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250" dirty="0">
                <a:solidFill>
                  <a:srgbClr val="FFFFFF"/>
                </a:solidFill>
                <a:latin typeface="Roche Sans Light"/>
                <a:ea typeface="Roche Sans Light"/>
                <a:cs typeface="Roche Sans Light"/>
              </a:rPr>
              <a:t>R1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9248" y="2896552"/>
            <a:ext cx="8305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FFFFFF"/>
                </a:solidFill>
                <a:latin typeface="Roche Sans Medium"/>
                <a:ea typeface="Roche Sans Medium"/>
                <a:cs typeface="Roche Sans Medium"/>
              </a:rPr>
              <a:t>the teacher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7623" y="3247549"/>
            <a:ext cx="13537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FFFFFF">
                    <a:alphaMod val="90000"/>
                  </a:srgbClr>
                </a:solidFill>
                <a:latin typeface="Roche Sans"/>
                <a:ea typeface="Roche Sans"/>
                <a:cs typeface="Roche Sans"/>
              </a:rPr>
              <a:t>671B reasoning model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009900" y="2362200"/>
            <a:ext cx="1428750" cy="1047750"/>
          </a:xfrm>
          <a:prstGeom prst="roundRect">
            <a:avLst>
              <a:gd name="adj" fmla="val 9091"/>
            </a:avLst>
          </a:prstGeom>
          <a:solidFill>
            <a:srgbClr val="E9EEFA"/>
          </a:solidFill>
          <a:ln w="14288">
            <a:solidFill>
              <a:srgbClr val="1482F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425609" y="2494598"/>
            <a:ext cx="59733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950" dirty="0">
                <a:solidFill>
                  <a:srgbClr val="0B41CD"/>
                </a:solidFill>
                <a:latin typeface="Roche Sans Light"/>
                <a:ea typeface="Roche Sans Light"/>
                <a:cs typeface="Roche Sans Light"/>
              </a:rPr>
              <a:t>800k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74616" y="2828449"/>
            <a:ext cx="1099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0B41CD"/>
                </a:solidFill>
                <a:latin typeface="Roche Sans Medium"/>
                <a:ea typeface="Roche Sans Medium"/>
                <a:cs typeface="Roche Sans Medium"/>
              </a:rPr>
              <a:t>reasoning traces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50373" y="3065145"/>
            <a:ext cx="9478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706B69"/>
                </a:solidFill>
                <a:latin typeface="Roche Sans"/>
                <a:ea typeface="Roche Sans"/>
                <a:cs typeface="Roche Sans"/>
              </a:rPr>
              <a:t>SFT only · no RL</a:t>
            </a:r>
          </a:p>
        </p:txBody>
      </p:sp>
      <p:sp>
        <p:nvSpPr>
          <p:cNvPr id="15" name="Line 15"/>
          <p:cNvSpPr/>
          <p:nvPr/>
        </p:nvSpPr>
        <p:spPr>
          <a:xfrm>
            <a:off x="2667000" y="2886075"/>
            <a:ext cx="323850" cy="1"/>
          </a:xfrm>
          <a:prstGeom prst="line">
            <a:avLst/>
          </a:prstGeom>
          <a:noFill/>
          <a:ln w="17145">
            <a:solidFill>
              <a:srgbClr val="0B41CD"/>
            </a:solidFill>
            <a:tailEnd type="triangle" w="lg" len="lg"/>
          </a:ln>
        </p:spPr>
      </p:sp>
      <p:sp>
        <p:nvSpPr>
          <p:cNvPr id="16" name="Line 16"/>
          <p:cNvSpPr/>
          <p:nvPr/>
        </p:nvSpPr>
        <p:spPr>
          <a:xfrm>
            <a:off x="4438650" y="2886075"/>
            <a:ext cx="323850" cy="1"/>
          </a:xfrm>
          <a:prstGeom prst="line">
            <a:avLst/>
          </a:prstGeom>
          <a:noFill/>
          <a:ln w="17145">
            <a:solidFill>
              <a:srgbClr val="0B41CD"/>
            </a:solidFill>
            <a:tailEnd type="triangle" w="lg" len="lg"/>
          </a:ln>
        </p:spPr>
      </p:sp>
      <p:grpSp>
        <p:nvGrpSpPr>
          <p:cNvPr id="44" name="Group 44"/>
          <p:cNvGrpSpPr/>
          <p:nvPr/>
        </p:nvGrpSpPr>
        <p:grpSpPr>
          <a:xfrm>
            <a:off x="4857750" y="1676400"/>
            <a:ext cx="6762750" cy="2419350"/>
            <a:chOff x="4857750" y="1676400"/>
            <a:chExt cx="6762750" cy="2419350"/>
          </a:xfrm>
        </p:grpSpPr>
        <p:sp>
          <p:nvSpPr>
            <p:cNvPr id="17" name="Rectangle 17"/>
            <p:cNvSpPr/>
            <p:nvPr/>
          </p:nvSpPr>
          <p:spPr>
            <a:xfrm>
              <a:off x="4857750" y="1676400"/>
              <a:ext cx="6762750" cy="2419350"/>
            </a:xfrm>
            <a:prstGeom prst="roundRect">
              <a:avLst>
                <a:gd name="adj" fmla="val 4724"/>
              </a:avLst>
            </a:prstGeom>
            <a:solidFill>
              <a:srgbClr val="F7F9FE"/>
            </a:solidFill>
            <a:ln w="9525">
              <a:solidFill>
                <a:srgbClr val="E0E0E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138738" y="1864995"/>
              <a:ext cx="32123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SIX OPEN MODELS DISTILLED · Qwen &amp; Llama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5105400" y="2133600"/>
              <a:ext cx="6267450" cy="1790700"/>
              <a:chOff x="5105400" y="2133600"/>
              <a:chExt cx="6267450" cy="17907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105400" y="2133600"/>
                <a:ext cx="200025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5105400" y="2133600"/>
                <a:ext cx="47625" cy="838200"/>
              </a:xfrm>
              <a:prstGeom prst="roundRect">
                <a:avLst>
                  <a:gd name="adj" fmla="val 50000"/>
                </a:avLst>
              </a:prstGeom>
              <a:solidFill>
                <a:srgbClr val="95C7FD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5308854" y="2308860"/>
                <a:ext cx="89602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0B41CD"/>
                    </a:solidFill>
                    <a:latin typeface="Roche Sans Medium"/>
                    <a:ea typeface="Roche Sans Medium"/>
                    <a:cs typeface="Roche Sans Medium"/>
                  </a:rPr>
                  <a:t>Qwen-1.5B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310188" y="2607945"/>
                <a:ext cx="126311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706B69"/>
                    </a:solidFill>
                    <a:latin typeface="Roche Sans"/>
                    <a:ea typeface="Roche Sans"/>
                    <a:cs typeface="Roche Sans"/>
                  </a:rPr>
                  <a:t>base: Qwen2.5-Math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7239000" y="2133600"/>
                <a:ext cx="200025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7239000" y="2133600"/>
                <a:ext cx="47625" cy="838200"/>
              </a:xfrm>
              <a:prstGeom prst="roundRect">
                <a:avLst>
                  <a:gd name="adj" fmla="val 50000"/>
                </a:avLst>
              </a:prstGeom>
              <a:solidFill>
                <a:srgbClr val="5FAAFC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442454" y="2308860"/>
                <a:ext cx="71429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0B41CD"/>
                    </a:solidFill>
                    <a:latin typeface="Roche Sans Medium"/>
                    <a:ea typeface="Roche Sans Medium"/>
                    <a:cs typeface="Roche Sans Medium"/>
                  </a:rPr>
                  <a:t>Qwen-7B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443788" y="2607945"/>
                <a:ext cx="126311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706B69"/>
                    </a:solidFill>
                    <a:latin typeface="Roche Sans"/>
                    <a:ea typeface="Roche Sans"/>
                    <a:cs typeface="Roche Sans"/>
                  </a:rPr>
                  <a:t>base: Qwen2.5-Math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9372600" y="2133600"/>
                <a:ext cx="200025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9372600" y="2133600"/>
                <a:ext cx="47625" cy="838200"/>
              </a:xfrm>
              <a:prstGeom prst="roundRect">
                <a:avLst>
                  <a:gd name="adj" fmla="val 50000"/>
                </a:avLst>
              </a:prstGeom>
              <a:solidFill>
                <a:srgbClr val="1482FA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9576054" y="2308860"/>
                <a:ext cx="8051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0B41CD"/>
                    </a:solidFill>
                    <a:latin typeface="Roche Sans Medium"/>
                    <a:ea typeface="Roche Sans Medium"/>
                    <a:cs typeface="Roche Sans Medium"/>
                  </a:rPr>
                  <a:t>Qwen-14B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577388" y="2607945"/>
                <a:ext cx="90023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706B69"/>
                    </a:solidFill>
                    <a:latin typeface="Roche Sans"/>
                    <a:ea typeface="Roche Sans"/>
                    <a:cs typeface="Roche Sans"/>
                  </a:rPr>
                  <a:t>base: Qwen2.5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5105400" y="3086100"/>
                <a:ext cx="200025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5105400" y="3086100"/>
                <a:ext cx="47625" cy="838200"/>
              </a:xfrm>
              <a:prstGeom prst="roundRect">
                <a:avLst>
                  <a:gd name="adj" fmla="val 50000"/>
                </a:avLst>
              </a:prstGeom>
              <a:solidFill>
                <a:srgbClr val="0F5EE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5308854" y="3261360"/>
                <a:ext cx="8051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0B41CD"/>
                    </a:solidFill>
                    <a:latin typeface="Roche Sans Medium"/>
                    <a:ea typeface="Roche Sans Medium"/>
                    <a:cs typeface="Roche Sans Medium"/>
                  </a:rPr>
                  <a:t>Qwen-32B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310188" y="3560445"/>
                <a:ext cx="90023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706B69"/>
                    </a:solidFill>
                    <a:latin typeface="Roche Sans"/>
                    <a:ea typeface="Roche Sans"/>
                    <a:cs typeface="Roche Sans"/>
                  </a:rPr>
                  <a:t>base: Qwen2.5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7239000" y="3086100"/>
                <a:ext cx="200025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7239000" y="3086100"/>
                <a:ext cx="47625" cy="838200"/>
              </a:xfrm>
              <a:prstGeom prst="roundRect">
                <a:avLst>
                  <a:gd name="adj" fmla="val 50000"/>
                </a:avLst>
              </a:prstGeom>
              <a:solidFill>
                <a:srgbClr val="5FAAFC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442454" y="3261360"/>
                <a:ext cx="7281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0B41CD"/>
                    </a:solidFill>
                    <a:latin typeface="Roche Sans Medium"/>
                    <a:ea typeface="Roche Sans Medium"/>
                    <a:cs typeface="Roche Sans Medium"/>
                  </a:rPr>
                  <a:t>Llama-8B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443788" y="3560445"/>
                <a:ext cx="9787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706B69"/>
                    </a:solidFill>
                    <a:latin typeface="Roche Sans"/>
                    <a:ea typeface="Roche Sans"/>
                    <a:cs typeface="Roche Sans"/>
                  </a:rPr>
                  <a:t>base: Llama-3.1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9372600" y="3086100"/>
                <a:ext cx="2000250" cy="838200"/>
              </a:xfrm>
              <a:prstGeom prst="roundRect">
                <a:avLst>
                  <a:gd name="adj" fmla="val 11364"/>
                </a:avLst>
              </a:prstGeom>
              <a:solidFill>
                <a:srgbClr val="FFFFFF"/>
              </a:solidFill>
              <a:ln w="9525">
                <a:solidFill>
                  <a:srgbClr val="E0E0E0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9372600" y="3086100"/>
                <a:ext cx="47625" cy="838200"/>
              </a:xfrm>
              <a:prstGeom prst="roundRect">
                <a:avLst>
                  <a:gd name="adj" fmla="val 50000"/>
                </a:avLst>
              </a:prstGeom>
              <a:solidFill>
                <a:srgbClr val="0B41CD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9576054" y="3261360"/>
                <a:ext cx="81869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0B41CD"/>
                    </a:solidFill>
                    <a:latin typeface="Roche Sans Medium"/>
                    <a:ea typeface="Roche Sans Medium"/>
                    <a:cs typeface="Roche Sans Medium"/>
                  </a:rPr>
                  <a:t>Llama-70B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577388" y="3560445"/>
                <a:ext cx="9787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rgbClr val="706B69"/>
                    </a:solidFill>
                    <a:latin typeface="Roche Sans"/>
                    <a:ea typeface="Roche Sans"/>
                    <a:cs typeface="Roche Sans"/>
                  </a:rPr>
                  <a:t>base: Llama-3.3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571500" y="4305300"/>
            <a:ext cx="5334000" cy="1809750"/>
            <a:chOff x="571500" y="4305300"/>
            <a:chExt cx="5334000" cy="1809750"/>
          </a:xfrm>
        </p:grpSpPr>
        <p:sp>
          <p:nvSpPr>
            <p:cNvPr id="45" name="Rectangle 45"/>
            <p:cNvSpPr/>
            <p:nvPr/>
          </p:nvSpPr>
          <p:spPr>
            <a:xfrm>
              <a:off x="571500" y="4305300"/>
              <a:ext cx="5334000" cy="1809750"/>
            </a:xfrm>
            <a:prstGeom prst="roundRect">
              <a:avLst>
                <a:gd name="adj" fmla="val 6316"/>
              </a:avLst>
            </a:prstGeom>
            <a:solidFill>
              <a:srgbClr val="FFFFFF"/>
            </a:solidFill>
            <a:ln w="14288">
              <a:solidFill>
                <a:srgbClr val="E0E0E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71500" y="4305300"/>
              <a:ext cx="47625" cy="18097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B41CD"/>
                </a:gs>
                <a:gs pos="100000">
                  <a:srgbClr val="1482F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71538" y="4531995"/>
              <a:ext cx="8736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WHY DISTILL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8680" y="4791075"/>
              <a:ext cx="3293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Democratize powerful reasoning.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0585" y="5136356"/>
              <a:ext cx="42247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Frontier LLMs are energy- and compute-heavy. Distilling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0585" y="5345906"/>
              <a:ext cx="37043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R1's reasoning into small open models puts strong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0585" y="5555456"/>
              <a:ext cx="32978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reasoning within reach of modest hardware.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0966" y="5849302"/>
              <a:ext cx="44635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rgbClr val="706B69"/>
                  </a:solidFill>
                  <a:latin typeface="Roche Serif Light"/>
                  <a:ea typeface="Roche Serif Light"/>
                  <a:cs typeface="Roche Serif Light"/>
                </a:rPr>
                <a:t>RL is left to the community — SFT alone already carries far.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286500" y="4305300"/>
            <a:ext cx="5334000" cy="1809750"/>
            <a:chOff x="6286500" y="4305300"/>
            <a:chExt cx="5334000" cy="1809750"/>
          </a:xfrm>
        </p:grpSpPr>
        <p:sp>
          <p:nvSpPr>
            <p:cNvPr id="54" name="Rectangle 54"/>
            <p:cNvSpPr/>
            <p:nvPr/>
          </p:nvSpPr>
          <p:spPr>
            <a:xfrm>
              <a:off x="6286500" y="4305300"/>
              <a:ext cx="5334000" cy="1809750"/>
            </a:xfrm>
            <a:prstGeom prst="roundRect">
              <a:avLst>
                <a:gd name="adj" fmla="val 6316"/>
              </a:avLst>
            </a:prstGeom>
            <a:solidFill>
              <a:srgbClr val="F5F7FA"/>
            </a:solidFill>
            <a:ln w="14288">
              <a:solidFill>
                <a:srgbClr val="E0E0E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86500" y="4305300"/>
              <a:ext cx="47625" cy="1809750"/>
            </a:xfrm>
            <a:prstGeom prst="roundRect">
              <a:avLst>
                <a:gd name="adj" fmla="val 50000"/>
              </a:avLst>
            </a:prstGeom>
            <a:solidFill>
              <a:srgbClr val="007A3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86538" y="4531995"/>
              <a:ext cx="11616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12" dirty="0">
                  <a:solidFill>
                    <a:srgbClr val="007A3B"/>
                  </a:solidFill>
                  <a:latin typeface="Roche Sans Medium"/>
                  <a:ea typeface="Roche Sans Medium"/>
                  <a:cs typeface="Roche Sans Medium"/>
                </a:rPr>
                <a:t>THE KEY FINDING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83680" y="4791075"/>
              <a:ext cx="38000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Distilling beats training small with RL.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85585" y="5136356"/>
              <a:ext cx="45674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Models distilled from a strong teacher's outputs outperform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85585" y="5345906"/>
              <a:ext cx="40626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the same small models trained directly on human data —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585585" y="5555456"/>
              <a:ext cx="33659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the discovered reasoning patterns transfer.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585966" y="5849302"/>
              <a:ext cx="4354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i="1" dirty="0">
                  <a:solidFill>
                    <a:srgbClr val="706B69"/>
                  </a:solidFill>
                  <a:latin typeface="Roche Serif Light"/>
                  <a:ea typeface="Roche Serif Light"/>
                  <a:cs typeface="Roche Serif Light"/>
                </a:rPr>
                <a:t>The next page shows how far the small models actually get.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66738" y="6521291"/>
            <a:ext cx="11058525" cy="161925"/>
            <a:chOff x="566738" y="6521291"/>
            <a:chExt cx="11058525" cy="161925"/>
          </a:xfrm>
        </p:grpSpPr>
        <p:sp>
          <p:nvSpPr>
            <p:cNvPr id="63" name="TextBox 63"/>
            <p:cNvSpPr txBox="1"/>
            <p:nvPr/>
          </p:nvSpPr>
          <p:spPr>
            <a:xfrm>
              <a:off x="566738" y="6521291"/>
              <a:ext cx="52650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Source: DeepSeek-AI 2026, §F (Distillation), Supplementary B.4.3 (base models, 800k SFT data)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493570" y="65212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04800"/>
            <a:ext cx="800100" cy="416242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571500" y="533400"/>
            <a:ext cx="7941930" cy="656939"/>
            <a:chOff x="571500" y="533400"/>
            <a:chExt cx="7941930" cy="656939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7146" y="581978"/>
              <a:ext cx="77262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Small distilled models outrun much larger ones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95147" y="999649"/>
              <a:ext cx="5461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DISTILLED MODELS VS GPT-4o &amp; CLAUDE-3.5 · §F · TABLE 15 · PASS@1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71500" y="1447800"/>
            <a:ext cx="11049000" cy="3829050"/>
            <a:chOff x="571500" y="1447800"/>
            <a:chExt cx="11049000" cy="3829050"/>
          </a:xfrm>
        </p:grpSpPr>
        <p:sp>
          <p:nvSpPr>
            <p:cNvPr id="7" name="Rectangle 7"/>
            <p:cNvSpPr/>
            <p:nvPr/>
          </p:nvSpPr>
          <p:spPr>
            <a:xfrm>
              <a:off x="571500" y="1447800"/>
              <a:ext cx="11049000" cy="3829050"/>
            </a:xfrm>
            <a:prstGeom prst="rect">
              <a:avLst/>
            </a:prstGeom>
            <a:noFill/>
            <a:ln w="19050">
              <a:solidFill>
                <a:srgbClr val="0B41CD"/>
              </a:solidFill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571500" y="1447800"/>
              <a:ext cx="11049000" cy="3829050"/>
              <a:chOff x="571500" y="1447800"/>
              <a:chExt cx="11049000" cy="38290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447800"/>
                <a:ext cx="11049000" cy="476250"/>
              </a:xfrm>
              <a:prstGeom prst="rect">
                <a:avLst/>
              </a:prstGeom>
              <a:solidFill>
                <a:srgbClr val="0B41CD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57047" y="1637824"/>
                <a:ext cx="51076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spc="112" dirty="0">
                    <a:solidFill>
                      <a:srgbClr val="FFFFFF"/>
                    </a:solidFill>
                    <a:latin typeface="Roche Sans Medium"/>
                    <a:ea typeface="Roche Sans Medium"/>
                    <a:cs typeface="Roche Sans Medium"/>
                  </a:rPr>
                  <a:t>MODEL</a:t>
                </a:r>
              </a:p>
            </p:txBody>
          </p:sp>
          <p:grpSp>
            <p:nvGrpSpPr>
              <p:cNvPr id="15" name="Group 15"/>
              <p:cNvGrpSpPr/>
              <p:nvPr/>
            </p:nvGrpSpPr>
            <p:grpSpPr>
              <a:xfrm>
                <a:off x="4460100" y="1645920"/>
                <a:ext cx="6738233" cy="176212"/>
                <a:chOff x="4460100" y="1645920"/>
                <a:chExt cx="6738233" cy="176212"/>
              </a:xfrm>
            </p:grpSpPr>
            <p:sp>
              <p:nvSpPr>
                <p:cNvPr id="10" name="TextBox 10"/>
                <p:cNvSpPr txBox="1"/>
                <p:nvPr/>
              </p:nvSpPr>
              <p:spPr>
                <a:xfrm>
                  <a:off x="4460100" y="1645920"/>
                  <a:ext cx="604799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FFFFFF"/>
                      </a:solidFill>
                      <a:latin typeface="Roche Sans Medium"/>
                      <a:ea typeface="Roche Sans Medium"/>
                      <a:cs typeface="Roche Sans Medium"/>
                    </a:rPr>
                    <a:t>AIME 2024</a:t>
                  </a:r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5987301" y="1645920"/>
                  <a:ext cx="598399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FFFFFF"/>
                      </a:solidFill>
                      <a:latin typeface="Roche Sans Medium"/>
                      <a:ea typeface="Roche Sans Medium"/>
                      <a:cs typeface="Roche Sans Medium"/>
                    </a:rPr>
                    <a:t>MATH-500</a:t>
                  </a: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7401843" y="1645920"/>
                  <a:ext cx="817314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FFFFFF"/>
                      </a:solidFill>
                      <a:latin typeface="Roche Sans Medium"/>
                      <a:ea typeface="Roche Sans Medium"/>
                      <a:cs typeface="Roche Sans Medium"/>
                    </a:rPr>
                    <a:t>GPQA Diamond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8906282" y="1645920"/>
                  <a:ext cx="856435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FFFFFF"/>
                      </a:solidFill>
                      <a:latin typeface="Roche Sans Medium"/>
                      <a:ea typeface="Roche Sans Medium"/>
                      <a:cs typeface="Roche Sans Medium"/>
                    </a:rPr>
                    <a:t>LiveCodeBench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0518667" y="1645920"/>
                  <a:ext cx="679666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900" dirty="0">
                      <a:solidFill>
                        <a:srgbClr val="FFFFFF"/>
                      </a:solidFill>
                      <a:latin typeface="Roche Sans Medium"/>
                      <a:ea typeface="Roche Sans Medium"/>
                      <a:cs typeface="Roche Sans Medium"/>
                    </a:rPr>
                    <a:t>Codeforces</a:t>
                  </a:r>
                </a:p>
              </p:txBody>
            </p:sp>
          </p:grpSp>
          <p:grpSp>
            <p:nvGrpSpPr>
              <p:cNvPr id="21" name="Group 21"/>
              <p:cNvGrpSpPr/>
              <p:nvPr/>
            </p:nvGrpSpPr>
            <p:grpSpPr>
              <a:xfrm>
                <a:off x="4000500" y="1447800"/>
                <a:ext cx="6105525" cy="3829050"/>
                <a:chOff x="4000500" y="1447800"/>
                <a:chExt cx="6105525" cy="3829050"/>
              </a:xfrm>
            </p:grpSpPr>
            <p:sp>
              <p:nvSpPr>
                <p:cNvPr id="16" name="Line 16"/>
                <p:cNvSpPr/>
                <p:nvPr/>
              </p:nvSpPr>
              <p:spPr>
                <a:xfrm>
                  <a:off x="4000500" y="1447800"/>
                  <a:ext cx="9525" cy="382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29050">
                      <a:moveTo>
                        <a:pt x="0" y="0"/>
                      </a:moveTo>
                      <a:lnTo>
                        <a:pt x="0" y="382905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17" name="Line 17"/>
                <p:cNvSpPr/>
                <p:nvPr/>
              </p:nvSpPr>
              <p:spPr>
                <a:xfrm>
                  <a:off x="5524500" y="1924050"/>
                  <a:ext cx="9525" cy="33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352800">
                      <a:moveTo>
                        <a:pt x="0" y="0"/>
                      </a:moveTo>
                      <a:lnTo>
                        <a:pt x="0" y="335280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18" name="Line 18"/>
                <p:cNvSpPr/>
                <p:nvPr/>
              </p:nvSpPr>
              <p:spPr>
                <a:xfrm>
                  <a:off x="7048500" y="1924050"/>
                  <a:ext cx="9525" cy="33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352800">
                      <a:moveTo>
                        <a:pt x="0" y="0"/>
                      </a:moveTo>
                      <a:lnTo>
                        <a:pt x="0" y="335280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19" name="Line 19"/>
                <p:cNvSpPr/>
                <p:nvPr/>
              </p:nvSpPr>
              <p:spPr>
                <a:xfrm>
                  <a:off x="8572500" y="1924050"/>
                  <a:ext cx="9525" cy="33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352800">
                      <a:moveTo>
                        <a:pt x="0" y="0"/>
                      </a:moveTo>
                      <a:lnTo>
                        <a:pt x="0" y="335280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20" name="Line 20"/>
                <p:cNvSpPr/>
                <p:nvPr/>
              </p:nvSpPr>
              <p:spPr>
                <a:xfrm>
                  <a:off x="10096500" y="1924050"/>
                  <a:ext cx="9525" cy="33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352800">
                      <a:moveTo>
                        <a:pt x="0" y="0"/>
                      </a:moveTo>
                      <a:lnTo>
                        <a:pt x="0" y="335280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</p:grpSp>
          <p:sp>
            <p:nvSpPr>
              <p:cNvPr id="22" name="Rectangle 22"/>
              <p:cNvSpPr/>
              <p:nvPr/>
            </p:nvSpPr>
            <p:spPr>
              <a:xfrm>
                <a:off x="571500" y="1924050"/>
                <a:ext cx="11049000" cy="838200"/>
              </a:xfrm>
              <a:prstGeom prst="rect">
                <a:avLst/>
              </a:prstGeom>
              <a:solidFill>
                <a:srgbClr val="F5F7FA"/>
              </a:solidFill>
              <a:ln>
                <a:noFill/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756285" y="2078831"/>
                <a:ext cx="10232874" cy="648653"/>
                <a:chOff x="756285" y="2078831"/>
                <a:chExt cx="10232874" cy="648653"/>
              </a:xfrm>
            </p:grpSpPr>
            <p:sp>
              <p:nvSpPr>
                <p:cNvPr id="23" name="TextBox 23"/>
                <p:cNvSpPr txBox="1"/>
                <p:nvPr/>
              </p:nvSpPr>
              <p:spPr>
                <a:xfrm>
                  <a:off x="756285" y="2078831"/>
                  <a:ext cx="96658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20" dirty="0">
                      <a:solidFill>
                        <a:srgbClr val="706B69"/>
                      </a:solidFill>
                      <a:latin typeface="Roche Sans"/>
                      <a:ea typeface="Roche Sans"/>
                      <a:cs typeface="Roche Sans"/>
                    </a:rPr>
                    <a:t>GPT-4o-0513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631841" y="2088356"/>
                  <a:ext cx="26131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9.3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6114193" y="20883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74.6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7638193" y="20883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49.9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9162193" y="20883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32.9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0727841" y="2088356"/>
                  <a:ext cx="26131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759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756285" y="2497931"/>
                  <a:ext cx="140260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20" dirty="0">
                      <a:solidFill>
                        <a:srgbClr val="706B69"/>
                      </a:solidFill>
                      <a:latin typeface="Roche Sans"/>
                      <a:ea typeface="Roche Sans"/>
                      <a:cs typeface="Roche Sans"/>
                    </a:rPr>
                    <a:t>Claude-3.5-Sonnet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4590193" y="25074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16.0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6114193" y="25074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78.3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7638193" y="25074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65.0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9162193" y="25074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38.9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10727841" y="2507456"/>
                  <a:ext cx="26131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706B69"/>
                      </a:solidFill>
                      <a:latin typeface="Consolas"/>
                      <a:ea typeface="Consolas"/>
                      <a:cs typeface="Consolas"/>
                    </a:rPr>
                    <a:t>717</a:t>
                  </a:r>
                </a:p>
              </p:txBody>
            </p:sp>
          </p:grpSp>
          <p:sp>
            <p:nvSpPr>
              <p:cNvPr id="36" name="Line 36"/>
              <p:cNvSpPr/>
              <p:nvPr/>
            </p:nvSpPr>
            <p:spPr>
              <a:xfrm>
                <a:off x="571500" y="276225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14288">
                <a:solidFill>
                  <a:srgbClr val="0B41CD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218498" y="2119312"/>
                <a:ext cx="59626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750" spc="75" dirty="0">
                    <a:solidFill>
                      <a:srgbClr val="A39F9C"/>
                    </a:solidFill>
                    <a:latin typeface="Roche Sans Medium"/>
                    <a:ea typeface="Roche Sans Medium"/>
                    <a:cs typeface="Roche Sans Medium"/>
                  </a:rPr>
                  <a:t>BASELINES</a:t>
                </a:r>
              </a:p>
            </p:txBody>
          </p:sp>
          <p:grpSp>
            <p:nvGrpSpPr>
              <p:cNvPr id="81" name="Group 81"/>
              <p:cNvGrpSpPr/>
              <p:nvPr/>
            </p:nvGrpSpPr>
            <p:grpSpPr>
              <a:xfrm>
                <a:off x="571500" y="2917031"/>
                <a:ext cx="11049000" cy="2359819"/>
                <a:chOff x="571500" y="2917031"/>
                <a:chExt cx="11049000" cy="2359819"/>
              </a:xfrm>
            </p:grpSpPr>
            <p:sp>
              <p:nvSpPr>
                <p:cNvPr id="38" name="TextBox 38"/>
                <p:cNvSpPr txBox="1"/>
                <p:nvPr/>
              </p:nvSpPr>
              <p:spPr>
                <a:xfrm>
                  <a:off x="756285" y="2917031"/>
                  <a:ext cx="1613916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20" dirty="0">
                      <a:solidFill>
                        <a:srgbClr val="0B41CD"/>
                      </a:solidFill>
                      <a:latin typeface="Roche Sans Medium"/>
                      <a:ea typeface="Roche Sans Medium"/>
                      <a:cs typeface="Roche Sans Medium"/>
                    </a:rPr>
                    <a:t>R1-Distill-Qwen-1.5B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4590193" y="29265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28.9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6114193" y="29265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83.9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7638193" y="29265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33.8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9162193" y="29265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16.9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10727841" y="2926556"/>
                  <a:ext cx="261318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954</a:t>
                  </a:r>
                </a:p>
              </p:txBody>
            </p:sp>
            <p:sp>
              <p:nvSpPr>
                <p:cNvPr id="44" name="Line 44"/>
                <p:cNvSpPr/>
                <p:nvPr/>
              </p:nvSpPr>
              <p:spPr>
                <a:xfrm>
                  <a:off x="571500" y="3181350"/>
                  <a:ext cx="11049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9000" h="9525">
                      <a:moveTo>
                        <a:pt x="0" y="0"/>
                      </a:moveTo>
                      <a:lnTo>
                        <a:pt x="11049000" y="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756285" y="3336131"/>
                  <a:ext cx="1444422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20" dirty="0">
                      <a:solidFill>
                        <a:srgbClr val="0B41CD"/>
                      </a:solidFill>
                      <a:latin typeface="Roche Sans Medium"/>
                      <a:ea typeface="Roche Sans Medium"/>
                      <a:cs typeface="Roche Sans Medium"/>
                    </a:rPr>
                    <a:t>R1-Distill-Qwen-7B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4590193" y="33456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55.5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6114193" y="33456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92.8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7638193" y="33456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49.1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9162193" y="33456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37.6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10686193" y="33456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1189</a:t>
                  </a:r>
                </a:p>
              </p:txBody>
            </p:sp>
            <p:sp>
              <p:nvSpPr>
                <p:cNvPr id="51" name="Line 51"/>
                <p:cNvSpPr/>
                <p:nvPr/>
              </p:nvSpPr>
              <p:spPr>
                <a:xfrm>
                  <a:off x="571500" y="3600450"/>
                  <a:ext cx="11049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9000" h="9525">
                      <a:moveTo>
                        <a:pt x="0" y="0"/>
                      </a:moveTo>
                      <a:lnTo>
                        <a:pt x="11049000" y="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756285" y="3755231"/>
                  <a:ext cx="152916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20" dirty="0">
                      <a:solidFill>
                        <a:srgbClr val="0B41CD"/>
                      </a:solidFill>
                      <a:latin typeface="Roche Sans Medium"/>
                      <a:ea typeface="Roche Sans Medium"/>
                      <a:cs typeface="Roche Sans Medium"/>
                    </a:rPr>
                    <a:t>R1-Distill-Qwen-14B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4590193" y="37647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69.7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6114193" y="37647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93.9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7638193" y="37647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59.1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9162193" y="37647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53.1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10686193" y="37647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1481</a:t>
                  </a:r>
                </a:p>
              </p:txBody>
            </p:sp>
            <p:sp>
              <p:nvSpPr>
                <p:cNvPr id="58" name="Line 58"/>
                <p:cNvSpPr/>
                <p:nvPr/>
              </p:nvSpPr>
              <p:spPr>
                <a:xfrm>
                  <a:off x="571500" y="4019550"/>
                  <a:ext cx="11049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9000" h="9525">
                      <a:moveTo>
                        <a:pt x="0" y="0"/>
                      </a:moveTo>
                      <a:lnTo>
                        <a:pt x="11049000" y="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59" name="Rectangle 59"/>
                <p:cNvSpPr/>
                <p:nvPr/>
              </p:nvSpPr>
              <p:spPr>
                <a:xfrm>
                  <a:off x="571500" y="4019550"/>
                  <a:ext cx="11049000" cy="419100"/>
                </a:xfrm>
                <a:prstGeom prst="rect">
                  <a:avLst/>
                </a:prstGeom>
                <a:solidFill>
                  <a:srgbClr val="E9EEFA"/>
                </a:solidFill>
                <a:ln>
                  <a:noFill/>
                </a:ln>
              </p:spPr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756285" y="4174331"/>
                  <a:ext cx="152916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20" dirty="0">
                      <a:solidFill>
                        <a:srgbClr val="0B41CD"/>
                      </a:solidFill>
                      <a:latin typeface="Roche Sans Medium"/>
                      <a:ea typeface="Roche Sans Medium"/>
                      <a:cs typeface="Roche Sans Medium"/>
                    </a:rPr>
                    <a:t>R1-Distill-Qwen-32B</a:t>
                  </a: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4581863" y="4183856"/>
                  <a:ext cx="36127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b="1" dirty="0">
                      <a:solidFill>
                        <a:srgbClr val="007A3B"/>
                      </a:solidFill>
                      <a:latin typeface="Consolas"/>
                      <a:ea typeface="Consolas"/>
                      <a:cs typeface="Consolas"/>
                    </a:rPr>
                    <a:t>72.6</a:t>
                  </a: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6114193" y="41838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94.3</a:t>
                  </a: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7638193" y="41838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62.1</a:t>
                  </a: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9162193" y="41838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57.2</a:t>
                  </a:r>
                </a:p>
              </p:txBody>
            </p:sp>
            <p:sp>
              <p:nvSpPr>
                <p:cNvPr id="65" name="TextBox 65"/>
                <p:cNvSpPr txBox="1"/>
                <p:nvPr/>
              </p:nvSpPr>
              <p:spPr>
                <a:xfrm>
                  <a:off x="10677863" y="4183856"/>
                  <a:ext cx="36127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b="1" dirty="0">
                      <a:solidFill>
                        <a:srgbClr val="007A3B"/>
                      </a:solidFill>
                      <a:latin typeface="Consolas"/>
                      <a:ea typeface="Consolas"/>
                      <a:cs typeface="Consolas"/>
                    </a:rPr>
                    <a:t>1691</a:t>
                  </a:r>
                </a:p>
              </p:txBody>
            </p:sp>
            <p:sp>
              <p:nvSpPr>
                <p:cNvPr id="66" name="Line 66"/>
                <p:cNvSpPr/>
                <p:nvPr/>
              </p:nvSpPr>
              <p:spPr>
                <a:xfrm>
                  <a:off x="571500" y="4438650"/>
                  <a:ext cx="11049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9000" h="9525">
                      <a:moveTo>
                        <a:pt x="0" y="0"/>
                      </a:moveTo>
                      <a:lnTo>
                        <a:pt x="11049000" y="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756285" y="4593431"/>
                  <a:ext cx="1458060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20" dirty="0">
                      <a:solidFill>
                        <a:srgbClr val="0B41CD"/>
                      </a:solidFill>
                      <a:latin typeface="Roche Sans Medium"/>
                      <a:ea typeface="Roche Sans Medium"/>
                      <a:cs typeface="Roche Sans Medium"/>
                    </a:rPr>
                    <a:t>R1-Distill-Llama-8B</a:t>
                  </a: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4590193" y="46029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50.4</a:t>
                  </a:r>
                </a:p>
              </p:txBody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6114193" y="46029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89.1</a:t>
                  </a:r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7638193" y="46029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49.0</a:t>
                  </a: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9162193" y="46029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39.6</a:t>
                  </a: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10686193" y="46029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1205</a:t>
                  </a:r>
                </a:p>
              </p:txBody>
            </p:sp>
            <p:sp>
              <p:nvSpPr>
                <p:cNvPr id="73" name="Line 73"/>
                <p:cNvSpPr/>
                <p:nvPr/>
              </p:nvSpPr>
              <p:spPr>
                <a:xfrm>
                  <a:off x="571500" y="4857750"/>
                  <a:ext cx="110490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9000" h="9525">
                      <a:moveTo>
                        <a:pt x="0" y="0"/>
                      </a:moveTo>
                      <a:lnTo>
                        <a:pt x="11049000" y="0"/>
                      </a:lnTo>
                    </a:path>
                  </a:pathLst>
                </a:custGeom>
                <a:noFill/>
                <a:ln w="9525">
                  <a:solidFill>
                    <a:srgbClr val="E0E0E0"/>
                  </a:solidFill>
                </a:ln>
              </p:spPr>
            </p:sp>
            <p:sp>
              <p:nvSpPr>
                <p:cNvPr id="74" name="Rectangle 74"/>
                <p:cNvSpPr/>
                <p:nvPr/>
              </p:nvSpPr>
              <p:spPr>
                <a:xfrm>
                  <a:off x="571500" y="4857750"/>
                  <a:ext cx="11049000" cy="419100"/>
                </a:xfrm>
                <a:prstGeom prst="rect">
                  <a:avLst/>
                </a:prstGeom>
                <a:solidFill>
                  <a:srgbClr val="E9EEFA"/>
                </a:solidFill>
                <a:ln>
                  <a:noFill/>
                </a:ln>
              </p:spPr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756285" y="5012531"/>
                  <a:ext cx="1542703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120" dirty="0">
                      <a:solidFill>
                        <a:srgbClr val="0B41CD"/>
                      </a:solidFill>
                      <a:latin typeface="Roche Sans Medium"/>
                      <a:ea typeface="Roche Sans Medium"/>
                      <a:cs typeface="Roche Sans Medium"/>
                    </a:rPr>
                    <a:t>R1-Distill-Llama-70B</a:t>
                  </a:r>
                </a:p>
              </p:txBody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4590193" y="50220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70.0</a:t>
                  </a:r>
                </a:p>
              </p:txBody>
            </p:sp>
            <p:sp>
              <p:nvSpPr>
                <p:cNvPr id="77" name="TextBox 77"/>
                <p:cNvSpPr txBox="1"/>
                <p:nvPr/>
              </p:nvSpPr>
              <p:spPr>
                <a:xfrm>
                  <a:off x="6105863" y="5022056"/>
                  <a:ext cx="36127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b="1" dirty="0">
                      <a:solidFill>
                        <a:srgbClr val="007A3B"/>
                      </a:solidFill>
                      <a:latin typeface="Consolas"/>
                      <a:ea typeface="Consolas"/>
                      <a:cs typeface="Consolas"/>
                    </a:rPr>
                    <a:t>94.5</a:t>
                  </a:r>
                </a:p>
              </p:txBody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7629863" y="5022056"/>
                  <a:ext cx="36127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b="1" dirty="0">
                      <a:solidFill>
                        <a:srgbClr val="007A3B"/>
                      </a:solidFill>
                      <a:latin typeface="Consolas"/>
                      <a:ea typeface="Consolas"/>
                      <a:cs typeface="Consolas"/>
                    </a:rPr>
                    <a:t>65.2</a:t>
                  </a:r>
                </a:p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9153863" y="5022056"/>
                  <a:ext cx="36127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b="1" dirty="0">
                      <a:solidFill>
                        <a:srgbClr val="007A3B"/>
                      </a:solidFill>
                      <a:latin typeface="Consolas"/>
                      <a:ea typeface="Consolas"/>
                      <a:cs typeface="Consolas"/>
                    </a:rPr>
                    <a:t>57.5</a:t>
                  </a:r>
                </a:p>
              </p:txBody>
            </p:sp>
            <p:sp>
              <p:nvSpPr>
                <p:cNvPr id="80" name="TextBox 80"/>
                <p:cNvSpPr txBox="1"/>
                <p:nvPr/>
              </p:nvSpPr>
              <p:spPr>
                <a:xfrm>
                  <a:off x="10686193" y="5022056"/>
                  <a:ext cx="34461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120" dirty="0">
                      <a:solidFill>
                        <a:srgbClr val="333333"/>
                      </a:solidFill>
                      <a:latin typeface="Consolas"/>
                      <a:ea typeface="Consolas"/>
                      <a:cs typeface="Consolas"/>
                    </a:rPr>
                    <a:t>1633</a:t>
                  </a:r>
                </a:p>
              </p:txBody>
            </p:sp>
          </p:grpSp>
        </p:grpSp>
      </p:grpSp>
      <p:grpSp>
        <p:nvGrpSpPr>
          <p:cNvPr id="89" name="Group 89"/>
          <p:cNvGrpSpPr/>
          <p:nvPr/>
        </p:nvGrpSpPr>
        <p:grpSpPr>
          <a:xfrm>
            <a:off x="571500" y="5410200"/>
            <a:ext cx="11049000" cy="834961"/>
            <a:chOff x="571500" y="5410200"/>
            <a:chExt cx="11049000" cy="834961"/>
          </a:xfrm>
        </p:grpSpPr>
        <p:sp>
          <p:nvSpPr>
            <p:cNvPr id="84" name="Rectangle 84"/>
            <p:cNvSpPr/>
            <p:nvPr/>
          </p:nvSpPr>
          <p:spPr>
            <a:xfrm>
              <a:off x="571500" y="5410200"/>
              <a:ext cx="11049000" cy="800100"/>
            </a:xfrm>
            <a:prstGeom prst="roundRect">
              <a:avLst>
                <a:gd name="adj" fmla="val 11905"/>
              </a:avLst>
            </a:prstGeom>
            <a:solidFill>
              <a:srgbClr val="F5F7FA"/>
            </a:solidFill>
            <a:ln w="9525">
              <a:solidFill>
                <a:srgbClr val="E0E0E0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571500" y="5410200"/>
              <a:ext cx="47625" cy="800100"/>
            </a:xfrm>
            <a:prstGeom prst="roundRect">
              <a:avLst>
                <a:gd name="adj" fmla="val 50000"/>
              </a:avLst>
            </a:prstGeom>
            <a:solidFill>
              <a:srgbClr val="007A3B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947547" y="5571649"/>
              <a:ext cx="20005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007A3B"/>
                  </a:solidFill>
                  <a:latin typeface="Roche Sans Medium"/>
                  <a:ea typeface="Roche Sans Medium"/>
                  <a:cs typeface="Roche Sans Medium"/>
                </a:rPr>
                <a:t>READ THE TABLE LIKE THIS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45642" y="5797868"/>
              <a:ext cx="104551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 xml:space="preserve">Even the </a:t>
              </a:r>
              <a:r>
                <a:rPr lang="en-US" sz="1350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7B</a:t>
              </a:r>
              <a:r>
                <a:rPr lang="en-US" sz="13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 xml:space="preserve"> distill crushes GPT-4o on math (92.8 vs 74.6, AIME 55.5 vs 9.3); the </a:t>
              </a:r>
              <a:r>
                <a:rPr lang="en-US" sz="1350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32B / 70B</a:t>
              </a:r>
              <a:r>
                <a:rPr lang="en-US" sz="13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 xml:space="preserve"> reach o1-mini territory —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47166" y="6039802"/>
              <a:ext cx="71491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06B69"/>
                  </a:solidFill>
                  <a:latin typeface="Roche Sans"/>
                  <a:ea typeface="Roche Sans"/>
                  <a:cs typeface="Roche Sans"/>
                </a:rPr>
                <a:t>reasoning learned by a 671B teacher survives compression into models 20–400× smaller, with SFT alone.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566738" y="6578441"/>
            <a:ext cx="11058525" cy="161925"/>
            <a:chOff x="566738" y="6578441"/>
            <a:chExt cx="11058525" cy="161925"/>
          </a:xfrm>
        </p:grpSpPr>
        <p:sp>
          <p:nvSpPr>
            <p:cNvPr id="90" name="TextBox 90"/>
            <p:cNvSpPr txBox="1"/>
            <p:nvPr/>
          </p:nvSpPr>
          <p:spPr>
            <a:xfrm>
              <a:off x="566738" y="6578441"/>
              <a:ext cx="5859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Source: DeepSeek-AI 2026, §F, Table 15 (distilled models on reasoning benchmarks) · green = best in column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493570" y="65784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0" y="304800"/>
            <a:ext cx="800100" cy="416242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571500" y="533400"/>
            <a:ext cx="7188492" cy="656939"/>
            <a:chOff x="571500" y="533400"/>
            <a:chExt cx="7188492" cy="656939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" cy="381000"/>
            </a:xfrm>
            <a:prstGeom prst="rect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7146" y="581978"/>
              <a:ext cx="69728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What it means — and what it still can't do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95147" y="999649"/>
              <a:ext cx="36892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706B69"/>
                  </a:solidFill>
                  <a:latin typeface="Roche Sans Medium"/>
                  <a:ea typeface="Roche Sans Medium"/>
                  <a:cs typeface="Roche Sans Medium"/>
                </a:rPr>
                <a:t>CONCLUSION, LIMITATIONS &amp; FUTURE WORK · §6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1428750"/>
            <a:ext cx="5334000" cy="3810000"/>
            <a:chOff x="571500" y="1428750"/>
            <a:chExt cx="5334000" cy="381000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4288">
              <a:solidFill>
                <a:srgbClr val="0B41CD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428750"/>
              <a:ext cx="47625" cy="3810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B41CD"/>
                </a:gs>
                <a:gs pos="100000">
                  <a:srgbClr val="1482F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9447" y="1666399"/>
              <a:ext cx="15418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1482FA"/>
                  </a:solidFill>
                  <a:latin typeface="Roche Sans Medium"/>
                  <a:ea typeface="Roche Sans Medium"/>
                  <a:cs typeface="Roche Sans Medium"/>
                </a:rPr>
                <a:t>WHAT TO TAKE AWAY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895350" y="2076450"/>
              <a:ext cx="342900" cy="342900"/>
            </a:xfrm>
            <a:prstGeom prst="ellipse">
              <a:avLst/>
            </a:prstGeom>
            <a:solidFill>
              <a:srgbClr val="0B41C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16279" y="21755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Roche Sans Medium"/>
                  <a:ea typeface="Roche Sans Medium"/>
                  <a:cs typeface="Roche Sans Medium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83030" y="2028825"/>
              <a:ext cx="33495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RL alone can incentivize reasoning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5316" y="2325052"/>
              <a:ext cx="37189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The key is hard problems + a reliable verifier + enough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5316" y="2515552"/>
              <a:ext cx="31274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compute — not large-scale human annotation.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895350" y="3028950"/>
              <a:ext cx="342900" cy="342900"/>
            </a:xfrm>
            <a:prstGeom prst="ellipse">
              <a:avLst/>
            </a:prstGeom>
            <a:solidFill>
              <a:srgbClr val="0F5EE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16279" y="31280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Roche Sans Medium"/>
                  <a:ea typeface="Roche Sans Medium"/>
                  <a:cs typeface="Roche Sans Medium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3030" y="2981325"/>
              <a:ext cx="25661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Complex behaviors emerge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5316" y="3277552"/>
              <a:ext cx="4022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Self-verification, reflection and alternative-path search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5316" y="3468052"/>
              <a:ext cx="36815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appear organically during RL — none of it hand-coded.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95350" y="3981450"/>
              <a:ext cx="342900" cy="342900"/>
            </a:xfrm>
            <a:prstGeom prst="ellipse">
              <a:avLst/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16279" y="40805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Roche Sans Medium"/>
                  <a:ea typeface="Roche Sans Medium"/>
                  <a:cs typeface="Roche Sans Medium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83030" y="3933825"/>
              <a:ext cx="2716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0B41CD"/>
                  </a:solidFill>
                  <a:latin typeface="Roche Sans Light"/>
                  <a:ea typeface="Roche Sans Light"/>
                  <a:cs typeface="Roche Sans Light"/>
                </a:rPr>
                <a:t>Distillation democratizes it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85316" y="4230052"/>
              <a:ext cx="3810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The reasoning transfers to small open models, bringing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85316" y="4420552"/>
              <a:ext cx="3212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frontier-level capability to modest hardware.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14400" y="4781550"/>
              <a:ext cx="4648200" cy="323850"/>
            </a:xfrm>
            <a:prstGeom prst="roundRect">
              <a:avLst>
                <a:gd name="adj" fmla="val 23529"/>
              </a:avLst>
            </a:prstGeom>
            <a:solidFill>
              <a:srgbClr val="E9EEF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61085" y="4869656"/>
              <a:ext cx="44339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i="1" dirty="0">
                  <a:solidFill>
                    <a:srgbClr val="0B41CD"/>
                  </a:solidFill>
                  <a:latin typeface="Roche Serif Light"/>
                  <a:ea typeface="Roche Serif Light"/>
                  <a:cs typeface="Roche Serif Light"/>
                </a:rPr>
                <a:t>"Provide the right incentive — the model does the rest."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286500" y="1428750"/>
            <a:ext cx="5334000" cy="3810000"/>
            <a:chOff x="6286500" y="1428750"/>
            <a:chExt cx="5334000" cy="3810000"/>
          </a:xfrm>
        </p:grpSpPr>
        <p:sp>
          <p:nvSpPr>
            <p:cNvPr id="28" name="Rectangle 28"/>
            <p:cNvSpPr/>
            <p:nvPr/>
          </p:nvSpPr>
          <p:spPr>
            <a:xfrm>
              <a:off x="6286500" y="142875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F5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86500" y="1428750"/>
              <a:ext cx="47625" cy="3810000"/>
            </a:xfrm>
            <a:prstGeom prst="roundRect">
              <a:avLst>
                <a:gd name="adj" fmla="val 50000"/>
              </a:avLst>
            </a:prstGeom>
            <a:solidFill>
              <a:srgbClr val="D0021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24447" y="1666399"/>
              <a:ext cx="15348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D0021B"/>
                  </a:solidFill>
                  <a:latin typeface="Roche Sans Medium"/>
                  <a:ea typeface="Roche Sans Medium"/>
                  <a:cs typeface="Roche Sans Medium"/>
                </a:rPr>
                <a:t>KNOWN LIMITATIONS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657975" y="2124075"/>
              <a:ext cx="95250" cy="95250"/>
            </a:xfrm>
            <a:prstGeom prst="ellipse">
              <a:avLst/>
            </a:prstGeom>
            <a:solidFill>
              <a:srgbClr val="D0021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51523" y="1995964"/>
              <a:ext cx="24476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Structured output &amp; tool use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52666" y="2248852"/>
              <a:ext cx="3909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Still weak; can't yet call search engines or calculators.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657975" y="2809875"/>
              <a:ext cx="95250" cy="95250"/>
            </a:xfrm>
            <a:prstGeom prst="ellipse">
              <a:avLst/>
            </a:prstGeom>
            <a:solidFill>
              <a:srgbClr val="D0021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51523" y="2681764"/>
              <a:ext cx="13998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Token efficiency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52666" y="2934652"/>
              <a:ext cx="42630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Overthinks simple questions — room to trim reasoning length.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657975" y="3495675"/>
              <a:ext cx="95250" cy="95250"/>
            </a:xfrm>
            <a:prstGeom prst="ellipse">
              <a:avLst/>
            </a:prstGeom>
            <a:solidFill>
              <a:srgbClr val="D0021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51523" y="3367564"/>
              <a:ext cx="13399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Language mixing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52666" y="3620452"/>
              <a:ext cx="42378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Optimized for English &amp; Chinese; may mix on other languages.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657975" y="4181475"/>
              <a:ext cx="95250" cy="95250"/>
            </a:xfrm>
            <a:prstGeom prst="ellipse">
              <a:avLst/>
            </a:prstGeom>
            <a:solidFill>
              <a:srgbClr val="D0021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51523" y="4053364"/>
              <a:ext cx="15800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0B41CD"/>
                  </a:solidFill>
                  <a:latin typeface="Roche Sans Medium"/>
                  <a:ea typeface="Roche Sans Medium"/>
                  <a:cs typeface="Roche Sans Medium"/>
                </a:rPr>
                <a:t>Prompt sensitivity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52666" y="4306252"/>
              <a:ext cx="44330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333333"/>
                  </a:solidFill>
                  <a:latin typeface="Roche Sans"/>
                  <a:ea typeface="Roche Sans"/>
                  <a:cs typeface="Roche Sans"/>
                </a:rPr>
                <a:t>Few-shot prompting hurts — the authors recommend zero-shot.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629400" y="4781550"/>
              <a:ext cx="464820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76085" y="4869656"/>
              <a:ext cx="44083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i="1" dirty="0">
                  <a:solidFill>
                    <a:srgbClr val="706B69"/>
                  </a:solidFill>
                  <a:latin typeface="Roche Serif Light"/>
                  <a:ea typeface="Roche Serif Light"/>
                  <a:cs typeface="Roche Serif Light"/>
                </a:rPr>
                <a:t>Frontier results, with honest, well-scoped limitations.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71500" y="5391150"/>
            <a:ext cx="11049000" cy="819150"/>
            <a:chOff x="571500" y="5391150"/>
            <a:chExt cx="11049000" cy="819150"/>
          </a:xfrm>
        </p:grpSpPr>
        <p:sp>
          <p:nvSpPr>
            <p:cNvPr id="46" name="Rectangle 46"/>
            <p:cNvSpPr/>
            <p:nvPr/>
          </p:nvSpPr>
          <p:spPr>
            <a:xfrm>
              <a:off x="571500" y="5391150"/>
              <a:ext cx="11049000" cy="819150"/>
            </a:xfrm>
            <a:prstGeom prst="roundRect">
              <a:avLst>
                <a:gd name="adj" fmla="val 13953"/>
              </a:avLst>
            </a:prstGeom>
            <a:solidFill>
              <a:srgbClr val="0B41CD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71500" y="5391150"/>
              <a:ext cx="47625" cy="819150"/>
            </a:xfrm>
            <a:prstGeom prst="roundRect">
              <a:avLst>
                <a:gd name="adj" fmla="val 50000"/>
              </a:avLst>
            </a:prstGeom>
            <a:solidFill>
              <a:srgbClr val="1482F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47547" y="5571649"/>
              <a:ext cx="18832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rgbClr val="FFFFFF">
                      <a:alphaMod val="80000"/>
                    </a:srgbClr>
                  </a:solidFill>
                  <a:latin typeface="Roche Sans Medium"/>
                  <a:ea typeface="Roche Sans Medium"/>
                  <a:cs typeface="Roche Sans Medium"/>
                </a:rPr>
                <a:t>THE ONE-LINE TAKEAWAY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4118" y="5803582"/>
              <a:ext cx="94422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Roche Sans Light"/>
                  <a:ea typeface="Roche Sans Light"/>
                  <a:cs typeface="Roche Sans Light"/>
                </a:rPr>
                <a:t>Give a model hard problems, a reliable verifier and compute — and reasoning will follow.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66738" y="6578441"/>
            <a:ext cx="11058525" cy="161925"/>
            <a:chOff x="566738" y="6578441"/>
            <a:chExt cx="11058525" cy="161925"/>
          </a:xfrm>
        </p:grpSpPr>
        <p:sp>
          <p:nvSpPr>
            <p:cNvPr id="51" name="TextBox 51"/>
            <p:cNvSpPr txBox="1"/>
            <p:nvPr/>
          </p:nvSpPr>
          <p:spPr>
            <a:xfrm>
              <a:off x="566738" y="6578441"/>
              <a:ext cx="39819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Source: DeepSeek-AI 2026, §6 (Conclusion, Limitation, and Future Work)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493570" y="65784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rgbClr val="A39F9C"/>
                  </a:solidFill>
                  <a:latin typeface="Roche Sans"/>
                  <a:ea typeface="Roche Sans"/>
                  <a:cs typeface="Roche San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2026-07-12T08:57:48Z</dcterms:created>
  <dcterms:modified xsi:type="dcterms:W3CDTF">2026-07-12T08:57:48Z</dcterms:modified>
  <cp:category/>
  <cp:contentStatus/>
</cp:coreProperties>
</file>