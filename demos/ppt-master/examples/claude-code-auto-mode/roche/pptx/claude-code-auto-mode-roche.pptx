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大家好。今天用一份真实经历讲 Claude Code 的 Auto Mode——就在做这套 slides 的过程里,我们的一次 approve 被它拦了,还踩了搬家丢配置的坑。把这段复盘讲清楚,比讲通用文档有用。</a:t>
            </a:r>
          </a:p>
          <a:p>
            <a:endParaRPr lang="en-US" dirty="0"/>
          </a:p>
          <a:p>
            <a:r>
              <a:rPr lang="zh-CN" dirty="0"/>
              <a:t>要点:开场:这份用亲历讲 auto mode</a:t>
            </a:r>
          </a:p>
          <a:p>
            <a:r>
              <a:rPr lang="zh-CN" dirty="0"/>
              <a:t>时长:0:40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先说为什么要 auto mode。一次 /merge-main 就三步机械收尾:建 PR、approve、merge。可如果每步都停下弹窗等你点,就成了审批疲劳——点多了反而麻木,把该看的也一路 Enter 过去。auto mode 的主张是:机械步骤一口气跑完,只在真需要决策或有风险时才停。</a:t>
            </a:r>
          </a:p>
          <a:p>
            <a:endParaRPr lang="en-US" dirty="0"/>
          </a:p>
          <a:p>
            <a:r>
              <a:rPr lang="zh-CN" dirty="0"/>
              <a:t>要点:审批疲劳→auto mode 主张</a:t>
            </a:r>
          </a:p>
          <a:p>
            <a:r>
              <a:rPr lang="zh-CN" dirty="0"/>
              <a:t>时长:1:00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Auto Mode 不是全放开。它是全手动和全放开之间的中间态:一道本地分类器,按规则决定哪些自动放行、哪些仍拦下问。放行边界你自己定,危险动作仍拦。记住它跑在 build-cli / Ona 客户端,是一道本地闸——下一页讲它和 GitHub 那道闸的关系。</a:t>
            </a:r>
          </a:p>
          <a:p>
            <a:endParaRPr lang="en-US" dirty="0"/>
          </a:p>
          <a:p>
            <a:r>
              <a:rPr lang="zh-CN" dirty="0"/>
              <a:t>要点:三态对比,强调本地闸</a:t>
            </a:r>
          </a:p>
          <a:p>
            <a:r>
              <a:rPr lang="zh-CN" dirty="0"/>
              <a:t>时长:1:00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这是最关键的一张。命令要合进 main,过两道闸:① 本地 auto-mode 分类器(在你机器上),② GitHub 分支保护(服务端)。本地这道拦了,服务端那道根本没轮到。所以'main 保护是 GitHub 加的,跟 auto-mode 什么关系'——没关系,是本地又多一道你没算到的闸。别把本地拦读成 GitHub 拦。</a:t>
            </a:r>
          </a:p>
          <a:p>
            <a:endParaRPr lang="en-US" dirty="0"/>
          </a:p>
          <a:p>
            <a:r>
              <a:rPr lang="zh-CN" dirty="0"/>
              <a:t>要点:两道闸:本地vs服务端(核心)</a:t>
            </a:r>
          </a:p>
          <a:p>
            <a:r>
              <a:rPr lang="zh-CN" dirty="0"/>
              <a:t>时长:1:10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auto-mode 到底守什么?三类,都是这次真实拦过的:① 自我 approve(建 PR 又批自己),② 多路径找 token,③ 外发不可逆(删库/force push/发消息)。前两类是'存疑先问',第三类走硬护栏'永远拦'。硬护栏是代码级,prompt 说服不了它;放行规则能放宽前两类,绕不过第三类。</a:t>
            </a:r>
          </a:p>
          <a:p>
            <a:endParaRPr lang="en-US" dirty="0"/>
          </a:p>
          <a:p>
            <a:r>
              <a:rPr lang="zh-CN" dirty="0"/>
              <a:t>要点:三类威胁+对应真实拦截</a:t>
            </a:r>
          </a:p>
          <a:p>
            <a:r>
              <a:rPr lang="zh-CN" dirty="0"/>
              <a:t>时长:1:05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怎么把自主权给回来?三级权限:默认问、放行规则自动过、硬护栏永远拦。放行规则写在 settings.local.json 的 allow 里,加上 gh pr merge、approve 那条 curl,就不再逐条弹窗。关键性质记住:这文件 gitignored + 每容器独立,不进 git、不随 clone 走——这是下一段故事的伏笔。</a:t>
            </a:r>
          </a:p>
          <a:p>
            <a:endParaRPr lang="en-US" dirty="0"/>
          </a:p>
          <a:p>
            <a:r>
              <a:rPr lang="zh-CN" dirty="0"/>
              <a:t>要点:放行规则+文件关键性质伏笔</a:t>
            </a:r>
          </a:p>
          <a:p>
            <a:r>
              <a:rPr lang="zh-CN" dirty="0"/>
              <a:t>时长:1:05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一次真实拦截。我用 Ona OAuth 身份建了 PR #307,又用第二 admin 的 token approve,分类器判成'自我 approve'拦下,命令根本没发出去。但 token 其实是两个人——作者是我、approver 是另一个 admin 的 PAT——GitHub 会接受(真双人)。拦它的是本地分类器,把'agent 两步都做了'错读成'同一身份'。加回放行规则后重试,一次过。</a:t>
            </a:r>
          </a:p>
          <a:p>
            <a:endParaRPr lang="en-US" dirty="0"/>
          </a:p>
          <a:p>
            <a:r>
              <a:rPr lang="zh-CN" dirty="0"/>
              <a:t>要点:PR#307 被判自审实录</a:t>
            </a:r>
          </a:p>
          <a:p>
            <a:r>
              <a:rPr lang="zh-CN" dirty="0"/>
              <a:t>时长:1:10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串起来看 settings.local.json 的一生:老容器里放行规则在,approve/merge 自动过——你看到的'auto-mode 自己就批了'。US→EU 搬家,这文件 gitignored + 每容器独立 + 没跑迁移,丢了,于是全被拦。加回 local setting,approve 一次过、#307 merged。教训:'老容器能、新容器不能'几乎总是本地配置没跟过来,不是记忆坏了、也不是 GitHub 改了。搬家记得带它。</a:t>
            </a:r>
          </a:p>
          <a:p>
            <a:endParaRPr lang="en-US" dirty="0"/>
          </a:p>
          <a:p>
            <a:r>
              <a:rPr lang="zh-CN" dirty="0"/>
              <a:t>要点:老容器→搬家丢→加回;教训</a:t>
            </a:r>
          </a:p>
          <a:p>
            <a:r>
              <a:rPr lang="zh-CN" dirty="0"/>
              <a:t>时长:1:05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三条非显然结论。一:两道闸,auto-mode ≠ GitHub 分支保护,一本地一服务端,排查方向完全不同。二:命令和 skill 不携带授权,auto-mode 评估的是实际 bash 调用,不管来自哪;要自主权只能配放行规则。三:护栏分两型,提示型只提醒、验证型真拦——知道哪型才知道能不能'说服'。</a:t>
            </a:r>
          </a:p>
          <a:p>
            <a:endParaRPr lang="en-US" dirty="0"/>
          </a:p>
          <a:p>
            <a:r>
              <a:rPr lang="zh-CN" dirty="0"/>
              <a:t>要点:三条设计决策</a:t>
            </a:r>
          </a:p>
          <a:p>
            <a:r>
              <a:rPr lang="zh-CN" dirty="0"/>
              <a:t>时长:1:05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一句话收尾:给 agent 自主权 = 本地放行规则 + GitHub 双人 review,两道闸各司其职。三个提醒:别把本地拦当 GitHub 拦;搬家记得带 settings.local.json;权限是工程问题,配放行规则,不是'说服'agent。</a:t>
            </a:r>
          </a:p>
          <a:p>
            <a:endParaRPr lang="en-US" dirty="0"/>
          </a:p>
          <a:p>
            <a:r>
              <a:rPr lang="zh-CN" dirty="0"/>
              <a:t>要点:收尾一句话+三提醒</a:t>
            </a:r>
          </a:p>
          <a:p>
            <a:r>
              <a:rPr lang="zh-CN" dirty="0"/>
              <a:t>时长:0:45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a6f75c130770a557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12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41CD">
                  <a:alpha val="10000"/>
                </a:srgbClr>
              </a:gs>
              <a:gs pos="100000">
                <a:srgbClr val="0B41C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1143000" y="857250"/>
            <a:ext cx="1143000" cy="1143000"/>
          </a:xfrm>
          <a:prstGeom prst="ellipse">
            <a:avLst/>
          </a:prstGeom>
          <a:noFill/>
          <a:ln w="9525">
            <a:solidFill>
              <a:srgbClr val="1482FA">
                <a:alpha val="15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381125" y="1095375"/>
            <a:ext cx="666750" cy="666750"/>
          </a:xfrm>
          <a:prstGeom prst="ellipse">
            <a:avLst/>
          </a:prstGeom>
          <a:noFill/>
          <a:ln w="4762">
            <a:solidFill>
              <a:srgbClr val="1482FA">
                <a:alpha val="10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715500" y="4667250"/>
            <a:ext cx="1524000" cy="1524000"/>
          </a:xfrm>
          <a:prstGeom prst="ellipse">
            <a:avLst/>
          </a:prstGeom>
          <a:noFill/>
          <a:ln w="9525">
            <a:solidFill>
              <a:srgbClr val="BDE3FF">
                <a:alpha val="12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0001250" y="4953000"/>
            <a:ext cx="952500" cy="952500"/>
          </a:xfrm>
          <a:prstGeom prst="ellipse">
            <a:avLst/>
          </a:prstGeom>
          <a:noFill/>
          <a:ln w="4762">
            <a:solidFill>
              <a:srgbClr val="BDE3FF">
                <a:alpha val="8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3019425" y="1685925"/>
            <a:ext cx="57150" cy="57150"/>
          </a:xfrm>
          <a:prstGeom prst="ellipse">
            <a:avLst/>
          </a:prstGeom>
          <a:solidFill>
            <a:srgbClr val="1482FA">
              <a:alpha val="3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124950" y="1314450"/>
            <a:ext cx="38100" cy="38100"/>
          </a:xfrm>
          <a:prstGeom prst="ellipse">
            <a:avLst/>
          </a:prstGeom>
          <a:solidFill>
            <a:srgbClr val="BDE3FF">
              <a:alpha val="25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929938" y="1881188"/>
            <a:ext cx="47625" cy="47625"/>
          </a:xfrm>
          <a:prstGeom prst="ellipse">
            <a:avLst/>
          </a:prstGeom>
          <a:solidFill>
            <a:srgbClr val="4CBB17">
              <a:alpha val="22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219200" y="4933950"/>
            <a:ext cx="38100" cy="38100"/>
          </a:xfrm>
          <a:prstGeom prst="ellipse">
            <a:avLst/>
          </a:prstGeom>
          <a:solidFill>
            <a:srgbClr val="BDE3FF">
              <a:alpha val="20000"/>
            </a:srgbClr>
          </a:soli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7200"/>
            <a:ext cx="914400" cy="476250"/>
          </a:xfrm>
          <a:prstGeom prst="rect">
            <a:avLst/>
          </a:prstGeom>
        </p:spPr>
      </p:pic>
      <p:sp>
        <p:nvSpPr>
          <p:cNvPr id="19" name="Rectangle 19"/>
          <p:cNvSpPr/>
          <p:nvPr/>
        </p:nvSpPr>
        <p:spPr>
          <a:xfrm>
            <a:off x="5143500" y="2019300"/>
            <a:ext cx="1905000" cy="19050"/>
          </a:xfrm>
          <a:prstGeom prst="rect">
            <a:avLst/>
          </a:prstGeom>
          <a:gradFill>
            <a:gsLst>
              <a:gs pos="0">
                <a:srgbClr val="1482FA">
                  <a:alpha val="70000"/>
                </a:srgbClr>
              </a:gs>
              <a:gs pos="100000">
                <a:srgbClr val="BDE3FF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876925" y="2324100"/>
            <a:ext cx="514350" cy="457200"/>
            <a:chOff x="5876925" y="2324100"/>
            <a:chExt cx="514350" cy="457200"/>
          </a:xfrm>
        </p:grpSpPr>
        <p:sp>
          <p:nvSpPr>
            <p:cNvPr id="20" name="Freeform 20"/>
            <p:cNvSpPr/>
            <p:nvPr/>
          </p:nvSpPr>
          <p:spPr>
            <a:xfrm>
              <a:off x="5934075" y="2409825"/>
              <a:ext cx="142875" cy="285750"/>
            </a:xfrm>
            <a:custGeom>
              <a:avLst/>
              <a:gdLst/>
              <a:ahLst/>
              <a:cxnLst/>
              <a:rect l="l" t="t" r="r" b="b"/>
              <a:pathLst>
                <a:path w="142875" h="285750">
                  <a:moveTo>
                    <a:pt x="0" y="0"/>
                  </a:moveTo>
                  <a:lnTo>
                    <a:pt x="142875" y="142875"/>
                  </a:lnTo>
                  <a:lnTo>
                    <a:pt x="0" y="285750"/>
                  </a:lnTo>
                </a:path>
              </a:pathLst>
            </a:custGeom>
            <a:noFill/>
            <a:ln w="57150" cap="rnd">
              <a:solidFill>
                <a:srgbClr val="1482FA"/>
              </a:solidFill>
              <a:round/>
            </a:ln>
          </p:spPr>
        </p:sp>
        <p:sp>
          <p:nvSpPr>
            <p:cNvPr id="21" name="Freeform 21"/>
            <p:cNvSpPr/>
            <p:nvPr/>
          </p:nvSpPr>
          <p:spPr>
            <a:xfrm>
              <a:off x="6134100" y="27527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57150" cap="rnd">
              <a:solidFill>
                <a:srgbClr val="1482FA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6925" y="2324100"/>
              <a:ext cx="514350" cy="457200"/>
            </a:xfrm>
            <a:prstGeom prst="roundRect">
              <a:avLst>
                <a:gd name="adj" fmla="val 12500"/>
              </a:avLst>
            </a:prstGeom>
            <a:noFill/>
            <a:ln w="57150" cap="rnd">
              <a:solidFill>
                <a:srgbClr val="1482FA">
                  <a:alpha val="0"/>
                </a:srgbClr>
              </a:solidFill>
              <a:round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889774" y="3073718"/>
            <a:ext cx="6412452" cy="847725"/>
            <a:chOff x="2889774" y="3073718"/>
            <a:chExt cx="6412452" cy="847725"/>
          </a:xfrm>
        </p:grpSpPr>
        <p:sp>
          <p:nvSpPr>
            <p:cNvPr id="24" name="TextBox 24"/>
            <p:cNvSpPr txBox="1"/>
            <p:nvPr/>
          </p:nvSpPr>
          <p:spPr>
            <a:xfrm>
              <a:off x="2889774" y="3073718"/>
              <a:ext cx="641245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dirty="0">
                  <a:solidFill>
                    <a:srgbClr val="F5F5F2"/>
                  </a:solidFill>
                  <a:effectLst>
                    <a:glow rad="76200">
                      <a:srgbClr val="1482FA">
                        <a:alpha val="35000"/>
                      </a:srgbClr>
                    </a:glow>
                  </a:effectLst>
                  <a:latin typeface="Roche Sans Light"/>
                  <a:ea typeface="Roche Sans Light"/>
                  <a:cs typeface="Roche Sans Light"/>
                </a:rPr>
                <a:t>Claude Code Auto Mode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65621" y="3795236"/>
            <a:ext cx="3860759" cy="337376"/>
            <a:chOff x="4165621" y="3795236"/>
            <a:chExt cx="3860759" cy="337376"/>
          </a:xfrm>
        </p:grpSpPr>
        <p:sp>
          <p:nvSpPr>
            <p:cNvPr id="26" name="TextBox 26"/>
            <p:cNvSpPr txBox="1"/>
            <p:nvPr/>
          </p:nvSpPr>
          <p:spPr>
            <a:xfrm>
              <a:off x="4165621" y="3795236"/>
              <a:ext cx="386075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把审批交给分类器,把安全交给两道闸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953000" y="4248150"/>
            <a:ext cx="2286000" cy="9525"/>
          </a:xfrm>
          <a:prstGeom prst="rect">
            <a:avLst/>
          </a:prstGeom>
          <a:solidFill>
            <a:srgbClr val="544F4F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4613193" y="4491514"/>
            <a:ext cx="2965614" cy="483870"/>
            <a:chOff x="4613193" y="4491514"/>
            <a:chExt cx="2965614" cy="483870"/>
          </a:xfrm>
        </p:grpSpPr>
        <p:sp>
          <p:nvSpPr>
            <p:cNvPr id="29" name="TextBox 29"/>
            <p:cNvSpPr txBox="1"/>
            <p:nvPr/>
          </p:nvSpPr>
          <p:spPr>
            <a:xfrm>
              <a:off x="4613193" y="4491514"/>
              <a:ext cx="29656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Silicon Hitchhiker · 罗氏 AI 社区实战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0105" y="4755356"/>
              <a:ext cx="289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i="1" dirty="0">
                  <a:solidFill>
                    <a:srgbClr val="8A827C"/>
                  </a:solidFill>
                  <a:latin typeface="Noto Serif CJK SC"/>
                  <a:ea typeface="Microsoft YaHei"/>
                  <a:cs typeface="Noto Serif CJK SC"/>
                </a:rPr>
                <a:t>一次真实的 approve 被拦,与搬家踩的坑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A3F3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191000" y="6667500"/>
            <a:ext cx="3810000" cy="28575"/>
          </a:xfrm>
          <a:prstGeom prst="rect">
            <a:avLst/>
          </a:prstGeom>
          <a:gradFill>
            <a:gsLst>
              <a:gs pos="0">
                <a:srgbClr val="1482FA">
                  <a:alpha val="50000"/>
                </a:srgbClr>
              </a:gs>
              <a:gs pos="100000">
                <a:srgbClr val="BDE3FF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7D29">
                  <a:alpha val="5000"/>
                </a:srgbClr>
              </a:gs>
              <a:gs pos="100000">
                <a:srgbClr val="FF7D2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4961668" cy="656939"/>
            <a:chOff x="571500" y="533400"/>
            <a:chExt cx="4961668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4746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为什么要 auto mode:审批疲劳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3337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APPROVAL FATIGUE · 机械收尾不该反复打断你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66166" y="1486852"/>
            <a:ext cx="37069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7D29"/>
                </a:solidFill>
                <a:latin typeface="Noto Sans CJK SC"/>
                <a:ea typeface="Microsoft YaHei"/>
                <a:cs typeface="Noto Sans CJK SC"/>
              </a:rPr>
              <a:t>场景:一次 /merge-main,三步机械收尾,却步步弹窗等你点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809750"/>
            <a:ext cx="11049000" cy="1428750"/>
            <a:chOff x="571500" y="1809750"/>
            <a:chExt cx="11049000" cy="1428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809750"/>
              <a:ext cx="3429000" cy="1428750"/>
              <a:chOff x="571500" y="1809750"/>
              <a:chExt cx="342900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09750"/>
                <a:ext cx="34290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3A3F3F"/>
              </a:solidFill>
              <a:ln w="14288">
                <a:solidFill>
                  <a:srgbClr val="544F4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4385" y="2050256"/>
                <a:ext cx="11927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BDE3FF"/>
                    </a:solidFill>
                    <a:latin typeface="Consolas"/>
                    <a:ea typeface="Consolas"/>
                    <a:cs typeface="Consolas"/>
                  </a:rPr>
                  <a:t>1 · gh pr create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766" y="2325052"/>
                <a:ext cx="3691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建 PR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2724150"/>
                <a:ext cx="14287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3A2A1C"/>
              </a:solidFill>
              <a:ln w="9525">
                <a:solidFill>
                  <a:srgbClr val="FF7D29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56857" y="2828449"/>
                <a:ext cx="5152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7D29"/>
                    </a:solidFill>
                    <a:latin typeface="Noto Sans CJK SC"/>
                    <a:ea typeface="Microsoft YaHei"/>
                    <a:cs typeface="Noto Sans CJK SC"/>
                  </a:rPr>
                  <a:t>‖ 等你点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381500" y="1809750"/>
              <a:ext cx="3429000" cy="1428750"/>
              <a:chOff x="4381500" y="1809750"/>
              <a:chExt cx="3429000" cy="1428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809750"/>
                <a:ext cx="34290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3A3F3F"/>
              </a:solidFill>
              <a:ln w="14288">
                <a:solidFill>
                  <a:srgbClr val="544F4F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04385" y="2050256"/>
                <a:ext cx="13214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BDE3FF"/>
                    </a:solidFill>
                    <a:latin typeface="Consolas"/>
                    <a:ea typeface="Consolas"/>
                    <a:cs typeface="Consolas"/>
                  </a:rPr>
                  <a:t>2 · curl … approve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04766" y="2325052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第二 admin approve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610100" y="2724150"/>
                <a:ext cx="14287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3A2A1C"/>
              </a:solidFill>
              <a:ln w="9525">
                <a:solidFill>
                  <a:srgbClr val="FF7D29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066857" y="2828449"/>
                <a:ext cx="5152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7D29"/>
                    </a:solidFill>
                    <a:latin typeface="Noto Sans CJK SC"/>
                    <a:ea typeface="Microsoft YaHei"/>
                    <a:cs typeface="Noto Sans CJK SC"/>
                  </a:rPr>
                  <a:t>‖ 等你点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91500" y="1809750"/>
              <a:ext cx="3429000" cy="1428750"/>
              <a:chOff x="8191500" y="1809750"/>
              <a:chExt cx="3429000" cy="1428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191500" y="1809750"/>
                <a:ext cx="3429000" cy="1428750"/>
              </a:xfrm>
              <a:prstGeom prst="roundRect">
                <a:avLst>
                  <a:gd name="adj" fmla="val 8000"/>
                </a:avLst>
              </a:prstGeom>
              <a:solidFill>
                <a:srgbClr val="3A3F3F"/>
              </a:solidFill>
              <a:ln w="14288">
                <a:solidFill>
                  <a:srgbClr val="544F4F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414385" y="2050256"/>
                <a:ext cx="11397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BDE3FF"/>
                    </a:solidFill>
                    <a:latin typeface="Consolas"/>
                    <a:ea typeface="Consolas"/>
                    <a:cs typeface="Consolas"/>
                  </a:rPr>
                  <a:t>3 · gh pr merge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14766" y="2325052"/>
                <a:ext cx="879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合并 + 删分支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420100" y="2724150"/>
                <a:ext cx="14287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3A2A1C"/>
              </a:solidFill>
              <a:ln w="9525">
                <a:solidFill>
                  <a:srgbClr val="FF7D29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876857" y="2828449"/>
                <a:ext cx="5152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7D29"/>
                    </a:solidFill>
                    <a:latin typeface="Noto Sans CJK SC"/>
                    <a:ea typeface="Microsoft YaHei"/>
                    <a:cs typeface="Noto Sans CJK SC"/>
                  </a:rPr>
                  <a:t>‖ 等你点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71500" y="3562350"/>
            <a:ext cx="5334000" cy="1254061"/>
            <a:chOff x="571500" y="3562350"/>
            <a:chExt cx="5334000" cy="1254061"/>
          </a:xfrm>
        </p:grpSpPr>
        <p:sp>
          <p:nvSpPr>
            <p:cNvPr id="28" name="Rectangle 28"/>
            <p:cNvSpPr/>
            <p:nvPr/>
          </p:nvSpPr>
          <p:spPr>
            <a:xfrm>
              <a:off x="571500" y="3562350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35623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7547" y="3799999"/>
              <a:ext cx="287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代价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499" y="4059079"/>
              <a:ext cx="24013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一次 merge 被打断 </a:t>
              </a:r>
              <a:r>
                <a:rPr lang="zh-CN" sz="158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3+ 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166" y="4420552"/>
              <a:ext cx="2646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每次都是机械收尾,不是真的要你做决策——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166" y="4611052"/>
              <a:ext cx="3141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点多了就麻木,反而把该看的也一路 Enter 过去。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86500" y="3562350"/>
            <a:ext cx="5334000" cy="1254061"/>
            <a:chOff x="6286500" y="3562350"/>
            <a:chExt cx="5334000" cy="1254061"/>
          </a:xfrm>
        </p:grpSpPr>
        <p:sp>
          <p:nvSpPr>
            <p:cNvPr id="35" name="Rectangle 35"/>
            <p:cNvSpPr/>
            <p:nvPr/>
          </p:nvSpPr>
          <p:spPr>
            <a:xfrm>
              <a:off x="6286500" y="3562350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26331F"/>
            </a:solidFill>
            <a:ln w="9525">
              <a:solidFill>
                <a:srgbClr val="4CBB1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86500" y="35623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4CBB1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62547" y="3799999"/>
              <a:ext cx="12679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auto mode 的主张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499" y="4059079"/>
              <a:ext cx="19242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机械步骤</a:t>
              </a:r>
              <a:r>
                <a:rPr lang="zh-CN" sz="158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一口气跑完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166" y="442055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只在真需要决策 / 有风险时才停下问你。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2166" y="4611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把注意力留给值得看的那一次。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086350"/>
            <a:ext cx="11049000" cy="1143000"/>
            <a:chOff x="571500" y="5086350"/>
            <a:chExt cx="110490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571500" y="50863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3A3F3F"/>
            </a:solidFill>
            <a:ln w="9525">
              <a:solidFill>
                <a:srgbClr val="544F4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71500" y="508635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7547" y="5362099"/>
              <a:ext cx="580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罗氏语境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261" y="5618321"/>
              <a:ext cx="5577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我们的 </a:t>
              </a:r>
              <a:r>
                <a:rPr lang="en-US" sz="1420" dirty="0">
                  <a:solidFill>
                    <a:srgbClr val="BDE3FF"/>
                  </a:solidFill>
                  <a:latin typeface="Consolas"/>
                  <a:ea typeface="Consolas"/>
                  <a:cs typeface="Consolas"/>
                </a:rPr>
                <a:t>/merge-main</a:t>
              </a:r>
              <a:r>
                <a:rPr lang="zh-CN" sz="14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 命令就写着"一口气跑完、别逐步要授权"——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166" y="5925502"/>
              <a:ext cx="65732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敲 /merge-main 本身就是对整条发版链的授权;PR/approve/merge 是机械收尾,不是各自独立的决策。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8" name="TextBox 48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6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3096292" cy="656939"/>
            <a:chOff x="571500" y="533400"/>
            <a:chExt cx="3096292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2880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什么是 Auto Mode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2159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不是"全放开",是规则化的中间态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714500"/>
            <a:ext cx="3429000" cy="2857500"/>
            <a:chOff x="571500" y="1714500"/>
            <a:chExt cx="3429000" cy="2857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3429000" cy="2857500"/>
            </a:xfrm>
            <a:prstGeom prst="roundRect">
              <a:avLst>
                <a:gd name="adj" fmla="val 400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91011" y="1960721"/>
              <a:ext cx="589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全手动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63153" y="22840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8A827C"/>
                  </a:solidFill>
                  <a:latin typeface="Consolas"/>
                  <a:ea typeface="Consolas"/>
                  <a:cs typeface="Consolas"/>
                </a:rPr>
                <a:t>default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" y="2590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544F4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916" y="28013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每条命令都停下问你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916" y="31061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✓ 最安全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916" y="339185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× 审批疲劳、慢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297" y="4085749"/>
              <a:ext cx="15258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适合:高风险、探索性操作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1562100"/>
            <a:ext cx="3429000" cy="3162300"/>
            <a:chOff x="4381500" y="1562100"/>
            <a:chExt cx="3429000" cy="31623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562100"/>
              <a:ext cx="3429000" cy="3162300"/>
            </a:xfrm>
            <a:prstGeom prst="roundRect">
              <a:avLst>
                <a:gd name="adj" fmla="val 3614"/>
              </a:avLst>
            </a:prstGeom>
            <a:solidFill>
              <a:srgbClr val="2A3742"/>
            </a:solidFill>
            <a:ln w="23812">
              <a:solidFill>
                <a:srgbClr val="1482F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1562100"/>
              <a:ext cx="3429000" cy="323850"/>
            </a:xfrm>
            <a:prstGeom prst="roundRect">
              <a:avLst>
                <a:gd name="adj" fmla="val 35294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56012" y="16678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232"/>
                  </a:solidFill>
                  <a:latin typeface="Noto Sans CJK SC"/>
                  <a:ea typeface="Microsoft YaHei"/>
                  <a:cs typeface="Noto Sans CJK SC"/>
                </a:rPr>
                <a:t>推荐 · 中间态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61183" y="2115979"/>
              <a:ext cx="10696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dirty="0">
                  <a:solidFill>
                    <a:srgbClr val="BDE3FF"/>
                  </a:solidFill>
                  <a:latin typeface="Noto Sans CJK SC"/>
                  <a:ea typeface="Noto Sans CJK SC"/>
                  <a:cs typeface="Noto Sans CJK SC"/>
                </a:rPr>
                <a:t>Auto Mode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0558" y="24283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规则放行 + 危险仍拦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667250" y="27241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544F4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61916" y="2915602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本地一道分类器,每次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916" y="3125152"/>
              <a:ext cx="1819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要跑 bash 前判断能否自主跑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916" y="346805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✓ 机械步骤一口气过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916" y="373475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✓ 危险动作仍拦下问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2297" y="4295299"/>
              <a:ext cx="2247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规则来自 settings.local.json 放行表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714500"/>
            <a:ext cx="3429000" cy="2857500"/>
            <a:chOff x="8191500" y="1714500"/>
            <a:chExt cx="3429000" cy="2857500"/>
          </a:xfrm>
        </p:grpSpPr>
        <p:sp>
          <p:nvSpPr>
            <p:cNvPr id="29" name="Rectangle 29"/>
            <p:cNvSpPr/>
            <p:nvPr/>
          </p:nvSpPr>
          <p:spPr>
            <a:xfrm>
              <a:off x="8191500" y="1714500"/>
              <a:ext cx="3429000" cy="2857500"/>
            </a:xfrm>
            <a:prstGeom prst="roundRect">
              <a:avLst>
                <a:gd name="adj" fmla="val 400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11011" y="1960721"/>
              <a:ext cx="589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全放开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31795" y="2284095"/>
              <a:ext cx="11484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7D29"/>
                  </a:solidFill>
                  <a:latin typeface="Consolas"/>
                  <a:ea typeface="Consolas"/>
                  <a:cs typeface="Consolas"/>
                </a:rPr>
                <a:t>--dangerously-skip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477250" y="2590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544F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71916" y="2801302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什么都不问,全自动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1916" y="310610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✓ 最快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1916" y="339185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× 删库/外发/挪 token 也不拦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2297" y="4085749"/>
              <a:ext cx="1657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适合:一次性沙箱、可弃环境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876800"/>
            <a:ext cx="11049000" cy="1352550"/>
            <a:chOff x="571500" y="4876800"/>
            <a:chExt cx="11049000" cy="1352550"/>
          </a:xfrm>
        </p:grpSpPr>
        <p:sp>
          <p:nvSpPr>
            <p:cNvPr id="38" name="Rectangle 38"/>
            <p:cNvSpPr/>
            <p:nvPr/>
          </p:nvSpPr>
          <p:spPr>
            <a:xfrm>
              <a:off x="571500" y="4876800"/>
              <a:ext cx="11049000" cy="1352550"/>
            </a:xfrm>
            <a:prstGeom prst="roundRect">
              <a:avLst>
                <a:gd name="adj" fmla="val 845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4876800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547" y="5133499"/>
              <a:ext cx="726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一句话定义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499" y="5392579"/>
              <a:ext cx="76709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Auto Mode = 在</a:t>
              </a:r>
              <a:r>
                <a:rPr lang="zh-CN" sz="1580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全手动</a:t>
              </a:r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和</a:t>
              </a:r>
              <a:r>
                <a:rPr lang="zh-CN" sz="158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全放开</a:t>
              </a:r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之间,用</a:t>
              </a:r>
              <a:r>
                <a:rPr lang="zh-CN" sz="158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规则</a:t>
              </a:r>
              <a:r>
                <a:rPr lang="zh-CN" sz="158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决定哪些自动放行、哪些仍拦下问。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166" y="5754052"/>
              <a:ext cx="6934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它跑在 build-cli / Ona 客户端(你的机器上),是一道本地闸——记住这点,下一页讲它和 GitHub 那道闸的关系。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547" y="5990749"/>
              <a:ext cx="5299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放行的边界你自己定(settings.local.json);硬护栏(删库/外发等)永远拦,规则也绕不过。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6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5308854" cy="656939"/>
            <a:chOff x="571500" y="533400"/>
            <a:chExt cx="5308854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45228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架构:两道闸,一本地一服务端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5085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AUTO-MODE ≠ GITHUB 分支保护 · 本地这道拦了,服务端那道根本没轮到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29000" y="1504950"/>
            <a:ext cx="2095500" cy="495300"/>
            <a:chOff x="3429000" y="1504950"/>
            <a:chExt cx="2095500" cy="495300"/>
          </a:xfrm>
        </p:grpSpPr>
        <p:sp>
          <p:nvSpPr>
            <p:cNvPr id="8" name="Rectangle 8"/>
            <p:cNvSpPr/>
            <p:nvPr/>
          </p:nvSpPr>
          <p:spPr>
            <a:xfrm>
              <a:off x="3429000" y="1504950"/>
              <a:ext cx="2095500" cy="495300"/>
            </a:xfrm>
            <a:prstGeom prst="roundRect">
              <a:avLst>
                <a:gd name="adj" fmla="val 19231"/>
              </a:avLst>
            </a:prstGeom>
            <a:solidFill>
              <a:srgbClr val="3A2A1C"/>
            </a:solidFill>
            <a:ln w="14288">
              <a:solidFill>
                <a:srgbClr val="FF7D2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005334" y="1612106"/>
              <a:ext cx="942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拦 → 停下问你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72300" y="180784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危险/存疑动作弹权限确认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2743200"/>
            <a:ext cx="1905000" cy="990600"/>
            <a:chOff x="571500" y="2743200"/>
            <a:chExt cx="1905000" cy="990600"/>
          </a:xfrm>
        </p:grpSpPr>
        <p:sp>
          <p:nvSpPr>
            <p:cNvPr id="12" name="Rectangle 12"/>
            <p:cNvSpPr/>
            <p:nvPr/>
          </p:nvSpPr>
          <p:spPr>
            <a:xfrm>
              <a:off x="571500" y="2743200"/>
              <a:ext cx="1905000" cy="990600"/>
            </a:xfrm>
            <a:prstGeom prst="roundRect">
              <a:avLst>
                <a:gd name="adj" fmla="val 11538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你的命令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0908" y="3293745"/>
              <a:ext cx="706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DE3FF"/>
                  </a:solidFill>
                  <a:latin typeface="Consolas"/>
                  <a:ea typeface="Consolas"/>
                  <a:cs typeface="Consolas"/>
                </a:rPr>
                <a:t>gh pr merge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9706" y="3465195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DE3FF"/>
                  </a:solidFill>
                  <a:latin typeface="Consolas"/>
                  <a:ea typeface="Consolas"/>
                  <a:cs typeface="Consolas"/>
                </a:rPr>
                <a:t>approve curl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971800" y="2381250"/>
            <a:ext cx="2838450" cy="1714500"/>
            <a:chOff x="2971800" y="2381250"/>
            <a:chExt cx="2838450" cy="1714500"/>
          </a:xfrm>
        </p:grpSpPr>
        <p:sp>
          <p:nvSpPr>
            <p:cNvPr id="17" name="Rectangle 17"/>
            <p:cNvSpPr/>
            <p:nvPr/>
          </p:nvSpPr>
          <p:spPr>
            <a:xfrm>
              <a:off x="2971800" y="2381250"/>
              <a:ext cx="2838450" cy="1714500"/>
            </a:xfrm>
            <a:prstGeom prst="roundRect">
              <a:avLst>
                <a:gd name="adj" fmla="val 6667"/>
              </a:avLst>
            </a:prstGeom>
            <a:solidFill>
              <a:srgbClr val="3A3F3F"/>
            </a:solidFill>
            <a:ln w="19050">
              <a:solidFill>
                <a:srgbClr val="1482F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55442" y="255936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① 本地 auto-mode 分类器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57347" y="2828449"/>
              <a:ext cx="2094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build-cli / Ona 客户端,在你机器上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162300" y="306705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9525">
              <a:solidFill>
                <a:srgbClr val="544F4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6966" y="32013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每次 agent 要跑 bash 前判断: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6966" y="3449002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这条能自主跑,还是先问你?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57347" y="3742849"/>
              <a:ext cx="2247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规则来自 settings.local.json 放行表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2381250"/>
            <a:ext cx="2838450" cy="1714500"/>
            <a:chOff x="6572250" y="2381250"/>
            <a:chExt cx="2838450" cy="1714500"/>
          </a:xfrm>
        </p:grpSpPr>
        <p:sp>
          <p:nvSpPr>
            <p:cNvPr id="25" name="Rectangle 25"/>
            <p:cNvSpPr/>
            <p:nvPr/>
          </p:nvSpPr>
          <p:spPr>
            <a:xfrm>
              <a:off x="6572250" y="2381250"/>
              <a:ext cx="2838450" cy="1714500"/>
            </a:xfrm>
            <a:prstGeom prst="roundRect">
              <a:avLst>
                <a:gd name="adj" fmla="val 6667"/>
              </a:avLst>
            </a:prstGeom>
            <a:solidFill>
              <a:srgbClr val="3A3F3F"/>
            </a:solidFill>
            <a:ln w="19050">
              <a:solidFill>
                <a:srgbClr val="0B41C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5892" y="2559368"/>
              <a:ext cx="1847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DE3FF"/>
                  </a:solidFill>
                  <a:latin typeface="Noto Sans CJK SC"/>
                  <a:ea typeface="Noto Sans CJK SC"/>
                  <a:cs typeface="Noto Sans CJK SC"/>
                </a:rPr>
                <a:t>② GitHub Org Ruleset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7797" y="2828449"/>
              <a:ext cx="1735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分支保护,GitHub 服务端强制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762750" y="306705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9525">
              <a:solidFill>
                <a:srgbClr val="544F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57416" y="3201352"/>
              <a:ext cx="1678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main 必须 PR + 1 approve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7416" y="34490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才能合入(repo admin 也不能绕)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7797" y="3742849"/>
              <a:ext cx="22740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这是"为什么需要第二 admin approve"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06000" y="2743200"/>
            <a:ext cx="1714500" cy="990600"/>
            <a:chOff x="9906000" y="2743200"/>
            <a:chExt cx="1714500" cy="990600"/>
          </a:xfrm>
        </p:grpSpPr>
        <p:sp>
          <p:nvSpPr>
            <p:cNvPr id="33" name="Rectangle 33"/>
            <p:cNvSpPr/>
            <p:nvPr/>
          </p:nvSpPr>
          <p:spPr>
            <a:xfrm>
              <a:off x="9906000" y="2743200"/>
              <a:ext cx="1714500" cy="990600"/>
            </a:xfrm>
            <a:prstGeom prst="roundRect">
              <a:avLst>
                <a:gd name="adj" fmla="val 11538"/>
              </a:avLst>
            </a:prstGeom>
            <a:solidFill>
              <a:srgbClr val="26331F"/>
            </a:solidFill>
            <a:ln w="14288">
              <a:solidFill>
                <a:srgbClr val="4CBB1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06088" y="3112770"/>
              <a:ext cx="146685" cy="94297"/>
            </a:xfrm>
            <a:custGeom>
              <a:avLst/>
              <a:gdLst/>
              <a:ahLst/>
              <a:cxnLst/>
              <a:rect l="l" t="t" r="r" b="b"/>
              <a:pathLst>
                <a:path w="146685" h="94297">
                  <a:moveTo>
                    <a:pt x="0" y="41910"/>
                  </a:moveTo>
                  <a:lnTo>
                    <a:pt x="52388" y="94297"/>
                  </a:lnTo>
                  <a:lnTo>
                    <a:pt x="146685" y="0"/>
                  </a:lnTo>
                </a:path>
              </a:pathLst>
            </a:custGeom>
            <a:noFill/>
            <a:ln w="23051" cap="rnd">
              <a:solidFill>
                <a:srgbClr val="4CBB17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00965" y="3421856"/>
              <a:ext cx="11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4CBB17"/>
                  </a:solidFill>
                  <a:latin typeface="Noto Sans CJK SC"/>
                  <a:ea typeface="Noto Sans CJK SC"/>
                  <a:cs typeface="Noto Sans CJK SC"/>
                </a:rPr>
                <a:t>merged to main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2495550" y="3238500"/>
            <a:ext cx="457200" cy="1"/>
          </a:xfrm>
          <a:prstGeom prst="line">
            <a:avLst/>
          </a:prstGeom>
          <a:noFill/>
          <a:ln w="19050">
            <a:solidFill>
              <a:srgbClr val="1482FA"/>
            </a:solidFill>
            <a:tailEnd type="triangle" w="lg" len="lg"/>
          </a:ln>
        </p:spPr>
      </p:sp>
      <p:sp>
        <p:nvSpPr>
          <p:cNvPr id="38" name="Line 38"/>
          <p:cNvSpPr/>
          <p:nvPr/>
        </p:nvSpPr>
        <p:spPr>
          <a:xfrm flipV="1">
            <a:off x="4476750" y="2038350"/>
            <a:ext cx="1" cy="342900"/>
          </a:xfrm>
          <a:prstGeom prst="line">
            <a:avLst/>
          </a:prstGeom>
          <a:noFill/>
          <a:ln w="19050">
            <a:solidFill>
              <a:srgbClr val="FF7D29"/>
            </a:solidFill>
            <a:tailEnd type="triangle" w="lg" len="lg"/>
          </a:ln>
        </p:spPr>
      </p:sp>
      <p:sp>
        <p:nvSpPr>
          <p:cNvPr id="39" name="Line 39"/>
          <p:cNvSpPr/>
          <p:nvPr/>
        </p:nvSpPr>
        <p:spPr>
          <a:xfrm>
            <a:off x="5829300" y="3143250"/>
            <a:ext cx="723900" cy="1"/>
          </a:xfrm>
          <a:prstGeom prst="line">
            <a:avLst/>
          </a:prstGeom>
          <a:noFill/>
          <a:ln w="19050">
            <a:solidFill>
              <a:srgbClr val="4CBB17"/>
            </a:solidFill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6065330" y="296989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CBB17"/>
                </a:solidFill>
                <a:latin typeface="Noto Sans CJK SC"/>
                <a:ea typeface="Microsoft YaHei"/>
                <a:cs typeface="Noto Sans CJK SC"/>
              </a:rPr>
              <a:t>放行</a:t>
            </a:r>
          </a:p>
        </p:txBody>
      </p:sp>
      <p:sp>
        <p:nvSpPr>
          <p:cNvPr id="41" name="Line 41"/>
          <p:cNvSpPr/>
          <p:nvPr/>
        </p:nvSpPr>
        <p:spPr>
          <a:xfrm>
            <a:off x="9429750" y="3238500"/>
            <a:ext cx="457200" cy="1"/>
          </a:xfrm>
          <a:prstGeom prst="line">
            <a:avLst/>
          </a:prstGeom>
          <a:noFill/>
          <a:ln w="19050">
            <a:solidFill>
              <a:srgbClr val="0B41CD"/>
            </a:solidFill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3577533" y="4246245"/>
            <a:ext cx="16269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spc="75" dirty="0">
                <a:solidFill>
                  <a:srgbClr val="1482FA"/>
                </a:solidFill>
                <a:latin typeface="Noto Sans CJK SC"/>
                <a:ea typeface="Microsoft YaHei"/>
                <a:cs typeface="Noto Sans CJK SC"/>
              </a:rPr>
              <a:t>▲ 本地(你的机器 / 客户端)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31215" y="4246245"/>
            <a:ext cx="1120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spc="75" dirty="0">
                <a:solidFill>
                  <a:srgbClr val="BDE3FF"/>
                </a:solidFill>
                <a:latin typeface="Noto Sans CJK SC"/>
                <a:ea typeface="Microsoft YaHei"/>
                <a:cs typeface="Noto Sans CJK SC"/>
              </a:rPr>
              <a:t>▲ 服务端(GitHub)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4800600"/>
            <a:ext cx="11049000" cy="1428750"/>
            <a:chOff x="571500" y="4800600"/>
            <a:chExt cx="11049000" cy="1428750"/>
          </a:xfrm>
        </p:grpSpPr>
        <p:sp>
          <p:nvSpPr>
            <p:cNvPr id="44" name="Rectangle 44"/>
            <p:cNvSpPr/>
            <p:nvPr/>
          </p:nvSpPr>
          <p:spPr>
            <a:xfrm>
              <a:off x="571500" y="480060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4800600"/>
              <a:ext cx="47625" cy="14287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7547" y="5038249"/>
              <a:ext cx="11659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一句话读懂这张图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3737" y="5281136"/>
              <a:ext cx="59753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auto-mode 把命令拦在</a:t>
              </a:r>
              <a:r>
                <a:rPr lang="zh-CN" sz="1720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本地</a:t>
              </a:r>
              <a:r>
                <a:rPr lang="zh-CN" sz="17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,GitHub 分支保护在</a:t>
              </a:r>
              <a:r>
                <a:rPr lang="zh-CN" sz="172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服务端</a:t>
              </a:r>
              <a:r>
                <a:rPr lang="en-US" sz="1720" dirty="0">
                  <a:solidFill>
                    <a:srgbClr val="F5F5F2"/>
                  </a:solidFill>
                  <a:latin typeface="Noto Sans CJK SC"/>
                  <a:ea typeface="Noto Sans CJK SC"/>
                  <a:cs typeface="Noto Sans CJK SC"/>
                </a:rPr>
                <a:t>——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3737" y="5585936"/>
              <a:ext cx="43251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本地这道拦了,</a:t>
              </a:r>
              <a:r>
                <a:rPr lang="zh-CN" sz="172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服务端那道根本没被触发</a:t>
              </a:r>
              <a:r>
                <a:rPr lang="zh-CN" sz="17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166" y="5944552"/>
              <a:ext cx="6368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所以"main 保护是 GitHub 加的,跟 auto-mode 什么关系?"——没关系,是本地又多一道你没算到的闸。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51" name="TextBox 51"/>
            <p:cNvSpPr txBox="1"/>
            <p:nvPr/>
          </p:nvSpPr>
          <p:spPr>
            <a:xfrm>
              <a:off x="566738" y="6521291"/>
              <a:ext cx="56126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 · 改编自上游 general_dark_tech_claude_code_auto_mode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7D29">
                  <a:alpha val="5000"/>
                </a:srgbClr>
              </a:gs>
              <a:gs pos="100000">
                <a:srgbClr val="FF7D2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5390769" cy="656939"/>
            <a:chOff x="571500" y="533400"/>
            <a:chExt cx="5390769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威胁模型:auto-mode 到底守什么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46702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THREAT MODEL · 本会话真实拦过的三类,每类对着一个不可逆风险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676400"/>
            <a:ext cx="3486150" cy="3048000"/>
            <a:chOff x="571500" y="1676400"/>
            <a:chExt cx="3486150" cy="3048000"/>
          </a:xfrm>
        </p:grpSpPr>
        <p:sp>
          <p:nvSpPr>
            <p:cNvPr id="8" name="Rectangle 8"/>
            <p:cNvSpPr/>
            <p:nvPr/>
          </p:nvSpPr>
          <p:spPr>
            <a:xfrm>
              <a:off x="571500" y="1676400"/>
              <a:ext cx="3486150" cy="3048000"/>
            </a:xfrm>
            <a:prstGeom prst="roundRect">
              <a:avLst>
                <a:gd name="adj" fmla="val 375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76400"/>
              <a:ext cx="3486150" cy="57150"/>
            </a:xfrm>
            <a:prstGeom prst="roundRect">
              <a:avLst>
                <a:gd name="adj" fmla="val 50000"/>
              </a:avLst>
            </a:prstGeom>
            <a:solidFill>
              <a:srgbClr val="FF7D29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4552" y="2021205"/>
              <a:ext cx="251137" cy="240030"/>
              <a:chOff x="834552" y="2021205"/>
              <a:chExt cx="251137" cy="2400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4552" y="2021205"/>
                <a:ext cx="251137" cy="240030"/>
              </a:xfrm>
              <a:custGeom>
                <a:avLst/>
                <a:gdLst/>
                <a:ahLst/>
                <a:cxnLst/>
                <a:rect l="l" t="t" r="r" b="b"/>
                <a:pathLst>
                  <a:path w="251137" h="240030">
                    <a:moveTo>
                      <a:pt x="125568" y="0"/>
                    </a:moveTo>
                    <a:cubicBezTo>
                      <a:pt x="156717" y="27558"/>
                      <a:pt x="197370" y="41906"/>
                      <a:pt x="238916" y="40005"/>
                    </a:cubicBezTo>
                    <a:cubicBezTo>
                      <a:pt x="251137" y="81577"/>
                      <a:pt x="245976" y="126328"/>
                      <a:pt x="224613" y="164028"/>
                    </a:cubicBezTo>
                    <a:cubicBezTo>
                      <a:pt x="203250" y="201727"/>
                      <a:pt x="167512" y="229151"/>
                      <a:pt x="125568" y="240030"/>
                    </a:cubicBezTo>
                    <a:cubicBezTo>
                      <a:pt x="83625" y="229151"/>
                      <a:pt x="47887" y="201727"/>
                      <a:pt x="26524" y="164028"/>
                    </a:cubicBezTo>
                    <a:cubicBezTo>
                      <a:pt x="5161" y="126328"/>
                      <a:pt x="0" y="81577"/>
                      <a:pt x="12221" y="40005"/>
                    </a:cubicBezTo>
                    <a:cubicBezTo>
                      <a:pt x="53766" y="41906"/>
                      <a:pt x="94420" y="27558"/>
                      <a:pt x="125568" y="0"/>
                    </a:cubicBezTo>
                  </a:path>
                </a:pathLst>
              </a:custGeom>
              <a:noFill/>
              <a:ln w="26670" cap="rnd">
                <a:solidFill>
                  <a:srgbClr val="FF7D29"/>
                </a:solidFill>
                <a:round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0115" y="2114550"/>
                <a:ext cx="8001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80010" h="53340">
                    <a:moveTo>
                      <a:pt x="0" y="26670"/>
                    </a:moveTo>
                    <a:lnTo>
                      <a:pt x="26670" y="53340"/>
                    </a:lnTo>
                    <a:lnTo>
                      <a:pt x="80010" y="0"/>
                    </a:lnTo>
                  </a:path>
                </a:pathLst>
              </a:custGeom>
              <a:noFill/>
              <a:ln w="26670" cap="rnd">
                <a:solidFill>
                  <a:srgbClr val="FF7D29"/>
                </a:solidFill>
                <a:round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31011" y="2017871"/>
              <a:ext cx="1357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① 自我 approve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766" y="2477452"/>
              <a:ext cx="1795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同一方既建 PR、又批自己,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766" y="2687002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架空双人 review。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048000"/>
              <a:ext cx="3028950" cy="571500"/>
            </a:xfrm>
            <a:prstGeom prst="roundRect">
              <a:avLst>
                <a:gd name="adj" fmla="val 13333"/>
              </a:avLst>
            </a:prstGeom>
            <a:solidFill>
              <a:srgbClr val="3A2A1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7738" y="31794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本会话真实拦截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38" y="3384947"/>
              <a:ext cx="21781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approve PR #307 被判 Self-Approval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147" y="3933349"/>
              <a:ext cx="17949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对应风险:绕过 code review、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147" y="4142899"/>
              <a:ext cx="1250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坏改动直接进 main。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52925" y="1676400"/>
            <a:ext cx="3486150" cy="3048000"/>
            <a:chOff x="4352925" y="1676400"/>
            <a:chExt cx="3486150" cy="3048000"/>
          </a:xfrm>
        </p:grpSpPr>
        <p:sp>
          <p:nvSpPr>
            <p:cNvPr id="22" name="Rectangle 22"/>
            <p:cNvSpPr/>
            <p:nvPr/>
          </p:nvSpPr>
          <p:spPr>
            <a:xfrm>
              <a:off x="4352925" y="1676400"/>
              <a:ext cx="3486150" cy="3048000"/>
            </a:xfrm>
            <a:prstGeom prst="roundRect">
              <a:avLst>
                <a:gd name="adj" fmla="val 375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52925" y="1676400"/>
              <a:ext cx="3486150" cy="57150"/>
            </a:xfrm>
            <a:prstGeom prst="roundRect">
              <a:avLst>
                <a:gd name="adj" fmla="val 50000"/>
              </a:avLst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612887" y="2015207"/>
              <a:ext cx="248671" cy="248671"/>
            </a:xfrm>
            <a:custGeom>
              <a:avLst/>
              <a:gdLst/>
              <a:ahLst/>
              <a:cxnLst/>
              <a:rect l="l" t="t" r="r" b="b"/>
              <a:pathLst>
                <a:path w="248671" h="248671">
                  <a:moveTo>
                    <a:pt x="189399" y="17240"/>
                  </a:moveTo>
                  <a:lnTo>
                    <a:pt x="237432" y="65272"/>
                  </a:lnTo>
                  <a:cubicBezTo>
                    <a:pt x="244628" y="72467"/>
                    <a:pt x="248671" y="82226"/>
                    <a:pt x="248671" y="92402"/>
                  </a:cubicBezTo>
                  <a:cubicBezTo>
                    <a:pt x="248671" y="102578"/>
                    <a:pt x="244628" y="112337"/>
                    <a:pt x="237432" y="119532"/>
                  </a:cubicBezTo>
                  <a:lnTo>
                    <a:pt x="202188" y="154777"/>
                  </a:lnTo>
                  <a:cubicBezTo>
                    <a:pt x="194993" y="161973"/>
                    <a:pt x="185233" y="166016"/>
                    <a:pt x="175057" y="166016"/>
                  </a:cubicBezTo>
                  <a:cubicBezTo>
                    <a:pt x="164881" y="166016"/>
                    <a:pt x="155122" y="161973"/>
                    <a:pt x="147927" y="154777"/>
                  </a:cubicBezTo>
                  <a:lnTo>
                    <a:pt x="143914" y="150763"/>
                  </a:lnTo>
                  <a:lnTo>
                    <a:pt x="56463" y="238214"/>
                  </a:lnTo>
                  <a:cubicBezTo>
                    <a:pt x="52032" y="242644"/>
                    <a:pt x="46182" y="245373"/>
                    <a:pt x="39941" y="245922"/>
                  </a:cubicBezTo>
                  <a:lnTo>
                    <a:pt x="14911" y="248295"/>
                  </a:lnTo>
                  <a:cubicBezTo>
                    <a:pt x="10953" y="248671"/>
                    <a:pt x="7033" y="247261"/>
                    <a:pt x="4222" y="244449"/>
                  </a:cubicBezTo>
                  <a:cubicBezTo>
                    <a:pt x="1410" y="241638"/>
                    <a:pt x="0" y="237718"/>
                    <a:pt x="376" y="233760"/>
                  </a:cubicBezTo>
                  <a:lnTo>
                    <a:pt x="2749" y="208730"/>
                  </a:lnTo>
                  <a:cubicBezTo>
                    <a:pt x="3298" y="202488"/>
                    <a:pt x="6027" y="196639"/>
                    <a:pt x="10457" y="192208"/>
                  </a:cubicBezTo>
                  <a:lnTo>
                    <a:pt x="97908" y="104757"/>
                  </a:lnTo>
                  <a:lnTo>
                    <a:pt x="93894" y="100743"/>
                  </a:lnTo>
                  <a:cubicBezTo>
                    <a:pt x="86698" y="93548"/>
                    <a:pt x="82655" y="83789"/>
                    <a:pt x="82655" y="73613"/>
                  </a:cubicBezTo>
                  <a:cubicBezTo>
                    <a:pt x="82655" y="63437"/>
                    <a:pt x="86698" y="53678"/>
                    <a:pt x="93894" y="46483"/>
                  </a:cubicBezTo>
                  <a:lnTo>
                    <a:pt x="129138" y="11239"/>
                  </a:lnTo>
                  <a:cubicBezTo>
                    <a:pt x="136333" y="4043"/>
                    <a:pt x="146092" y="0"/>
                    <a:pt x="156268" y="0"/>
                  </a:cubicBezTo>
                  <a:cubicBezTo>
                    <a:pt x="166444" y="0"/>
                    <a:pt x="176204" y="4043"/>
                    <a:pt x="183398" y="11239"/>
                  </a:cubicBezTo>
                </a:path>
              </a:pathLst>
            </a:custGeom>
            <a:noFill/>
            <a:ln w="26670" cap="rnd">
              <a:solidFill>
                <a:srgbClr val="FF7D29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12436" y="2017871"/>
              <a:ext cx="15299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② 多路径找 token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6191" y="24774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系统性翻多个凭据源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6191" y="2687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(env / helper)找可用 token。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81525" y="3048000"/>
              <a:ext cx="3028950" cy="571500"/>
            </a:xfrm>
            <a:prstGeom prst="roundRect">
              <a:avLst>
                <a:gd name="adj" fmla="val 13333"/>
              </a:avLst>
            </a:prstGeom>
            <a:solidFill>
              <a:srgbClr val="3A2A1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29162" y="31794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本会话真实拦截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29162" y="3384947"/>
              <a:ext cx="19152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git credential fill 提 token 被拦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6572" y="3933349"/>
              <a:ext cx="1243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对应风险:凭据滥用 /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6572" y="4142899"/>
              <a:ext cx="11977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越权、token 外泄。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34350" y="1676400"/>
            <a:ext cx="3486150" cy="3048000"/>
            <a:chOff x="8134350" y="1676400"/>
            <a:chExt cx="3486150" cy="3048000"/>
          </a:xfrm>
        </p:grpSpPr>
        <p:sp>
          <p:nvSpPr>
            <p:cNvPr id="34" name="Rectangle 34"/>
            <p:cNvSpPr/>
            <p:nvPr/>
          </p:nvSpPr>
          <p:spPr>
            <a:xfrm>
              <a:off x="8134350" y="1676400"/>
              <a:ext cx="3486150" cy="3048000"/>
            </a:xfrm>
            <a:prstGeom prst="roundRect">
              <a:avLst>
                <a:gd name="adj" fmla="val 375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34350" y="1676400"/>
              <a:ext cx="3486150" cy="57150"/>
            </a:xfrm>
            <a:prstGeom prst="roundRect">
              <a:avLst>
                <a:gd name="adj" fmla="val 50000"/>
              </a:avLst>
            </a:prstGeom>
            <a:solidFill>
              <a:srgbClr val="FF7D29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82457" y="2021212"/>
              <a:ext cx="279438" cy="240023"/>
              <a:chOff x="8382457" y="2021212"/>
              <a:chExt cx="279438" cy="24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457" y="2021212"/>
                <a:ext cx="279438" cy="240023"/>
              </a:xfrm>
              <a:custGeom>
                <a:avLst/>
                <a:gdLst/>
                <a:ahLst/>
                <a:cxnLst/>
                <a:rect l="l" t="t" r="r" b="b"/>
                <a:pathLst>
                  <a:path w="279438" h="240023">
                    <a:moveTo>
                      <a:pt x="117043" y="12755"/>
                    </a:moveTo>
                    <a:lnTo>
                      <a:pt x="4736" y="200245"/>
                    </a:lnTo>
                    <a:cubicBezTo>
                      <a:pt x="27" y="208404"/>
                      <a:pt x="0" y="218449"/>
                      <a:pt x="4665" y="226634"/>
                    </a:cubicBezTo>
                    <a:cubicBezTo>
                      <a:pt x="9329" y="234819"/>
                      <a:pt x="17985" y="239915"/>
                      <a:pt x="27405" y="240023"/>
                    </a:cubicBezTo>
                    <a:lnTo>
                      <a:pt x="252033" y="240023"/>
                    </a:lnTo>
                    <a:cubicBezTo>
                      <a:pt x="261453" y="239915"/>
                      <a:pt x="270109" y="234819"/>
                      <a:pt x="274774" y="226634"/>
                    </a:cubicBezTo>
                    <a:cubicBezTo>
                      <a:pt x="279438" y="218449"/>
                      <a:pt x="279411" y="208404"/>
                      <a:pt x="274703" y="200245"/>
                    </a:cubicBezTo>
                    <a:lnTo>
                      <a:pt x="162382" y="12755"/>
                    </a:lnTo>
                    <a:cubicBezTo>
                      <a:pt x="157572" y="4835"/>
                      <a:pt x="148978" y="0"/>
                      <a:pt x="139713" y="0"/>
                    </a:cubicBezTo>
                    <a:cubicBezTo>
                      <a:pt x="130447" y="0"/>
                      <a:pt x="121853" y="4835"/>
                      <a:pt x="117043" y="12755"/>
                    </a:cubicBezTo>
                    <a:close/>
                  </a:path>
                </a:pathLst>
              </a:custGeom>
              <a:noFill/>
              <a:ln w="26670" cap="rnd">
                <a:solidFill>
                  <a:srgbClr val="FF7D29"/>
                </a:solidFill>
                <a:round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22970" y="2101215"/>
                <a:ext cx="9525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">
                    <a:moveTo>
                      <a:pt x="0" y="0"/>
                    </a:moveTo>
                    <a:lnTo>
                      <a:pt x="0" y="53340"/>
                    </a:lnTo>
                  </a:path>
                </a:pathLst>
              </a:custGeom>
              <a:noFill/>
              <a:ln w="26670" cap="rnd">
                <a:solidFill>
                  <a:srgbClr val="FF7D29"/>
                </a:solidFill>
                <a:round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22970" y="2207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3" y="0"/>
                    </a:lnTo>
                  </a:path>
                </a:pathLst>
              </a:custGeom>
              <a:noFill/>
              <a:ln w="26670" cap="rnd">
                <a:solidFill>
                  <a:srgbClr val="FF7D29"/>
                </a:solidFill>
                <a:round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793861" y="2017871"/>
              <a:ext cx="11367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③ 外发不可逆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7616" y="247745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删库 / force push / 发消息 /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7616" y="268700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发邮件——收不回。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362950" y="3048000"/>
              <a:ext cx="3028950" cy="571500"/>
            </a:xfrm>
            <a:prstGeom prst="roundRect">
              <a:avLst>
                <a:gd name="adj" fmla="val 13333"/>
              </a:avLst>
            </a:prstGeom>
            <a:solidFill>
              <a:srgbClr val="3A241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10588" y="317944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硬护栏(hook)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10588" y="3384947"/>
              <a:ext cx="24074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F5F5F2"/>
                  </a:solidFill>
                  <a:latin typeface="Noto Sans CJK SC"/>
                  <a:ea typeface="Noto Sans CJK SC"/>
                  <a:cs typeface="Noto Sans CJK SC"/>
                </a:rPr>
                <a:t>external-send / gh-pages-write-guard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7997" y="3933349"/>
              <a:ext cx="1243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对应风险:数据泄露 /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57997" y="4142899"/>
              <a:ext cx="126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生产事故,无法回退。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4991100"/>
            <a:ext cx="11049000" cy="1238250"/>
            <a:chOff x="571500" y="4991100"/>
            <a:chExt cx="11049000" cy="1238250"/>
          </a:xfrm>
        </p:grpSpPr>
        <p:sp>
          <p:nvSpPr>
            <p:cNvPr id="49" name="Rectangle 49"/>
            <p:cNvSpPr/>
            <p:nvPr/>
          </p:nvSpPr>
          <p:spPr>
            <a:xfrm>
              <a:off x="571500" y="49911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500" y="499110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7547" y="5228749"/>
              <a:ext cx="1838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不是多疑,是对着不可逆风险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4880" y="5495925"/>
              <a:ext cx="9162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auto-mode 放行机械动作、</a:t>
              </a:r>
              <a:r>
                <a:rPr lang="zh-CN" sz="15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拦下不可逆动作</a:t>
              </a:r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——三类里前两类是"存疑先问",第三类走硬护栏"永远拦"。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166" y="5849302"/>
              <a:ext cx="5551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硬护栏(hook)是代码级、prompt 说服不了它;放行规则能放宽前两类,但绕不过第三类。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6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4206450" cy="656939"/>
            <a:chOff x="571500" y="533400"/>
            <a:chExt cx="4206450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39908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权限:怎么把自主权给回来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338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PERMISSIONS · settings.local.json 放行规则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6166" y="1486852"/>
            <a:ext cx="4767834" cy="3104198"/>
            <a:chOff x="566166" y="1486852"/>
            <a:chExt cx="4767834" cy="3104198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486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三级权限模型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500" y="1790700"/>
              <a:ext cx="4762500" cy="857250"/>
              <a:chOff x="571500" y="1790700"/>
              <a:chExt cx="47625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790700"/>
                <a:ext cx="4762500" cy="857250"/>
              </a:xfrm>
              <a:prstGeom prst="roundRect">
                <a:avLst>
                  <a:gd name="adj" fmla="val 13333"/>
                </a:avLst>
              </a:prstGeom>
              <a:solidFill>
                <a:srgbClr val="3A3F3F"/>
              </a:solidFill>
              <a:ln w="14288">
                <a:solidFill>
                  <a:srgbClr val="544F4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3623" y="1976914"/>
                <a:ext cx="6222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C2BAB5"/>
                    </a:solidFill>
                    <a:latin typeface="Noto Sans CJK SC"/>
                    <a:ea typeface="Microsoft YaHei"/>
                    <a:cs typeface="Noto Sans CJK SC"/>
                  </a:rPr>
                  <a:t>默认:问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956" y="2291001"/>
                <a:ext cx="260003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没规则的命令,auto-mode 停下弹权限确认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71500" y="2762250"/>
              <a:ext cx="4762500" cy="857250"/>
              <a:chOff x="571500" y="2762250"/>
              <a:chExt cx="4762500" cy="857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762250"/>
                <a:ext cx="4762500" cy="857250"/>
              </a:xfrm>
              <a:prstGeom prst="roundRect">
                <a:avLst>
                  <a:gd name="adj" fmla="val 13333"/>
                </a:avLst>
              </a:prstGeom>
              <a:solidFill>
                <a:srgbClr val="2A3742"/>
              </a:solidFill>
              <a:ln w="19050">
                <a:solidFill>
                  <a:srgbClr val="4CBB17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3623" y="2948464"/>
                <a:ext cx="13088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CBB17"/>
                    </a:solidFill>
                    <a:latin typeface="Noto Sans CJK SC"/>
                    <a:ea typeface="Microsoft YaHei"/>
                    <a:cs typeface="Noto Sans CJK SC"/>
                  </a:rPr>
                  <a:t>放行规则:自动过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956" y="3262551"/>
                <a:ext cx="251144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settings.local.json 里 allow 的,不再问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71500" y="3733800"/>
              <a:ext cx="4762500" cy="857250"/>
              <a:chOff x="571500" y="3733800"/>
              <a:chExt cx="4762500" cy="857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3733800"/>
                <a:ext cx="4762500" cy="857250"/>
              </a:xfrm>
              <a:prstGeom prst="roundRect">
                <a:avLst>
                  <a:gd name="adj" fmla="val 13333"/>
                </a:avLst>
              </a:prstGeom>
              <a:solidFill>
                <a:srgbClr val="3A3F3F"/>
              </a:solidFill>
              <a:ln w="14288">
                <a:solidFill>
                  <a:srgbClr val="FF7D29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93623" y="3920014"/>
                <a:ext cx="11371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FF7D29"/>
                    </a:solidFill>
                    <a:latin typeface="Noto Sans CJK SC"/>
                    <a:ea typeface="Microsoft YaHei"/>
                    <a:cs typeface="Noto Sans CJK SC"/>
                  </a:rPr>
                  <a:t>硬护栏:永远拦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4956" y="4234101"/>
                <a:ext cx="2272913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删库/外发等 hook,放行规则也绕不过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715000" y="1790700"/>
            <a:ext cx="5905500" cy="2800350"/>
            <a:chOff x="5715000" y="1790700"/>
            <a:chExt cx="5905500" cy="2800350"/>
          </a:xfrm>
        </p:grpSpPr>
        <p:sp>
          <p:nvSpPr>
            <p:cNvPr id="22" name="Rectangle 22"/>
            <p:cNvSpPr/>
            <p:nvPr/>
          </p:nvSpPr>
          <p:spPr>
            <a:xfrm>
              <a:off x="5715000" y="1790700"/>
              <a:ext cx="5905500" cy="2800350"/>
            </a:xfrm>
            <a:prstGeom prst="roundRect">
              <a:avLst>
                <a:gd name="adj" fmla="val 4082"/>
              </a:avLst>
            </a:prstGeom>
            <a:solidFill>
              <a:srgbClr val="202525"/>
            </a:solidFill>
            <a:ln w="14288">
              <a:solidFill>
                <a:srgbClr val="544F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0" y="1790700"/>
              <a:ext cx="5905500" cy="323850"/>
            </a:xfrm>
            <a:prstGeom prst="roundRect">
              <a:avLst>
                <a:gd name="adj" fmla="val 35294"/>
              </a:avLst>
            </a:prstGeom>
            <a:solidFill>
              <a:srgbClr val="3A3F3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876925" y="1905000"/>
              <a:ext cx="95250" cy="95250"/>
            </a:xfrm>
            <a:prstGeom prst="ellipse">
              <a:avLst/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048375" y="1905000"/>
              <a:ext cx="95250" cy="95250"/>
            </a:xfrm>
            <a:prstGeom prst="ellipse">
              <a:avLst/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19825" y="1905000"/>
              <a:ext cx="95250" cy="95250"/>
            </a:xfrm>
            <a:prstGeom prst="ellipse">
              <a:avLst/>
            </a:prstGeom>
            <a:solidFill>
              <a:srgbClr val="4CBB1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9389" y="1903095"/>
              <a:ext cx="1657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27C"/>
                  </a:solidFill>
                  <a:latin typeface="Consolas"/>
                  <a:ea typeface="Consolas"/>
                  <a:cs typeface="Consolas"/>
                </a:rPr>
                <a:t>.claude/settings.local.json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938076" y="2321004"/>
              <a:ext cx="2733368" cy="2041493"/>
              <a:chOff x="5938076" y="2321004"/>
              <a:chExt cx="2733368" cy="204149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938076" y="2321004"/>
                <a:ext cx="91569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{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128576" y="2549604"/>
                <a:ext cx="1218843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"permissions": {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19076" y="2778204"/>
                <a:ext cx="73572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BDE3FF"/>
                    </a:solidFill>
                    <a:latin typeface="Consolas"/>
                    <a:ea typeface="Consolas"/>
                    <a:cs typeface="Consolas"/>
                  </a:rPr>
                  <a:t>"allow"</a:t>
                </a:r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: [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576" y="3006804"/>
                <a:ext cx="174608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4CBB17"/>
                    </a:solidFill>
                    <a:latin typeface="Consolas"/>
                    <a:ea typeface="Consolas"/>
                    <a:cs typeface="Consolas"/>
                  </a:rPr>
                  <a:t>"Bash(gh pr merge:*)"</a:t>
                </a:r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09576" y="3235404"/>
                <a:ext cx="1833250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4CBB17"/>
                    </a:solidFill>
                    <a:latin typeface="Consolas"/>
                    <a:ea typeface="Consolas"/>
                    <a:cs typeface="Consolas"/>
                  </a:rPr>
                  <a:t>"Bash(curl … /reviews)"</a:t>
                </a:r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,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09576" y="3464004"/>
                <a:ext cx="216186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4CBB17"/>
                    </a:solidFill>
                    <a:latin typeface="Consolas"/>
                    <a:ea typeface="Consolas"/>
                    <a:cs typeface="Consolas"/>
                  </a:rPr>
                  <a:t>"Bash(gitpod user secret:*)"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19076" y="3692604"/>
                <a:ext cx="91569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]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28576" y="3921204"/>
                <a:ext cx="91569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938076" y="4149804"/>
                <a:ext cx="91569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9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5710238" y="4413647"/>
            <a:ext cx="2508409" cy="1833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rgbClr val="8A827C"/>
                </a:solidFill>
                <a:latin typeface="Noto Sans CJK SC"/>
                <a:ea typeface="Microsoft YaHei"/>
                <a:cs typeface="Noto Sans CJK SC"/>
              </a:rPr>
              <a:t>加这几条,approve / merge 就不再逐条弹窗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4876800"/>
            <a:ext cx="11049000" cy="1352550"/>
            <a:chOff x="571500" y="4876800"/>
            <a:chExt cx="11049000" cy="1352550"/>
          </a:xfrm>
        </p:grpSpPr>
        <p:sp>
          <p:nvSpPr>
            <p:cNvPr id="40" name="Rectangle 40"/>
            <p:cNvSpPr/>
            <p:nvPr/>
          </p:nvSpPr>
          <p:spPr>
            <a:xfrm>
              <a:off x="571500" y="4876800"/>
              <a:ext cx="11049000" cy="1352550"/>
            </a:xfrm>
            <a:prstGeom prst="roundRect">
              <a:avLst>
                <a:gd name="adj" fmla="val 845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4876800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7547" y="5133499"/>
              <a:ext cx="2511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这文件的关键性质(下一段故事的伏笔)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4880" y="5400675"/>
              <a:ext cx="4498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DE3FF"/>
                  </a:solidFill>
                  <a:latin typeface="Consolas"/>
                  <a:ea typeface="Consolas"/>
                  <a:cs typeface="Consolas"/>
                </a:rPr>
                <a:t>settings.local.json</a:t>
              </a:r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 是 </a:t>
              </a:r>
              <a:r>
                <a:rPr lang="zh-CN" sz="15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gitignored + 每容器独立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7166" y="5754052"/>
              <a:ext cx="6392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不进 git、不随 clone 走;换容器 = 一份新的空文件。给的自主权是"本机本容器"的,不会自己跟过去。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7547" y="5990749"/>
              <a:ext cx="241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改 settings 不热加载,需开新会话生效。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7D29">
                  <a:alpha val="5000"/>
                </a:srgbClr>
              </a:gs>
              <a:gs pos="100000">
                <a:srgbClr val="FF7D2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4099911" cy="656939"/>
            <a:chOff x="571500" y="533400"/>
            <a:chExt cx="4099911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33042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分类器:一次真实拦截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38762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PR #307 的 approve 被判"自我 approve" · 本会话实录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166" y="1505902"/>
            <a:ext cx="4482084" cy="3218498"/>
            <a:chOff x="566166" y="1505902"/>
            <a:chExt cx="4482084" cy="3218498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059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发生了什么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28650" y="1859756"/>
              <a:ext cx="2561844" cy="416433"/>
              <a:chOff x="628650" y="1859756"/>
              <a:chExt cx="2561844" cy="416433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28650" y="1866900"/>
                <a:ext cx="304800" cy="30480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368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2D3232"/>
                    </a:solidFill>
                    <a:latin typeface="Noto Sans CJK SC"/>
                    <a:ea typeface="Noto Sans CJK SC"/>
                    <a:cs typeface="Noto Sans CJK SC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1085" y="1859756"/>
                <a:ext cx="21294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用 Ona OAuth 身份建 PR #307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1847" y="2085499"/>
                <a:ext cx="8644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C2BAB5"/>
                    </a:solidFill>
                    <a:latin typeface="Noto Sans CJK SC"/>
                    <a:ea typeface="Microsoft YaHei"/>
                    <a:cs typeface="Noto Sans CJK SC"/>
                  </a:rPr>
                  <a:t>作者 = Garson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781050" y="2228850"/>
              <a:ext cx="1" cy="266700"/>
            </a:xfrm>
            <a:prstGeom prst="line">
              <a:avLst/>
            </a:prstGeom>
            <a:noFill/>
            <a:ln w="14288">
              <a:solidFill>
                <a:srgbClr val="544F4F"/>
              </a:solidFill>
              <a:tailEnd type="triangle" w="lg" len="lg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28650" y="2583656"/>
              <a:ext cx="2442972" cy="416433"/>
              <a:chOff x="628650" y="2583656"/>
              <a:chExt cx="2442972" cy="416433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628650" y="2590800"/>
                <a:ext cx="304800" cy="30480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36844" y="26870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2583656"/>
                <a:ext cx="20105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5F5F2"/>
                    </a:solidFill>
                    <a:latin typeface="Noto Sans CJK SC"/>
                    <a:ea typeface="Microsoft YaHei"/>
                    <a:cs typeface="Noto Sans CJK SC"/>
                  </a:rPr>
                  <a:t>用第二 admin token approve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847" y="2809399"/>
                <a:ext cx="167591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C2BAB5"/>
                    </a:solidFill>
                    <a:latin typeface="Noto Sans CJK SC"/>
                    <a:ea typeface="Microsoft YaHei"/>
                    <a:cs typeface="Noto Sans CJK SC"/>
                  </a:rPr>
                  <a:t>approver = 另一个人的 PAT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781050" y="2952750"/>
              <a:ext cx="1" cy="266700"/>
            </a:xfrm>
            <a:prstGeom prst="line">
              <a:avLst/>
            </a:prstGeom>
            <a:noFill/>
            <a:ln w="14288">
              <a:solidFill>
                <a:srgbClr val="544F4F"/>
              </a:solidFill>
              <a:tailEnd type="triangle" w="lg" len="lg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28650" y="3307556"/>
              <a:ext cx="2473261" cy="416433"/>
              <a:chOff x="628650" y="3307556"/>
              <a:chExt cx="2473261" cy="416433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28650" y="3314700"/>
                <a:ext cx="304800" cy="304800"/>
              </a:xfrm>
              <a:prstGeom prst="ellipse">
                <a:avLst/>
              </a:prstGeom>
              <a:solidFill>
                <a:srgbClr val="FF7D2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36844" y="34109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2D3232"/>
                    </a:solidFill>
                    <a:latin typeface="Noto Sans CJK SC"/>
                    <a:ea typeface="Noto Sans CJK SC"/>
                    <a:cs typeface="Noto Sans CJK SC"/>
                  </a:rPr>
                  <a:t>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61085" y="3307556"/>
                <a:ext cx="20408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7D29"/>
                    </a:solidFill>
                    <a:latin typeface="Noto Sans CJK SC"/>
                    <a:ea typeface="Microsoft YaHei"/>
                    <a:cs typeface="Noto Sans CJK SC"/>
                  </a:rPr>
                  <a:t>分类器判"自我 approve" → 拦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61847" y="3533299"/>
                <a:ext cx="200249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C2BAB5"/>
                    </a:solidFill>
                    <a:latin typeface="Noto Sans CJK SC"/>
                    <a:ea typeface="Microsoft YaHei"/>
                    <a:cs typeface="Noto Sans CJK SC"/>
                  </a:rPr>
                  <a:t>命令没发出去,GitHub 根本没看到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571500" y="3905250"/>
              <a:ext cx="4476750" cy="819150"/>
            </a:xfrm>
            <a:prstGeom prst="roundRect">
              <a:avLst>
                <a:gd name="adj" fmla="val 11628"/>
              </a:avLst>
            </a:prstGeom>
            <a:solidFill>
              <a:srgbClr val="2A3742"/>
            </a:solidFill>
            <a:ln w="11430">
              <a:solidFill>
                <a:srgbClr val="1482F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6097" y="40857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它误读了什么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906" y="4310301"/>
              <a:ext cx="211258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"同一 agent 既建 PR 又 approve"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906" y="4500801"/>
              <a:ext cx="236832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→ 当成单方自审(其实 token 是两个人)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0" y="1562100"/>
            <a:ext cx="6286500" cy="3162300"/>
            <a:chOff x="5334000" y="1562100"/>
            <a:chExt cx="6286500" cy="3162300"/>
          </a:xfrm>
        </p:grpSpPr>
        <p:sp>
          <p:nvSpPr>
            <p:cNvPr id="31" name="Rectangle 31"/>
            <p:cNvSpPr/>
            <p:nvPr/>
          </p:nvSpPr>
          <p:spPr>
            <a:xfrm>
              <a:off x="5334000" y="1562100"/>
              <a:ext cx="6286500" cy="3162300"/>
            </a:xfrm>
            <a:prstGeom prst="roundRect">
              <a:avLst>
                <a:gd name="adj" fmla="val 3614"/>
              </a:avLst>
            </a:prstGeom>
            <a:solidFill>
              <a:srgbClr val="202525"/>
            </a:solidFill>
            <a:ln w="14288">
              <a:solidFill>
                <a:srgbClr val="544F4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0" y="1562100"/>
              <a:ext cx="6286500" cy="323850"/>
            </a:xfrm>
            <a:prstGeom prst="roundRect">
              <a:avLst>
                <a:gd name="adj" fmla="val 35294"/>
              </a:avLst>
            </a:prstGeom>
            <a:solidFill>
              <a:srgbClr val="3A3F3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495925" y="1676400"/>
              <a:ext cx="95250" cy="95250"/>
            </a:xfrm>
            <a:prstGeom prst="ellipse">
              <a:avLst/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667375" y="1676400"/>
              <a:ext cx="95250" cy="95250"/>
            </a:xfrm>
            <a:prstGeom prst="ellipse">
              <a:avLst/>
            </a:prstGeom>
            <a:solidFill>
              <a:srgbClr val="FF7D29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838825" y="1676400"/>
              <a:ext cx="95250" cy="95250"/>
            </a:xfrm>
            <a:prstGeom prst="ellipse">
              <a:avLst/>
            </a:prstGeom>
            <a:solidFill>
              <a:srgbClr val="4CBB1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87584" y="1674495"/>
              <a:ext cx="1009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27C"/>
                  </a:solidFill>
                  <a:latin typeface="Consolas"/>
                  <a:ea typeface="Consolas"/>
                  <a:cs typeface="Consolas"/>
                </a:rPr>
                <a:t>auto-mode denial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557456" y="2100501"/>
              <a:ext cx="2395585" cy="2331625"/>
              <a:chOff x="5557456" y="2100501"/>
              <a:chExt cx="2395585" cy="2331625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5557456" y="2100501"/>
                <a:ext cx="207976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FF7D29"/>
                    </a:solidFill>
                    <a:latin typeface="Consolas"/>
                    <a:ea typeface="Consolas"/>
                    <a:cs typeface="Consolas"/>
                  </a:rPr>
                  <a:t>Permission denied by auto mode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557456" y="2291001"/>
                <a:ext cx="73269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8A827C"/>
                    </a:solidFill>
                    <a:latin typeface="Consolas"/>
                    <a:ea typeface="Consolas"/>
                    <a:cs typeface="Consolas"/>
                  </a:rPr>
                  <a:t>classifier.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557456" y="2595801"/>
                <a:ext cx="232884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Reason: [Self-Approval] the agent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557456" y="2786301"/>
                <a:ext cx="1868805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authored PR #307 and is now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557456" y="2976801"/>
                <a:ext cx="2366001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submitting an APPROVE review on it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557456" y="3167301"/>
                <a:ext cx="2197946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using the admin token, defeating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557456" y="3357801"/>
                <a:ext cx="2395585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the two-party review requirement;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557456" y="3548301"/>
                <a:ext cx="2381955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the user never named self-approval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557456" y="3738801"/>
                <a:ext cx="74291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10" dirty="0">
                    <a:solidFill>
                      <a:srgbClr val="C2BAB5"/>
                    </a:solidFill>
                    <a:latin typeface="Consolas"/>
                    <a:ea typeface="Consolas"/>
                    <a:cs typeface="Consolas"/>
                  </a:rPr>
                  <a:t>of this PR.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557456" y="4043601"/>
                <a:ext cx="204119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4CBB17"/>
                    </a:solidFill>
                    <a:latin typeface="Noto Sans CJK SC"/>
                    <a:ea typeface="Microsoft YaHei"/>
                    <a:cs typeface="Noto Sans CJK SC"/>
                  </a:rPr>
                  <a:t>→ 加回 settings.local.json 放行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557456" y="4234101"/>
                <a:ext cx="203374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4CBB17"/>
                    </a:solidFill>
                    <a:latin typeface="Noto Sans CJK SC"/>
                    <a:ea typeface="Microsoft YaHei"/>
                    <a:cs typeface="Noto Sans CJK SC"/>
                  </a:rPr>
                  <a:t>规则后重试 → APPROVED 一次过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991100"/>
            <a:ext cx="11049000" cy="1238250"/>
            <a:chOff x="571500" y="4991100"/>
            <a:chExt cx="11049000" cy="1238250"/>
          </a:xfrm>
        </p:grpSpPr>
        <p:sp>
          <p:nvSpPr>
            <p:cNvPr id="50" name="Rectangle 50"/>
            <p:cNvSpPr/>
            <p:nvPr/>
          </p:nvSpPr>
          <p:spPr>
            <a:xfrm>
              <a:off x="571500" y="49911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500" y="499110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7547" y="5228749"/>
              <a:ext cx="2816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关键:GitHub 认双人,是客户端分类器保守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4880" y="5495925"/>
              <a:ext cx="8769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token 其实是</a:t>
              </a:r>
              <a:r>
                <a:rPr lang="zh-CN" sz="1500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两个人</a:t>
              </a:r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——作者=Ona OAuth,approver=第二 admin PAT——GitHub 会接受(真双人)。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166" y="5849302"/>
              <a:ext cx="7150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拦它的是本地分类器,把"agent 两步都做了"错读成"同一 GitHub 身份"。指文档/敲命令都不算它要的显式同意。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566738" y="6521291"/>
              <a:ext cx="38000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 · denial 文案为实录节选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BB17">
                  <a:alpha val="5000"/>
                </a:srgbClr>
              </a:gs>
              <a:gs pos="100000">
                <a:srgbClr val="4CBB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5922855" cy="656939"/>
            <a:chOff x="571500" y="533400"/>
            <a:chExt cx="5922855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57072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结果:老容器能、搬家丢了、加回就好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34660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RESULTS · settings.local.json 放行规则的一生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752600"/>
            <a:ext cx="3238500" cy="2190750"/>
            <a:chOff x="571500" y="1752600"/>
            <a:chExt cx="3238500" cy="2190750"/>
          </a:xfrm>
        </p:grpSpPr>
        <p:sp>
          <p:nvSpPr>
            <p:cNvPr id="8" name="Rectangle 8"/>
            <p:cNvSpPr/>
            <p:nvPr/>
          </p:nvSpPr>
          <p:spPr>
            <a:xfrm>
              <a:off x="571500" y="1752600"/>
              <a:ext cx="3238500" cy="2190750"/>
            </a:xfrm>
            <a:prstGeom prst="roundRect">
              <a:avLst>
                <a:gd name="adj" fmla="val 5217"/>
              </a:avLst>
            </a:prstGeom>
            <a:solidFill>
              <a:srgbClr val="26331F"/>
            </a:solidFill>
            <a:ln w="14288">
              <a:solidFill>
                <a:srgbClr val="4CBB1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3623" y="1957864"/>
              <a:ext cx="1110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① 老容器(US)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766" y="2325052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settings.local.json 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766" y="2534602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approve/merge 放行规则</a:t>
              </a:r>
              <a:r>
                <a:rPr lang="zh-CN" sz="105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2857500"/>
              <a:ext cx="2762250" cy="419100"/>
            </a:xfrm>
            <a:prstGeom prst="roundRect">
              <a:avLst>
                <a:gd name="adj" fmla="val 18182"/>
              </a:avLst>
            </a:prstGeom>
            <a:solidFill>
              <a:srgbClr val="20252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60" y="3002756"/>
              <a:ext cx="1715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approve / merge 自动过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147" y="3495199"/>
              <a:ext cx="20509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你看到的"auto-mode 自己就批了"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848100" y="2847975"/>
            <a:ext cx="304800" cy="1"/>
          </a:xfrm>
          <a:prstGeom prst="line">
            <a:avLst/>
          </a:prstGeom>
          <a:noFill/>
          <a:ln w="19050">
            <a:solidFill>
              <a:srgbClr val="8A827C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4191000" y="1752600"/>
            <a:ext cx="3238500" cy="2190750"/>
            <a:chOff x="4191000" y="1752600"/>
            <a:chExt cx="3238500" cy="2190750"/>
          </a:xfrm>
        </p:grpSpPr>
        <p:sp>
          <p:nvSpPr>
            <p:cNvPr id="17" name="Rectangle 17"/>
            <p:cNvSpPr/>
            <p:nvPr/>
          </p:nvSpPr>
          <p:spPr>
            <a:xfrm>
              <a:off x="4191000" y="1752600"/>
              <a:ext cx="3238500" cy="2190750"/>
            </a:xfrm>
            <a:prstGeom prst="roundRect">
              <a:avLst>
                <a:gd name="adj" fmla="val 5217"/>
              </a:avLst>
            </a:prstGeom>
            <a:solidFill>
              <a:srgbClr val="3A2A1C"/>
            </a:solidFill>
            <a:ln w="14288">
              <a:solidFill>
                <a:srgbClr val="FF7D2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13123" y="1957864"/>
              <a:ext cx="1082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② US→EU 搬家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4266" y="232505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该文件 gitignored + 每容器独立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4266" y="2534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+ 没跑迁移 → </a:t>
              </a:r>
              <a:r>
                <a:rPr lang="zh-CN" sz="105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19600" y="2857500"/>
              <a:ext cx="2762250" cy="419100"/>
            </a:xfrm>
            <a:prstGeom prst="roundRect">
              <a:avLst>
                <a:gd name="adj" fmla="val 18182"/>
              </a:avLst>
            </a:prstGeom>
            <a:solidFill>
              <a:srgbClr val="20252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56760" y="3002756"/>
              <a:ext cx="162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approve/merge 全被拦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4647" y="3495199"/>
              <a:ext cx="15076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新容器只剩 113B 空残桩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467600" y="2847975"/>
            <a:ext cx="304800" cy="1"/>
          </a:xfrm>
          <a:prstGeom prst="line">
            <a:avLst/>
          </a:prstGeom>
          <a:noFill/>
          <a:ln w="19050">
            <a:solidFill>
              <a:srgbClr val="8A827C"/>
            </a:solidFill>
            <a:tailEnd type="triangle" w="lg" len="lg"/>
          </a:ln>
        </p:spPr>
      </p:sp>
      <p:grpSp>
        <p:nvGrpSpPr>
          <p:cNvPr id="33" name="Group 33"/>
          <p:cNvGrpSpPr/>
          <p:nvPr/>
        </p:nvGrpSpPr>
        <p:grpSpPr>
          <a:xfrm>
            <a:off x="7810500" y="1752600"/>
            <a:ext cx="3238500" cy="2190750"/>
            <a:chOff x="7810500" y="1752600"/>
            <a:chExt cx="32385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7810500" y="1752600"/>
              <a:ext cx="3238500" cy="2190750"/>
            </a:xfrm>
            <a:prstGeom prst="roundRect">
              <a:avLst>
                <a:gd name="adj" fmla="val 5217"/>
              </a:avLst>
            </a:prstGeom>
            <a:solidFill>
              <a:srgbClr val="26331F"/>
            </a:solidFill>
            <a:ln w="19050">
              <a:solidFill>
                <a:srgbClr val="4CBB17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32623" y="1957864"/>
              <a:ext cx="1609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③ 加回 local setting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3766" y="23250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把放行规则写回 → 开新会话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39100" y="2647950"/>
              <a:ext cx="2762250" cy="419100"/>
            </a:xfrm>
            <a:prstGeom prst="roundRect">
              <a:avLst>
                <a:gd name="adj" fmla="val 18182"/>
              </a:avLst>
            </a:prstGeom>
            <a:solidFill>
              <a:srgbClr val="20252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77022" y="2809399"/>
              <a:ext cx="13079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CBB17"/>
                  </a:solidFill>
                  <a:latin typeface="Consolas"/>
                  <a:ea typeface="Consolas"/>
                  <a:cs typeface="Consolas"/>
                </a:rPr>
                <a:t>approve → APPROVED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39100" y="3143250"/>
              <a:ext cx="2762250" cy="419100"/>
            </a:xfrm>
            <a:prstGeom prst="roundRect">
              <a:avLst>
                <a:gd name="adj" fmla="val 18182"/>
              </a:avLst>
            </a:prstGeom>
            <a:solidFill>
              <a:srgbClr val="20252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77022" y="3304699"/>
              <a:ext cx="959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CBB17"/>
                  </a:solidFill>
                  <a:latin typeface="Consolas"/>
                  <a:ea typeface="Consolas"/>
                  <a:cs typeface="Consolas"/>
                </a:rPr>
                <a:t>#307 → MERGED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171950"/>
            <a:ext cx="10477500" cy="666750"/>
            <a:chOff x="571500" y="4171950"/>
            <a:chExt cx="10477500" cy="666750"/>
          </a:xfrm>
        </p:grpSpPr>
        <p:sp>
          <p:nvSpPr>
            <p:cNvPr id="34" name="Rectangle 34"/>
            <p:cNvSpPr/>
            <p:nvPr/>
          </p:nvSpPr>
          <p:spPr>
            <a:xfrm>
              <a:off x="571500" y="4171950"/>
              <a:ext cx="10477500" cy="666750"/>
            </a:xfrm>
            <a:prstGeom prst="roundRect">
              <a:avLst>
                <a:gd name="adj" fmla="val 14286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2488" y="4349591"/>
              <a:ext cx="4992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拦截次数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1535" y="4583906"/>
              <a:ext cx="3623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搬家后 </a:t>
              </a:r>
              <a:r>
                <a:rPr lang="zh-CN" sz="112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3 次被拦</a:t>
              </a:r>
              <a:r>
                <a:rPr lang="en-US" sz="1120" dirty="0">
                  <a:solidFill>
                    <a:srgbClr val="F5F5F2"/>
                  </a:solidFill>
                  <a:latin typeface="Noto Sans CJK SC"/>
                  <a:ea typeface="Noto Sans CJK SC"/>
                  <a:cs typeface="Noto Sans CJK SC"/>
                </a:rPr>
                <a:t xml:space="preserve"> </a:t>
              </a:r>
              <a:r>
                <a:rPr lang="en-US" sz="11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→</a:t>
              </a:r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 加放行规则 </a:t>
              </a:r>
              <a:r>
                <a:rPr lang="en-US" sz="11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→</a:t>
              </a:r>
              <a:r>
                <a:rPr lang="en-US" sz="1120" dirty="0">
                  <a:solidFill>
                    <a:srgbClr val="F5F5F2"/>
                  </a:solidFill>
                  <a:latin typeface="Noto Sans CJK SC"/>
                  <a:ea typeface="Noto Sans CJK SC"/>
                  <a:cs typeface="Noto Sans CJK SC"/>
                </a:rPr>
                <a:t xml:space="preserve"> </a:t>
              </a:r>
              <a:r>
                <a:rPr lang="zh-CN" sz="112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0 次被拦,一口气跑完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61491" y="4315778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550" dirty="0">
                  <a:solidFill>
                    <a:srgbClr val="4CBB17"/>
                  </a:solidFill>
                  <a:latin typeface="Noto Sans CJK SC"/>
                  <a:ea typeface="Noto Sans CJK SC"/>
                  <a:cs typeface="Noto Sans CJK SC"/>
                </a:rPr>
                <a:t>✓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991100"/>
            <a:ext cx="11049000" cy="1238250"/>
            <a:chOff x="571500" y="4991100"/>
            <a:chExt cx="110490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571500" y="49911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499110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7547" y="5228749"/>
              <a:ext cx="287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教训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4880" y="5495925"/>
              <a:ext cx="8306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"老容器能、新容器不能"几乎总是</a:t>
              </a:r>
              <a:r>
                <a:rPr lang="zh-CN" sz="15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本地配置没跟过来</a:t>
              </a:r>
              <a:r>
                <a:rPr lang="zh-CN" sz="15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,不是记忆坏了、也不是 GitHub 改了。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166" y="5849302"/>
              <a:ext cx="8018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搬家记得带 settings.local.json——它 gitignored,ona-migrate 数据层本应带,但前提是真跑了 backup+restore(裸切会丢)。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6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323850"/>
            <a:ext cx="762000" cy="40005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71500" y="533400"/>
            <a:ext cx="4206450" cy="656939"/>
            <a:chOff x="571500" y="533400"/>
            <a:chExt cx="4206450" cy="656939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146" y="581978"/>
              <a:ext cx="39908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设计决策:三条非显然结论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147" y="999649"/>
              <a:ext cx="3732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12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DESIGN DECISIONS · 这次踩出来的、值得记住的三点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676400"/>
            <a:ext cx="11049000" cy="1143000"/>
            <a:chOff x="571500" y="1676400"/>
            <a:chExt cx="11049000" cy="1143000"/>
          </a:xfrm>
        </p:grpSpPr>
        <p:sp>
          <p:nvSpPr>
            <p:cNvPr id="8" name="Rectangle 8"/>
            <p:cNvSpPr/>
            <p:nvPr/>
          </p:nvSpPr>
          <p:spPr>
            <a:xfrm>
              <a:off x="571500" y="16764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764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14400" y="2038350"/>
              <a:ext cx="419100" cy="41910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99" y="2152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D3232"/>
                  </a:solidFill>
                  <a:latin typeface="Noto Sans CJK SC"/>
                  <a:ea typeface="Noto Sans CJK SC"/>
                  <a:cs typeface="Noto Sans CJK SC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4480" y="1952625"/>
              <a:ext cx="35165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两道闸:auto-mode ≠ GitHub 分支保护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6385" y="2278856"/>
              <a:ext cx="7055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一个本地(客户端,拦在你机器上)、一个服务端(GitHub 强制)。本地这道拦了,服务端那道根本没轮到。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6956" y="2538651"/>
              <a:ext cx="30308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别把本地拦读成 GitHub 拦——排查方向完全不同。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971800"/>
            <a:ext cx="11049000" cy="1143000"/>
            <a:chOff x="571500" y="2971800"/>
            <a:chExt cx="11049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9718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9718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14400" y="3333750"/>
              <a:ext cx="419100" cy="41910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0799" y="3448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54480" y="3248025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命令 / skill 不携带授权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56385" y="3574256"/>
              <a:ext cx="54105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auto-mode 评估的是</a:t>
              </a:r>
              <a:r>
                <a:rPr lang="zh-CN" sz="1120" dirty="0">
                  <a:solidFill>
                    <a:srgbClr val="1482FA"/>
                  </a:solidFill>
                  <a:latin typeface="Noto Sans CJK SC"/>
                  <a:ea typeface="Microsoft YaHei"/>
                  <a:cs typeface="Noto Sans CJK SC"/>
                </a:rPr>
                <a:t>实际的 bash 调用</a:t>
              </a:r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,不管它来自 command、skill 还是手搓。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6956" y="3834051"/>
              <a:ext cx="54419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想让某类动作自主跑,只能靠 settings.local.json 放行规则,不是"写个 skill 就有权限"。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267200"/>
            <a:ext cx="11049000" cy="1143000"/>
            <a:chOff x="571500" y="4267200"/>
            <a:chExt cx="110490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571500" y="42672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3A3F3F"/>
            </a:solidFill>
            <a:ln w="14288">
              <a:solidFill>
                <a:srgbClr val="544F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42672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rgbClr val="BDE3F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14400" y="4629150"/>
              <a:ext cx="419100" cy="419100"/>
            </a:xfrm>
            <a:prstGeom prst="ellipse">
              <a:avLst/>
            </a:prstGeom>
            <a:solidFill>
              <a:srgbClr val="BDE3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0799" y="4743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D3232"/>
                  </a:solidFill>
                  <a:latin typeface="Noto Sans CJK SC"/>
                  <a:ea typeface="Noto Sans CJK SC"/>
                  <a:cs typeface="Noto Sans CJK SC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54480" y="4543425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护栏分两型:提示型 vs 验证型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56385" y="4869656"/>
              <a:ext cx="5243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有的护栏只</a:t>
              </a:r>
              <a:r>
                <a:rPr lang="zh-CN" sz="112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提醒</a:t>
              </a:r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(停一下、清单可见),有的真</a:t>
              </a:r>
              <a:r>
                <a:rPr lang="zh-CN" sz="112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拦</a:t>
              </a:r>
              <a:r>
                <a:rPr lang="zh-CN" sz="112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(代码级、prompt 说服不了)。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56956" y="5129451"/>
              <a:ext cx="696172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auto-mode 分类器 + hook 是验证型;retrospect / plan-review 提醒是提示型。知道哪型,才知道能不能"说服"。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5581650"/>
            <a:ext cx="11049000" cy="647700"/>
            <a:chOff x="571500" y="5581650"/>
            <a:chExt cx="11049000" cy="647700"/>
          </a:xfrm>
        </p:grpSpPr>
        <p:sp>
          <p:nvSpPr>
            <p:cNvPr id="32" name="Rectangle 32"/>
            <p:cNvSpPr/>
            <p:nvPr/>
          </p:nvSpPr>
          <p:spPr>
            <a:xfrm>
              <a:off x="571500" y="5581650"/>
              <a:ext cx="11049000" cy="647700"/>
            </a:xfrm>
            <a:prstGeom prst="roundRect">
              <a:avLst>
                <a:gd name="adj" fmla="val 17647"/>
              </a:avLst>
            </a:prstGeom>
            <a:solidFill>
              <a:srgbClr val="2A3742"/>
            </a:solidFill>
            <a:ln w="11430">
              <a:solidFill>
                <a:srgbClr val="1482F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5261" y="5827871"/>
              <a:ext cx="68350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i="1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给 agent 自主权,是"配置放行规则"的工程问题,不是"说服它"的对话问题。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521291"/>
              <a:ext cx="254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827C"/>
                  </a:solidFill>
                  <a:latin typeface="Noto Sans CJK SC"/>
                  <a:ea typeface="Microsoft YaHei"/>
                  <a:cs typeface="Noto Sans CJK SC"/>
                </a:rPr>
                <a:t>Silicon Hitchhiker · Claude Code Auto Mode 实战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82FA">
                  <a:alpha val="12000"/>
                </a:srgbClr>
              </a:gs>
              <a:gs pos="100000">
                <a:srgbClr val="1482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544F4F">
                  <a:alpha val="30000"/>
                </a:srgbClr>
              </a:solidFill>
            </a:ln>
          </p:spPr>
        </p:sp>
      </p:grp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7200"/>
            <a:ext cx="914400" cy="47625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4667250" y="1428750"/>
            <a:ext cx="2857500" cy="19050"/>
          </a:xfrm>
          <a:prstGeom prst="rect">
            <a:avLst/>
          </a:prstGeom>
          <a:gradFill>
            <a:gsLst>
              <a:gs pos="0">
                <a:srgbClr val="1482FA">
                  <a:alpha val="60000"/>
                </a:srgbClr>
              </a:gs>
              <a:gs pos="100000">
                <a:srgbClr val="BDE3FF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16764" y="1094899"/>
            <a:ext cx="958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spc="150" dirty="0">
                <a:solidFill>
                  <a:srgbClr val="BDE3FF"/>
                </a:solidFill>
                <a:latin typeface="Noto Sans CJK SC"/>
                <a:ea typeface="Microsoft YaHei"/>
                <a:cs typeface="Noto Sans CJK SC"/>
              </a:rPr>
              <a:t>收尾 · 一句话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08487" y="1978342"/>
            <a:ext cx="317502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dirty="0">
                <a:solidFill>
                  <a:srgbClr val="F5F5F2"/>
                </a:solidFill>
                <a:effectLst>
                  <a:glow rad="66675">
                    <a:srgbClr val="1482FA">
                      <a:alpha val="30000"/>
                    </a:srgbClr>
                  </a:glow>
                </a:effectLst>
                <a:latin typeface="Noto Sans CJK SC"/>
                <a:ea typeface="Microsoft YaHei"/>
                <a:cs typeface="Noto Sans CJK SC"/>
              </a:rPr>
              <a:t>给 agent 自主权 =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84397" y="2590324"/>
            <a:ext cx="5423206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80" dirty="0">
                <a:solidFill>
                  <a:srgbClr val="F5F5F2"/>
                </a:solidFill>
                <a:latin typeface="Noto Sans CJK SC"/>
                <a:ea typeface="Microsoft YaHei"/>
                <a:cs typeface="Noto Sans CJK SC"/>
              </a:rPr>
              <a:t>本地放行规则 + GitHub 双人 review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857500" y="3429000"/>
            <a:ext cx="6477000" cy="914400"/>
            <a:chOff x="2857500" y="3429000"/>
            <a:chExt cx="6477000" cy="914400"/>
          </a:xfrm>
        </p:grpSpPr>
        <p:sp>
          <p:nvSpPr>
            <p:cNvPr id="12" name="Rectangle 12"/>
            <p:cNvSpPr/>
            <p:nvPr/>
          </p:nvSpPr>
          <p:spPr>
            <a:xfrm>
              <a:off x="2857500" y="3429000"/>
              <a:ext cx="2857500" cy="914400"/>
            </a:xfrm>
            <a:prstGeom prst="roundRect">
              <a:avLst>
                <a:gd name="adj" fmla="val 12500"/>
              </a:avLst>
            </a:prstGeom>
            <a:solidFill>
              <a:srgbClr val="3A3F3F"/>
            </a:solidFill>
            <a:ln w="14288">
              <a:solidFill>
                <a:srgbClr val="1482F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09746" y="3661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① 本地 auto-mode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0177" y="3952399"/>
              <a:ext cx="1552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settings.local.json 放行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0" y="3429000"/>
              <a:ext cx="2857500" cy="914400"/>
            </a:xfrm>
            <a:prstGeom prst="roundRect">
              <a:avLst>
                <a:gd name="adj" fmla="val 12500"/>
              </a:avLst>
            </a:prstGeom>
            <a:solidFill>
              <a:srgbClr val="3A3F3F"/>
            </a:solidFill>
            <a:ln w="14288">
              <a:solidFill>
                <a:srgbClr val="0B41C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123" y="3661410"/>
              <a:ext cx="1197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② 服务端 GitHub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53204" y="3952399"/>
              <a:ext cx="15050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BAB5"/>
                  </a:solidFill>
                  <a:latin typeface="Noto Sans CJK SC"/>
                  <a:ea typeface="Microsoft YaHei"/>
                  <a:cs typeface="Noto Sans CJK SC"/>
                </a:rPr>
                <a:t>PR + 1 approve 分支保护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6534" y="37652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8A827C"/>
                  </a:solidFill>
                  <a:latin typeface="Noto Sans CJK SC"/>
                  <a:ea typeface="Noto Sans CJK SC"/>
                  <a:cs typeface="Noto Sans CJK SC"/>
                </a:rPr>
                <a:t>+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57500" y="4629150"/>
            <a:ext cx="6477000" cy="1143000"/>
            <a:chOff x="2857500" y="4629150"/>
            <a:chExt cx="6477000" cy="1143000"/>
          </a:xfrm>
        </p:grpSpPr>
        <p:sp>
          <p:nvSpPr>
            <p:cNvPr id="20" name="Rectangle 20"/>
            <p:cNvSpPr/>
            <p:nvPr/>
          </p:nvSpPr>
          <p:spPr>
            <a:xfrm>
              <a:off x="2857500" y="4629150"/>
              <a:ext cx="6477000" cy="1143000"/>
            </a:xfrm>
            <a:prstGeom prst="roundRect">
              <a:avLst>
                <a:gd name="adj" fmla="val 10000"/>
              </a:avLst>
            </a:prstGeom>
            <a:solidFill>
              <a:srgbClr val="353A3A"/>
            </a:solidFill>
            <a:ln w="9525">
              <a:solidFill>
                <a:srgbClr val="544F4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57500" y="4629150"/>
              <a:ext cx="47625" cy="1143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482FA"/>
                </a:gs>
                <a:gs pos="100000">
                  <a:srgbClr val="BDE3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94304" y="4842510"/>
              <a:ext cx="3227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F5F5F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别把</a:t>
              </a:r>
              <a:r>
                <a:rPr lang="zh-CN" sz="1200" dirty="0">
                  <a:solidFill>
                    <a:srgbClr val="FF7D29"/>
                  </a:solidFill>
                  <a:latin typeface="Noto Sans CJK SC"/>
                  <a:ea typeface="Microsoft YaHei"/>
                  <a:cs typeface="Noto Sans CJK SC"/>
                </a:rPr>
                <a:t>本地拦</a:t>
              </a: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当成 </a:t>
              </a:r>
              <a:r>
                <a:rPr lang="zh-CN" sz="1200" dirty="0">
                  <a:solidFill>
                    <a:srgbClr val="BDE3FF"/>
                  </a:solidFill>
                  <a:latin typeface="Noto Sans CJK SC"/>
                  <a:ea typeface="Microsoft YaHei"/>
                  <a:cs typeface="Noto Sans CJK SC"/>
                </a:rPr>
                <a:t>GitHub 拦</a:t>
              </a: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——排查方向不同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94304" y="5166360"/>
              <a:ext cx="4244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F5F5F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 xml:space="preserve">搬家记得带 </a:t>
              </a:r>
              <a:r>
                <a:rPr lang="en-US" sz="1200" dirty="0">
                  <a:solidFill>
                    <a:srgbClr val="BDE3FF"/>
                  </a:solidFill>
                  <a:latin typeface="Consolas"/>
                  <a:ea typeface="Consolas"/>
                  <a:cs typeface="Consolas"/>
                </a:rPr>
                <a:t>settings.local.json</a:t>
              </a: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(gitignored,裸切会丢)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4304" y="5471160"/>
              <a:ext cx="3574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F5F5F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权限是</a:t>
              </a:r>
              <a:r>
                <a:rPr lang="zh-CN" sz="1200" dirty="0">
                  <a:solidFill>
                    <a:srgbClr val="4CBB17"/>
                  </a:solidFill>
                  <a:latin typeface="Noto Sans CJK SC"/>
                  <a:ea typeface="Microsoft YaHei"/>
                  <a:cs typeface="Noto Sans CJK SC"/>
                </a:rPr>
                <a:t>工程问题</a:t>
              </a:r>
              <a:r>
                <a:rPr lang="zh-CN" sz="1200" dirty="0">
                  <a:solidFill>
                    <a:srgbClr val="F5F5F2"/>
                  </a:solidFill>
                  <a:latin typeface="Noto Sans CJK SC"/>
                  <a:ea typeface="Microsoft YaHei"/>
                  <a:cs typeface="Noto Sans CJK SC"/>
                </a:rPr>
                <a:t>:配放行规则,不是"说服" agent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446743" y="6200299"/>
            <a:ext cx="52985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A827C"/>
                </a:solidFill>
                <a:latin typeface="Noto Sans CJK SC"/>
                <a:ea typeface="Microsoft YaHei"/>
                <a:cs typeface="Noto Sans CJK SC"/>
              </a:rPr>
              <a:t>Silicon Hitchhiker · 罗氏 AI 社区 · 改编自上游 ppt-master「Claude Code Auto Mode」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A3F3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191000" y="6667500"/>
            <a:ext cx="3810000" cy="28575"/>
          </a:xfrm>
          <a:prstGeom prst="rect">
            <a:avLst/>
          </a:prstGeom>
          <a:gradFill>
            <a:gsLst>
              <a:gs pos="0">
                <a:srgbClr val="1482FA">
                  <a:alpha val="50000"/>
                </a:srgbClr>
              </a:gs>
              <a:gs pos="100000">
                <a:srgbClr val="BDE3FF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2026-07-12T14:44:49Z</dcterms:created>
  <dcterms:modified xsi:type="dcterms:W3CDTF">2026-07-12T14:44:49Z</dcterms:modified>
  <cp:category/>
  <cp:contentStatus/>
</cp:coreProperties>
</file>