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82" r:id="rId2"/>
    <p:sldId id="279" r:id="rId3"/>
    <p:sldId id="278" r:id="rId4"/>
    <p:sldId id="28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3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4DC812-4D8D-490D-B8EE-654F65696200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E0E5A10B-D499-4DC2-BF3C-CE1D26ECFCDB}">
      <dgm:prSet phldrT="[Text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品牌份额</a:t>
          </a:r>
        </a:p>
      </dgm:t>
    </dgm:pt>
    <dgm:pt modelId="{21FBB2F2-4EDE-4987-ADB1-CE74BB9ABA21}" type="parTrans" cxnId="{3188B367-66D6-4A56-9713-42EE8BE2E155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8E71BBF-8091-453B-8893-D17D4C35D6BC}" type="sibTrans" cxnId="{3188B367-66D6-4A56-9713-42EE8BE2E155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91D7336-7DCB-4701-9F16-7622AFB39777}">
      <dgm:prSet phldrT="[Text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足计量</a:t>
          </a:r>
          <a:r>
            <a: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足疗程</a:t>
          </a:r>
        </a:p>
      </dgm:t>
    </dgm:pt>
    <dgm:pt modelId="{8155AFE3-15A8-4E09-8448-0BF61009850F}" type="parTrans" cxnId="{CC83A042-BEEA-42FE-854B-14DE57671AF8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14425E1-A6B9-4334-A472-397077A4C7C6}" type="sibTrans" cxnId="{CC83A042-BEEA-42FE-854B-14DE57671AF8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59DE712-469F-496A-AB75-A0B791937ADE}">
      <dgm:prSet phldrT="[Text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病床轮转率</a:t>
          </a:r>
        </a:p>
      </dgm:t>
    </dgm:pt>
    <dgm:pt modelId="{59EA77F8-FE2A-41A9-829D-A51BDF75E720}" type="parTrans" cxnId="{DCD32D46-1C56-4A8A-82B4-BDD0EE1FAC9D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2BB9FA8-D709-4464-B74A-6D4A4CD71D77}" type="sibTrans" cxnId="{DCD32D46-1C56-4A8A-82B4-BDD0EE1FAC9D}">
      <dgm:prSet/>
      <dgm:spPr/>
      <dgm:t>
        <a:bodyPr/>
        <a:lstStyle/>
        <a:p>
          <a:endParaRPr lang="zh-CN" altLang="en-US" sz="1600" b="1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34CF169-0F22-43A9-BD09-9A4AC655ED17}">
      <dgm:prSet phldrT="[Text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病理导入率</a:t>
          </a:r>
        </a:p>
      </dgm:t>
    </dgm:pt>
    <dgm:pt modelId="{B7446390-6844-4C72-93AF-276A03C90311}" type="parTrans" cxnId="{6128BE19-8636-4765-ADE0-B057D231963E}">
      <dgm:prSet/>
      <dgm:spPr/>
      <dgm:t>
        <a:bodyPr/>
        <a:lstStyle/>
        <a:p>
          <a:endParaRPr lang="zh-CN" altLang="en-US" sz="1600" b="1"/>
        </a:p>
      </dgm:t>
    </dgm:pt>
    <dgm:pt modelId="{6CC27ED0-8A45-482E-98FB-6924C53702A3}" type="sibTrans" cxnId="{6128BE19-8636-4765-ADE0-B057D231963E}">
      <dgm:prSet/>
      <dgm:spPr/>
      <dgm:t>
        <a:bodyPr/>
        <a:lstStyle/>
        <a:p>
          <a:endParaRPr lang="zh-CN" altLang="en-US" sz="1600" b="1"/>
        </a:p>
      </dgm:t>
    </dgm:pt>
    <dgm:pt modelId="{774D26E6-D987-4096-B452-EEF4F7B4817D}">
      <dgm:prSet phldrT="[Text]" custT="1"/>
      <dgm:spPr/>
      <dgm:t>
        <a:bodyPr/>
        <a:lstStyle/>
        <a:p>
          <a:r>
            <a: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rPr>
            <a:t>前端科室早筛</a:t>
          </a:r>
        </a:p>
      </dgm:t>
    </dgm:pt>
    <dgm:pt modelId="{DF2263AC-791A-4345-B51F-16499CFC8477}" type="parTrans" cxnId="{A0F22A6C-5C80-4CA2-9F95-F7CB2337CCC1}">
      <dgm:prSet/>
      <dgm:spPr/>
      <dgm:t>
        <a:bodyPr/>
        <a:lstStyle/>
        <a:p>
          <a:endParaRPr lang="zh-CN" altLang="en-US" sz="1600" b="1"/>
        </a:p>
      </dgm:t>
    </dgm:pt>
    <dgm:pt modelId="{E2272F35-A168-4377-A28F-397A843D8427}" type="sibTrans" cxnId="{A0F22A6C-5C80-4CA2-9F95-F7CB2337CCC1}">
      <dgm:prSet/>
      <dgm:spPr/>
      <dgm:t>
        <a:bodyPr/>
        <a:lstStyle/>
        <a:p>
          <a:endParaRPr lang="zh-CN" altLang="en-US" sz="1600" b="1"/>
        </a:p>
      </dgm:t>
    </dgm:pt>
    <dgm:pt modelId="{72A7D1E7-9B9E-42A7-BE4D-F5D43FAF9B7A}" type="pres">
      <dgm:prSet presAssocID="{7A4DC812-4D8D-490D-B8EE-654F65696200}" presName="Name0" presStyleCnt="0">
        <dgm:presLayoutVars>
          <dgm:dir/>
          <dgm:animLvl val="lvl"/>
          <dgm:resizeHandles val="exact"/>
        </dgm:presLayoutVars>
      </dgm:prSet>
      <dgm:spPr/>
    </dgm:pt>
    <dgm:pt modelId="{07F9E805-DDCC-4A48-8D78-078F1F7A4D0E}" type="pres">
      <dgm:prSet presAssocID="{E0E5A10B-D499-4DC2-BF3C-CE1D26ECFCDB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AA40AF22-E748-4C40-8A77-7FF34544AD69}" type="pres">
      <dgm:prSet presAssocID="{38E71BBF-8091-453B-8893-D17D4C35D6BC}" presName="parTxOnlySpace" presStyleCnt="0"/>
      <dgm:spPr/>
    </dgm:pt>
    <dgm:pt modelId="{7471D2C2-0AD3-4F14-8930-62DF9E76DDB5}" type="pres">
      <dgm:prSet presAssocID="{491D7336-7DCB-4701-9F16-7622AFB39777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8676B4C9-05D0-429C-912E-32945ED41676}" type="pres">
      <dgm:prSet presAssocID="{A14425E1-A6B9-4334-A472-397077A4C7C6}" presName="parTxOnlySpace" presStyleCnt="0"/>
      <dgm:spPr/>
    </dgm:pt>
    <dgm:pt modelId="{E9EE4F92-709B-4922-ABDF-C787CC0A9EEF}" type="pres">
      <dgm:prSet presAssocID="{F59DE712-469F-496A-AB75-A0B791937ADE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E64D5214-EFC0-4113-8A8F-E66DBBB2F418}" type="pres">
      <dgm:prSet presAssocID="{72BB9FA8-D709-4464-B74A-6D4A4CD71D77}" presName="parTxOnlySpace" presStyleCnt="0"/>
      <dgm:spPr/>
    </dgm:pt>
    <dgm:pt modelId="{345E4D67-C7A8-44AE-8177-AD7CB5F6F085}" type="pres">
      <dgm:prSet presAssocID="{234CF169-0F22-43A9-BD09-9A4AC655ED17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3DA0FA45-2D51-4875-954A-1BC18238D9F5}" type="pres">
      <dgm:prSet presAssocID="{6CC27ED0-8A45-482E-98FB-6924C53702A3}" presName="parTxOnlySpace" presStyleCnt="0"/>
      <dgm:spPr/>
    </dgm:pt>
    <dgm:pt modelId="{A35BA18A-4B8E-4037-8F0E-2E4B0D9557AB}" type="pres">
      <dgm:prSet presAssocID="{774D26E6-D987-4096-B452-EEF4F7B4817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6128BE19-8636-4765-ADE0-B057D231963E}" srcId="{7A4DC812-4D8D-490D-B8EE-654F65696200}" destId="{234CF169-0F22-43A9-BD09-9A4AC655ED17}" srcOrd="3" destOrd="0" parTransId="{B7446390-6844-4C72-93AF-276A03C90311}" sibTransId="{6CC27ED0-8A45-482E-98FB-6924C53702A3}"/>
    <dgm:cxn modelId="{C50A6E1A-3AB1-44C0-946C-058A1B6C4914}" type="presOf" srcId="{491D7336-7DCB-4701-9F16-7622AFB39777}" destId="{7471D2C2-0AD3-4F14-8930-62DF9E76DDB5}" srcOrd="0" destOrd="0" presId="urn:microsoft.com/office/officeart/2005/8/layout/chevron1"/>
    <dgm:cxn modelId="{CC83A042-BEEA-42FE-854B-14DE57671AF8}" srcId="{7A4DC812-4D8D-490D-B8EE-654F65696200}" destId="{491D7336-7DCB-4701-9F16-7622AFB39777}" srcOrd="1" destOrd="0" parTransId="{8155AFE3-15A8-4E09-8448-0BF61009850F}" sibTransId="{A14425E1-A6B9-4334-A472-397077A4C7C6}"/>
    <dgm:cxn modelId="{DCD32D46-1C56-4A8A-82B4-BDD0EE1FAC9D}" srcId="{7A4DC812-4D8D-490D-B8EE-654F65696200}" destId="{F59DE712-469F-496A-AB75-A0B791937ADE}" srcOrd="2" destOrd="0" parTransId="{59EA77F8-FE2A-41A9-829D-A51BDF75E720}" sibTransId="{72BB9FA8-D709-4464-B74A-6D4A4CD71D77}"/>
    <dgm:cxn modelId="{3188B367-66D6-4A56-9713-42EE8BE2E155}" srcId="{7A4DC812-4D8D-490D-B8EE-654F65696200}" destId="{E0E5A10B-D499-4DC2-BF3C-CE1D26ECFCDB}" srcOrd="0" destOrd="0" parTransId="{21FBB2F2-4EDE-4987-ADB1-CE74BB9ABA21}" sibTransId="{38E71BBF-8091-453B-8893-D17D4C35D6BC}"/>
    <dgm:cxn modelId="{39122F6A-9777-49F9-AE1A-013D1F028326}" type="presOf" srcId="{234CF169-0F22-43A9-BD09-9A4AC655ED17}" destId="{345E4D67-C7A8-44AE-8177-AD7CB5F6F085}" srcOrd="0" destOrd="0" presId="urn:microsoft.com/office/officeart/2005/8/layout/chevron1"/>
    <dgm:cxn modelId="{A0F22A6C-5C80-4CA2-9F95-F7CB2337CCC1}" srcId="{7A4DC812-4D8D-490D-B8EE-654F65696200}" destId="{774D26E6-D987-4096-B452-EEF4F7B4817D}" srcOrd="4" destOrd="0" parTransId="{DF2263AC-791A-4345-B51F-16499CFC8477}" sibTransId="{E2272F35-A168-4377-A28F-397A843D8427}"/>
    <dgm:cxn modelId="{42A0CC4F-3CCF-48CA-A09E-1A3C18B37DE6}" type="presOf" srcId="{7A4DC812-4D8D-490D-B8EE-654F65696200}" destId="{72A7D1E7-9B9E-42A7-BE4D-F5D43FAF9B7A}" srcOrd="0" destOrd="0" presId="urn:microsoft.com/office/officeart/2005/8/layout/chevron1"/>
    <dgm:cxn modelId="{D29F8E89-B2E0-4B82-B11F-0C41F16043D2}" type="presOf" srcId="{F59DE712-469F-496A-AB75-A0B791937ADE}" destId="{E9EE4F92-709B-4922-ABDF-C787CC0A9EEF}" srcOrd="0" destOrd="0" presId="urn:microsoft.com/office/officeart/2005/8/layout/chevron1"/>
    <dgm:cxn modelId="{E11132A3-5CDE-4078-B9D5-9587ADE0544E}" type="presOf" srcId="{774D26E6-D987-4096-B452-EEF4F7B4817D}" destId="{A35BA18A-4B8E-4037-8F0E-2E4B0D9557AB}" srcOrd="0" destOrd="0" presId="urn:microsoft.com/office/officeart/2005/8/layout/chevron1"/>
    <dgm:cxn modelId="{449DB6B7-6D96-4340-93C1-C513BCD0F021}" type="presOf" srcId="{E0E5A10B-D499-4DC2-BF3C-CE1D26ECFCDB}" destId="{07F9E805-DDCC-4A48-8D78-078F1F7A4D0E}" srcOrd="0" destOrd="0" presId="urn:microsoft.com/office/officeart/2005/8/layout/chevron1"/>
    <dgm:cxn modelId="{7C28DFF6-2DD7-4F89-ABF8-5BC75F691604}" type="presParOf" srcId="{72A7D1E7-9B9E-42A7-BE4D-F5D43FAF9B7A}" destId="{07F9E805-DDCC-4A48-8D78-078F1F7A4D0E}" srcOrd="0" destOrd="0" presId="urn:microsoft.com/office/officeart/2005/8/layout/chevron1"/>
    <dgm:cxn modelId="{79015B25-A90E-4BFC-BA7A-16F1A37EEE68}" type="presParOf" srcId="{72A7D1E7-9B9E-42A7-BE4D-F5D43FAF9B7A}" destId="{AA40AF22-E748-4C40-8A77-7FF34544AD69}" srcOrd="1" destOrd="0" presId="urn:microsoft.com/office/officeart/2005/8/layout/chevron1"/>
    <dgm:cxn modelId="{7E0B9CC8-EEEA-4862-A6E4-E3A31C0169D6}" type="presParOf" srcId="{72A7D1E7-9B9E-42A7-BE4D-F5D43FAF9B7A}" destId="{7471D2C2-0AD3-4F14-8930-62DF9E76DDB5}" srcOrd="2" destOrd="0" presId="urn:microsoft.com/office/officeart/2005/8/layout/chevron1"/>
    <dgm:cxn modelId="{96EA4B75-6B54-44AE-9685-ED8DBC34B106}" type="presParOf" srcId="{72A7D1E7-9B9E-42A7-BE4D-F5D43FAF9B7A}" destId="{8676B4C9-05D0-429C-912E-32945ED41676}" srcOrd="3" destOrd="0" presId="urn:microsoft.com/office/officeart/2005/8/layout/chevron1"/>
    <dgm:cxn modelId="{136D1F3C-02C2-4AEC-9350-F9ADD899ED87}" type="presParOf" srcId="{72A7D1E7-9B9E-42A7-BE4D-F5D43FAF9B7A}" destId="{E9EE4F92-709B-4922-ABDF-C787CC0A9EEF}" srcOrd="4" destOrd="0" presId="urn:microsoft.com/office/officeart/2005/8/layout/chevron1"/>
    <dgm:cxn modelId="{2BC5844F-F6E7-4413-810E-8E85B41C4B56}" type="presParOf" srcId="{72A7D1E7-9B9E-42A7-BE4D-F5D43FAF9B7A}" destId="{E64D5214-EFC0-4113-8A8F-E66DBBB2F418}" srcOrd="5" destOrd="0" presId="urn:microsoft.com/office/officeart/2005/8/layout/chevron1"/>
    <dgm:cxn modelId="{81C76520-A158-4F9B-993F-5F9235F3D2C0}" type="presParOf" srcId="{72A7D1E7-9B9E-42A7-BE4D-F5D43FAF9B7A}" destId="{345E4D67-C7A8-44AE-8177-AD7CB5F6F085}" srcOrd="6" destOrd="0" presId="urn:microsoft.com/office/officeart/2005/8/layout/chevron1"/>
    <dgm:cxn modelId="{2F40F880-B343-4693-B052-4FE31AAB692C}" type="presParOf" srcId="{72A7D1E7-9B9E-42A7-BE4D-F5D43FAF9B7A}" destId="{3DA0FA45-2D51-4875-954A-1BC18238D9F5}" srcOrd="7" destOrd="0" presId="urn:microsoft.com/office/officeart/2005/8/layout/chevron1"/>
    <dgm:cxn modelId="{9EB322F2-2A24-485C-8D2A-E3775920C733}" type="presParOf" srcId="{72A7D1E7-9B9E-42A7-BE4D-F5D43FAF9B7A}" destId="{A35BA18A-4B8E-4037-8F0E-2E4B0D9557AB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F9E805-DDCC-4A48-8D78-078F1F7A4D0E}">
      <dsp:nvSpPr>
        <dsp:cNvPr id="0" name=""/>
        <dsp:cNvSpPr/>
      </dsp:nvSpPr>
      <dsp:spPr>
        <a:xfrm>
          <a:off x="2720" y="0"/>
          <a:ext cx="2421514" cy="80608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品牌份额</a:t>
          </a:r>
        </a:p>
      </dsp:txBody>
      <dsp:txXfrm>
        <a:off x="405764" y="0"/>
        <a:ext cx="1615426" cy="806088"/>
      </dsp:txXfrm>
    </dsp:sp>
    <dsp:sp modelId="{7471D2C2-0AD3-4F14-8930-62DF9E76DDB5}">
      <dsp:nvSpPr>
        <dsp:cNvPr id="0" name=""/>
        <dsp:cNvSpPr/>
      </dsp:nvSpPr>
      <dsp:spPr>
        <a:xfrm>
          <a:off x="2182083" y="0"/>
          <a:ext cx="2421514" cy="806088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足计量</a:t>
          </a:r>
          <a:r>
            <a:rPr lang="en-US" altLang="zh-CN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足疗程</a:t>
          </a:r>
        </a:p>
      </dsp:txBody>
      <dsp:txXfrm>
        <a:off x="2585127" y="0"/>
        <a:ext cx="1615426" cy="806088"/>
      </dsp:txXfrm>
    </dsp:sp>
    <dsp:sp modelId="{E9EE4F92-709B-4922-ABDF-C787CC0A9EEF}">
      <dsp:nvSpPr>
        <dsp:cNvPr id="0" name=""/>
        <dsp:cNvSpPr/>
      </dsp:nvSpPr>
      <dsp:spPr>
        <a:xfrm>
          <a:off x="4361447" y="0"/>
          <a:ext cx="2421514" cy="80608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病床轮转率</a:t>
          </a:r>
        </a:p>
      </dsp:txBody>
      <dsp:txXfrm>
        <a:off x="4764491" y="0"/>
        <a:ext cx="1615426" cy="806088"/>
      </dsp:txXfrm>
    </dsp:sp>
    <dsp:sp modelId="{345E4D67-C7A8-44AE-8177-AD7CB5F6F085}">
      <dsp:nvSpPr>
        <dsp:cNvPr id="0" name=""/>
        <dsp:cNvSpPr/>
      </dsp:nvSpPr>
      <dsp:spPr>
        <a:xfrm>
          <a:off x="6540810" y="0"/>
          <a:ext cx="2421514" cy="806088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病理导入率</a:t>
          </a:r>
        </a:p>
      </dsp:txBody>
      <dsp:txXfrm>
        <a:off x="6943854" y="0"/>
        <a:ext cx="1615426" cy="806088"/>
      </dsp:txXfrm>
    </dsp:sp>
    <dsp:sp modelId="{A35BA18A-4B8E-4037-8F0E-2E4B0D9557AB}">
      <dsp:nvSpPr>
        <dsp:cNvPr id="0" name=""/>
        <dsp:cNvSpPr/>
      </dsp:nvSpPr>
      <dsp:spPr>
        <a:xfrm>
          <a:off x="8720173" y="0"/>
          <a:ext cx="2421514" cy="806088"/>
        </a:xfrm>
        <a:prstGeom prst="chevron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前端科室早筛</a:t>
          </a:r>
        </a:p>
      </dsp:txBody>
      <dsp:txXfrm>
        <a:off x="9123217" y="0"/>
        <a:ext cx="1615426" cy="8060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99E78-95A3-40C8-ADC4-4DED2AF12D11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FE6813-9EFC-43CF-A86B-37BBB1146F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511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F2E7B-21CF-FA86-ABFB-900B85B9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23F91-DE05-5EEF-AD51-782BCD378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8A50E-659E-F826-CD7C-069F431B5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B7283-4D93-CD17-EED3-CF5DA1D61A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22735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网站&#10;&#10;AI 生成的内容可能不正确。">
            <a:extLst>
              <a:ext uri="{FF2B5EF4-FFF2-40B4-BE49-F238E27FC236}">
                <a16:creationId xmlns:a16="http://schemas.microsoft.com/office/drawing/2014/main" id="{402DC537-D7F2-0BF4-D8C4-5AA7BEA11D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BFA2924-C5D2-AD98-E98D-AEE1E093F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83E651-86AD-5B5B-2FF7-72ED96106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6ADBCC-A0CE-EDFA-3BF6-F3129171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B0D0-C801-45A3-BBC5-3EA0F932FFE4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10CDB5-618A-2D17-DA48-E135CA64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8CBB1-2DE3-5B86-ECCE-1E3CA144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78D3-D569-42DC-938D-7400BB6194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33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21E4A-5F96-58A9-A28B-5152DA2E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6F2341-1E7F-2BE8-1210-4C31C212D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D93ACB-990B-9FEB-834D-BED40D4EE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B0D0-C801-45A3-BBC5-3EA0F932FFE4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FEB26E-CE46-B9E6-8721-CF76AE63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7BB688-F454-85F7-01AB-1B5D68D9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78D3-D569-42DC-938D-7400BB61943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文本, 徽标&#10;&#10;AI 生成的内容可能不正确。">
            <a:extLst>
              <a:ext uri="{FF2B5EF4-FFF2-40B4-BE49-F238E27FC236}">
                <a16:creationId xmlns:a16="http://schemas.microsoft.com/office/drawing/2014/main" id="{51E8197E-7785-B995-F02C-622B42F2A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731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DBCE5-8B31-66CF-9094-A3DE77C13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BB291A-15AF-73FA-598E-E282BD296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90A714-CDB8-F7C8-D19C-21568F9DC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B0D0-C801-45A3-BBC5-3EA0F932FFE4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523B4F-D5D0-A6DB-9151-6E3DD13AB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B79548-D92F-D709-CEB3-A3D4E9B6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78D3-D569-42DC-938D-7400BB61943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F0A5264D-7C59-F315-2D0F-97E8B5888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3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67AB7-70FC-B684-C981-5FB57A5E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81D695-A256-6116-0047-DBA689388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16760F-162F-69AC-95D7-86C6C579F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D12498-55C9-F088-5CA2-CBA6E5824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B0D0-C801-45A3-BBC5-3EA0F932FFE4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3DAA06-5637-93C2-5F0A-176E9592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B4FDC7-F536-DC15-99BC-00DADE9D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78D3-D569-42DC-938D-7400BB6194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452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113B0-927A-C37B-20B1-33EFBF6B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304881-72F5-21BB-EFF5-85D39CDB7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7EDB96-C225-9B59-4675-3345B80B3D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9C73D31-DB26-4952-886B-0DB5CD982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471594-5DAE-6EBA-5E83-8C5BD9923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04FEEB-B1E5-2A8F-0778-F9522462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B0D0-C801-45A3-BBC5-3EA0F932FFE4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3AF0971-B697-5F16-1E0E-78A4F090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4E77A5-93A1-D3AC-ECE3-7C0F268F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78D3-D569-42DC-938D-7400BB6194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623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03311-C6FC-B602-C287-EAC9A2544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5CFF29-569F-7282-702A-1DAFFFA9C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B0D0-C801-45A3-BBC5-3EA0F932FFE4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E6C324-82DB-1406-8646-7011039E1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B7D140-B56C-623F-8CD9-CB080DAC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78D3-D569-42DC-938D-7400BB6194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96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668546-FB00-BAA5-6E8C-D94151C26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B0D0-C801-45A3-BBC5-3EA0F932FFE4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C00737-9DBF-B0FA-1977-A14F5180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F20F40-CC5F-2858-02EF-2930CD8C0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78D3-D569-42DC-938D-7400BB6194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630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8A8D8-5EEB-B37D-25F2-BEFC0B3FE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0A77EB-6C1B-9F57-25B6-6F059C6BF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92D5BE-57D2-E5E7-2B78-1BA94F4D4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4C765A-B17E-C7AC-93B8-512797ADC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B0D0-C801-45A3-BBC5-3EA0F932FFE4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388E28-A060-BF81-0A50-4A214D20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D0CBA3-2574-9C86-8493-6B229D1E8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78D3-D569-42DC-938D-7400BB6194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5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B6B9D-898D-1E8C-A182-FBF10E02E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953C4B-1213-8F23-FDC0-32944111D6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C594CF-D7DD-51F2-31F0-E9A14F18B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55A12F-2452-1682-6DC0-AAEE4B042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B0D0-C801-45A3-BBC5-3EA0F932FFE4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A6BE84-A6D0-E5DE-4149-0C738134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020A05-99C6-9CF9-708E-B3FB06DCF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78D3-D569-42DC-938D-7400BB6194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261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F11FB-0D12-DB9B-DC37-8EBDADADD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F3173C-F61C-E345-89EE-A4F868966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7309A1-6BFB-34EC-61B0-C32ED7CA6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B0D0-C801-45A3-BBC5-3EA0F932FFE4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86251-917D-8316-D912-83DCB8F0B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E6910C-3CE2-C829-799A-1F70E5AB0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78D3-D569-42DC-938D-7400BB6194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5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DDCFFD3-642A-FA70-AE31-DE4A4D774B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11C1F0-77E0-6EA9-C385-11FE38172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C75C93-36BB-0243-C3FB-0BA0BA383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5B0D0-C801-45A3-BBC5-3EA0F932FFE4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281F71-6964-80AB-CEB9-E031664B4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80AEF1-0098-EF3B-4ECA-FC3439427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78D3-D569-42DC-938D-7400BB6194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044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4232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B814F03-B1A3-F7D6-B428-532B317C6A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1047456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54" imgH="456" progId="TCLayout.ActiveDocument.1">
                  <p:embed/>
                </p:oleObj>
              </mc:Choice>
              <mc:Fallback>
                <p:oleObj name="think-cell 幻灯片" r:id="rId15" imgW="454" imgH="45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814F03-B1A3-F7D6-B428-532B317C6A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84CCF2-2B4B-7FEB-4AAD-192D337FC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9B3D99-397D-3FDF-3544-32DB59710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30A33C-F538-C839-DA8F-BF6133DB36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5B0D0-C801-45A3-BBC5-3EA0F932FFE4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43E874-B001-3A3A-5A24-34953409E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680F80-DFA9-C346-42A1-42EE5452F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B78D3-D569-42DC-938D-7400BB619433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 descr="图片包含 应用程序&#10;&#10;AI 生成的内容可能不正确。">
            <a:extLst>
              <a:ext uri="{FF2B5EF4-FFF2-40B4-BE49-F238E27FC236}">
                <a16:creationId xmlns:a16="http://schemas.microsoft.com/office/drawing/2014/main" id="{C0524419-61BF-EB68-1F69-E2019F1BA9AA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336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E689ECED-6E71-DEA2-19C9-C912EAF159A6}"/>
              </a:ext>
            </a:extLst>
          </p:cNvPr>
          <p:cNvGrpSpPr/>
          <p:nvPr/>
        </p:nvGrpSpPr>
        <p:grpSpPr>
          <a:xfrm>
            <a:off x="20" y="53323"/>
            <a:ext cx="12191980" cy="6856718"/>
            <a:chOff x="20" y="53323"/>
            <a:chExt cx="12191980" cy="685671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E5E0625-C281-A7C5-D105-7F1C00B38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72" b="1"/>
            <a:stretch>
              <a:fillRect/>
            </a:stretch>
          </p:blipFill>
          <p:spPr>
            <a:xfrm>
              <a:off x="20" y="53323"/>
              <a:ext cx="12191980" cy="685671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F4DB159-97FC-4C79-74C6-83386C105315}"/>
                </a:ext>
              </a:extLst>
            </p:cNvPr>
            <p:cNvSpPr/>
            <p:nvPr/>
          </p:nvSpPr>
          <p:spPr>
            <a:xfrm>
              <a:off x="309590" y="3680318"/>
              <a:ext cx="662940" cy="2743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CFCFE5-C154-6953-3100-A44DC2B08E72}"/>
                </a:ext>
              </a:extLst>
            </p:cNvPr>
            <p:cNvSpPr txBox="1"/>
            <p:nvPr/>
          </p:nvSpPr>
          <p:spPr>
            <a:xfrm>
              <a:off x="268100" y="3680912"/>
              <a:ext cx="74592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床位已满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CCFFBC-16C2-C396-C4BA-1CD00EFA792A}"/>
                </a:ext>
              </a:extLst>
            </p:cNvPr>
            <p:cNvSpPr/>
            <p:nvPr/>
          </p:nvSpPr>
          <p:spPr>
            <a:xfrm>
              <a:off x="3623439" y="3219164"/>
              <a:ext cx="791155" cy="182880"/>
            </a:xfrm>
            <a:prstGeom prst="rect">
              <a:avLst/>
            </a:prstGeom>
            <a:solidFill>
              <a:srgbClr val="B3B4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F5A614-B16C-E894-4C43-4723BD45009D}"/>
                </a:ext>
              </a:extLst>
            </p:cNvPr>
            <p:cNvSpPr txBox="1"/>
            <p:nvPr/>
          </p:nvSpPr>
          <p:spPr>
            <a:xfrm>
              <a:off x="3523954" y="3183646"/>
              <a:ext cx="99483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同院其他科室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0A63E60-8093-8322-E454-316B801CBA1C}"/>
                </a:ext>
              </a:extLst>
            </p:cNvPr>
            <p:cNvSpPr/>
            <p:nvPr/>
          </p:nvSpPr>
          <p:spPr>
            <a:xfrm>
              <a:off x="3664929" y="3726038"/>
              <a:ext cx="791155" cy="182880"/>
            </a:xfrm>
            <a:prstGeom prst="rect">
              <a:avLst/>
            </a:prstGeom>
            <a:solidFill>
              <a:srgbClr val="B3B4B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C62BAC9-6B34-F502-A2D8-017FA8283332}"/>
                </a:ext>
              </a:extLst>
            </p:cNvPr>
            <p:cNvSpPr txBox="1"/>
            <p:nvPr/>
          </p:nvSpPr>
          <p:spPr>
            <a:xfrm>
              <a:off x="3563090" y="3690520"/>
              <a:ext cx="99483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同城其他医院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B9F6F46-39CE-D2E4-5FA2-64BEA95AC98F}"/>
                </a:ext>
              </a:extLst>
            </p:cNvPr>
            <p:cNvSpPr txBox="1"/>
            <p:nvPr/>
          </p:nvSpPr>
          <p:spPr>
            <a:xfrm rot="21161985">
              <a:off x="1583860" y="5291942"/>
              <a:ext cx="715316" cy="144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31FF3D9-779F-9470-ABA7-DCFBFD71890B}"/>
                </a:ext>
              </a:extLst>
            </p:cNvPr>
            <p:cNvSpPr/>
            <p:nvPr/>
          </p:nvSpPr>
          <p:spPr>
            <a:xfrm>
              <a:off x="5549397" y="6604428"/>
              <a:ext cx="460800" cy="165600"/>
            </a:xfrm>
            <a:prstGeom prst="rect">
              <a:avLst/>
            </a:prstGeom>
            <a:solidFill>
              <a:srgbClr val="00020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2C45CEB-BD0B-D542-5764-35C127E3E4F9}"/>
                </a:ext>
              </a:extLst>
            </p:cNvPr>
            <p:cNvSpPr txBox="1"/>
            <p:nvPr/>
          </p:nvSpPr>
          <p:spPr>
            <a:xfrm>
              <a:off x="5451056" y="6541827"/>
              <a:ext cx="9345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或停药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714ABBB-F716-941C-28C3-3A12EA46C241}"/>
                </a:ext>
              </a:extLst>
            </p:cNvPr>
            <p:cNvSpPr/>
            <p:nvPr/>
          </p:nvSpPr>
          <p:spPr>
            <a:xfrm>
              <a:off x="11277379" y="6590552"/>
              <a:ext cx="336090" cy="17947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67359AA-84E2-C2D4-5018-C3FAE0683771}"/>
                </a:ext>
              </a:extLst>
            </p:cNvPr>
            <p:cNvSpPr txBox="1"/>
            <p:nvPr/>
          </p:nvSpPr>
          <p:spPr>
            <a:xfrm>
              <a:off x="11146208" y="6541790"/>
              <a:ext cx="9345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缩短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450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F22F0E-4CEE-F08B-CAE9-0E404BC0A8A0}"/>
              </a:ext>
            </a:extLst>
          </p:cNvPr>
          <p:cNvSpPr txBox="1"/>
          <p:nvPr/>
        </p:nvSpPr>
        <p:spPr>
          <a:xfrm>
            <a:off x="2205368" y="547042"/>
            <a:ext cx="7781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中国淋巴瘤患者诊疗场景不连续带来的业务流失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A4F6472-E367-869C-5C0B-E1154FFD0247}"/>
              </a:ext>
            </a:extLst>
          </p:cNvPr>
          <p:cNvGrpSpPr/>
          <p:nvPr/>
        </p:nvGrpSpPr>
        <p:grpSpPr>
          <a:xfrm>
            <a:off x="1210337" y="1383609"/>
            <a:ext cx="4074043" cy="744279"/>
            <a:chOff x="1210338" y="1493015"/>
            <a:chExt cx="4074043" cy="74427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5D202F-9A52-F63D-2D72-A8E14469A036}"/>
                </a:ext>
              </a:extLst>
            </p:cNvPr>
            <p:cNvSpPr/>
            <p:nvPr/>
          </p:nvSpPr>
          <p:spPr>
            <a:xfrm>
              <a:off x="1210338" y="1493015"/>
              <a:ext cx="4074043" cy="744279"/>
            </a:xfrm>
            <a:prstGeom prst="roundRect">
              <a:avLst/>
            </a:prstGeom>
            <a:solidFill>
              <a:srgbClr val="EBF8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616931-23FF-5117-4649-C8A706C0753E}"/>
                </a:ext>
              </a:extLst>
            </p:cNvPr>
            <p:cNvSpPr txBox="1"/>
            <p:nvPr/>
          </p:nvSpPr>
          <p:spPr>
            <a:xfrm>
              <a:off x="1516468" y="1526600"/>
              <a:ext cx="3461785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1. 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首诊鉴别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发病不典型散落在各种外科、发热门诊等科室，缺乏及时鉴别能力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2F8C4A-0CF5-6088-C56F-6B2FA19CD029}"/>
              </a:ext>
            </a:extLst>
          </p:cNvPr>
          <p:cNvGrpSpPr/>
          <p:nvPr/>
        </p:nvGrpSpPr>
        <p:grpSpPr>
          <a:xfrm>
            <a:off x="6907617" y="1383609"/>
            <a:ext cx="4074043" cy="744279"/>
            <a:chOff x="6907619" y="1459429"/>
            <a:chExt cx="4074043" cy="74427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9E292A9-C412-B30F-E69E-24AE64A608AC}"/>
                </a:ext>
              </a:extLst>
            </p:cNvPr>
            <p:cNvSpPr/>
            <p:nvPr/>
          </p:nvSpPr>
          <p:spPr>
            <a:xfrm>
              <a:off x="6907619" y="1459429"/>
              <a:ext cx="4074043" cy="744279"/>
            </a:xfrm>
            <a:prstGeom prst="roundRect">
              <a:avLst/>
            </a:prstGeom>
            <a:solidFill>
              <a:srgbClr val="FFF5F5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64CE0E9-C99F-E285-9348-47AF52216DCE}"/>
                </a:ext>
              </a:extLst>
            </p:cNvPr>
            <p:cNvSpPr txBox="1"/>
            <p:nvPr/>
          </p:nvSpPr>
          <p:spPr>
            <a:xfrm>
              <a:off x="7213747" y="1593762"/>
              <a:ext cx="3461785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【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源头漏诊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】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无法走到取材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/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病理，延误诊断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/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误诊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574610-C24A-6EF0-1FE8-E86D67E0F983}"/>
              </a:ext>
            </a:extLst>
          </p:cNvPr>
          <p:cNvGrpSpPr/>
          <p:nvPr/>
        </p:nvGrpSpPr>
        <p:grpSpPr>
          <a:xfrm>
            <a:off x="1210337" y="2388600"/>
            <a:ext cx="4074043" cy="744279"/>
            <a:chOff x="1210338" y="2580904"/>
            <a:chExt cx="4074043" cy="74427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1F7F2AC-B1A8-425B-A920-328BA2E357A6}"/>
                </a:ext>
              </a:extLst>
            </p:cNvPr>
            <p:cNvSpPr/>
            <p:nvPr/>
          </p:nvSpPr>
          <p:spPr>
            <a:xfrm>
              <a:off x="1210338" y="2580904"/>
              <a:ext cx="4074043" cy="744279"/>
            </a:xfrm>
            <a:prstGeom prst="roundRect">
              <a:avLst/>
            </a:prstGeom>
            <a:solidFill>
              <a:srgbClr val="EBF8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3CE15CB-59C4-1282-FF84-BEAF77A8616F}"/>
                </a:ext>
              </a:extLst>
            </p:cNvPr>
            <p:cNvSpPr txBox="1"/>
            <p:nvPr/>
          </p:nvSpPr>
          <p:spPr>
            <a:xfrm>
              <a:off x="1516468" y="2614489"/>
              <a:ext cx="3461785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2. 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明确诊断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大部分地市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/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基层医院，缺乏淋巴瘤病理诊断能力，病理诊断周期长，或无法明确诊断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0EE4F9-28E9-89E7-8893-83186BC72653}"/>
              </a:ext>
            </a:extLst>
          </p:cNvPr>
          <p:cNvGrpSpPr/>
          <p:nvPr/>
        </p:nvGrpSpPr>
        <p:grpSpPr>
          <a:xfrm>
            <a:off x="6907619" y="2388600"/>
            <a:ext cx="4074043" cy="744279"/>
            <a:chOff x="6907619" y="2580904"/>
            <a:chExt cx="4074043" cy="74427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2E4474C-3F5E-9FC9-CDCD-933F5F1F62E9}"/>
                </a:ext>
              </a:extLst>
            </p:cNvPr>
            <p:cNvSpPr/>
            <p:nvPr/>
          </p:nvSpPr>
          <p:spPr>
            <a:xfrm>
              <a:off x="6907619" y="2580904"/>
              <a:ext cx="4074043" cy="744279"/>
            </a:xfrm>
            <a:prstGeom prst="roundRect">
              <a:avLst/>
            </a:prstGeom>
            <a:solidFill>
              <a:srgbClr val="FFF5F5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7C6C519-63B4-038F-E780-685C1C804973}"/>
                </a:ext>
              </a:extLst>
            </p:cNvPr>
            <p:cNvSpPr txBox="1"/>
            <p:nvPr/>
          </p:nvSpPr>
          <p:spPr>
            <a:xfrm>
              <a:off x="7213747" y="2715237"/>
              <a:ext cx="3461785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【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分母蒸发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】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无人指导，盲目问诊流失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39FC2CC-EE8F-20D0-DDD8-E99945FB3347}"/>
              </a:ext>
            </a:extLst>
          </p:cNvPr>
          <p:cNvGrpSpPr/>
          <p:nvPr/>
        </p:nvGrpSpPr>
        <p:grpSpPr>
          <a:xfrm>
            <a:off x="1210337" y="3393591"/>
            <a:ext cx="4074043" cy="744279"/>
            <a:chOff x="1210338" y="3635208"/>
            <a:chExt cx="4074043" cy="744279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804C69C-E8DF-D8E0-763A-1E78FB1BD423}"/>
                </a:ext>
              </a:extLst>
            </p:cNvPr>
            <p:cNvSpPr/>
            <p:nvPr/>
          </p:nvSpPr>
          <p:spPr>
            <a:xfrm>
              <a:off x="1210338" y="3635208"/>
              <a:ext cx="4074043" cy="744279"/>
            </a:xfrm>
            <a:prstGeom prst="roundRect">
              <a:avLst/>
            </a:prstGeom>
            <a:solidFill>
              <a:srgbClr val="EBF8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DEE6627-17C4-F0FC-BA0B-9326604BDD38}"/>
                </a:ext>
              </a:extLst>
            </p:cNvPr>
            <p:cNvSpPr txBox="1"/>
            <p:nvPr/>
          </p:nvSpPr>
          <p:spPr>
            <a:xfrm>
              <a:off x="1516468" y="3668793"/>
              <a:ext cx="3461785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3. 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收治极度不均衡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地市医院留不住患者，患者大量涌入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C30.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C30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收治饱和，科室挑病人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5C12D69-2B04-2697-FB51-56270AEE64E2}"/>
              </a:ext>
            </a:extLst>
          </p:cNvPr>
          <p:cNvGrpSpPr/>
          <p:nvPr/>
        </p:nvGrpSpPr>
        <p:grpSpPr>
          <a:xfrm>
            <a:off x="6907619" y="3393591"/>
            <a:ext cx="4074043" cy="744279"/>
            <a:chOff x="6907619" y="3635208"/>
            <a:chExt cx="4074043" cy="74427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7AA4BB0-07D7-DE3E-9B6D-26571F349F2E}"/>
                </a:ext>
              </a:extLst>
            </p:cNvPr>
            <p:cNvSpPr/>
            <p:nvPr/>
          </p:nvSpPr>
          <p:spPr>
            <a:xfrm>
              <a:off x="6907619" y="3635208"/>
              <a:ext cx="4074043" cy="744279"/>
            </a:xfrm>
            <a:prstGeom prst="roundRect">
              <a:avLst/>
            </a:prstGeom>
            <a:solidFill>
              <a:srgbClr val="FFF5F5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2426C4-663E-92FD-39C8-503CE9138334}"/>
                </a:ext>
              </a:extLst>
            </p:cNvPr>
            <p:cNvSpPr txBox="1"/>
            <p:nvPr/>
          </p:nvSpPr>
          <p:spPr>
            <a:xfrm>
              <a:off x="7213747" y="3769541"/>
              <a:ext cx="3461785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【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患者隐形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】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溢出到非目标科室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/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医生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16C3E0A-6E9E-81C3-ECC4-E154D7CC442F}"/>
              </a:ext>
            </a:extLst>
          </p:cNvPr>
          <p:cNvGrpSpPr/>
          <p:nvPr/>
        </p:nvGrpSpPr>
        <p:grpSpPr>
          <a:xfrm>
            <a:off x="1210337" y="4398582"/>
            <a:ext cx="4074043" cy="744279"/>
            <a:chOff x="1210338" y="4655927"/>
            <a:chExt cx="4074043" cy="744279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7C784E9-E82B-39D7-463E-641B020FBA86}"/>
                </a:ext>
              </a:extLst>
            </p:cNvPr>
            <p:cNvSpPr/>
            <p:nvPr/>
          </p:nvSpPr>
          <p:spPr>
            <a:xfrm>
              <a:off x="1210338" y="4655927"/>
              <a:ext cx="4074043" cy="744279"/>
            </a:xfrm>
            <a:prstGeom prst="roundRect">
              <a:avLst/>
            </a:prstGeom>
            <a:solidFill>
              <a:srgbClr val="EBF8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65CBAA-64C9-7307-F683-02AD9289B307}"/>
                </a:ext>
              </a:extLst>
            </p:cNvPr>
            <p:cNvSpPr txBox="1"/>
            <p:nvPr/>
          </p:nvSpPr>
          <p:spPr>
            <a:xfrm>
              <a:off x="1516468" y="4689512"/>
              <a:ext cx="3461785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4. 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治疗方案受多因素影响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C30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优先临床入组，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DRG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考核下压缩创新治疗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地市医院治疗观念更新不及时，国产竞争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4F9BBE7-A574-0DA6-38CB-6BD2AF52B1E6}"/>
              </a:ext>
            </a:extLst>
          </p:cNvPr>
          <p:cNvGrpSpPr/>
          <p:nvPr/>
        </p:nvGrpSpPr>
        <p:grpSpPr>
          <a:xfrm>
            <a:off x="6907619" y="4398582"/>
            <a:ext cx="4074043" cy="744279"/>
            <a:chOff x="6907619" y="4654292"/>
            <a:chExt cx="4074043" cy="744279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EFDC689-5718-4397-0876-E5A96E95D190}"/>
                </a:ext>
              </a:extLst>
            </p:cNvPr>
            <p:cNvSpPr/>
            <p:nvPr/>
          </p:nvSpPr>
          <p:spPr>
            <a:xfrm>
              <a:off x="6907619" y="4654292"/>
              <a:ext cx="4074043" cy="744279"/>
            </a:xfrm>
            <a:prstGeom prst="roundRect">
              <a:avLst/>
            </a:prstGeom>
            <a:solidFill>
              <a:srgbClr val="FFF5F5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D8AAA34-5A50-AE20-98D3-8D68BEE05C2E}"/>
                </a:ext>
              </a:extLst>
            </p:cNvPr>
            <p:cNvSpPr txBox="1"/>
            <p:nvPr/>
          </p:nvSpPr>
          <p:spPr>
            <a:xfrm>
              <a:off x="7213747" y="4788625"/>
              <a:ext cx="3461785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【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方案不规范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】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没能选择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1L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优，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2L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高方案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01A9DF5-0D69-3688-88BC-6B5E9C635742}"/>
              </a:ext>
            </a:extLst>
          </p:cNvPr>
          <p:cNvGrpSpPr/>
          <p:nvPr/>
        </p:nvGrpSpPr>
        <p:grpSpPr>
          <a:xfrm>
            <a:off x="1210337" y="5403574"/>
            <a:ext cx="4074043" cy="744279"/>
            <a:chOff x="1210338" y="5676646"/>
            <a:chExt cx="4074043" cy="744279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3C597F0-508E-A641-F34C-422F24DD4E89}"/>
                </a:ext>
              </a:extLst>
            </p:cNvPr>
            <p:cNvSpPr/>
            <p:nvPr/>
          </p:nvSpPr>
          <p:spPr>
            <a:xfrm>
              <a:off x="1210338" y="5676646"/>
              <a:ext cx="4074043" cy="744279"/>
            </a:xfrm>
            <a:prstGeom prst="roundRect">
              <a:avLst/>
            </a:prstGeom>
            <a:solidFill>
              <a:srgbClr val="EBF8FF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8EF2D69-852F-83C7-1E05-D5BE6762C9EC}"/>
                </a:ext>
              </a:extLst>
            </p:cNvPr>
            <p:cNvSpPr txBox="1"/>
            <p:nvPr/>
          </p:nvSpPr>
          <p:spPr>
            <a:xfrm>
              <a:off x="1516468" y="5710231"/>
              <a:ext cx="3461785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5. 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1560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周期规范</a:t>
              </a:r>
              <a:endPara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C30 21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天周期被床位短缺打破，患者无引导回流当地治疗方案被篡改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1A2A376-5EEA-93C7-47A6-33B6897542D5}"/>
              </a:ext>
            </a:extLst>
          </p:cNvPr>
          <p:cNvGrpSpPr/>
          <p:nvPr/>
        </p:nvGrpSpPr>
        <p:grpSpPr>
          <a:xfrm>
            <a:off x="6907619" y="5403574"/>
            <a:ext cx="4074043" cy="744279"/>
            <a:chOff x="6907619" y="5643060"/>
            <a:chExt cx="4074043" cy="74427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2F51325-3ED1-E861-4743-1C1BC0A9FA4A}"/>
                </a:ext>
              </a:extLst>
            </p:cNvPr>
            <p:cNvSpPr/>
            <p:nvPr/>
          </p:nvSpPr>
          <p:spPr>
            <a:xfrm>
              <a:off x="6907619" y="5643060"/>
              <a:ext cx="4074043" cy="744279"/>
            </a:xfrm>
            <a:prstGeom prst="roundRect">
              <a:avLst/>
            </a:prstGeom>
            <a:solidFill>
              <a:srgbClr val="FFF5F5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03F711B-725C-2CA8-B31B-25676E2135DC}"/>
                </a:ext>
              </a:extLst>
            </p:cNvPr>
            <p:cNvSpPr txBox="1"/>
            <p:nvPr/>
          </p:nvSpPr>
          <p:spPr>
            <a:xfrm>
              <a:off x="7213747" y="5777393"/>
              <a:ext cx="3461785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【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方案篡改和延误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】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未坚持标准周期，方案改动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0921167-7ABF-FFF9-8F1F-E77F6F9E0203}"/>
              </a:ext>
            </a:extLst>
          </p:cNvPr>
          <p:cNvGrpSpPr/>
          <p:nvPr/>
        </p:nvGrpSpPr>
        <p:grpSpPr>
          <a:xfrm>
            <a:off x="5273749" y="3457680"/>
            <a:ext cx="1623237" cy="307777"/>
            <a:chOff x="5284380" y="1447972"/>
            <a:chExt cx="1623237" cy="307777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FEDA52F-1D3B-EBF6-D88C-4E166F189D75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5284380" y="1755749"/>
              <a:ext cx="16232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FC0F9B4-399C-C013-9F6F-EC6FB4DC1310}"/>
                </a:ext>
              </a:extLst>
            </p:cNvPr>
            <p:cNvSpPr txBox="1"/>
            <p:nvPr/>
          </p:nvSpPr>
          <p:spPr>
            <a:xfrm>
              <a:off x="5447413" y="1447972"/>
              <a:ext cx="1297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业务流失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F802735-3DFA-3387-FE24-3283D4FFE225}"/>
              </a:ext>
            </a:extLst>
          </p:cNvPr>
          <p:cNvGrpSpPr/>
          <p:nvPr/>
        </p:nvGrpSpPr>
        <p:grpSpPr>
          <a:xfrm>
            <a:off x="5284380" y="2461377"/>
            <a:ext cx="1623237" cy="307777"/>
            <a:chOff x="5284380" y="1447972"/>
            <a:chExt cx="1623237" cy="307777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2F8B7EB4-95A3-1E7C-11B6-A46DDD7F1094}"/>
                </a:ext>
              </a:extLst>
            </p:cNvPr>
            <p:cNvCxnSpPr>
              <a:cxnSpLocks/>
            </p:cNvCxnSpPr>
            <p:nvPr/>
          </p:nvCxnSpPr>
          <p:spPr>
            <a:xfrm>
              <a:off x="5284380" y="1755749"/>
              <a:ext cx="16232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73D6FE5-00A6-8A1C-A5B7-0F583F74AAE9}"/>
                </a:ext>
              </a:extLst>
            </p:cNvPr>
            <p:cNvSpPr txBox="1"/>
            <p:nvPr/>
          </p:nvSpPr>
          <p:spPr>
            <a:xfrm>
              <a:off x="5447413" y="1447972"/>
              <a:ext cx="1297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业务流失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6E49201-E539-A5D8-DACE-D209AB051D45}"/>
              </a:ext>
            </a:extLst>
          </p:cNvPr>
          <p:cNvGrpSpPr/>
          <p:nvPr/>
        </p:nvGrpSpPr>
        <p:grpSpPr>
          <a:xfrm>
            <a:off x="5273748" y="4524646"/>
            <a:ext cx="1623237" cy="307777"/>
            <a:chOff x="5284380" y="1447972"/>
            <a:chExt cx="1623237" cy="307777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E95DA72A-7836-5FCB-604E-B0900BE600E3}"/>
                </a:ext>
              </a:extLst>
            </p:cNvPr>
            <p:cNvCxnSpPr>
              <a:cxnSpLocks/>
            </p:cNvCxnSpPr>
            <p:nvPr/>
          </p:nvCxnSpPr>
          <p:spPr>
            <a:xfrm>
              <a:off x="5284380" y="1755749"/>
              <a:ext cx="16232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F2BC6E6-73C8-B8E1-8333-622A9B1ABAC5}"/>
                </a:ext>
              </a:extLst>
            </p:cNvPr>
            <p:cNvSpPr txBox="1"/>
            <p:nvPr/>
          </p:nvSpPr>
          <p:spPr>
            <a:xfrm>
              <a:off x="5447413" y="1447972"/>
              <a:ext cx="1297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业务流失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69C7134-3961-3113-1F0D-E2BBDF6B4761}"/>
              </a:ext>
            </a:extLst>
          </p:cNvPr>
          <p:cNvGrpSpPr/>
          <p:nvPr/>
        </p:nvGrpSpPr>
        <p:grpSpPr>
          <a:xfrm>
            <a:off x="5284380" y="1447972"/>
            <a:ext cx="1623237" cy="307777"/>
            <a:chOff x="5284380" y="1447972"/>
            <a:chExt cx="1623237" cy="30777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CFA86FF-3DC6-D113-1D56-65952810223C}"/>
                </a:ext>
              </a:extLst>
            </p:cNvPr>
            <p:cNvCxnSpPr>
              <a:cxnSpLocks/>
            </p:cNvCxnSpPr>
            <p:nvPr/>
          </p:nvCxnSpPr>
          <p:spPr>
            <a:xfrm>
              <a:off x="5284380" y="1755749"/>
              <a:ext cx="16232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386328C-618B-9509-5379-70684B1BDD03}"/>
                </a:ext>
              </a:extLst>
            </p:cNvPr>
            <p:cNvSpPr txBox="1"/>
            <p:nvPr/>
          </p:nvSpPr>
          <p:spPr>
            <a:xfrm>
              <a:off x="5447413" y="1447972"/>
              <a:ext cx="1297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业务流失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1473CF9-C4BD-84EF-8E74-D72090D55757}"/>
              </a:ext>
            </a:extLst>
          </p:cNvPr>
          <p:cNvGrpSpPr/>
          <p:nvPr/>
        </p:nvGrpSpPr>
        <p:grpSpPr>
          <a:xfrm>
            <a:off x="5273748" y="5467936"/>
            <a:ext cx="1623237" cy="307777"/>
            <a:chOff x="5284380" y="1447972"/>
            <a:chExt cx="1623237" cy="307777"/>
          </a:xfrm>
        </p:grpSpPr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88C8827-262C-68D7-2C61-59C7C5FB2E58}"/>
                </a:ext>
              </a:extLst>
            </p:cNvPr>
            <p:cNvCxnSpPr>
              <a:cxnSpLocks/>
            </p:cNvCxnSpPr>
            <p:nvPr/>
          </p:nvCxnSpPr>
          <p:spPr>
            <a:xfrm>
              <a:off x="5284380" y="1755749"/>
              <a:ext cx="16232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A3B3FAE-3CDB-934A-234D-43A9CA326D38}"/>
                </a:ext>
              </a:extLst>
            </p:cNvPr>
            <p:cNvSpPr txBox="1"/>
            <p:nvPr/>
          </p:nvSpPr>
          <p:spPr>
            <a:xfrm>
              <a:off x="5447413" y="1447972"/>
              <a:ext cx="1297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业务流失</a:t>
              </a: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2BE5F8B2-F226-EAD5-153F-1ED8CD8F6022}"/>
              </a:ext>
            </a:extLst>
          </p:cNvPr>
          <p:cNvSpPr/>
          <p:nvPr/>
        </p:nvSpPr>
        <p:spPr>
          <a:xfrm rot="19497509">
            <a:off x="6650219" y="4427427"/>
            <a:ext cx="1127051" cy="3691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转化率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FBDFA3A-60EB-0229-0235-A06F538E0C49}"/>
              </a:ext>
            </a:extLst>
          </p:cNvPr>
          <p:cNvSpPr/>
          <p:nvPr/>
        </p:nvSpPr>
        <p:spPr>
          <a:xfrm rot="19497509">
            <a:off x="6650220" y="5449796"/>
            <a:ext cx="1127051" cy="3691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DOT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B030027-C2D8-A24D-DE33-C6E3E895A2CD}"/>
              </a:ext>
            </a:extLst>
          </p:cNvPr>
          <p:cNvSpPr/>
          <p:nvPr/>
        </p:nvSpPr>
        <p:spPr>
          <a:xfrm rot="19497509">
            <a:off x="866110" y="3427006"/>
            <a:ext cx="1127051" cy="3691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轮转率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E7A3DE1-5ABD-B90C-09B0-89394C575733}"/>
              </a:ext>
            </a:extLst>
          </p:cNvPr>
          <p:cNvSpPr/>
          <p:nvPr/>
        </p:nvSpPr>
        <p:spPr>
          <a:xfrm rot="19497509">
            <a:off x="6655537" y="3299436"/>
            <a:ext cx="1127051" cy="3691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导入率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D8B7A7C-908F-7358-39B4-A37CB7C770DF}"/>
              </a:ext>
            </a:extLst>
          </p:cNvPr>
          <p:cNvSpPr/>
          <p:nvPr/>
        </p:nvSpPr>
        <p:spPr>
          <a:xfrm rot="19497509">
            <a:off x="6599996" y="2411949"/>
            <a:ext cx="1127051" cy="369123"/>
          </a:xfrm>
          <a:prstGeom prst="rect">
            <a:avLst/>
          </a:prstGeom>
          <a:solidFill>
            <a:srgbClr val="FF9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诊断率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ABB489D-6509-B19A-26C7-8B21B58F98DC}"/>
              </a:ext>
            </a:extLst>
          </p:cNvPr>
          <p:cNvSpPr/>
          <p:nvPr/>
        </p:nvSpPr>
        <p:spPr>
          <a:xfrm rot="19497509">
            <a:off x="789909" y="1361366"/>
            <a:ext cx="1127051" cy="3691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前端早筛</a:t>
            </a:r>
          </a:p>
        </p:txBody>
      </p:sp>
    </p:spTree>
    <p:extLst>
      <p:ext uri="{BB962C8B-B14F-4D97-AF65-F5344CB8AC3E}">
        <p14:creationId xmlns:p14="http://schemas.microsoft.com/office/powerpoint/2010/main" val="367032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334FE-7439-2782-F8EF-BFB14025D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2A779EDD-42C1-A4DD-97CE-681038BE1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30" y="4146323"/>
            <a:ext cx="1870072" cy="16415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9525DD-F02F-60E1-56E1-E0753C54EF3C}"/>
              </a:ext>
            </a:extLst>
          </p:cNvPr>
          <p:cNvSpPr txBox="1"/>
          <p:nvPr/>
        </p:nvSpPr>
        <p:spPr>
          <a:xfrm>
            <a:off x="2003949" y="748982"/>
            <a:ext cx="2980563" cy="45005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ctr" defTabSz="457200" rtl="0" eaLnBrk="1" fontAlgn="auto" latinLnBrk="0" hangingPunct="1">
              <a:lnSpc>
                <a:spcPct val="10988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从单家医院全产品视角分析业务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163EB8-AE91-D67F-D91B-CA0BB924427B}"/>
              </a:ext>
            </a:extLst>
          </p:cNvPr>
          <p:cNvSpPr txBox="1"/>
          <p:nvPr/>
        </p:nvSpPr>
        <p:spPr>
          <a:xfrm>
            <a:off x="987291" y="4438490"/>
            <a:ext cx="1497749" cy="460026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ctr" defTabSz="457200" rtl="0" eaLnBrk="1" fontAlgn="auto" latinLnBrk="0" hangingPunct="1">
              <a:lnSpc>
                <a:spcPct val="124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业务目标</a:t>
            </a:r>
            <a:endParaRPr kumimoji="0" lang="en-US" altLang="zh-CN" sz="1425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  <a:p>
            <a:pPr marL="0" marR="0" lvl="0" indent="0" algn="ctr" defTabSz="457200" rtl="0" eaLnBrk="1" fontAlgn="auto" latinLnBrk="0" hangingPunct="1">
              <a:lnSpc>
                <a:spcPct val="124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优罗华 </a:t>
            </a:r>
            <a:r>
              <a:rPr kumimoji="0" lang="en-US" altLang="zh-CN" sz="1425" b="1" i="0" u="none" strike="noStrike" kern="1200" cap="none" spc="0" normalizeH="0" baseline="0" noProof="0" dirty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&gt; 70%</a:t>
            </a:r>
          </a:p>
          <a:p>
            <a:pPr marL="0" marR="0" lvl="0" indent="0" algn="ctr" defTabSz="457200" rtl="0" eaLnBrk="1" fontAlgn="auto" latinLnBrk="0" hangingPunct="1">
              <a:lnSpc>
                <a:spcPct val="124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高罗华 </a:t>
            </a:r>
            <a:r>
              <a:rPr kumimoji="0" lang="en-US" altLang="zh-CN" sz="1425" b="1" i="0" u="none" strike="noStrike" kern="1200" cap="none" spc="0" normalizeH="0" baseline="0" noProof="0" dirty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&gt; 50%</a:t>
            </a:r>
          </a:p>
          <a:p>
            <a:pPr marL="0" marR="0" lvl="0" indent="0" algn="ctr" defTabSz="457200" rtl="0" eaLnBrk="1" fontAlgn="auto" latinLnBrk="0" hangingPunct="1">
              <a:lnSpc>
                <a:spcPct val="12436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25" b="1" i="0" u="none" strike="noStrike" kern="1200" cap="none" spc="0" normalizeH="0" baseline="0" noProof="0" dirty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佳罗华 </a:t>
            </a:r>
            <a:r>
              <a:rPr kumimoji="0" lang="en-US" altLang="zh-CN" sz="1425" b="1" i="0" u="none" strike="noStrike" kern="1200" cap="none" spc="0" normalizeH="0" baseline="0" noProof="0" dirty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FL &gt; 80%</a:t>
            </a:r>
            <a:endParaRPr kumimoji="0" sz="1425" b="1" i="0" u="none" strike="noStrike" kern="1200" cap="none" spc="0" normalizeH="0" baseline="0" noProof="0" dirty="0">
              <a:ln>
                <a:noFill/>
              </a:ln>
              <a:solidFill>
                <a:srgbClr val="01010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65DEE1-4913-8DFD-C243-70F998A85F4F}"/>
              </a:ext>
            </a:extLst>
          </p:cNvPr>
          <p:cNvSpPr txBox="1"/>
          <p:nvPr/>
        </p:nvSpPr>
        <p:spPr>
          <a:xfrm>
            <a:off x="633032" y="1282218"/>
            <a:ext cx="5462968" cy="257175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不是看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某个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产品卖得怎么样,而是看医院在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业务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流程的哪一步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010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发生了问题，一次聚焦解决一个主要问题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1010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33E0C48-16E0-4BF5-09EB-0C82201B26F9}"/>
              </a:ext>
            </a:extLst>
          </p:cNvPr>
          <p:cNvSpPr txBox="1"/>
          <p:nvPr/>
        </p:nvSpPr>
        <p:spPr>
          <a:xfrm>
            <a:off x="671036" y="7556743"/>
            <a:ext cx="3172587" cy="16078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marL="0" marR="0" lvl="0" indent="0" algn="just" defTabSz="457200" rtl="0" eaLnBrk="1" fontAlgn="auto" latinLnBrk="0" hangingPunct="1">
              <a:lnSpc>
                <a:spcPct val="105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69699"/>
                </a:solidFill>
                <a:effectLst/>
                <a:uLnTx/>
                <a:uFillTx/>
                <a:latin typeface="Roboto"/>
                <a:ea typeface="Roboto"/>
                <a:cs typeface="Arial"/>
                <a:sym typeface="Arial"/>
              </a:rPr>
              <a:t>CONFIDENTIAL - FOR INTERNAL USE ONLY</a:t>
            </a:r>
          </a:p>
        </p:txBody>
      </p:sp>
      <p:graphicFrame>
        <p:nvGraphicFramePr>
          <p:cNvPr id="33" name="Diagram 32">
            <a:extLst>
              <a:ext uri="{FF2B5EF4-FFF2-40B4-BE49-F238E27FC236}">
                <a16:creationId xmlns:a16="http://schemas.microsoft.com/office/drawing/2014/main" id="{E829BCB0-5FF9-6260-52DE-F95302333831}"/>
              </a:ext>
            </a:extLst>
          </p:cNvPr>
          <p:cNvGraphicFramePr/>
          <p:nvPr/>
        </p:nvGraphicFramePr>
        <p:xfrm>
          <a:off x="618965" y="1721072"/>
          <a:ext cx="11144409" cy="806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39" name="Group 38">
            <a:extLst>
              <a:ext uri="{FF2B5EF4-FFF2-40B4-BE49-F238E27FC236}">
                <a16:creationId xmlns:a16="http://schemas.microsoft.com/office/drawing/2014/main" id="{72AB4FDA-D401-90EE-A303-39B868AFE600}"/>
              </a:ext>
            </a:extLst>
          </p:cNvPr>
          <p:cNvGrpSpPr/>
          <p:nvPr/>
        </p:nvGrpSpPr>
        <p:grpSpPr>
          <a:xfrm>
            <a:off x="618965" y="2819960"/>
            <a:ext cx="2332190" cy="1112912"/>
            <a:chOff x="674180" y="2843192"/>
            <a:chExt cx="2332190" cy="1112912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63149EB-705E-C1BD-9F69-58B0360DA3E7}"/>
                </a:ext>
              </a:extLst>
            </p:cNvPr>
            <p:cNvSpPr txBox="1"/>
            <p:nvPr/>
          </p:nvSpPr>
          <p:spPr>
            <a:xfrm>
              <a:off x="984258" y="2843192"/>
              <a:ext cx="13876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当月接受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X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罗华治疗的患者数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4421F23-EF34-F1E8-39AC-852A5906B0D5}"/>
                </a:ext>
              </a:extLst>
            </p:cNvPr>
            <p:cNvCxnSpPr/>
            <p:nvPr/>
          </p:nvCxnSpPr>
          <p:spPr>
            <a:xfrm>
              <a:off x="829312" y="3366412"/>
              <a:ext cx="174970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8CAAC64-5CFB-F564-3E3E-6195ADBDA5A3}"/>
                </a:ext>
              </a:extLst>
            </p:cNvPr>
            <p:cNvSpPr txBox="1"/>
            <p:nvPr/>
          </p:nvSpPr>
          <p:spPr>
            <a:xfrm>
              <a:off x="674180" y="3432884"/>
              <a:ext cx="209511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当月病房收治的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1L/RR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 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DLBCL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者总人数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EEB4396-4B3B-E98B-CFA0-C584D632EFB4}"/>
                </a:ext>
              </a:extLst>
            </p:cNvPr>
            <p:cNvSpPr txBox="1"/>
            <p:nvPr/>
          </p:nvSpPr>
          <p:spPr>
            <a:xfrm>
              <a:off x="2519587" y="3103063"/>
              <a:ext cx="4867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%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254B53B-788F-D3E1-9EA8-116BB5E89A7A}"/>
              </a:ext>
            </a:extLst>
          </p:cNvPr>
          <p:cNvSpPr txBox="1"/>
          <p:nvPr/>
        </p:nvSpPr>
        <p:spPr>
          <a:xfrm>
            <a:off x="3054757" y="3006109"/>
            <a:ext cx="178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优罗华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: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应该用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3.X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支的是否用到？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8A0130-3746-EF44-A403-071BB5B6F3E0}"/>
              </a:ext>
            </a:extLst>
          </p:cNvPr>
          <p:cNvSpPr txBox="1"/>
          <p:nvPr/>
        </p:nvSpPr>
        <p:spPr>
          <a:xfrm>
            <a:off x="3054757" y="3963203"/>
            <a:ext cx="1781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高罗华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: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达到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CR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的患者是否用足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12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疗？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47FE01-7829-CA1A-CA64-9F2B8216DF08}"/>
              </a:ext>
            </a:extLst>
          </p:cNvPr>
          <p:cNvSpPr txBox="1"/>
          <p:nvPr/>
        </p:nvSpPr>
        <p:spPr>
          <a:xfrm>
            <a:off x="3035057" y="4920298"/>
            <a:ext cx="17812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佳罗华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: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1-8-15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？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两年每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2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个月回来维持治疗？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395CA40-66FE-0979-2C0F-AE6DE6433F1F}"/>
              </a:ext>
            </a:extLst>
          </p:cNvPr>
          <p:cNvCxnSpPr>
            <a:cxnSpLocks/>
          </p:cNvCxnSpPr>
          <p:nvPr/>
        </p:nvCxnSpPr>
        <p:spPr>
          <a:xfrm>
            <a:off x="5036962" y="2819960"/>
            <a:ext cx="0" cy="298281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ED9EB31-2E99-668D-AD1C-B08F42A8981E}"/>
              </a:ext>
            </a:extLst>
          </p:cNvPr>
          <p:cNvSpPr txBox="1"/>
          <p:nvPr/>
        </p:nvSpPr>
        <p:spPr>
          <a:xfrm>
            <a:off x="5176742" y="2979060"/>
            <a:ext cx="20250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患者回疗间隔是否大于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21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天？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回疗患者是否可以及时入院？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是否还有很多门诊患者没法收治？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A8B6987-3938-3428-5AA6-68AA4466F3E2}"/>
              </a:ext>
            </a:extLst>
          </p:cNvPr>
          <p:cNvGrpSpPr/>
          <p:nvPr/>
        </p:nvGrpSpPr>
        <p:grpSpPr>
          <a:xfrm>
            <a:off x="5224855" y="4572609"/>
            <a:ext cx="2025043" cy="1230162"/>
            <a:chOff x="5283004" y="4562418"/>
            <a:chExt cx="2025043" cy="1230162"/>
          </a:xfrm>
        </p:grpSpPr>
        <p:pic>
          <p:nvPicPr>
            <p:cNvPr id="46" name="Picture 45" descr="image.png">
              <a:extLst>
                <a:ext uri="{FF2B5EF4-FFF2-40B4-BE49-F238E27FC236}">
                  <a16:creationId xmlns:a16="http://schemas.microsoft.com/office/drawing/2014/main" id="{CDF19F4B-985E-3233-F997-D80EE24A5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83004" y="4562418"/>
              <a:ext cx="1991102" cy="1230162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189CFB7-6354-AE92-204E-8733AD358262}"/>
                </a:ext>
              </a:extLst>
            </p:cNvPr>
            <p:cNvSpPr txBox="1"/>
            <p:nvPr/>
          </p:nvSpPr>
          <p:spPr>
            <a:xfrm>
              <a:off x="5283004" y="4598220"/>
              <a:ext cx="202504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优化住院排床流程，缩短住院天数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建设住院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/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门诊日间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Wingdings" panose="05000000000000000000" pitchFamily="2" charset="2"/>
                <a:buChar char="ü"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精细化运营解除停限控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2172217-F59E-B009-EDEE-04BD10E0D075}"/>
              </a:ext>
            </a:extLst>
          </p:cNvPr>
          <p:cNvGrpSpPr/>
          <p:nvPr/>
        </p:nvGrpSpPr>
        <p:grpSpPr>
          <a:xfrm>
            <a:off x="7177845" y="2951640"/>
            <a:ext cx="2332190" cy="1349589"/>
            <a:chOff x="674180" y="2821959"/>
            <a:chExt cx="2332190" cy="1349589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A5F756C-7205-5942-DDCE-71607B472560}"/>
                </a:ext>
              </a:extLst>
            </p:cNvPr>
            <p:cNvSpPr txBox="1"/>
            <p:nvPr/>
          </p:nvSpPr>
          <p:spPr>
            <a:xfrm>
              <a:off x="856183" y="2821959"/>
              <a:ext cx="17149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当月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/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年治疗科室收治的淋巴瘤患者数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A50F4E7-2BBF-A8AC-DF6E-B96F64ED7AFB}"/>
                </a:ext>
              </a:extLst>
            </p:cNvPr>
            <p:cNvCxnSpPr/>
            <p:nvPr/>
          </p:nvCxnSpPr>
          <p:spPr>
            <a:xfrm>
              <a:off x="829312" y="3366412"/>
              <a:ext cx="1749709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E2479E1-8427-0EF8-FB43-C98560C2D732}"/>
                </a:ext>
              </a:extLst>
            </p:cNvPr>
            <p:cNvSpPr txBox="1"/>
            <p:nvPr/>
          </p:nvSpPr>
          <p:spPr>
            <a:xfrm>
              <a:off x="674180" y="3432884"/>
              <a:ext cx="209511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当月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/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年病理检出的淋巴瘤患者数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（除单纯外院病理会诊）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D1315CD-2703-409A-AF6F-C60537726FD6}"/>
                </a:ext>
              </a:extLst>
            </p:cNvPr>
            <p:cNvSpPr txBox="1"/>
            <p:nvPr/>
          </p:nvSpPr>
          <p:spPr>
            <a:xfrm>
              <a:off x="2519587" y="3103063"/>
              <a:ext cx="4867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  <a:sym typeface="Arial"/>
                </a:rPr>
                <a:t>%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endParaRPr>
            </a:p>
          </p:txBody>
        </p:sp>
      </p:grpSp>
      <p:pic>
        <p:nvPicPr>
          <p:cNvPr id="55" name="Picture 54" descr="image.png">
            <a:extLst>
              <a:ext uri="{FF2B5EF4-FFF2-40B4-BE49-F238E27FC236}">
                <a16:creationId xmlns:a16="http://schemas.microsoft.com/office/drawing/2014/main" id="{3E0FFD20-6CC1-1BB2-7BC5-87B4637B4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7397" y="4358254"/>
            <a:ext cx="1991102" cy="1429579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A6315AE7-092E-9C7B-3BC4-8DED0B7F4F74}"/>
              </a:ext>
            </a:extLst>
          </p:cNvPr>
          <p:cNvSpPr txBox="1"/>
          <p:nvPr/>
        </p:nvSpPr>
        <p:spPr>
          <a:xfrm>
            <a:off x="7376821" y="4373578"/>
            <a:ext cx="20250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淋巴瘤专人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+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病理专人的设立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病理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/>
              </a:rPr>
              <a:t>→临床的患者流转流程优化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定期规律的病理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+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临床诊断复盘会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A4A662-3B05-1964-939D-25A704CD78E7}"/>
              </a:ext>
            </a:extLst>
          </p:cNvPr>
          <p:cNvSpPr txBox="1"/>
          <p:nvPr/>
        </p:nvSpPr>
        <p:spPr>
          <a:xfrm>
            <a:off x="9481687" y="2955284"/>
            <a:ext cx="20913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定期规律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的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血液</a:t>
            </a: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+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病理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和前端科室的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MDT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交流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pic>
        <p:nvPicPr>
          <p:cNvPr id="61" name="Picture 60" descr="image.png">
            <a:extLst>
              <a:ext uri="{FF2B5EF4-FFF2-40B4-BE49-F238E27FC236}">
                <a16:creationId xmlns:a16="http://schemas.microsoft.com/office/drawing/2014/main" id="{89BBC1D6-23C8-DF34-CE53-129DAC989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134" y="3794629"/>
            <a:ext cx="1991101" cy="1993206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FAC4F7C-5DD8-CA32-D989-63CA247C55B1}"/>
              </a:ext>
            </a:extLst>
          </p:cNvPr>
          <p:cNvSpPr txBox="1"/>
          <p:nvPr/>
        </p:nvSpPr>
        <p:spPr>
          <a:xfrm>
            <a:off x="9634729" y="3898755"/>
            <a:ext cx="187991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MDT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关键解决：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血液科：淋巴瘤的早筛教育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病理科：取材固定标准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sym typeface="Arial"/>
              </a:rPr>
              <a:t>外科和血液患者的流转绿通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  <a:sym typeface="Arial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48C0FF2-730F-730F-C7E2-248C4980D109}"/>
              </a:ext>
            </a:extLst>
          </p:cNvPr>
          <p:cNvSpPr/>
          <p:nvPr/>
        </p:nvSpPr>
        <p:spPr>
          <a:xfrm>
            <a:off x="774097" y="6022319"/>
            <a:ext cx="4116939" cy="52322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分品牌分析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442B08C-D04E-9752-4D29-235700FB61EA}"/>
              </a:ext>
            </a:extLst>
          </p:cNvPr>
          <p:cNvSpPr/>
          <p:nvPr/>
        </p:nvSpPr>
        <p:spPr>
          <a:xfrm>
            <a:off x="5224855" y="6022319"/>
            <a:ext cx="6295728" cy="5232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/>
              </a:rPr>
              <a:t>全品牌解题问题</a:t>
            </a:r>
          </a:p>
        </p:txBody>
      </p:sp>
    </p:spTree>
    <p:extLst>
      <p:ext uri="{BB962C8B-B14F-4D97-AF65-F5344CB8AC3E}">
        <p14:creationId xmlns:p14="http://schemas.microsoft.com/office/powerpoint/2010/main" val="213030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F6CDB5-A0EF-E253-7C02-E21185089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600" y="1542308"/>
            <a:ext cx="6620799" cy="53156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FB1151-E865-AF0F-9D0E-71287E03F8FF}"/>
              </a:ext>
            </a:extLst>
          </p:cNvPr>
          <p:cNvSpPr txBox="1"/>
          <p:nvPr/>
        </p:nvSpPr>
        <p:spPr>
          <a:xfrm>
            <a:off x="2059616" y="987189"/>
            <a:ext cx="8072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找准问题，分阶段堵上关键漏点，找到持续的增长</a:t>
            </a:r>
          </a:p>
        </p:txBody>
      </p:sp>
    </p:spTree>
    <p:extLst>
      <p:ext uri="{BB962C8B-B14F-4D97-AF65-F5344CB8AC3E}">
        <p14:creationId xmlns:p14="http://schemas.microsoft.com/office/powerpoint/2010/main" val="36823427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Microsoft Office PowerPoint</Application>
  <PresentationFormat>宽屏</PresentationFormat>
  <Paragraphs>82</Paragraphs>
  <Slides>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Noto Sans SC</vt:lpstr>
      <vt:lpstr>等线</vt:lpstr>
      <vt:lpstr>等线 Light</vt:lpstr>
      <vt:lpstr>微软雅黑</vt:lpstr>
      <vt:lpstr>Arial</vt:lpstr>
      <vt:lpstr>Roboto</vt:lpstr>
      <vt:lpstr>Wingdings</vt:lpstr>
      <vt:lpstr>1_Office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Mengzhen Li</dc:creator>
  <cp:lastModifiedBy>Mengzhen Li</cp:lastModifiedBy>
  <cp:revision>2</cp:revision>
  <dcterms:created xsi:type="dcterms:W3CDTF">2026-07-10T09:24:01Z</dcterms:created>
  <dcterms:modified xsi:type="dcterms:W3CDTF">2026-07-16T01:17:52Z</dcterms:modified>
</cp:coreProperties>
</file>