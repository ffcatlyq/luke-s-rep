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metadata:title-kicker"/>
          <p:cNvSpPr txBox="1"/>
          <p:nvPr/>
        </p:nvSpPr>
        <p:spPr>
          <a:xfrm>
            <a:off x="731520" y="1162431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9" name="decorative:role-contract-accent:title:heading"/>
          <p:cNvSpPr/>
          <p:nvPr/>
        </p:nvSpPr>
        <p:spPr>
          <a:xfrm>
            <a:off x="731520" y="1381887"/>
            <a:ext cx="740664" cy="4114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0" name="slide-title:title"/>
          <p:cNvSpPr txBox="1"/>
          <p:nvPr/>
        </p:nvSpPr>
        <p:spPr>
          <a:xfrm>
            <a:off x="731520" y="1491615"/>
            <a:ext cx="411480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83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病理研修班最佳实践</a:t>
            </a:r>
            <a:endParaRPr lang="en-US" sz="4283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697355"/>
            <a:ext cx="28346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从线下深研到持续病例协作｜负责人：东区–Title–姓名（待补充）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1/7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metadata:section-kicker"/>
          <p:cNvSpPr txBox="1"/>
          <p:nvPr/>
        </p:nvSpPr>
        <p:spPr>
          <a:xfrm>
            <a:off x="2286000" y="853821"/>
            <a:ext cx="24249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900" dirty="0"/>
          </a:p>
        </p:txBody>
      </p:sp>
      <p:sp>
        <p:nvSpPr>
          <p:cNvPr id="9" name="decorative:role-contract-accent:section:heading"/>
          <p:cNvSpPr/>
          <p:nvPr/>
        </p:nvSpPr>
        <p:spPr>
          <a:xfrm>
            <a:off x="2286000" y="1073277"/>
            <a:ext cx="559613" cy="4114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0" name="slide-title:section"/>
          <p:cNvSpPr txBox="1"/>
          <p:nvPr/>
        </p:nvSpPr>
        <p:spPr>
          <a:xfrm>
            <a:off x="2286000" y="1183005"/>
            <a:ext cx="31089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42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业务命题</a:t>
            </a:r>
            <a:endParaRPr lang="en-US" sz="3342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285875"/>
            <a:ext cx="256032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复杂诊断、亚专科力量不足与 MDT 影响力，共同指向长期支持网络</a:t>
            </a:r>
            <a:endParaRPr lang="en-US" sz="1600" dirty="0"/>
          </a:p>
        </p:txBody>
      </p:sp>
      <p:sp>
        <p:nvSpPr>
          <p:cNvPr id="12" name="role-contract-slot:section:stage"/>
          <p:cNvSpPr/>
          <p:nvPr/>
        </p:nvSpPr>
        <p:spPr>
          <a:xfrm>
            <a:off x="548640" y="1028700"/>
            <a:ext cx="1280160" cy="2777490"/>
          </a:xfrm>
          <a:prstGeom prst="rect">
            <a:avLst/>
          </a:prstGeom>
          <a:solidFill>
            <a:srgbClr val="F4F8FB">
              <a:alpha val="0"/>
            </a:srgbClr>
          </a:solidFill>
          <a:ln w="10795">
            <a:solidFill>
              <a:srgbClr val="D5DEE8"/>
            </a:solidFill>
            <a:prstDash val="solid"/>
          </a:ln>
        </p:spPr>
      </p:sp>
      <p:sp>
        <p:nvSpPr>
          <p:cNvPr id="13" name="decorative:role-contract-accent:section:stage"/>
          <p:cNvSpPr/>
          <p:nvPr/>
        </p:nvSpPr>
        <p:spPr>
          <a:xfrm>
            <a:off x="548640" y="1028700"/>
            <a:ext cx="50292" cy="2777490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4" name="metadata:section-stage-label"/>
          <p:cNvSpPr txBox="1"/>
          <p:nvPr/>
        </p:nvSpPr>
        <p:spPr>
          <a:xfrm>
            <a:off x="676656" y="115671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</a:t>
            </a:r>
            <a:endParaRPr lang="en-US" sz="900" dirty="0"/>
          </a:p>
        </p:txBody>
      </p:sp>
      <p:sp>
        <p:nvSpPr>
          <p:cNvPr id="15" name="metadata:section-stage-value"/>
          <p:cNvSpPr txBox="1"/>
          <p:nvPr/>
        </p:nvSpPr>
        <p:spPr>
          <a:xfrm>
            <a:off x="676656" y="2406716"/>
            <a:ext cx="1024128" cy="29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8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8" dirty="0"/>
          </a:p>
        </p:txBody>
      </p:sp>
      <p:sp>
        <p:nvSpPr>
          <p:cNvPr id="16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6781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067816"/>
            <a:ext cx="9144000" cy="16459"/>
          </a:xfrm>
          <a:prstGeom prst="rect">
            <a:avLst/>
          </a:prstGeom>
          <a:solidFill>
            <a:srgbClr val="D5DEE8">
              <a:alpha val="72000"/>
            </a:srgbClr>
          </a:solidFill>
          <a:ln w="12700">
            <a:solidFill>
              <a:srgbClr val="D5DEE8">
                <a:alpha val="0"/>
              </a:srgbClr>
            </a:solidFill>
            <a:prstDash val="solid"/>
          </a:ln>
        </p:spPr>
      </p:sp>
      <p:sp>
        <p:nvSpPr>
          <p:cNvPr id="11" name="slide-title:content"/>
          <p:cNvSpPr txBox="1"/>
          <p:nvPr/>
        </p:nvSpPr>
        <p:spPr>
          <a:xfrm>
            <a:off x="457200" y="91440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项目不是一次培训，而是一条持续学习路径</a:t>
            </a:r>
            <a:endParaRPr lang="en-US" sz="2800" dirty="0"/>
          </a:p>
        </p:txBody>
      </p:sp>
      <p:sp>
        <p:nvSpPr>
          <p:cNvPr id="12" name="support:slide-subtitle"/>
          <p:cNvSpPr txBox="1"/>
          <p:nvPr/>
        </p:nvSpPr>
        <p:spPr>
          <a:xfrm>
            <a:off x="457200" y="665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围绕真实临床痛点设计三个相互衔接的动作</a:t>
            </a:r>
            <a:endParaRPr lang="en-US" sz="1300" dirty="0"/>
          </a:p>
        </p:txBody>
      </p:sp>
      <p:sp>
        <p:nvSpPr>
          <p:cNvPr id="13" name="role-contract-slot:decision:0"/>
          <p:cNvSpPr/>
          <p:nvPr/>
        </p:nvSpPr>
        <p:spPr>
          <a:xfrm>
            <a:off x="457200" y="2237486"/>
            <a:ext cx="822960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</p:sp>
      <p:sp>
        <p:nvSpPr>
          <p:cNvPr id="14" name="decision:0:value"/>
          <p:cNvSpPr txBox="1"/>
          <p:nvPr/>
        </p:nvSpPr>
        <p:spPr>
          <a:xfrm>
            <a:off x="530352" y="1287272"/>
            <a:ext cx="344353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decision:0:label"/>
          <p:cNvSpPr txBox="1"/>
          <p:nvPr/>
        </p:nvSpPr>
        <p:spPr>
          <a:xfrm>
            <a:off x="929569" y="1287272"/>
            <a:ext cx="185915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6" name="decision:0:caption"/>
          <p:cNvSpPr txBox="1"/>
          <p:nvPr/>
        </p:nvSpPr>
        <p:spPr>
          <a:xfrm>
            <a:off x="2880167" y="1287272"/>
            <a:ext cx="5733481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线下深研：2 天 5 个专题，授课结合病例研讨。</a:t>
            </a:r>
            <a:endParaRPr lang="en-US" sz="1600" dirty="0"/>
          </a:p>
        </p:txBody>
      </p:sp>
      <p:sp>
        <p:nvSpPr>
          <p:cNvPr id="17" name="role-contract-slot:decision:1"/>
          <p:cNvSpPr/>
          <p:nvPr/>
        </p:nvSpPr>
        <p:spPr>
          <a:xfrm>
            <a:off x="457200" y="3886708"/>
            <a:ext cx="4041648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</p:sp>
      <p:sp>
        <p:nvSpPr>
          <p:cNvPr id="18" name="decision:1:value"/>
          <p:cNvSpPr txBox="1"/>
          <p:nvPr/>
        </p:nvSpPr>
        <p:spPr>
          <a:xfrm>
            <a:off x="530352" y="2456942"/>
            <a:ext cx="344353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decision:1:label"/>
          <p:cNvSpPr txBox="1"/>
          <p:nvPr/>
        </p:nvSpPr>
        <p:spPr>
          <a:xfrm>
            <a:off x="929569" y="2456942"/>
            <a:ext cx="3496127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Detail 1</a:t>
            </a:r>
            <a:endParaRPr lang="en-US" sz="1600" dirty="0"/>
          </a:p>
        </p:txBody>
      </p:sp>
      <p:sp>
        <p:nvSpPr>
          <p:cNvPr id="20" name="decision:1:caption"/>
          <p:cNvSpPr txBox="1"/>
          <p:nvPr/>
        </p:nvSpPr>
        <p:spPr>
          <a:xfrm>
            <a:off x="530352" y="2936494"/>
            <a:ext cx="389534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互动实操：显微阅片与战队答题。</a:t>
            </a:r>
            <a:endParaRPr lang="en-US" sz="1600" dirty="0"/>
          </a:p>
        </p:txBody>
      </p:sp>
      <p:sp>
        <p:nvSpPr>
          <p:cNvPr id="21" name="role-contract-slot:decision:2"/>
          <p:cNvSpPr/>
          <p:nvPr/>
        </p:nvSpPr>
        <p:spPr>
          <a:xfrm>
            <a:off x="4645152" y="3886708"/>
            <a:ext cx="4041648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</p:sp>
      <p:sp>
        <p:nvSpPr>
          <p:cNvPr id="22" name="decision:2:value"/>
          <p:cNvSpPr txBox="1"/>
          <p:nvPr/>
        </p:nvSpPr>
        <p:spPr>
          <a:xfrm>
            <a:off x="4718304" y="2456942"/>
            <a:ext cx="344353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decision:2:label"/>
          <p:cNvSpPr txBox="1"/>
          <p:nvPr/>
        </p:nvSpPr>
        <p:spPr>
          <a:xfrm>
            <a:off x="5117521" y="2456942"/>
            <a:ext cx="3496127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Detail 2</a:t>
            </a:r>
            <a:endParaRPr lang="en-US" sz="1600" dirty="0"/>
          </a:p>
        </p:txBody>
      </p:sp>
      <p:sp>
        <p:nvSpPr>
          <p:cNvPr id="24" name="decision:2:caption"/>
          <p:cNvSpPr txBox="1"/>
          <p:nvPr/>
        </p:nvSpPr>
        <p:spPr>
          <a:xfrm>
            <a:off x="4718304" y="2936494"/>
            <a:ext cx="389534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会后延续：AI 笔记、问卷与线上读片。</a:t>
            </a:r>
            <a:endParaRPr lang="en-US" sz="1600" dirty="0"/>
          </a:p>
        </p:txBody>
      </p:sp>
      <p:sp>
        <p:nvSpPr>
          <p:cNvPr id="25" name="role-contract-slot:decision:commitment"/>
          <p:cNvSpPr/>
          <p:nvPr/>
        </p:nvSpPr>
        <p:spPr>
          <a:xfrm>
            <a:off x="457200" y="4033012"/>
            <a:ext cx="8229600" cy="580136"/>
          </a:xfrm>
          <a:prstGeom prst="rect">
            <a:avLst/>
          </a:prstGeom>
          <a:solidFill>
            <a:srgbClr val="071E3A"/>
          </a:solidFill>
          <a:ln w="8255">
            <a:solidFill>
              <a:srgbClr val="1493A4"/>
            </a:solidFill>
            <a:prstDash val="solid"/>
          </a:ln>
        </p:spPr>
      </p:sp>
      <p:sp>
        <p:nvSpPr>
          <p:cNvPr id="26" name="decision:commitment"/>
          <p:cNvSpPr txBox="1"/>
          <p:nvPr/>
        </p:nvSpPr>
        <p:spPr>
          <a:xfrm>
            <a:off x="658368" y="4124452"/>
            <a:ext cx="782726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线下深研：2 天 5 个专题，授课结合病例研讨。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资料来源：病理研修班总结与执行手册 · Sources: 病理研修班总结v3(1).pptx; 8.22-23病理会执行手册.pptx</a:t>
            </a:r>
            <a:endParaRPr lang="en-US" sz="900" dirty="0"/>
          </a:p>
        </p:txBody>
      </p:sp>
      <p:sp>
        <p:nvSpPr>
          <p:cNvPr id="2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6781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lide-title:content"/>
          <p:cNvSpPr txBox="1"/>
          <p:nvPr/>
        </p:nvSpPr>
        <p:spPr>
          <a:xfrm>
            <a:off x="457200" y="91440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四段式执行，把活动体验沉淀为长期连接</a:t>
            </a:r>
            <a:endParaRPr lang="en-US" sz="2800" dirty="0"/>
          </a:p>
        </p:txBody>
      </p:sp>
      <p:sp>
        <p:nvSpPr>
          <p:cNvPr id="10" name="support:slide-subtitle"/>
          <p:cNvSpPr txBox="1"/>
          <p:nvPr/>
        </p:nvSpPr>
        <p:spPr>
          <a:xfrm>
            <a:off x="457200" y="665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需求识别—现场转化—即时复盘—持续协作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470152"/>
            <a:ext cx="1879092" cy="1639824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12" name="metadata:flow-0-index"/>
          <p:cNvSpPr txBox="1"/>
          <p:nvPr/>
        </p:nvSpPr>
        <p:spPr>
          <a:xfrm>
            <a:off x="585216" y="1552448"/>
            <a:ext cx="1623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flow:0:title"/>
          <p:cNvSpPr txBox="1"/>
          <p:nvPr/>
        </p:nvSpPr>
        <p:spPr>
          <a:xfrm>
            <a:off x="585216" y="1835912"/>
            <a:ext cx="162306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精准邀约</a:t>
            </a:r>
            <a:endParaRPr lang="en-US" sz="1600" dirty="0"/>
          </a:p>
        </p:txBody>
      </p:sp>
      <p:sp>
        <p:nvSpPr>
          <p:cNvPr id="14" name="flow:0:detail"/>
          <p:cNvSpPr txBox="1"/>
          <p:nvPr/>
        </p:nvSpPr>
        <p:spPr>
          <a:xfrm>
            <a:off x="585216" y="2361184"/>
            <a:ext cx="162306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 位定向邀请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72868" y="2290064"/>
            <a:ext cx="164592" cy="0"/>
          </a:xfrm>
          <a:prstGeom prst="line">
            <a:avLst/>
          </a:prstGeom>
          <a:noFill/>
          <a:ln w="1143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574036" y="1470152"/>
            <a:ext cx="1879092" cy="1639824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17" name="metadata:flow-1-index"/>
          <p:cNvSpPr txBox="1"/>
          <p:nvPr/>
        </p:nvSpPr>
        <p:spPr>
          <a:xfrm>
            <a:off x="2702052" y="1552448"/>
            <a:ext cx="1623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flow:1:title"/>
          <p:cNvSpPr txBox="1"/>
          <p:nvPr/>
        </p:nvSpPr>
        <p:spPr>
          <a:xfrm>
            <a:off x="2702052" y="1835912"/>
            <a:ext cx="162306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实战教学</a:t>
            </a:r>
            <a:endParaRPr lang="en-US" sz="1600" dirty="0"/>
          </a:p>
        </p:txBody>
      </p:sp>
      <p:sp>
        <p:nvSpPr>
          <p:cNvPr id="19" name="flow:1:detail"/>
          <p:cNvSpPr txBox="1"/>
          <p:nvPr/>
        </p:nvSpPr>
        <p:spPr>
          <a:xfrm>
            <a:off x="2702052" y="2361184"/>
            <a:ext cx="162306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授课 + 实操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9704" y="2290064"/>
            <a:ext cx="164592" cy="0"/>
          </a:xfrm>
          <a:prstGeom prst="line">
            <a:avLst/>
          </a:prstGeom>
          <a:noFill/>
          <a:ln w="1143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90872" y="1470152"/>
            <a:ext cx="1879092" cy="1639824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22" name="metadata:flow-2-index"/>
          <p:cNvSpPr txBox="1"/>
          <p:nvPr/>
        </p:nvSpPr>
        <p:spPr>
          <a:xfrm>
            <a:off x="4818888" y="1552448"/>
            <a:ext cx="1623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flow:2:title"/>
          <p:cNvSpPr txBox="1"/>
          <p:nvPr/>
        </p:nvSpPr>
        <p:spPr>
          <a:xfrm>
            <a:off x="4818888" y="1835912"/>
            <a:ext cx="162306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数据复盘</a:t>
            </a:r>
            <a:endParaRPr lang="en-US" sz="1600" dirty="0"/>
          </a:p>
        </p:txBody>
      </p:sp>
      <p:sp>
        <p:nvSpPr>
          <p:cNvPr id="24" name="flow:2:detail"/>
          <p:cNvSpPr txBox="1"/>
          <p:nvPr/>
        </p:nvSpPr>
        <p:spPr>
          <a:xfrm>
            <a:off x="4818888" y="2361184"/>
            <a:ext cx="1623060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份问卷识别需求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06540" y="2290064"/>
            <a:ext cx="164592" cy="0"/>
          </a:xfrm>
          <a:prstGeom prst="line">
            <a:avLst/>
          </a:prstGeom>
          <a:noFill/>
          <a:ln w="1143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07708" y="1470152"/>
            <a:ext cx="1879092" cy="1639824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27" name="metadata:flow-3-index"/>
          <p:cNvSpPr txBox="1"/>
          <p:nvPr/>
        </p:nvSpPr>
        <p:spPr>
          <a:xfrm>
            <a:off x="6935724" y="1552448"/>
            <a:ext cx="1623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flow:3:title"/>
          <p:cNvSpPr txBox="1"/>
          <p:nvPr/>
        </p:nvSpPr>
        <p:spPr>
          <a:xfrm>
            <a:off x="6935724" y="1835912"/>
            <a:ext cx="162306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病例共阅</a:t>
            </a:r>
            <a:endParaRPr lang="en-US" sz="1600" dirty="0"/>
          </a:p>
        </p:txBody>
      </p:sp>
      <p:sp>
        <p:nvSpPr>
          <p:cNvPr id="29" name="flow:3:detail"/>
          <p:cNvSpPr txBox="1"/>
          <p:nvPr/>
        </p:nvSpPr>
        <p:spPr>
          <a:xfrm>
            <a:off x="6935724" y="2361184"/>
            <a:ext cx="1623060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线上读片与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MDT 讨论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四段动作共同构成持续学习闭环 · Sources: 病理研修班总结v3(1).pptx; 8.22-23病理会执行手册.pptx</a:t>
            </a:r>
            <a:endParaRPr lang="en-US" sz="900" dirty="0"/>
          </a:p>
        </p:txBody>
      </p:sp>
      <p:sp>
        <p:nvSpPr>
          <p:cNvPr id="3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6781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067816"/>
            <a:ext cx="9144000" cy="16459"/>
          </a:xfrm>
          <a:prstGeom prst="rect">
            <a:avLst/>
          </a:prstGeom>
          <a:solidFill>
            <a:srgbClr val="D5DEE8">
              <a:alpha val="72000"/>
            </a:srgbClr>
          </a:solidFill>
          <a:ln w="12700">
            <a:solidFill>
              <a:srgbClr val="D5DEE8">
                <a:alpha val="0"/>
              </a:srgbClr>
            </a:solidFill>
            <a:prstDash val="solid"/>
          </a:ln>
        </p:spPr>
      </p:sp>
      <p:sp>
        <p:nvSpPr>
          <p:cNvPr id="11" name="slide-title:content"/>
          <p:cNvSpPr txBox="1"/>
          <p:nvPr/>
        </p:nvSpPr>
        <p:spPr>
          <a:xfrm>
            <a:off x="457200" y="91440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量化结果验证了内容价值与进阶方向</a:t>
            </a:r>
            <a:endParaRPr lang="en-US" sz="2800" dirty="0"/>
          </a:p>
        </p:txBody>
      </p:sp>
      <p:sp>
        <p:nvSpPr>
          <p:cNvPr id="12" name="support:slide-subtitle"/>
          <p:cNvSpPr txBox="1"/>
          <p:nvPr/>
        </p:nvSpPr>
        <p:spPr>
          <a:xfrm>
            <a:off x="457200" y="665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规模、满意度与下一步需求形成一致证据</a:t>
            </a:r>
            <a:endParaRPr lang="en-US" sz="1300" dirty="0"/>
          </a:p>
        </p:txBody>
      </p:sp>
      <p:sp>
        <p:nvSpPr>
          <p:cNvPr id="13" name="role-contract-slot:evidence:0"/>
          <p:cNvSpPr/>
          <p:nvPr/>
        </p:nvSpPr>
        <p:spPr>
          <a:xfrm>
            <a:off x="457200" y="1945005"/>
            <a:ext cx="822960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</p:sp>
      <p:sp>
        <p:nvSpPr>
          <p:cNvPr id="14" name="evidence:0:value"/>
          <p:cNvSpPr txBox="1"/>
          <p:nvPr/>
        </p:nvSpPr>
        <p:spPr>
          <a:xfrm>
            <a:off x="530352" y="1287272"/>
            <a:ext cx="502424" cy="55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</a:t>
            </a:r>
            <a:endParaRPr lang="en-US" sz="2600" dirty="0"/>
          </a:p>
        </p:txBody>
      </p:sp>
      <p:sp>
        <p:nvSpPr>
          <p:cNvPr id="15" name="evidence:0:label"/>
          <p:cNvSpPr txBox="1"/>
          <p:nvPr/>
        </p:nvSpPr>
        <p:spPr>
          <a:xfrm>
            <a:off x="1087640" y="1287272"/>
            <a:ext cx="185915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参与医生（+）</a:t>
            </a:r>
            <a:endParaRPr lang="en-US" sz="1600" dirty="0"/>
          </a:p>
        </p:txBody>
      </p:sp>
      <p:sp>
        <p:nvSpPr>
          <p:cNvPr id="16" name="evidence:0:caption"/>
          <p:cNvSpPr txBox="1"/>
          <p:nvPr/>
        </p:nvSpPr>
        <p:spPr>
          <a:xfrm>
            <a:off x="3038238" y="1287272"/>
            <a:ext cx="557541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天 5 个专题</a:t>
            </a:r>
            <a:endParaRPr lang="en-US" sz="1600" dirty="0"/>
          </a:p>
        </p:txBody>
      </p:sp>
      <p:sp>
        <p:nvSpPr>
          <p:cNvPr id="17" name="role-contract-slot:evidence:1"/>
          <p:cNvSpPr/>
          <p:nvPr/>
        </p:nvSpPr>
        <p:spPr>
          <a:xfrm>
            <a:off x="457200" y="2822194"/>
            <a:ext cx="822960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</p:sp>
      <p:sp>
        <p:nvSpPr>
          <p:cNvPr id="18" name="evidence:1:value"/>
          <p:cNvSpPr txBox="1"/>
          <p:nvPr/>
        </p:nvSpPr>
        <p:spPr>
          <a:xfrm>
            <a:off x="530352" y="2164461"/>
            <a:ext cx="773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90%</a:t>
            </a:r>
            <a:endParaRPr lang="en-US" sz="2400" dirty="0"/>
          </a:p>
        </p:txBody>
      </p:sp>
      <p:sp>
        <p:nvSpPr>
          <p:cNvPr id="19" name="evidence:1:label"/>
          <p:cNvSpPr txBox="1"/>
          <p:nvPr/>
        </p:nvSpPr>
        <p:spPr>
          <a:xfrm>
            <a:off x="1358856" y="2164461"/>
            <a:ext cx="185915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最认可专题授课</a:t>
            </a:r>
            <a:endParaRPr lang="en-US" sz="1600" dirty="0"/>
          </a:p>
        </p:txBody>
      </p:sp>
      <p:sp>
        <p:nvSpPr>
          <p:cNvPr id="20" name="evidence:1:caption"/>
          <p:cNvSpPr txBox="1"/>
          <p:nvPr/>
        </p:nvSpPr>
        <p:spPr>
          <a:xfrm>
            <a:off x="3309454" y="2164461"/>
            <a:ext cx="530419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n=21</a:t>
            </a:r>
            <a:endParaRPr lang="en-US" sz="1600" dirty="0"/>
          </a:p>
        </p:txBody>
      </p:sp>
      <p:sp>
        <p:nvSpPr>
          <p:cNvPr id="21" name="role-contract-slot:evidence:2"/>
          <p:cNvSpPr/>
          <p:nvPr/>
        </p:nvSpPr>
        <p:spPr>
          <a:xfrm>
            <a:off x="457200" y="3699383"/>
            <a:ext cx="822960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</p:sp>
      <p:sp>
        <p:nvSpPr>
          <p:cNvPr id="22" name="evidence:2:value"/>
          <p:cNvSpPr txBox="1"/>
          <p:nvPr/>
        </p:nvSpPr>
        <p:spPr>
          <a:xfrm>
            <a:off x="530352" y="3041650"/>
            <a:ext cx="773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81%</a:t>
            </a:r>
            <a:endParaRPr lang="en-US" sz="2400" dirty="0"/>
          </a:p>
        </p:txBody>
      </p:sp>
      <p:sp>
        <p:nvSpPr>
          <p:cNvPr id="23" name="evidence:2:label"/>
          <p:cNvSpPr txBox="1"/>
          <p:nvPr/>
        </p:nvSpPr>
        <p:spPr>
          <a:xfrm>
            <a:off x="1358856" y="3041650"/>
            <a:ext cx="185915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希望强化阅片</a:t>
            </a:r>
            <a:endParaRPr lang="en-US" sz="1600" dirty="0"/>
          </a:p>
        </p:txBody>
      </p:sp>
      <p:sp>
        <p:nvSpPr>
          <p:cNvPr id="24" name="evidence:2:caption"/>
          <p:cNvSpPr txBox="1"/>
          <p:nvPr/>
        </p:nvSpPr>
        <p:spPr>
          <a:xfrm>
            <a:off x="3309454" y="3041650"/>
            <a:ext cx="530419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疑难判读需求突出</a:t>
            </a:r>
            <a:endParaRPr lang="en-US" sz="1600" dirty="0"/>
          </a:p>
        </p:txBody>
      </p:sp>
      <p:sp>
        <p:nvSpPr>
          <p:cNvPr id="25" name="role-contract-slot:evidence:3"/>
          <p:cNvSpPr/>
          <p:nvPr/>
        </p:nvSpPr>
        <p:spPr>
          <a:xfrm>
            <a:off x="457200" y="4576572"/>
            <a:ext cx="8229600" cy="0"/>
          </a:xfrm>
          <a:prstGeom prst="line">
            <a:avLst/>
          </a:prstGeom>
          <a:noFill/>
          <a:ln w="8890">
            <a:solidFill>
              <a:srgbClr val="D5DEE8"/>
            </a:solidFill>
            <a:prstDash val="solid"/>
          </a:ln>
        </p:spPr>
      </p:sp>
      <p:sp>
        <p:nvSpPr>
          <p:cNvPr id="26" name="evidence:3:value"/>
          <p:cNvSpPr txBox="1"/>
          <p:nvPr/>
        </p:nvSpPr>
        <p:spPr>
          <a:xfrm>
            <a:off x="530352" y="3918839"/>
            <a:ext cx="773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71%</a:t>
            </a:r>
            <a:endParaRPr lang="en-US" sz="2400" dirty="0"/>
          </a:p>
        </p:txBody>
      </p:sp>
      <p:sp>
        <p:nvSpPr>
          <p:cNvPr id="27" name="evidence:3:label"/>
          <p:cNvSpPr txBox="1"/>
          <p:nvPr/>
        </p:nvSpPr>
        <p:spPr>
          <a:xfrm>
            <a:off x="1358856" y="3918839"/>
            <a:ext cx="185915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首选 MDT 实战</a:t>
            </a:r>
            <a:endParaRPr lang="en-US" sz="1600" dirty="0"/>
          </a:p>
        </p:txBody>
      </p:sp>
      <p:sp>
        <p:nvSpPr>
          <p:cNvPr id="28" name="evidence:3:caption"/>
          <p:cNvSpPr txBox="1"/>
          <p:nvPr/>
        </p:nvSpPr>
        <p:spPr>
          <a:xfrm>
            <a:off x="3309454" y="3918839"/>
            <a:ext cx="530419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进阶课程方向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口径：问卷 n=21；参与规模来自会后总结 · Sources: 病理研修班总结v3(1).pptx</a:t>
            </a:r>
            <a:endParaRPr lang="en-US" sz="900" dirty="0"/>
          </a:p>
        </p:txBody>
      </p:sp>
      <p:sp>
        <p:nvSpPr>
          <p:cNvPr id="3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6781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067816"/>
            <a:ext cx="310896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067816"/>
            <a:ext cx="6035040" cy="16459"/>
          </a:xfrm>
          <a:prstGeom prst="rect">
            <a:avLst/>
          </a:prstGeom>
          <a:solidFill>
            <a:srgbClr val="D5DEE8">
              <a:alpha val="65000"/>
            </a:srgbClr>
          </a:solidFill>
          <a:ln w="12700">
            <a:solidFill>
              <a:srgbClr val="D5DEE8">
                <a:alpha val="0"/>
              </a:srgbClr>
            </a:solidFill>
            <a:prstDash val="solid"/>
          </a:ln>
        </p:spPr>
      </p:sp>
      <p:sp>
        <p:nvSpPr>
          <p:cNvPr id="11" name="slide-title:content"/>
          <p:cNvSpPr txBox="1"/>
          <p:nvPr/>
        </p:nvSpPr>
        <p:spPr>
          <a:xfrm>
            <a:off x="457200" y="91440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复盘后形成三项可复制升级</a:t>
            </a:r>
            <a:endParaRPr lang="en-US" sz="2800" dirty="0"/>
          </a:p>
        </p:txBody>
      </p:sp>
      <p:sp>
        <p:nvSpPr>
          <p:cNvPr id="12" name="support:slide-subtitle"/>
          <p:cNvSpPr txBox="1"/>
          <p:nvPr/>
        </p:nvSpPr>
        <p:spPr>
          <a:xfrm>
            <a:off x="457200" y="665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把学员反馈直接转化为下一轮项目设计</a:t>
            </a:r>
            <a:endParaRPr lang="en-US" sz="1300" dirty="0"/>
          </a:p>
        </p:txBody>
      </p:sp>
      <p:sp>
        <p:nvSpPr>
          <p:cNvPr id="13" name="role-contract-slot:comparison:option-0"/>
          <p:cNvSpPr/>
          <p:nvPr/>
        </p:nvSpPr>
        <p:spPr>
          <a:xfrm>
            <a:off x="457200" y="1305560"/>
            <a:ext cx="8229600" cy="1157656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14" name="comparison:0:title"/>
          <p:cNvSpPr txBox="1"/>
          <p:nvPr/>
        </p:nvSpPr>
        <p:spPr>
          <a:xfrm>
            <a:off x="512064" y="1685760"/>
            <a:ext cx="960567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反馈信号</a:t>
            </a:r>
            <a:endParaRPr lang="en-US" sz="1600" dirty="0"/>
          </a:p>
        </p:txBody>
      </p:sp>
      <p:sp>
        <p:nvSpPr>
          <p:cNvPr id="15" name="comparison:0:body"/>
          <p:cNvSpPr txBox="1"/>
          <p:nvPr/>
        </p:nvSpPr>
        <p:spPr>
          <a:xfrm>
            <a:off x="1582359" y="1425664"/>
            <a:ext cx="7049577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时间紧、阅片不足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希望多病例、重实操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希望季度/半年持续开展</a:t>
            </a:r>
            <a:endParaRPr lang="en-US" sz="1600" dirty="0"/>
          </a:p>
        </p:txBody>
      </p:sp>
      <p:sp>
        <p:nvSpPr>
          <p:cNvPr id="16" name="role-contract-slot:comparison:option-1"/>
          <p:cNvSpPr/>
          <p:nvPr/>
        </p:nvSpPr>
        <p:spPr>
          <a:xfrm>
            <a:off x="457200" y="2727823"/>
            <a:ext cx="8229600" cy="1157656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17" name="comparison:1:title"/>
          <p:cNvSpPr txBox="1"/>
          <p:nvPr/>
        </p:nvSpPr>
        <p:spPr>
          <a:xfrm>
            <a:off x="512064" y="3108023"/>
            <a:ext cx="1182421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下一轮设计</a:t>
            </a:r>
            <a:endParaRPr lang="en-US" sz="1600" dirty="0"/>
          </a:p>
        </p:txBody>
      </p:sp>
      <p:sp>
        <p:nvSpPr>
          <p:cNvPr id="18" name="comparison:1:body"/>
          <p:cNvSpPr txBox="1"/>
          <p:nvPr/>
        </p:nvSpPr>
        <p:spPr>
          <a:xfrm>
            <a:off x="1804213" y="2847927"/>
            <a:ext cx="6827723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延长会诊并降低课程密度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加入误诊漏诊复盘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线上线下组合运营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资料来源：开放题反馈归纳 · Sources: 病理研修班总结v3(1).pptx</a:t>
            </a:r>
            <a:endParaRPr lang="en-US" sz="900" dirty="0"/>
          </a:p>
        </p:txBody>
      </p:sp>
      <p:sp>
        <p:nvSpPr>
          <p:cNvPr id="2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metadata:section-kicker"/>
          <p:cNvSpPr txBox="1"/>
          <p:nvPr/>
        </p:nvSpPr>
        <p:spPr>
          <a:xfrm>
            <a:off x="2286000" y="853821"/>
            <a:ext cx="24249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900" dirty="0"/>
          </a:p>
        </p:txBody>
      </p:sp>
      <p:sp>
        <p:nvSpPr>
          <p:cNvPr id="9" name="decorative:role-contract-accent:section:heading"/>
          <p:cNvSpPr/>
          <p:nvPr/>
        </p:nvSpPr>
        <p:spPr>
          <a:xfrm>
            <a:off x="2286000" y="1073277"/>
            <a:ext cx="559613" cy="4114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0" name="slide-title:section"/>
          <p:cNvSpPr txBox="1"/>
          <p:nvPr/>
        </p:nvSpPr>
        <p:spPr>
          <a:xfrm>
            <a:off x="2286000" y="1183005"/>
            <a:ext cx="31089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42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下一步：三层生态</a:t>
            </a:r>
            <a:endParaRPr lang="en-US" sz="3342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285875"/>
            <a:ext cx="256032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持续学习网络 + 区域师资梯队 + MDT 示范输出</a:t>
            </a:r>
            <a:endParaRPr lang="en-US" sz="1600" dirty="0"/>
          </a:p>
        </p:txBody>
      </p:sp>
      <p:sp>
        <p:nvSpPr>
          <p:cNvPr id="12" name="role-contract-slot:section:stage"/>
          <p:cNvSpPr/>
          <p:nvPr/>
        </p:nvSpPr>
        <p:spPr>
          <a:xfrm>
            <a:off x="548640" y="1028700"/>
            <a:ext cx="1280160" cy="2777490"/>
          </a:xfrm>
          <a:prstGeom prst="rect">
            <a:avLst/>
          </a:prstGeom>
          <a:solidFill>
            <a:srgbClr val="F4F8FB">
              <a:alpha val="0"/>
            </a:srgbClr>
          </a:solidFill>
          <a:ln w="10795">
            <a:solidFill>
              <a:srgbClr val="D5DEE8"/>
            </a:solidFill>
            <a:prstDash val="solid"/>
          </a:ln>
        </p:spPr>
      </p:sp>
      <p:sp>
        <p:nvSpPr>
          <p:cNvPr id="13" name="decorative:role-contract-accent:section:stage"/>
          <p:cNvSpPr/>
          <p:nvPr/>
        </p:nvSpPr>
        <p:spPr>
          <a:xfrm>
            <a:off x="548640" y="1028700"/>
            <a:ext cx="50292" cy="2777490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4" name="metadata:section-stage-label"/>
          <p:cNvSpPr txBox="1"/>
          <p:nvPr/>
        </p:nvSpPr>
        <p:spPr>
          <a:xfrm>
            <a:off x="676656" y="115671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</a:t>
            </a:r>
            <a:endParaRPr lang="en-US" sz="900" dirty="0"/>
          </a:p>
        </p:txBody>
      </p:sp>
      <p:sp>
        <p:nvSpPr>
          <p:cNvPr id="15" name="metadata:section-stage-value"/>
          <p:cNvSpPr txBox="1"/>
          <p:nvPr/>
        </p:nvSpPr>
        <p:spPr>
          <a:xfrm>
            <a:off x="676656" y="2406716"/>
            <a:ext cx="1024128" cy="29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8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8" dirty="0"/>
          </a:p>
        </p:txBody>
      </p:sp>
      <p:sp>
        <p:nvSpPr>
          <p:cNvPr id="16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</dc:title>
  <dc:subject/>
  <dc:creator>Presentation Team</dc:creator>
  <cp:lastModifiedBy>Presentation Team</cp:lastModifiedBy>
  <cp:revision>1</cp:revision>
  <dcterms:created xsi:type="dcterms:W3CDTF">2026-10-26T07:16:21Z</dcterms:created>
  <dcterms:modified xsi:type="dcterms:W3CDTF">2026-10-26T07:16:21Z</dcterms:modified>
</cp:coreProperties>
</file>